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768" r:id="rId2"/>
  </p:sldMasterIdLst>
  <p:notesMasterIdLst>
    <p:notesMasterId r:id="rId222"/>
  </p:notesMasterIdLst>
  <p:handoutMasterIdLst>
    <p:handoutMasterId r:id="rId223"/>
  </p:handoutMasterIdLst>
  <p:sldIdLst>
    <p:sldId id="257" r:id="rId3"/>
    <p:sldId id="356" r:id="rId4"/>
    <p:sldId id="357" r:id="rId5"/>
    <p:sldId id="429" r:id="rId6"/>
    <p:sldId id="653" r:id="rId7"/>
    <p:sldId id="358" r:id="rId8"/>
    <p:sldId id="430" r:id="rId9"/>
    <p:sldId id="431" r:id="rId10"/>
    <p:sldId id="432" r:id="rId11"/>
    <p:sldId id="433" r:id="rId12"/>
    <p:sldId id="434" r:id="rId13"/>
    <p:sldId id="435" r:id="rId14"/>
    <p:sldId id="661" r:id="rId15"/>
    <p:sldId id="445" r:id="rId16"/>
    <p:sldId id="446" r:id="rId17"/>
    <p:sldId id="447" r:id="rId18"/>
    <p:sldId id="448" r:id="rId19"/>
    <p:sldId id="662" r:id="rId20"/>
    <p:sldId id="449" r:id="rId21"/>
    <p:sldId id="654" r:id="rId22"/>
    <p:sldId id="656" r:id="rId23"/>
    <p:sldId id="657" r:id="rId24"/>
    <p:sldId id="667" r:id="rId25"/>
    <p:sldId id="658" r:id="rId26"/>
    <p:sldId id="664" r:id="rId27"/>
    <p:sldId id="655" r:id="rId28"/>
    <p:sldId id="659" r:id="rId29"/>
    <p:sldId id="663" r:id="rId30"/>
    <p:sldId id="450" r:id="rId31"/>
    <p:sldId id="451" r:id="rId32"/>
    <p:sldId id="469" r:id="rId33"/>
    <p:sldId id="452" r:id="rId34"/>
    <p:sldId id="453" r:id="rId35"/>
    <p:sldId id="454" r:id="rId36"/>
    <p:sldId id="455" r:id="rId37"/>
    <p:sldId id="660" r:id="rId38"/>
    <p:sldId id="456" r:id="rId39"/>
    <p:sldId id="457" r:id="rId40"/>
    <p:sldId id="458" r:id="rId41"/>
    <p:sldId id="459" r:id="rId42"/>
    <p:sldId id="460" r:id="rId43"/>
    <p:sldId id="461" r:id="rId44"/>
    <p:sldId id="462" r:id="rId45"/>
    <p:sldId id="463" r:id="rId46"/>
    <p:sldId id="464" r:id="rId47"/>
    <p:sldId id="465" r:id="rId48"/>
    <p:sldId id="466" r:id="rId49"/>
    <p:sldId id="467" r:id="rId50"/>
    <p:sldId id="470" r:id="rId51"/>
    <p:sldId id="471" r:id="rId52"/>
    <p:sldId id="468" r:id="rId53"/>
    <p:sldId id="472" r:id="rId54"/>
    <p:sldId id="473" r:id="rId55"/>
    <p:sldId id="474" r:id="rId56"/>
    <p:sldId id="475" r:id="rId57"/>
    <p:sldId id="479" r:id="rId58"/>
    <p:sldId id="480" r:id="rId59"/>
    <p:sldId id="476" r:id="rId60"/>
    <p:sldId id="477" r:id="rId61"/>
    <p:sldId id="481" r:id="rId62"/>
    <p:sldId id="492" r:id="rId63"/>
    <p:sldId id="493" r:id="rId64"/>
    <p:sldId id="494" r:id="rId65"/>
    <p:sldId id="495" r:id="rId66"/>
    <p:sldId id="496" r:id="rId67"/>
    <p:sldId id="497" r:id="rId68"/>
    <p:sldId id="498" r:id="rId69"/>
    <p:sldId id="499" r:id="rId70"/>
    <p:sldId id="500" r:id="rId71"/>
    <p:sldId id="501" r:id="rId72"/>
    <p:sldId id="502" r:id="rId73"/>
    <p:sldId id="478" r:id="rId74"/>
    <p:sldId id="483" r:id="rId75"/>
    <p:sldId id="488" r:id="rId76"/>
    <p:sldId id="484" r:id="rId77"/>
    <p:sldId id="485" r:id="rId78"/>
    <p:sldId id="489" r:id="rId79"/>
    <p:sldId id="490" r:id="rId80"/>
    <p:sldId id="486" r:id="rId81"/>
    <p:sldId id="487" r:id="rId82"/>
    <p:sldId id="666" r:id="rId83"/>
    <p:sldId id="503" r:id="rId84"/>
    <p:sldId id="491" r:id="rId85"/>
    <p:sldId id="507" r:id="rId86"/>
    <p:sldId id="508" r:id="rId87"/>
    <p:sldId id="509" r:id="rId88"/>
    <p:sldId id="510" r:id="rId89"/>
    <p:sldId id="511" r:id="rId90"/>
    <p:sldId id="512" r:id="rId91"/>
    <p:sldId id="513" r:id="rId92"/>
    <p:sldId id="514" r:id="rId93"/>
    <p:sldId id="515" r:id="rId94"/>
    <p:sldId id="516" r:id="rId95"/>
    <p:sldId id="517" r:id="rId96"/>
    <p:sldId id="518" r:id="rId97"/>
    <p:sldId id="519" r:id="rId98"/>
    <p:sldId id="520" r:id="rId99"/>
    <p:sldId id="521" r:id="rId100"/>
    <p:sldId id="522" r:id="rId101"/>
    <p:sldId id="523" r:id="rId102"/>
    <p:sldId id="524" r:id="rId103"/>
    <p:sldId id="525" r:id="rId104"/>
    <p:sldId id="526" r:id="rId105"/>
    <p:sldId id="527" r:id="rId106"/>
    <p:sldId id="528" r:id="rId107"/>
    <p:sldId id="529" r:id="rId108"/>
    <p:sldId id="530" r:id="rId109"/>
    <p:sldId id="531" r:id="rId110"/>
    <p:sldId id="532" r:id="rId111"/>
    <p:sldId id="533" r:id="rId112"/>
    <p:sldId id="534" r:id="rId113"/>
    <p:sldId id="535" r:id="rId114"/>
    <p:sldId id="536" r:id="rId115"/>
    <p:sldId id="537" r:id="rId116"/>
    <p:sldId id="538" r:id="rId117"/>
    <p:sldId id="539" r:id="rId118"/>
    <p:sldId id="540" r:id="rId119"/>
    <p:sldId id="541" r:id="rId120"/>
    <p:sldId id="542" r:id="rId121"/>
    <p:sldId id="543" r:id="rId122"/>
    <p:sldId id="544" r:id="rId123"/>
    <p:sldId id="545" r:id="rId124"/>
    <p:sldId id="546" r:id="rId125"/>
    <p:sldId id="547" r:id="rId126"/>
    <p:sldId id="548" r:id="rId127"/>
    <p:sldId id="549" r:id="rId128"/>
    <p:sldId id="550" r:id="rId129"/>
    <p:sldId id="551" r:id="rId130"/>
    <p:sldId id="552" r:id="rId131"/>
    <p:sldId id="553" r:id="rId132"/>
    <p:sldId id="554" r:id="rId133"/>
    <p:sldId id="555" r:id="rId134"/>
    <p:sldId id="556" r:id="rId135"/>
    <p:sldId id="557" r:id="rId136"/>
    <p:sldId id="558" r:id="rId137"/>
    <p:sldId id="559" r:id="rId138"/>
    <p:sldId id="560" r:id="rId139"/>
    <p:sldId id="561" r:id="rId140"/>
    <p:sldId id="562" r:id="rId141"/>
    <p:sldId id="563" r:id="rId142"/>
    <p:sldId id="564" r:id="rId143"/>
    <p:sldId id="565" r:id="rId144"/>
    <p:sldId id="566" r:id="rId145"/>
    <p:sldId id="567" r:id="rId146"/>
    <p:sldId id="568" r:id="rId147"/>
    <p:sldId id="569" r:id="rId148"/>
    <p:sldId id="570" r:id="rId149"/>
    <p:sldId id="571" r:id="rId150"/>
    <p:sldId id="572" r:id="rId151"/>
    <p:sldId id="573" r:id="rId152"/>
    <p:sldId id="574" r:id="rId153"/>
    <p:sldId id="575" r:id="rId154"/>
    <p:sldId id="576" r:id="rId155"/>
    <p:sldId id="577" r:id="rId156"/>
    <p:sldId id="578" r:id="rId157"/>
    <p:sldId id="579" r:id="rId158"/>
    <p:sldId id="580" r:id="rId159"/>
    <p:sldId id="582" r:id="rId160"/>
    <p:sldId id="581" r:id="rId161"/>
    <p:sldId id="583" r:id="rId162"/>
    <p:sldId id="584" r:id="rId163"/>
    <p:sldId id="585" r:id="rId164"/>
    <p:sldId id="587" r:id="rId165"/>
    <p:sldId id="588" r:id="rId166"/>
    <p:sldId id="589" r:id="rId167"/>
    <p:sldId id="590" r:id="rId168"/>
    <p:sldId id="591" r:id="rId169"/>
    <p:sldId id="592" r:id="rId170"/>
    <p:sldId id="593" r:id="rId171"/>
    <p:sldId id="614" r:id="rId172"/>
    <p:sldId id="615" r:id="rId173"/>
    <p:sldId id="616" r:id="rId174"/>
    <p:sldId id="617" r:id="rId175"/>
    <p:sldId id="618" r:id="rId176"/>
    <p:sldId id="619" r:id="rId177"/>
    <p:sldId id="620" r:id="rId178"/>
    <p:sldId id="622" r:id="rId179"/>
    <p:sldId id="623" r:id="rId180"/>
    <p:sldId id="624" r:id="rId181"/>
    <p:sldId id="621" r:id="rId182"/>
    <p:sldId id="595" r:id="rId183"/>
    <p:sldId id="596" r:id="rId184"/>
    <p:sldId id="597" r:id="rId185"/>
    <p:sldId id="598" r:id="rId186"/>
    <p:sldId id="599" r:id="rId187"/>
    <p:sldId id="600" r:id="rId188"/>
    <p:sldId id="601" r:id="rId189"/>
    <p:sldId id="610" r:id="rId190"/>
    <p:sldId id="611" r:id="rId191"/>
    <p:sldId id="612" r:id="rId192"/>
    <p:sldId id="613" r:id="rId193"/>
    <p:sldId id="625" r:id="rId194"/>
    <p:sldId id="626" r:id="rId195"/>
    <p:sldId id="627" r:id="rId196"/>
    <p:sldId id="628" r:id="rId197"/>
    <p:sldId id="629" r:id="rId198"/>
    <p:sldId id="630" r:id="rId199"/>
    <p:sldId id="631" r:id="rId200"/>
    <p:sldId id="632" r:id="rId201"/>
    <p:sldId id="633" r:id="rId202"/>
    <p:sldId id="634" r:id="rId203"/>
    <p:sldId id="635" r:id="rId204"/>
    <p:sldId id="636" r:id="rId205"/>
    <p:sldId id="637" r:id="rId206"/>
    <p:sldId id="638" r:id="rId207"/>
    <p:sldId id="639" r:id="rId208"/>
    <p:sldId id="640" r:id="rId209"/>
    <p:sldId id="641" r:id="rId210"/>
    <p:sldId id="642" r:id="rId211"/>
    <p:sldId id="643" r:id="rId212"/>
    <p:sldId id="644" r:id="rId213"/>
    <p:sldId id="645" r:id="rId214"/>
    <p:sldId id="646" r:id="rId215"/>
    <p:sldId id="647" r:id="rId216"/>
    <p:sldId id="648" r:id="rId217"/>
    <p:sldId id="649" r:id="rId218"/>
    <p:sldId id="650" r:id="rId219"/>
    <p:sldId id="651" r:id="rId220"/>
    <p:sldId id="652" r:id="rId221"/>
  </p:sldIdLst>
  <p:sldSz cx="10080625" cy="7559675"/>
  <p:notesSz cx="7010400" cy="9296400"/>
  <p:defaultTextStyle>
    <a:defPPr>
      <a:defRPr lang="en-GB"/>
    </a:defPPr>
    <a:lvl1pPr algn="l" rtl="0" eaLnBrk="0" fontAlgn="base" hangingPunct="0">
      <a:spcBef>
        <a:spcPct val="0"/>
      </a:spcBef>
      <a:spcAft>
        <a:spcPct val="0"/>
      </a:spcAft>
      <a:defRPr sz="2400" kern="1200">
        <a:solidFill>
          <a:srgbClr val="000000"/>
        </a:solidFill>
        <a:latin typeface="Times New Roman" pitchFamily="18" charset="0"/>
        <a:ea typeface="+mn-ea"/>
        <a:cs typeface="+mn-cs"/>
      </a:defRPr>
    </a:lvl1pPr>
    <a:lvl2pPr marL="457105" algn="l" rtl="0" eaLnBrk="0" fontAlgn="base" hangingPunct="0">
      <a:spcBef>
        <a:spcPct val="0"/>
      </a:spcBef>
      <a:spcAft>
        <a:spcPct val="0"/>
      </a:spcAft>
      <a:defRPr sz="2400" kern="1200">
        <a:solidFill>
          <a:srgbClr val="000000"/>
        </a:solidFill>
        <a:latin typeface="Times New Roman" pitchFamily="18" charset="0"/>
        <a:ea typeface="+mn-ea"/>
        <a:cs typeface="+mn-cs"/>
      </a:defRPr>
    </a:lvl2pPr>
    <a:lvl3pPr marL="914210" algn="l" rtl="0" eaLnBrk="0" fontAlgn="base" hangingPunct="0">
      <a:spcBef>
        <a:spcPct val="0"/>
      </a:spcBef>
      <a:spcAft>
        <a:spcPct val="0"/>
      </a:spcAft>
      <a:defRPr sz="2400" kern="1200">
        <a:solidFill>
          <a:srgbClr val="000000"/>
        </a:solidFill>
        <a:latin typeface="Times New Roman" pitchFamily="18" charset="0"/>
        <a:ea typeface="+mn-ea"/>
        <a:cs typeface="+mn-cs"/>
      </a:defRPr>
    </a:lvl3pPr>
    <a:lvl4pPr marL="1371315" algn="l" rtl="0" eaLnBrk="0" fontAlgn="base" hangingPunct="0">
      <a:spcBef>
        <a:spcPct val="0"/>
      </a:spcBef>
      <a:spcAft>
        <a:spcPct val="0"/>
      </a:spcAft>
      <a:defRPr sz="2400" kern="1200">
        <a:solidFill>
          <a:srgbClr val="000000"/>
        </a:solidFill>
        <a:latin typeface="Times New Roman" pitchFamily="18" charset="0"/>
        <a:ea typeface="+mn-ea"/>
        <a:cs typeface="+mn-cs"/>
      </a:defRPr>
    </a:lvl4pPr>
    <a:lvl5pPr marL="1828420" algn="l" rtl="0" eaLnBrk="0" fontAlgn="base" hangingPunct="0">
      <a:spcBef>
        <a:spcPct val="0"/>
      </a:spcBef>
      <a:spcAft>
        <a:spcPct val="0"/>
      </a:spcAft>
      <a:defRPr sz="2400" kern="1200">
        <a:solidFill>
          <a:srgbClr val="000000"/>
        </a:solidFill>
        <a:latin typeface="Times New Roman" pitchFamily="18" charset="0"/>
        <a:ea typeface="+mn-ea"/>
        <a:cs typeface="+mn-cs"/>
      </a:defRPr>
    </a:lvl5pPr>
    <a:lvl6pPr marL="2285526" algn="l" defTabSz="914210" rtl="0" eaLnBrk="1" latinLnBrk="0" hangingPunct="1">
      <a:defRPr sz="2400" kern="1200">
        <a:solidFill>
          <a:srgbClr val="000000"/>
        </a:solidFill>
        <a:latin typeface="Times New Roman" pitchFamily="18" charset="0"/>
        <a:ea typeface="+mn-ea"/>
        <a:cs typeface="+mn-cs"/>
      </a:defRPr>
    </a:lvl6pPr>
    <a:lvl7pPr marL="2742632" algn="l" defTabSz="914210" rtl="0" eaLnBrk="1" latinLnBrk="0" hangingPunct="1">
      <a:defRPr sz="2400" kern="1200">
        <a:solidFill>
          <a:srgbClr val="000000"/>
        </a:solidFill>
        <a:latin typeface="Times New Roman" pitchFamily="18" charset="0"/>
        <a:ea typeface="+mn-ea"/>
        <a:cs typeface="+mn-cs"/>
      </a:defRPr>
    </a:lvl7pPr>
    <a:lvl8pPr marL="3199737" algn="l" defTabSz="914210" rtl="0" eaLnBrk="1" latinLnBrk="0" hangingPunct="1">
      <a:defRPr sz="2400" kern="1200">
        <a:solidFill>
          <a:srgbClr val="000000"/>
        </a:solidFill>
        <a:latin typeface="Times New Roman" pitchFamily="18" charset="0"/>
        <a:ea typeface="+mn-ea"/>
        <a:cs typeface="+mn-cs"/>
      </a:defRPr>
    </a:lvl8pPr>
    <a:lvl9pPr marL="3656842" algn="l" defTabSz="914210" rtl="0" eaLnBrk="1" latinLnBrk="0" hangingPunct="1">
      <a:defRPr sz="2400" kern="1200">
        <a:solidFill>
          <a:srgbClr val="000000"/>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2880">
          <p15:clr>
            <a:srgbClr val="A4A3A4"/>
          </p15:clr>
        </p15:guide>
      </p15:sldGuideLst>
    </p:ext>
    <p:ext uri="{2D200454-40CA-4A62-9FC3-DE9A4176ACB9}">
      <p15:notesGuideLst xmlns:p15="http://schemas.microsoft.com/office/powerpoint/2012/main">
        <p15:guide id="1" orient="horz" pos="2504">
          <p15:clr>
            <a:srgbClr val="A4A3A4"/>
          </p15:clr>
        </p15:guide>
        <p15:guide id="2" pos="20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FF"/>
    <a:srgbClr val="008000"/>
    <a:srgbClr val="FF0000"/>
    <a:srgbClr val="FF0066"/>
    <a:srgbClr val="DA2691"/>
    <a:srgbClr val="C5CD8D"/>
    <a:srgbClr val="003366"/>
    <a:srgbClr val="00FFFF"/>
    <a:srgbClr val="CC3300"/>
    <a:srgbClr val="08F8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97" autoAdjust="0"/>
    <p:restoredTop sz="93907" autoAdjust="0"/>
  </p:normalViewPr>
  <p:slideViewPr>
    <p:cSldViewPr snapToGrid="0">
      <p:cViewPr varScale="1">
        <p:scale>
          <a:sx n="67" d="100"/>
          <a:sy n="67" d="100"/>
        </p:scale>
        <p:origin x="1790" y="53"/>
      </p:cViewPr>
      <p:guideLst>
        <p:guide orient="horz" pos="2161"/>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9048"/>
    </p:cViewPr>
  </p:sorterViewPr>
  <p:notesViewPr>
    <p:cSldViewPr snapToGrid="0">
      <p:cViewPr varScale="1">
        <p:scale>
          <a:sx n="54" d="100"/>
          <a:sy n="54" d="100"/>
        </p:scale>
        <p:origin x="-2856" y="-108"/>
      </p:cViewPr>
      <p:guideLst>
        <p:guide orient="horz" pos="2504"/>
        <p:guide pos="2004"/>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theme" Target="theme/theme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11" Type="http://schemas.openxmlformats.org/officeDocument/2006/relationships/slide" Target="slides/slide209.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71" Type="http://schemas.openxmlformats.org/officeDocument/2006/relationships/slide" Target="slides/slide169.xml"/><Relationship Id="rId176" Type="http://schemas.openxmlformats.org/officeDocument/2006/relationships/slide" Target="slides/slide174.xml"/><Relationship Id="rId192" Type="http://schemas.openxmlformats.org/officeDocument/2006/relationships/slide" Target="slides/slide190.xml"/><Relationship Id="rId197" Type="http://schemas.openxmlformats.org/officeDocument/2006/relationships/slide" Target="slides/slide195.xml"/><Relationship Id="rId206" Type="http://schemas.openxmlformats.org/officeDocument/2006/relationships/slide" Target="slides/slide204.xml"/><Relationship Id="rId227" Type="http://schemas.openxmlformats.org/officeDocument/2006/relationships/tableStyles" Target="tableStyles.xml"/><Relationship Id="rId201" Type="http://schemas.openxmlformats.org/officeDocument/2006/relationships/slide" Target="slides/slide199.xml"/><Relationship Id="rId222" Type="http://schemas.openxmlformats.org/officeDocument/2006/relationships/notesMaster" Target="notesMasters/notesMaster1.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82" Type="http://schemas.openxmlformats.org/officeDocument/2006/relationships/slide" Target="slides/slide180.xml"/><Relationship Id="rId187" Type="http://schemas.openxmlformats.org/officeDocument/2006/relationships/slide" Target="slides/slide185.xml"/><Relationship Id="rId217" Type="http://schemas.openxmlformats.org/officeDocument/2006/relationships/slide" Target="slides/slide215.xml"/><Relationship Id="rId1" Type="http://schemas.openxmlformats.org/officeDocument/2006/relationships/slideMaster" Target="slideMasters/slideMaster1.xml"/><Relationship Id="rId6" Type="http://schemas.openxmlformats.org/officeDocument/2006/relationships/slide" Target="slides/slide4.xml"/><Relationship Id="rId212" Type="http://schemas.openxmlformats.org/officeDocument/2006/relationships/slide" Target="slides/slide210.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172" Type="http://schemas.openxmlformats.org/officeDocument/2006/relationships/slide" Target="slides/slide170.xml"/><Relationship Id="rId193" Type="http://schemas.openxmlformats.org/officeDocument/2006/relationships/slide" Target="slides/slide191.xml"/><Relationship Id="rId202" Type="http://schemas.openxmlformats.org/officeDocument/2006/relationships/slide" Target="slides/slide200.xml"/><Relationship Id="rId207" Type="http://schemas.openxmlformats.org/officeDocument/2006/relationships/slide" Target="slides/slide205.xml"/><Relationship Id="rId223" Type="http://schemas.openxmlformats.org/officeDocument/2006/relationships/handoutMaster" Target="handoutMasters/handoutMaster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13" Type="http://schemas.openxmlformats.org/officeDocument/2006/relationships/slide" Target="slides/slide211.xml"/><Relationship Id="rId218" Type="http://schemas.openxmlformats.org/officeDocument/2006/relationships/slide" Target="slides/slide216.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slide" Target="slides/slide206.xml"/><Relationship Id="rId19" Type="http://schemas.openxmlformats.org/officeDocument/2006/relationships/slide" Target="slides/slide17.xml"/><Relationship Id="rId224" Type="http://schemas.openxmlformats.org/officeDocument/2006/relationships/presProps" Target="presProps.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219" Type="http://schemas.openxmlformats.org/officeDocument/2006/relationships/slide" Target="slides/slide217.xml"/><Relationship Id="rId3" Type="http://schemas.openxmlformats.org/officeDocument/2006/relationships/slide" Target="slides/slide1.xml"/><Relationship Id="rId214" Type="http://schemas.openxmlformats.org/officeDocument/2006/relationships/slide" Target="slides/slide212.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220" Type="http://schemas.openxmlformats.org/officeDocument/2006/relationships/slide" Target="slides/slide218.xml"/><Relationship Id="rId225"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defRPr>
            </a:lvl1pPr>
          </a:lstStyle>
          <a:p>
            <a:endParaRPr lang="en-US"/>
          </a:p>
        </p:txBody>
      </p:sp>
      <p:sp>
        <p:nvSpPr>
          <p:cNvPr id="132099"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defRPr>
            </a:lvl1pPr>
          </a:lstStyle>
          <a:p>
            <a:endParaRPr lang="en-US"/>
          </a:p>
        </p:txBody>
      </p:sp>
      <p:sp>
        <p:nvSpPr>
          <p:cNvPr id="132100"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defRPr>
            </a:lvl1pPr>
          </a:lstStyle>
          <a:p>
            <a:endParaRPr lang="en-US"/>
          </a:p>
        </p:txBody>
      </p:sp>
      <p:sp>
        <p:nvSpPr>
          <p:cNvPr id="132101"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defRPr>
            </a:lvl1pPr>
          </a:lstStyle>
          <a:p>
            <a:fld id="{231B0AA7-0EBB-4D6D-BCAD-CAC22D2C714D}" type="slidenum">
              <a:rPr lang="en-US"/>
              <a:pPr/>
              <a:t>‹#›</a:t>
            </a:fld>
            <a:endParaRPr lang="en-US"/>
          </a:p>
        </p:txBody>
      </p:sp>
    </p:spTree>
    <p:extLst>
      <p:ext uri="{BB962C8B-B14F-4D97-AF65-F5344CB8AC3E}">
        <p14:creationId xmlns:p14="http://schemas.microsoft.com/office/powerpoint/2010/main" val="41160067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AutoShape 1"/>
          <p:cNvSpPr>
            <a:spLocks noChangeArrowheads="1"/>
          </p:cNvSpPr>
          <p:nvPr/>
        </p:nvSpPr>
        <p:spPr bwMode="auto">
          <a:xfrm>
            <a:off x="0" y="0"/>
            <a:ext cx="7010400" cy="9296400"/>
          </a:xfrm>
          <a:prstGeom prst="roundRect">
            <a:avLst>
              <a:gd name="adj" fmla="val 19"/>
            </a:avLst>
          </a:prstGeom>
          <a:solidFill>
            <a:srgbClr val="FFFFFF"/>
          </a:solidFill>
          <a:ln w="9360">
            <a:noFill/>
            <a:round/>
            <a:headEnd/>
            <a:tailEnd/>
          </a:ln>
        </p:spPr>
        <p:txBody>
          <a:bodyPr wrap="none" anchor="ctr"/>
          <a:lstStyle/>
          <a:p>
            <a:endParaRPr lang="en-US"/>
          </a:p>
        </p:txBody>
      </p:sp>
      <p:sp>
        <p:nvSpPr>
          <p:cNvPr id="2050" name="AutoShape 2"/>
          <p:cNvSpPr>
            <a:spLocks noChangeArrowheads="1"/>
          </p:cNvSpPr>
          <p:nvPr/>
        </p:nvSpPr>
        <p:spPr bwMode="auto">
          <a:xfrm>
            <a:off x="0" y="0"/>
            <a:ext cx="7010400" cy="9296400"/>
          </a:xfrm>
          <a:prstGeom prst="roundRect">
            <a:avLst>
              <a:gd name="adj" fmla="val 19"/>
            </a:avLst>
          </a:prstGeom>
          <a:solidFill>
            <a:srgbClr val="FFFFFF"/>
          </a:solidFill>
          <a:ln w="9525">
            <a:noFill/>
            <a:round/>
            <a:headEnd/>
            <a:tailEnd/>
          </a:ln>
        </p:spPr>
        <p:txBody>
          <a:bodyPr wrap="none" anchor="ctr"/>
          <a:lstStyle/>
          <a:p>
            <a:endParaRPr lang="en-US"/>
          </a:p>
        </p:txBody>
      </p:sp>
      <p:sp>
        <p:nvSpPr>
          <p:cNvPr id="2051" name="AutoShape 3"/>
          <p:cNvSpPr>
            <a:spLocks noChangeArrowheads="1"/>
          </p:cNvSpPr>
          <p:nvPr/>
        </p:nvSpPr>
        <p:spPr bwMode="auto">
          <a:xfrm>
            <a:off x="0" y="0"/>
            <a:ext cx="7010400" cy="9296400"/>
          </a:xfrm>
          <a:prstGeom prst="roundRect">
            <a:avLst>
              <a:gd name="adj" fmla="val 19"/>
            </a:avLst>
          </a:prstGeom>
          <a:solidFill>
            <a:srgbClr val="FFFFFF"/>
          </a:solidFill>
          <a:ln w="9525">
            <a:noFill/>
            <a:round/>
            <a:headEnd/>
            <a:tailEnd/>
          </a:ln>
        </p:spPr>
        <p:txBody>
          <a:bodyPr wrap="none" anchor="ctr"/>
          <a:lstStyle/>
          <a:p>
            <a:endParaRPr lang="en-US"/>
          </a:p>
        </p:txBody>
      </p:sp>
      <p:sp>
        <p:nvSpPr>
          <p:cNvPr id="2052" name="Rectangle 4"/>
          <p:cNvSpPr>
            <a:spLocks noGrp="1" noRot="1" noChangeAspect="1" noChangeArrowheads="1" noTextEdit="1"/>
          </p:cNvSpPr>
          <p:nvPr>
            <p:ph type="sldImg"/>
          </p:nvPr>
        </p:nvSpPr>
        <p:spPr bwMode="auto">
          <a:xfrm>
            <a:off x="1360488" y="893763"/>
            <a:ext cx="4289425" cy="3216275"/>
          </a:xfrm>
          <a:prstGeom prst="rect">
            <a:avLst/>
          </a:prstGeom>
          <a:solidFill>
            <a:srgbClr val="FFFFFF"/>
          </a:solidFill>
          <a:ln w="9525">
            <a:solidFill>
              <a:srgbClr val="000000"/>
            </a:solidFill>
            <a:miter lim="800000"/>
            <a:headEnd/>
            <a:tailEnd/>
          </a:ln>
          <a:effectLst/>
        </p:spPr>
      </p:sp>
      <p:sp>
        <p:nvSpPr>
          <p:cNvPr id="2053" name="Rectangle 5"/>
          <p:cNvSpPr txBox="1">
            <a:spLocks noGrp="1" noChangeArrowheads="1"/>
          </p:cNvSpPr>
          <p:nvPr>
            <p:ph type="body" idx="1"/>
          </p:nvPr>
        </p:nvSpPr>
        <p:spPr bwMode="auto">
          <a:xfrm>
            <a:off x="1085850" y="4422775"/>
            <a:ext cx="4845050" cy="35718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3040025579"/>
      </p:ext>
    </p:extLst>
  </p:cSld>
  <p:clrMap bg1="lt1" tx1="dk1" bg2="lt2" tx2="dk2" accent1="accent1" accent2="accent2" accent3="accent3" accent4="accent4" accent5="accent5" accent6="accent6" hlink="hlink" folHlink="folHlink"/>
  <p:notesStyle>
    <a:lvl1pPr algn="l" defTabSz="449170" rtl="0" fontAlgn="base">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796" indent="-285692" algn="l" defTabSz="449170" rtl="0" fontAlgn="base">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2762" indent="-228552" algn="l" defTabSz="449170" rtl="0" fontAlgn="base">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599868" indent="-228552" algn="l" defTabSz="449170" rtl="0" fontAlgn="base">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6973" indent="-228552" algn="l" defTabSz="449170" rtl="0" fontAlgn="base">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5526" algn="l" defTabSz="914210" rtl="0" eaLnBrk="1" latinLnBrk="0" hangingPunct="1">
      <a:defRPr sz="1200" kern="1200">
        <a:solidFill>
          <a:schemeClr val="tx1"/>
        </a:solidFill>
        <a:latin typeface="+mn-lt"/>
        <a:ea typeface="+mn-ea"/>
        <a:cs typeface="+mn-cs"/>
      </a:defRPr>
    </a:lvl6pPr>
    <a:lvl7pPr marL="2742632" algn="l" defTabSz="914210" rtl="0" eaLnBrk="1" latinLnBrk="0" hangingPunct="1">
      <a:defRPr sz="1200" kern="1200">
        <a:solidFill>
          <a:schemeClr val="tx1"/>
        </a:solidFill>
        <a:latin typeface="+mn-lt"/>
        <a:ea typeface="+mn-ea"/>
        <a:cs typeface="+mn-cs"/>
      </a:defRPr>
    </a:lvl7pPr>
    <a:lvl8pPr marL="3199737" algn="l" defTabSz="914210" rtl="0" eaLnBrk="1" latinLnBrk="0" hangingPunct="1">
      <a:defRPr sz="1200" kern="1200">
        <a:solidFill>
          <a:schemeClr val="tx1"/>
        </a:solidFill>
        <a:latin typeface="+mn-lt"/>
        <a:ea typeface="+mn-ea"/>
        <a:cs typeface="+mn-cs"/>
      </a:defRPr>
    </a:lvl8pPr>
    <a:lvl9pPr marL="3656842" algn="l" defTabSz="91421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0178" name="Rectangle 2"/>
          <p:cNvSpPr>
            <a:spLocks noGrp="1" noRot="1" noChangeAspect="1" noChangeArrowheads="1" noTextEdit="1"/>
          </p:cNvSpPr>
          <p:nvPr>
            <p:ph type="sldImg"/>
          </p:nvPr>
        </p:nvSpPr>
        <p:spPr bwMode="auto">
          <a:xfrm>
            <a:off x="1025525" y="307975"/>
            <a:ext cx="4957763" cy="3717925"/>
          </a:xfrm>
          <a:prstGeom prst="rect">
            <a:avLst/>
          </a:prstGeom>
          <a:solidFill>
            <a:srgbClr val="FFFFFF"/>
          </a:solidFill>
          <a:ln>
            <a:solidFill>
              <a:srgbClr val="000000"/>
            </a:solidFill>
            <a:miter lim="800000"/>
            <a:headEnd/>
            <a:tailEnd/>
          </a:ln>
        </p:spPr>
      </p:sp>
      <p:sp>
        <p:nvSpPr>
          <p:cNvPr id="690179" name="Text Box 3"/>
          <p:cNvSpPr txBox="1">
            <a:spLocks noChangeArrowheads="1"/>
          </p:cNvSpPr>
          <p:nvPr/>
        </p:nvSpPr>
        <p:spPr bwMode="auto">
          <a:xfrm>
            <a:off x="514350" y="4387850"/>
            <a:ext cx="5984875" cy="4127500"/>
          </a:xfrm>
          <a:prstGeom prst="rect">
            <a:avLst/>
          </a:prstGeom>
          <a:noFill/>
          <a:ln w="9525">
            <a:noFill/>
            <a:miter lim="800000"/>
            <a:headEnd/>
            <a:tailEnd/>
          </a:ln>
        </p:spPr>
        <p:txBody>
          <a:bodyPr lIns="0" tIns="0" rIns="0" bIns="0"/>
          <a:lstStyle/>
          <a:p>
            <a:pPr defTabSz="931863"/>
            <a:endParaRPr lang="en-US">
              <a:solidFill>
                <a:schemeClr val="tx1"/>
              </a:solidFill>
              <a:latin typeface="Arial Black" pitchFamily="34" charset="0"/>
            </a:endParaRPr>
          </a:p>
        </p:txBody>
      </p:sp>
    </p:spTree>
    <p:extLst>
      <p:ext uri="{BB962C8B-B14F-4D97-AF65-F5344CB8AC3E}">
        <p14:creationId xmlns:p14="http://schemas.microsoft.com/office/powerpoint/2010/main" val="3919302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180358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26338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75176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p>
        </p:txBody>
      </p:sp>
      <p:sp>
        <p:nvSpPr>
          <p:cNvPr id="3" name="Subtitle 2"/>
          <p:cNvSpPr>
            <a:spLocks noGrp="1"/>
          </p:cNvSpPr>
          <p:nvPr>
            <p:ph type="subTitle" idx="1"/>
          </p:nvPr>
        </p:nvSpPr>
        <p:spPr>
          <a:xfrm>
            <a:off x="1512888" y="4283075"/>
            <a:ext cx="7056438" cy="1931987"/>
          </a:xfrm>
        </p:spPr>
        <p:txBody>
          <a:bodyPr/>
          <a:lstStyle>
            <a:lvl1pPr marL="0" indent="0" algn="ctr">
              <a:buNone/>
              <a:defRPr/>
            </a:lvl1pPr>
            <a:lvl2pPr marL="457105" indent="0" algn="ctr">
              <a:buNone/>
              <a:defRPr/>
            </a:lvl2pPr>
            <a:lvl3pPr marL="914210" indent="0" algn="ctr">
              <a:buNone/>
              <a:defRPr/>
            </a:lvl3pPr>
            <a:lvl4pPr marL="1371315" indent="0" algn="ctr">
              <a:buNone/>
              <a:defRPr/>
            </a:lvl4pPr>
            <a:lvl5pPr marL="1828420" indent="0" algn="ctr">
              <a:buNone/>
              <a:defRPr/>
            </a:lvl5pPr>
            <a:lvl6pPr marL="2285526" indent="0" algn="ctr">
              <a:buNone/>
              <a:defRPr/>
            </a:lvl6pPr>
            <a:lvl7pPr marL="2742632" indent="0" algn="ctr">
              <a:buNone/>
              <a:defRPr/>
            </a:lvl7pPr>
            <a:lvl8pPr marL="3199737" indent="0" algn="ctr">
              <a:buNone/>
              <a:defRPr/>
            </a:lvl8pPr>
            <a:lvl9pPr marL="3656842"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2355374-9C98-4423-AB27-80CD21397CC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3591306-41CF-4237-B2B4-5C605DD45071}"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2"/>
            <a:ext cx="8567738"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105" indent="0">
              <a:buNone/>
              <a:defRPr sz="1800"/>
            </a:lvl2pPr>
            <a:lvl3pPr marL="914210" indent="0">
              <a:buNone/>
              <a:defRPr sz="1700"/>
            </a:lvl3pPr>
            <a:lvl4pPr marL="1371315" indent="0">
              <a:buNone/>
              <a:defRPr sz="1400"/>
            </a:lvl4pPr>
            <a:lvl5pPr marL="1828420" indent="0">
              <a:buNone/>
              <a:defRPr sz="1400"/>
            </a:lvl5pPr>
            <a:lvl6pPr marL="2285526" indent="0">
              <a:buNone/>
              <a:defRPr sz="1400"/>
            </a:lvl6pPr>
            <a:lvl7pPr marL="2742632" indent="0">
              <a:buNone/>
              <a:defRPr sz="1400"/>
            </a:lvl7pPr>
            <a:lvl8pPr marL="3199737" indent="0">
              <a:buNone/>
              <a:defRPr sz="1400"/>
            </a:lvl8pPr>
            <a:lvl9pPr marL="3656842"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E62C3BD-70E8-4754-85A2-5423C1D25B59}"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4825" y="1763713"/>
            <a:ext cx="4459288" cy="4989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6515" y="1763713"/>
            <a:ext cx="4460875" cy="4989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5FA8B48-89DC-4465-BAC9-A0A0A569C6E4}"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105" indent="0">
              <a:buNone/>
              <a:defRPr sz="2000" b="1"/>
            </a:lvl2pPr>
            <a:lvl3pPr marL="914210" indent="0">
              <a:buNone/>
              <a:defRPr sz="1800" b="1"/>
            </a:lvl3pPr>
            <a:lvl4pPr marL="1371315" indent="0">
              <a:buNone/>
              <a:defRPr sz="1700" b="1"/>
            </a:lvl4pPr>
            <a:lvl5pPr marL="1828420" indent="0">
              <a:buNone/>
              <a:defRPr sz="1700" b="1"/>
            </a:lvl5pPr>
            <a:lvl6pPr marL="2285526" indent="0">
              <a:buNone/>
              <a:defRPr sz="1700" b="1"/>
            </a:lvl6pPr>
            <a:lvl7pPr marL="2742632" indent="0">
              <a:buNone/>
              <a:defRPr sz="1700" b="1"/>
            </a:lvl7pPr>
            <a:lvl8pPr marL="3199737" indent="0">
              <a:buNone/>
              <a:defRPr sz="1700" b="1"/>
            </a:lvl8pPr>
            <a:lvl9pPr marL="3656842" indent="0">
              <a:buNone/>
              <a:defRPr sz="17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21277" y="1692275"/>
            <a:ext cx="4456113" cy="704850"/>
          </a:xfrm>
        </p:spPr>
        <p:txBody>
          <a:bodyPr anchor="b"/>
          <a:lstStyle>
            <a:lvl1pPr marL="0" indent="0">
              <a:buNone/>
              <a:defRPr sz="2400" b="1"/>
            </a:lvl1pPr>
            <a:lvl2pPr marL="457105" indent="0">
              <a:buNone/>
              <a:defRPr sz="2000" b="1"/>
            </a:lvl2pPr>
            <a:lvl3pPr marL="914210" indent="0">
              <a:buNone/>
              <a:defRPr sz="1800" b="1"/>
            </a:lvl3pPr>
            <a:lvl4pPr marL="1371315" indent="0">
              <a:buNone/>
              <a:defRPr sz="1700" b="1"/>
            </a:lvl4pPr>
            <a:lvl5pPr marL="1828420" indent="0">
              <a:buNone/>
              <a:defRPr sz="1700" b="1"/>
            </a:lvl5pPr>
            <a:lvl6pPr marL="2285526" indent="0">
              <a:buNone/>
              <a:defRPr sz="1700" b="1"/>
            </a:lvl6pPr>
            <a:lvl7pPr marL="2742632" indent="0">
              <a:buNone/>
              <a:defRPr sz="1700" b="1"/>
            </a:lvl7pPr>
            <a:lvl8pPr marL="3199737" indent="0">
              <a:buNone/>
              <a:defRPr sz="1700" b="1"/>
            </a:lvl8pPr>
            <a:lvl9pPr marL="3656842" indent="0">
              <a:buNone/>
              <a:defRPr sz="1700" b="1"/>
            </a:lvl9pPr>
          </a:lstStyle>
          <a:p>
            <a:pPr lvl="0"/>
            <a:r>
              <a:rPr lang="en-US"/>
              <a:t>Click to edit Master text styles</a:t>
            </a:r>
          </a:p>
        </p:txBody>
      </p:sp>
      <p:sp>
        <p:nvSpPr>
          <p:cNvPr id="6" name="Content Placeholder 5"/>
          <p:cNvSpPr>
            <a:spLocks noGrp="1"/>
          </p:cNvSpPr>
          <p:nvPr>
            <p:ph sz="quarter" idx="4"/>
          </p:nvPr>
        </p:nvSpPr>
        <p:spPr>
          <a:xfrm>
            <a:off x="5121277" y="2397125"/>
            <a:ext cx="4456113" cy="4356100"/>
          </a:xfrm>
        </p:spPr>
        <p:txBody>
          <a:bodyPr/>
          <a:lstStyle>
            <a:lvl1pPr>
              <a:defRPr sz="2400"/>
            </a:lvl1pPr>
            <a:lvl2pPr>
              <a:defRPr sz="2000"/>
            </a:lvl2pPr>
            <a:lvl3pPr>
              <a:defRPr sz="18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D1949DF-800C-4A5E-B66E-220D04574B89}"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6B2B4670-F689-40C5-A733-CEE5E84C3D4A}"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F79DC5B1-B7F0-470C-AB85-9E28CE096C73}"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41765" y="301627"/>
            <a:ext cx="5635625" cy="64515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4825" y="1581152"/>
            <a:ext cx="3316288" cy="5172075"/>
          </a:xfrm>
        </p:spPr>
        <p:txBody>
          <a:bodyPr/>
          <a:lstStyle>
            <a:lvl1pPr marL="0" indent="0">
              <a:buNone/>
              <a:defRPr sz="1400"/>
            </a:lvl1pPr>
            <a:lvl2pPr marL="457105" indent="0">
              <a:buNone/>
              <a:defRPr sz="1200"/>
            </a:lvl2pPr>
            <a:lvl3pPr marL="914210" indent="0">
              <a:buNone/>
              <a:defRPr sz="1000"/>
            </a:lvl3pPr>
            <a:lvl4pPr marL="1371315" indent="0">
              <a:buNone/>
              <a:defRPr sz="900"/>
            </a:lvl4pPr>
            <a:lvl5pPr marL="1828420" indent="0">
              <a:buNone/>
              <a:defRPr sz="900"/>
            </a:lvl5pPr>
            <a:lvl6pPr marL="2285526" indent="0">
              <a:buNone/>
              <a:defRPr sz="900"/>
            </a:lvl6pPr>
            <a:lvl7pPr marL="2742632" indent="0">
              <a:buNone/>
              <a:defRPr sz="900"/>
            </a:lvl7pPr>
            <a:lvl8pPr marL="3199737" indent="0">
              <a:buNone/>
              <a:defRPr sz="900"/>
            </a:lvl8pPr>
            <a:lvl9pPr marL="3656842"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07C616A4-6666-4500-A439-FBE4501481D4}"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40" y="5291140"/>
            <a:ext cx="6048375" cy="6254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76440" y="674688"/>
            <a:ext cx="6048375" cy="4537075"/>
          </a:xfrm>
        </p:spPr>
        <p:txBody>
          <a:bodyPr/>
          <a:lstStyle>
            <a:lvl1pPr marL="0" indent="0">
              <a:buNone/>
              <a:defRPr sz="3200"/>
            </a:lvl1pPr>
            <a:lvl2pPr marL="457105" indent="0">
              <a:buNone/>
              <a:defRPr sz="2800"/>
            </a:lvl2pPr>
            <a:lvl3pPr marL="914210" indent="0">
              <a:buNone/>
              <a:defRPr sz="2400"/>
            </a:lvl3pPr>
            <a:lvl4pPr marL="1371315" indent="0">
              <a:buNone/>
              <a:defRPr sz="2000"/>
            </a:lvl4pPr>
            <a:lvl5pPr marL="1828420" indent="0">
              <a:buNone/>
              <a:defRPr sz="2000"/>
            </a:lvl5pPr>
            <a:lvl6pPr marL="2285526" indent="0">
              <a:buNone/>
              <a:defRPr sz="2000"/>
            </a:lvl6pPr>
            <a:lvl7pPr marL="2742632" indent="0">
              <a:buNone/>
              <a:defRPr sz="2000"/>
            </a:lvl7pPr>
            <a:lvl8pPr marL="3199737" indent="0">
              <a:buNone/>
              <a:defRPr sz="2000"/>
            </a:lvl8pPr>
            <a:lvl9pPr marL="3656842" indent="0">
              <a:buNone/>
              <a:defRPr sz="2000"/>
            </a:lvl9pPr>
          </a:lstStyle>
          <a:p>
            <a:endParaRPr lang="en-US"/>
          </a:p>
        </p:txBody>
      </p:sp>
      <p:sp>
        <p:nvSpPr>
          <p:cNvPr id="4" name="Text Placeholder 3"/>
          <p:cNvSpPr>
            <a:spLocks noGrp="1"/>
          </p:cNvSpPr>
          <p:nvPr>
            <p:ph type="body" sz="half" idx="2"/>
          </p:nvPr>
        </p:nvSpPr>
        <p:spPr>
          <a:xfrm>
            <a:off x="1976440" y="5916613"/>
            <a:ext cx="6048375" cy="887412"/>
          </a:xfrm>
        </p:spPr>
        <p:txBody>
          <a:bodyPr/>
          <a:lstStyle>
            <a:lvl1pPr marL="0" indent="0">
              <a:buNone/>
              <a:defRPr sz="1400"/>
            </a:lvl1pPr>
            <a:lvl2pPr marL="457105" indent="0">
              <a:buNone/>
              <a:defRPr sz="1200"/>
            </a:lvl2pPr>
            <a:lvl3pPr marL="914210" indent="0">
              <a:buNone/>
              <a:defRPr sz="1000"/>
            </a:lvl3pPr>
            <a:lvl4pPr marL="1371315" indent="0">
              <a:buNone/>
              <a:defRPr sz="900"/>
            </a:lvl4pPr>
            <a:lvl5pPr marL="1828420" indent="0">
              <a:buNone/>
              <a:defRPr sz="900"/>
            </a:lvl5pPr>
            <a:lvl6pPr marL="2285526" indent="0">
              <a:buNone/>
              <a:defRPr sz="900"/>
            </a:lvl6pPr>
            <a:lvl7pPr marL="2742632" indent="0">
              <a:buNone/>
              <a:defRPr sz="900"/>
            </a:lvl7pPr>
            <a:lvl8pPr marL="3199737" indent="0">
              <a:buNone/>
              <a:defRPr sz="900"/>
            </a:lvl8pPr>
            <a:lvl9pPr marL="3656842"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F57C077-F7F1-4D2F-BCC7-B4CF325FA706}"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C90B2B2-BD3D-46B3-80C7-95FCC1AB6F8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0438" y="303213"/>
            <a:ext cx="2266950" cy="64500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4827" y="303213"/>
            <a:ext cx="6653213" cy="6450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1899F9D-BE20-491A-97A8-3020D519ABE3}"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344083" y="4283816"/>
            <a:ext cx="7560469" cy="1091953"/>
          </a:xfrm>
        </p:spPr>
        <p:txBody>
          <a:bodyPr anchor="t" anchorCtr="0"/>
          <a:lstStyle>
            <a:lvl1pPr algn="r">
              <a:defRPr sz="35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344083" y="5648757"/>
            <a:ext cx="7560469" cy="587975"/>
          </a:xfrm>
        </p:spPr>
        <p:txBody>
          <a:bodyPr/>
          <a:lstStyle>
            <a:lvl1pPr marL="0" indent="0" algn="r">
              <a:buNone/>
              <a:defRPr sz="2200">
                <a:solidFill>
                  <a:schemeClr val="tx2"/>
                </a:solidFill>
                <a:latin typeface="+mj-lt"/>
                <a:ea typeface="+mj-ea"/>
                <a:cs typeface="+mj-cs"/>
              </a:defRPr>
            </a:lvl1pPr>
            <a:lvl2pPr marL="503972" indent="0" algn="ctr">
              <a:buNone/>
            </a:lvl2pPr>
            <a:lvl3pPr marL="1007943" indent="0" algn="ctr">
              <a:buNone/>
            </a:lvl3pPr>
            <a:lvl4pPr marL="1511915" indent="0" algn="ctr">
              <a:buNone/>
            </a:lvl4pPr>
            <a:lvl5pPr marL="2015886" indent="0" algn="ctr">
              <a:buNone/>
            </a:lvl5pPr>
            <a:lvl6pPr marL="2519858" indent="0" algn="ctr">
              <a:buNone/>
            </a:lvl6pPr>
            <a:lvl7pPr marL="3023829" indent="0" algn="ctr">
              <a:buNone/>
            </a:lvl7pPr>
            <a:lvl8pPr marL="3527801" indent="0" algn="ctr">
              <a:buNone/>
            </a:lvl8pPr>
            <a:lvl9pPr marL="4031772" indent="0" algn="ctr">
              <a:buNone/>
            </a:lvl9pPr>
          </a:lstStyle>
          <a:p>
            <a:r>
              <a:rPr kumimoji="0" lang="en-US"/>
              <a:t>Click to edit Master subtitle style</a:t>
            </a:r>
          </a:p>
        </p:txBody>
      </p:sp>
      <p:sp>
        <p:nvSpPr>
          <p:cNvPr id="28" name="Date Placeholder 27"/>
          <p:cNvSpPr>
            <a:spLocks noGrp="1"/>
          </p:cNvSpPr>
          <p:nvPr>
            <p:ph type="dt" sz="half" idx="10"/>
          </p:nvPr>
        </p:nvSpPr>
        <p:spPr>
          <a:xfrm>
            <a:off x="7056438" y="7005299"/>
            <a:ext cx="2520156" cy="403183"/>
          </a:xfrm>
        </p:spPr>
        <p:txBody>
          <a:bodyPr/>
          <a:lstStyle>
            <a:lvl1pPr>
              <a:defRPr sz="1500"/>
            </a:lvl1pPr>
          </a:lstStyle>
          <a:p>
            <a:endParaRPr lang="en-US"/>
          </a:p>
        </p:txBody>
      </p:sp>
      <p:sp>
        <p:nvSpPr>
          <p:cNvPr id="17" name="Footer Placeholder 16"/>
          <p:cNvSpPr>
            <a:spLocks noGrp="1"/>
          </p:cNvSpPr>
          <p:nvPr>
            <p:ph type="ftr" sz="quarter" idx="11"/>
          </p:nvPr>
        </p:nvSpPr>
        <p:spPr>
          <a:xfrm>
            <a:off x="3195558" y="7005299"/>
            <a:ext cx="3830638" cy="403183"/>
          </a:xfrm>
        </p:spPr>
        <p:txBody>
          <a:bodyPr/>
          <a:lstStyle/>
          <a:p>
            <a:endParaRPr lang="en-US"/>
          </a:p>
        </p:txBody>
      </p:sp>
      <p:sp>
        <p:nvSpPr>
          <p:cNvPr id="29" name="Slide Number Placeholder 28"/>
          <p:cNvSpPr>
            <a:spLocks noGrp="1"/>
          </p:cNvSpPr>
          <p:nvPr>
            <p:ph type="sldNum" sz="quarter" idx="12"/>
          </p:nvPr>
        </p:nvSpPr>
        <p:spPr>
          <a:xfrm>
            <a:off x="1340723" y="7005299"/>
            <a:ext cx="1344083" cy="403183"/>
          </a:xfrm>
        </p:spPr>
        <p:txBody>
          <a:bodyPr/>
          <a:lstStyle/>
          <a:p>
            <a:fld id="{82355374-9C98-4423-AB27-80CD21397CCE}" type="slidenum">
              <a:rPr lang="en-US" smtClean="0"/>
              <a:pPr/>
              <a:t>‹#›</a:t>
            </a:fld>
            <a:endParaRPr lang="en-US"/>
          </a:p>
        </p:txBody>
      </p:sp>
      <p:sp>
        <p:nvSpPr>
          <p:cNvPr id="21" name="Rectangle 20"/>
          <p:cNvSpPr/>
          <p:nvPr/>
        </p:nvSpPr>
        <p:spPr>
          <a:xfrm>
            <a:off x="997562" y="4021327"/>
            <a:ext cx="8064500" cy="1411139"/>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
        <p:nvSpPr>
          <p:cNvPr id="33" name="Rectangle 32"/>
          <p:cNvSpPr/>
          <p:nvPr/>
        </p:nvSpPr>
        <p:spPr>
          <a:xfrm>
            <a:off x="1008063" y="5564761"/>
            <a:ext cx="8064500" cy="755968"/>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
        <p:nvSpPr>
          <p:cNvPr id="22" name="Rectangle 21"/>
          <p:cNvSpPr/>
          <p:nvPr/>
        </p:nvSpPr>
        <p:spPr>
          <a:xfrm>
            <a:off x="997562" y="4021327"/>
            <a:ext cx="252016" cy="1411139"/>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
        <p:nvSpPr>
          <p:cNvPr id="32" name="Rectangle 31"/>
          <p:cNvSpPr/>
          <p:nvPr/>
        </p:nvSpPr>
        <p:spPr>
          <a:xfrm>
            <a:off x="1008062" y="5564761"/>
            <a:ext cx="252016" cy="755968"/>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591306-41CF-4237-B2B4-5C605DD45071}" type="slidenum">
              <a:rPr lang="en-US" smtClean="0"/>
              <a:pPr/>
              <a:t>‹#›</a:t>
            </a:fld>
            <a:endParaRPr lang="en-US"/>
          </a:p>
        </p:txBody>
      </p:sp>
      <p:sp>
        <p:nvSpPr>
          <p:cNvPr id="8" name="Content Placeholder 7"/>
          <p:cNvSpPr>
            <a:spLocks noGrp="1"/>
          </p:cNvSpPr>
          <p:nvPr>
            <p:ph sz="quarter" idx="1"/>
          </p:nvPr>
        </p:nvSpPr>
        <p:spPr>
          <a:xfrm>
            <a:off x="504031" y="1343942"/>
            <a:ext cx="9072563" cy="5442966"/>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344083" y="3275859"/>
            <a:ext cx="7560469" cy="1175949"/>
          </a:xfrm>
        </p:spPr>
        <p:txBody>
          <a:bodyPr anchor="t" anchorCtr="0"/>
          <a:lstStyle>
            <a:lvl1pPr algn="r">
              <a:buNone/>
              <a:defRPr sz="3500" b="0" cap="none" baseline="0"/>
            </a:lvl1pPr>
          </a:lstStyle>
          <a:p>
            <a:r>
              <a:rPr kumimoji="0" lang="en-US"/>
              <a:t>Click to edit Master title style</a:t>
            </a:r>
          </a:p>
        </p:txBody>
      </p:sp>
      <p:sp>
        <p:nvSpPr>
          <p:cNvPr id="3" name="Text Placeholder 2"/>
          <p:cNvSpPr>
            <a:spLocks noGrp="1"/>
          </p:cNvSpPr>
          <p:nvPr>
            <p:ph type="body" idx="1"/>
          </p:nvPr>
        </p:nvSpPr>
        <p:spPr>
          <a:xfrm>
            <a:off x="1428088" y="4703798"/>
            <a:ext cx="7476464" cy="1259946"/>
          </a:xfrm>
        </p:spPr>
        <p:txBody>
          <a:bodyPr anchor="t" anchorCtr="0"/>
          <a:lstStyle>
            <a:lvl1pPr marL="0" indent="0" algn="r">
              <a:buNone/>
              <a:defRPr sz="2200">
                <a:solidFill>
                  <a:schemeClr val="tx1">
                    <a:tint val="75000"/>
                  </a:schemeClr>
                </a:solidFill>
              </a:defRPr>
            </a:lvl1pPr>
            <a:lvl2pPr>
              <a:buNone/>
              <a:defRPr sz="2000">
                <a:solidFill>
                  <a:schemeClr val="tx1">
                    <a:tint val="75000"/>
                  </a:schemeClr>
                </a:solidFill>
              </a:defRPr>
            </a:lvl2pPr>
            <a:lvl3pPr>
              <a:buNone/>
              <a:defRPr sz="1800">
                <a:solidFill>
                  <a:schemeClr val="tx1">
                    <a:tint val="75000"/>
                  </a:schemeClr>
                </a:solidFill>
              </a:defRPr>
            </a:lvl3pPr>
            <a:lvl4pPr>
              <a:buNone/>
              <a:defRPr sz="1500">
                <a:solidFill>
                  <a:schemeClr val="tx1">
                    <a:tint val="75000"/>
                  </a:schemeClr>
                </a:solidFill>
              </a:defRPr>
            </a:lvl4pPr>
            <a:lvl5pPr>
              <a:buNone/>
              <a:defRPr sz="15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7056438" y="7005299"/>
            <a:ext cx="2520156" cy="403183"/>
          </a:xfrm>
        </p:spPr>
        <p:txBody>
          <a:bodyPr/>
          <a:lstStyle/>
          <a:p>
            <a:endParaRPr lang="en-US"/>
          </a:p>
        </p:txBody>
      </p:sp>
      <p:sp>
        <p:nvSpPr>
          <p:cNvPr id="5" name="Footer Placeholder 4"/>
          <p:cNvSpPr>
            <a:spLocks noGrp="1"/>
          </p:cNvSpPr>
          <p:nvPr>
            <p:ph type="ftr" sz="quarter" idx="11"/>
          </p:nvPr>
        </p:nvSpPr>
        <p:spPr>
          <a:xfrm>
            <a:off x="3195558" y="7005299"/>
            <a:ext cx="3830638" cy="403183"/>
          </a:xfrm>
        </p:spPr>
        <p:txBody>
          <a:bodyPr/>
          <a:lstStyle/>
          <a:p>
            <a:endParaRPr lang="en-US"/>
          </a:p>
        </p:txBody>
      </p:sp>
      <p:sp>
        <p:nvSpPr>
          <p:cNvPr id="6" name="Slide Number Placeholder 5"/>
          <p:cNvSpPr>
            <a:spLocks noGrp="1"/>
          </p:cNvSpPr>
          <p:nvPr>
            <p:ph type="sldNum" sz="quarter" idx="12"/>
          </p:nvPr>
        </p:nvSpPr>
        <p:spPr>
          <a:xfrm>
            <a:off x="1179433" y="7005299"/>
            <a:ext cx="1676744" cy="403183"/>
          </a:xfrm>
        </p:spPr>
        <p:txBody>
          <a:bodyPr/>
          <a:lstStyle/>
          <a:p>
            <a:fld id="{6E62C3BD-70E8-4754-85A2-5423C1D25B59}" type="slidenum">
              <a:rPr lang="en-US" smtClean="0"/>
              <a:pPr/>
              <a:t>‹#›</a:t>
            </a:fld>
            <a:endParaRPr lang="en-US"/>
          </a:p>
        </p:txBody>
      </p:sp>
      <p:sp>
        <p:nvSpPr>
          <p:cNvPr id="7" name="Rectangle 6"/>
          <p:cNvSpPr/>
          <p:nvPr/>
        </p:nvSpPr>
        <p:spPr>
          <a:xfrm>
            <a:off x="1008063" y="3107867"/>
            <a:ext cx="8064500" cy="1411139"/>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
        <p:nvSpPr>
          <p:cNvPr id="8" name="Rectangle 7"/>
          <p:cNvSpPr/>
          <p:nvPr/>
        </p:nvSpPr>
        <p:spPr>
          <a:xfrm>
            <a:off x="1008062" y="3107867"/>
            <a:ext cx="252016" cy="1411139"/>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04031" y="251989"/>
            <a:ext cx="9072563" cy="1007957"/>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FA8B48-89DC-4465-BAC9-A0A0A569C6E4}" type="slidenum">
              <a:rPr lang="en-US" smtClean="0"/>
              <a:pPr/>
              <a:t>‹#›</a:t>
            </a:fld>
            <a:endParaRPr lang="en-US"/>
          </a:p>
        </p:txBody>
      </p:sp>
      <p:sp>
        <p:nvSpPr>
          <p:cNvPr id="9" name="Content Placeholder 8"/>
          <p:cNvSpPr>
            <a:spLocks noGrp="1"/>
          </p:cNvSpPr>
          <p:nvPr>
            <p:ph sz="quarter" idx="1"/>
          </p:nvPr>
        </p:nvSpPr>
        <p:spPr>
          <a:xfrm>
            <a:off x="504031" y="1343942"/>
            <a:ext cx="4455636" cy="5442966"/>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106677" y="1340582"/>
            <a:ext cx="4455636" cy="5442966"/>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031" y="251989"/>
            <a:ext cx="9072563" cy="1007957"/>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504031" y="1417439"/>
            <a:ext cx="4454027" cy="755968"/>
          </a:xfrm>
          <a:noFill/>
          <a:ln>
            <a:noFill/>
          </a:ln>
        </p:spPr>
        <p:txBody>
          <a:bodyPr lIns="100794" anchor="b" anchorCtr="0">
            <a:noAutofit/>
          </a:bodyPr>
          <a:lstStyle>
            <a:lvl1pPr marL="0" indent="0">
              <a:buNone/>
              <a:defRPr sz="2600" b="1">
                <a:solidFill>
                  <a:schemeClr val="accent2"/>
                </a:solidFill>
              </a:defRPr>
            </a:lvl1pPr>
            <a:lvl2pPr>
              <a:buNone/>
              <a:defRPr sz="2200" b="1"/>
            </a:lvl2pPr>
            <a:lvl3pPr>
              <a:buNone/>
              <a:defRPr sz="2000" b="1"/>
            </a:lvl3pPr>
            <a:lvl4pPr>
              <a:buNone/>
              <a:defRPr sz="1800" b="1"/>
            </a:lvl4pPr>
            <a:lvl5pPr>
              <a:buNone/>
              <a:defRPr sz="18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124318" y="1427938"/>
            <a:ext cx="4455776" cy="755968"/>
          </a:xfrm>
          <a:noFill/>
          <a:ln>
            <a:noFill/>
          </a:ln>
        </p:spPr>
        <p:txBody>
          <a:bodyPr lIns="100794" anchor="b" anchorCtr="0"/>
          <a:lstStyle>
            <a:lvl1pPr marL="0" indent="0">
              <a:buNone/>
              <a:defRPr sz="2600" b="1">
                <a:solidFill>
                  <a:schemeClr val="accent2"/>
                </a:solidFill>
              </a:defRPr>
            </a:lvl1pPr>
            <a:lvl2pPr>
              <a:buNone/>
              <a:defRPr sz="2200" b="1"/>
            </a:lvl2pPr>
            <a:lvl3pPr>
              <a:buNone/>
              <a:defRPr sz="2000" b="1"/>
            </a:lvl3pPr>
            <a:lvl4pPr>
              <a:buNone/>
              <a:defRPr sz="1800" b="1"/>
            </a:lvl4pPr>
            <a:lvl5pPr>
              <a:buNone/>
              <a:defRPr sz="18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1949DF-800C-4A5E-B66E-220D04574B89}" type="slidenum">
              <a:rPr lang="en-US" smtClean="0"/>
              <a:pPr/>
              <a:t>‹#›</a:t>
            </a:fld>
            <a:endParaRPr lang="en-US"/>
          </a:p>
        </p:txBody>
      </p:sp>
      <p:sp>
        <p:nvSpPr>
          <p:cNvPr id="11" name="Content Placeholder 10"/>
          <p:cNvSpPr>
            <a:spLocks noGrp="1"/>
          </p:cNvSpPr>
          <p:nvPr>
            <p:ph sz="quarter" idx="2"/>
          </p:nvPr>
        </p:nvSpPr>
        <p:spPr>
          <a:xfrm>
            <a:off x="504031" y="2351899"/>
            <a:ext cx="4452276" cy="4451809"/>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124318" y="2351899"/>
            <a:ext cx="4452276" cy="4451809"/>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4031" y="251989"/>
            <a:ext cx="9072563" cy="1007957"/>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2B4670-F689-40C5-A733-CEE5E84C3D4A}" type="slidenum">
              <a:rPr lang="en-US" smtClean="0"/>
              <a:pPr/>
              <a:t>‹#›</a:t>
            </a:fld>
            <a:endParaRPr lang="en-US"/>
          </a:p>
        </p:txBody>
      </p:sp>
      <p:sp>
        <p:nvSpPr>
          <p:cNvPr id="6" name="Isosceles Triangle 5"/>
          <p:cNvSpPr>
            <a:spLocks noChangeAspect="1"/>
          </p:cNvSpPr>
          <p:nvPr/>
        </p:nvSpPr>
        <p:spPr>
          <a:xfrm rot="5400000">
            <a:off x="462040" y="7129186"/>
            <a:ext cx="210376" cy="13263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9DC5B1-B7F0-470C-AB85-9E28CE096C73}" type="slidenum">
              <a:rPr lang="en-US" smtClean="0"/>
              <a:pPr/>
              <a:t>‹#›</a:t>
            </a:fld>
            <a:endParaRPr lang="en-US"/>
          </a:p>
        </p:txBody>
      </p:sp>
      <p:sp>
        <p:nvSpPr>
          <p:cNvPr id="5" name="Straight Connector 4"/>
          <p:cNvSpPr>
            <a:spLocks noChangeShapeType="1"/>
          </p:cNvSpPr>
          <p:nvPr/>
        </p:nvSpPr>
        <p:spPr bwMode="auto">
          <a:xfrm>
            <a:off x="504031" y="7003199"/>
            <a:ext cx="9072563"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0794" tIns="50397" rIns="100794" bIns="50397" anchor="t" compatLnSpc="1"/>
          <a:lstStyle/>
          <a:p>
            <a:endParaRPr kumimoji="0" lang="en-US"/>
          </a:p>
        </p:txBody>
      </p:sp>
      <p:sp>
        <p:nvSpPr>
          <p:cNvPr id="6" name="Isosceles Triangle 5"/>
          <p:cNvSpPr>
            <a:spLocks noChangeAspect="1"/>
          </p:cNvSpPr>
          <p:nvPr/>
        </p:nvSpPr>
        <p:spPr>
          <a:xfrm rot="5400000">
            <a:off x="462040" y="7129186"/>
            <a:ext cx="210376" cy="13263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72432" y="335986"/>
            <a:ext cx="2772172" cy="923960"/>
          </a:xfrm>
        </p:spPr>
        <p:txBody>
          <a:bodyPr anchor="b" anchorCtr="0">
            <a:noAutofit/>
          </a:bodyPr>
          <a:lstStyle>
            <a:lvl1pPr algn="l">
              <a:buNone/>
              <a:defRPr sz="22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972432" y="1343943"/>
            <a:ext cx="2772172" cy="5339021"/>
          </a:xfrm>
        </p:spPr>
        <p:txBody>
          <a:bodyPr/>
          <a:lstStyle>
            <a:lvl1pPr marL="0" indent="0">
              <a:lnSpc>
                <a:spcPts val="2425"/>
              </a:lnSpc>
              <a:spcAft>
                <a:spcPts val="1102"/>
              </a:spcAft>
              <a:buNone/>
              <a:defRPr sz="1800">
                <a:solidFill>
                  <a:schemeClr val="tx2"/>
                </a:solidFill>
              </a:defRPr>
            </a:lvl1pPr>
            <a:lvl2pPr>
              <a:buNone/>
              <a:defRPr sz="1300"/>
            </a:lvl2pPr>
            <a:lvl3pPr>
              <a:buNone/>
              <a:defRPr sz="1100"/>
            </a:lvl3pPr>
            <a:lvl4pPr>
              <a:buNone/>
              <a:defRPr sz="1000"/>
            </a:lvl4pPr>
            <a:lvl5pPr>
              <a:buNone/>
              <a:defRPr sz="10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C616A4-6666-4500-A439-FBE4501481D4}" type="slidenum">
              <a:rPr lang="en-US" smtClean="0"/>
              <a:pPr/>
              <a:t>‹#›</a:t>
            </a:fld>
            <a:endParaRPr lang="en-US"/>
          </a:p>
        </p:txBody>
      </p:sp>
      <p:sp>
        <p:nvSpPr>
          <p:cNvPr id="8" name="Straight Connector 7"/>
          <p:cNvSpPr>
            <a:spLocks noChangeShapeType="1"/>
          </p:cNvSpPr>
          <p:nvPr/>
        </p:nvSpPr>
        <p:spPr bwMode="auto">
          <a:xfrm>
            <a:off x="504031" y="7003199"/>
            <a:ext cx="9072563"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0794" tIns="50397" rIns="100794" bIns="50397" anchor="t" compatLnSpc="1"/>
          <a:lstStyle/>
          <a:p>
            <a:endParaRPr kumimoji="0" lang="en-US"/>
          </a:p>
        </p:txBody>
      </p:sp>
      <p:sp>
        <p:nvSpPr>
          <p:cNvPr id="10" name="Straight Connector 9"/>
          <p:cNvSpPr>
            <a:spLocks noChangeShapeType="1"/>
          </p:cNvSpPr>
          <p:nvPr/>
        </p:nvSpPr>
        <p:spPr bwMode="auto">
          <a:xfrm rot="5400000">
            <a:off x="3484741" y="3664342"/>
            <a:ext cx="6652514"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0794" tIns="50397" rIns="100794" bIns="50397" anchor="t" compatLnSpc="1"/>
          <a:lstStyle/>
          <a:p>
            <a:endParaRPr kumimoji="0" lang="en-US" dirty="0"/>
          </a:p>
        </p:txBody>
      </p:sp>
      <p:sp>
        <p:nvSpPr>
          <p:cNvPr id="9" name="Isosceles Triangle 8"/>
          <p:cNvSpPr>
            <a:spLocks noChangeAspect="1"/>
          </p:cNvSpPr>
          <p:nvPr/>
        </p:nvSpPr>
        <p:spPr>
          <a:xfrm rot="5400000">
            <a:off x="462040" y="7129186"/>
            <a:ext cx="210376" cy="13263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
        <p:nvSpPr>
          <p:cNvPr id="12" name="Content Placeholder 11"/>
          <p:cNvSpPr>
            <a:spLocks noGrp="1"/>
          </p:cNvSpPr>
          <p:nvPr>
            <p:ph sz="quarter" idx="1"/>
          </p:nvPr>
        </p:nvSpPr>
        <p:spPr>
          <a:xfrm>
            <a:off x="336021" y="335986"/>
            <a:ext cx="6300391" cy="6299729"/>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04031" y="552101"/>
            <a:ext cx="9072563" cy="743719"/>
          </a:xfrm>
          <a:ln>
            <a:solidFill>
              <a:schemeClr val="accent1"/>
            </a:solidFill>
          </a:ln>
        </p:spPr>
        <p:txBody>
          <a:bodyPr lIns="302383" anchor="ctr"/>
          <a:lstStyle>
            <a:lvl1pPr algn="r">
              <a:buNone/>
              <a:defRPr sz="22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504031" y="2099910"/>
            <a:ext cx="9072563" cy="4707158"/>
          </a:xfrm>
          <a:solidFill>
            <a:schemeClr val="tx1">
              <a:shade val="50000"/>
            </a:schemeClr>
          </a:solidFill>
          <a:ln>
            <a:noFill/>
          </a:ln>
          <a:effectLst/>
        </p:spPr>
        <p:txBody>
          <a:bodyPr/>
          <a:lstStyle>
            <a:lvl1pPr marL="0" indent="0">
              <a:spcBef>
                <a:spcPts val="661"/>
              </a:spcBef>
              <a:buNone/>
              <a:defRPr sz="35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4031" y="1343942"/>
            <a:ext cx="9072563" cy="587975"/>
          </a:xfrm>
        </p:spPr>
        <p:txBody>
          <a:bodyPr anchor="ctr" anchorCtr="0"/>
          <a:lstStyle>
            <a:lvl1pPr marL="0" indent="0" algn="l">
              <a:buFontTx/>
              <a:buNone/>
              <a:defRPr sz="1500"/>
            </a:lvl1pPr>
            <a:lvl2pPr>
              <a:defRPr sz="1300"/>
            </a:lvl2pPr>
            <a:lvl3pPr>
              <a:defRPr sz="1100"/>
            </a:lvl3pPr>
            <a:lvl4pPr>
              <a:defRPr sz="1000"/>
            </a:lvl4pPr>
            <a:lvl5pPr>
              <a:defRPr sz="10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57C077-F7F1-4D2F-BCC7-B4CF325FA706}" type="slidenum">
              <a:rPr lang="en-US" smtClean="0"/>
              <a:pPr/>
              <a:t>‹#›</a:t>
            </a:fld>
            <a:endParaRPr lang="en-US"/>
          </a:p>
        </p:txBody>
      </p:sp>
      <p:sp>
        <p:nvSpPr>
          <p:cNvPr id="8" name="Straight Connector 7"/>
          <p:cNvSpPr>
            <a:spLocks noChangeShapeType="1"/>
          </p:cNvSpPr>
          <p:nvPr/>
        </p:nvSpPr>
        <p:spPr bwMode="auto">
          <a:xfrm>
            <a:off x="504031" y="7003199"/>
            <a:ext cx="9072563"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0794" tIns="50397" rIns="100794" bIns="50397" anchor="t" compatLnSpc="1"/>
          <a:lstStyle/>
          <a:p>
            <a:endParaRPr kumimoji="0" lang="en-US"/>
          </a:p>
        </p:txBody>
      </p:sp>
      <p:sp>
        <p:nvSpPr>
          <p:cNvPr id="9" name="Isosceles Triangle 8"/>
          <p:cNvSpPr>
            <a:spLocks noChangeAspect="1"/>
          </p:cNvSpPr>
          <p:nvPr/>
        </p:nvSpPr>
        <p:spPr>
          <a:xfrm rot="5400000">
            <a:off x="462040" y="7129186"/>
            <a:ext cx="210376" cy="13263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
        <p:nvSpPr>
          <p:cNvPr id="10" name="Rectangle 9"/>
          <p:cNvSpPr/>
          <p:nvPr/>
        </p:nvSpPr>
        <p:spPr>
          <a:xfrm>
            <a:off x="504031" y="552101"/>
            <a:ext cx="201613" cy="755968"/>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90B2B2-BD3D-46B3-80C7-95FCC1AB6F85}"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8453" y="302738"/>
            <a:ext cx="2268141" cy="645022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504031" y="302738"/>
            <a:ext cx="6636411" cy="645022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899F9D-BE20-491A-97A8-3020D519ABE3}" type="slidenum">
              <a:rPr lang="en-US" smtClean="0"/>
              <a:pPr/>
              <a:t>‹#›</a:t>
            </a:fld>
            <a:endParaRPr lang="en-US"/>
          </a:p>
        </p:txBody>
      </p:sp>
      <p:sp>
        <p:nvSpPr>
          <p:cNvPr id="7" name="Straight Connector 6"/>
          <p:cNvSpPr>
            <a:spLocks noChangeShapeType="1"/>
          </p:cNvSpPr>
          <p:nvPr/>
        </p:nvSpPr>
        <p:spPr bwMode="auto">
          <a:xfrm>
            <a:off x="504031" y="7003199"/>
            <a:ext cx="9072563"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0794" tIns="50397" rIns="100794" bIns="50397" anchor="t" compatLnSpc="1"/>
          <a:lstStyle/>
          <a:p>
            <a:endParaRPr kumimoji="0" lang="en-US"/>
          </a:p>
        </p:txBody>
      </p:sp>
      <p:sp>
        <p:nvSpPr>
          <p:cNvPr id="8" name="Isosceles Triangle 7"/>
          <p:cNvSpPr>
            <a:spLocks noChangeAspect="1"/>
          </p:cNvSpPr>
          <p:nvPr/>
        </p:nvSpPr>
        <p:spPr>
          <a:xfrm rot="5400000">
            <a:off x="462040" y="7129186"/>
            <a:ext cx="210376" cy="13263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
        <p:nvSpPr>
          <p:cNvPr id="9" name="Straight Connector 8"/>
          <p:cNvSpPr>
            <a:spLocks noChangeShapeType="1"/>
          </p:cNvSpPr>
          <p:nvPr/>
        </p:nvSpPr>
        <p:spPr bwMode="auto">
          <a:xfrm rot="5400000">
            <a:off x="4001728" y="3529559"/>
            <a:ext cx="6450923"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0794" tIns="50397" rIns="100794" bIns="50397"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bwMode="auto">
          <a:xfrm>
            <a:off x="504827" y="303215"/>
            <a:ext cx="9072563" cy="1258887"/>
          </a:xfrm>
          <a:prstGeom prst="rect">
            <a:avLst/>
          </a:prstGeom>
          <a:noFill/>
          <a:ln w="9525">
            <a:noFill/>
            <a:miter lim="800000"/>
            <a:headEnd/>
            <a:tailEnd/>
          </a:ln>
          <a:effectLst/>
        </p:spPr>
        <p:txBody>
          <a:bodyPr vert="horz" wrap="square" lIns="91420" tIns="45711" rIns="91420" bIns="45711" numCol="1" anchor="ctr" anchorCtr="0" compatLnSpc="1">
            <a:prstTxWarp prst="textNoShape">
              <a:avLst/>
            </a:prstTxWarp>
          </a:bodyPr>
          <a:lstStyle/>
          <a:p>
            <a:pPr lvl="0"/>
            <a:r>
              <a:rPr lang="en-US"/>
              <a:t>Click to edit Master title style</a:t>
            </a:r>
          </a:p>
        </p:txBody>
      </p:sp>
      <p:sp>
        <p:nvSpPr>
          <p:cNvPr id="345091" name="Rectangle 3"/>
          <p:cNvSpPr>
            <a:spLocks noGrp="1" noChangeArrowheads="1"/>
          </p:cNvSpPr>
          <p:nvPr>
            <p:ph type="body" idx="1"/>
          </p:nvPr>
        </p:nvSpPr>
        <p:spPr bwMode="auto">
          <a:xfrm>
            <a:off x="504827" y="1763713"/>
            <a:ext cx="9072563" cy="4989512"/>
          </a:xfrm>
          <a:prstGeom prst="rect">
            <a:avLst/>
          </a:prstGeom>
          <a:noFill/>
          <a:ln w="9525">
            <a:noFill/>
            <a:miter lim="800000"/>
            <a:headEnd/>
            <a:tailEnd/>
          </a:ln>
          <a:effectLst/>
        </p:spPr>
        <p:txBody>
          <a:bodyPr vert="horz" wrap="square" lIns="91420" tIns="45711" rIns="91420" bIns="4571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5092" name="Rectangle 4"/>
          <p:cNvSpPr>
            <a:spLocks noGrp="1" noChangeArrowheads="1"/>
          </p:cNvSpPr>
          <p:nvPr>
            <p:ph type="dt" sz="half" idx="2"/>
          </p:nvPr>
        </p:nvSpPr>
        <p:spPr bwMode="auto">
          <a:xfrm>
            <a:off x="504825" y="6884990"/>
            <a:ext cx="2351088" cy="523875"/>
          </a:xfrm>
          <a:prstGeom prst="rect">
            <a:avLst/>
          </a:prstGeom>
          <a:noFill/>
          <a:ln w="9525">
            <a:noFill/>
            <a:miter lim="800000"/>
            <a:headEnd/>
            <a:tailEnd/>
          </a:ln>
          <a:effectLst/>
        </p:spPr>
        <p:txBody>
          <a:bodyPr vert="horz" wrap="square" lIns="91420" tIns="45711" rIns="91420" bIns="45711" numCol="1" anchor="t" anchorCtr="0" compatLnSpc="1">
            <a:prstTxWarp prst="textNoShape">
              <a:avLst/>
            </a:prstTxWarp>
          </a:bodyPr>
          <a:lstStyle>
            <a:lvl1pPr>
              <a:defRPr sz="1400">
                <a:solidFill>
                  <a:schemeClr val="tx1"/>
                </a:solidFill>
              </a:defRPr>
            </a:lvl1pPr>
          </a:lstStyle>
          <a:p>
            <a:endParaRPr lang="en-US"/>
          </a:p>
        </p:txBody>
      </p:sp>
      <p:sp>
        <p:nvSpPr>
          <p:cNvPr id="345093" name="Rectangle 5"/>
          <p:cNvSpPr>
            <a:spLocks noGrp="1" noChangeArrowheads="1"/>
          </p:cNvSpPr>
          <p:nvPr>
            <p:ph type="ftr" sz="quarter" idx="3"/>
          </p:nvPr>
        </p:nvSpPr>
        <p:spPr bwMode="auto">
          <a:xfrm>
            <a:off x="3444875" y="6884990"/>
            <a:ext cx="3190875" cy="523875"/>
          </a:xfrm>
          <a:prstGeom prst="rect">
            <a:avLst/>
          </a:prstGeom>
          <a:noFill/>
          <a:ln w="9525">
            <a:noFill/>
            <a:miter lim="800000"/>
            <a:headEnd/>
            <a:tailEnd/>
          </a:ln>
          <a:effectLst/>
        </p:spPr>
        <p:txBody>
          <a:bodyPr vert="horz" wrap="square" lIns="91420" tIns="45711" rIns="91420" bIns="45711" numCol="1" anchor="t" anchorCtr="0" compatLnSpc="1">
            <a:prstTxWarp prst="textNoShape">
              <a:avLst/>
            </a:prstTxWarp>
          </a:bodyPr>
          <a:lstStyle>
            <a:lvl1pPr algn="ctr">
              <a:defRPr sz="1400">
                <a:solidFill>
                  <a:schemeClr val="tx1"/>
                </a:solidFill>
              </a:defRPr>
            </a:lvl1pPr>
          </a:lstStyle>
          <a:p>
            <a:endParaRPr lang="en-US"/>
          </a:p>
        </p:txBody>
      </p:sp>
      <p:sp>
        <p:nvSpPr>
          <p:cNvPr id="345094" name="Rectangle 6"/>
          <p:cNvSpPr>
            <a:spLocks noGrp="1" noChangeArrowheads="1"/>
          </p:cNvSpPr>
          <p:nvPr>
            <p:ph type="sldNum" sz="quarter" idx="4"/>
          </p:nvPr>
        </p:nvSpPr>
        <p:spPr bwMode="auto">
          <a:xfrm>
            <a:off x="7224715" y="6884990"/>
            <a:ext cx="2352675" cy="523875"/>
          </a:xfrm>
          <a:prstGeom prst="rect">
            <a:avLst/>
          </a:prstGeom>
          <a:noFill/>
          <a:ln w="9525">
            <a:noFill/>
            <a:miter lim="800000"/>
            <a:headEnd/>
            <a:tailEnd/>
          </a:ln>
          <a:effectLst/>
        </p:spPr>
        <p:txBody>
          <a:bodyPr vert="horz" wrap="square" lIns="91420" tIns="45711" rIns="91420" bIns="45711" numCol="1" anchor="t" anchorCtr="0" compatLnSpc="1">
            <a:prstTxWarp prst="textNoShape">
              <a:avLst/>
            </a:prstTxWarp>
          </a:bodyPr>
          <a:lstStyle>
            <a:lvl1pPr algn="r">
              <a:defRPr sz="1400">
                <a:solidFill>
                  <a:schemeClr val="tx1"/>
                </a:solidFill>
              </a:defRPr>
            </a:lvl1pPr>
          </a:lstStyle>
          <a:p>
            <a:fld id="{1A62CC4F-A6C2-4F5D-9EED-7D155C821D6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105" algn="ctr" rtl="0" fontAlgn="base">
        <a:spcBef>
          <a:spcPct val="0"/>
        </a:spcBef>
        <a:spcAft>
          <a:spcPct val="0"/>
        </a:spcAft>
        <a:defRPr sz="4400">
          <a:solidFill>
            <a:schemeClr val="tx2"/>
          </a:solidFill>
          <a:latin typeface="Arial" charset="0"/>
        </a:defRPr>
      </a:lvl6pPr>
      <a:lvl7pPr marL="914210" algn="ctr" rtl="0" fontAlgn="base">
        <a:spcBef>
          <a:spcPct val="0"/>
        </a:spcBef>
        <a:spcAft>
          <a:spcPct val="0"/>
        </a:spcAft>
        <a:defRPr sz="4400">
          <a:solidFill>
            <a:schemeClr val="tx2"/>
          </a:solidFill>
          <a:latin typeface="Arial" charset="0"/>
        </a:defRPr>
      </a:lvl7pPr>
      <a:lvl8pPr marL="1371315" algn="ctr" rtl="0" fontAlgn="base">
        <a:spcBef>
          <a:spcPct val="0"/>
        </a:spcBef>
        <a:spcAft>
          <a:spcPct val="0"/>
        </a:spcAft>
        <a:defRPr sz="4400">
          <a:solidFill>
            <a:schemeClr val="tx2"/>
          </a:solidFill>
          <a:latin typeface="Arial" charset="0"/>
        </a:defRPr>
      </a:lvl8pPr>
      <a:lvl9pPr marL="1828420" algn="ctr" rtl="0" fontAlgn="base">
        <a:spcBef>
          <a:spcPct val="0"/>
        </a:spcBef>
        <a:spcAft>
          <a:spcPct val="0"/>
        </a:spcAft>
        <a:defRPr sz="4400">
          <a:solidFill>
            <a:schemeClr val="tx2"/>
          </a:solidFill>
          <a:latin typeface="Arial" charset="0"/>
        </a:defRPr>
      </a:lvl9pPr>
    </p:titleStyle>
    <p:bodyStyle>
      <a:lvl1pPr marL="342830" indent="-342830" algn="l" rtl="0" fontAlgn="base">
        <a:spcBef>
          <a:spcPct val="20000"/>
        </a:spcBef>
        <a:spcAft>
          <a:spcPct val="0"/>
        </a:spcAft>
        <a:buChar char="•"/>
        <a:defRPr sz="3200">
          <a:solidFill>
            <a:schemeClr val="tx1"/>
          </a:solidFill>
          <a:latin typeface="+mn-lt"/>
          <a:ea typeface="+mn-ea"/>
          <a:cs typeface="+mn-cs"/>
        </a:defRPr>
      </a:lvl1pPr>
      <a:lvl2pPr marL="742796" indent="-285692" algn="l" rtl="0" fontAlgn="base">
        <a:spcBef>
          <a:spcPct val="20000"/>
        </a:spcBef>
        <a:spcAft>
          <a:spcPct val="0"/>
        </a:spcAft>
        <a:buChar char="–"/>
        <a:defRPr sz="2800">
          <a:solidFill>
            <a:schemeClr val="tx1"/>
          </a:solidFill>
          <a:latin typeface="+mn-lt"/>
        </a:defRPr>
      </a:lvl2pPr>
      <a:lvl3pPr marL="1142762" indent="-228552" algn="l" rtl="0" fontAlgn="base">
        <a:spcBef>
          <a:spcPct val="20000"/>
        </a:spcBef>
        <a:spcAft>
          <a:spcPct val="0"/>
        </a:spcAft>
        <a:buChar char="•"/>
        <a:defRPr sz="2400">
          <a:solidFill>
            <a:schemeClr val="tx1"/>
          </a:solidFill>
          <a:latin typeface="+mn-lt"/>
        </a:defRPr>
      </a:lvl3pPr>
      <a:lvl4pPr marL="1599868" indent="-228552" algn="l" rtl="0" fontAlgn="base">
        <a:spcBef>
          <a:spcPct val="20000"/>
        </a:spcBef>
        <a:spcAft>
          <a:spcPct val="0"/>
        </a:spcAft>
        <a:buChar char="–"/>
        <a:defRPr sz="2000">
          <a:solidFill>
            <a:schemeClr val="tx1"/>
          </a:solidFill>
          <a:latin typeface="+mn-lt"/>
        </a:defRPr>
      </a:lvl4pPr>
      <a:lvl5pPr marL="2056973" indent="-228552" algn="l" rtl="0" fontAlgn="base">
        <a:spcBef>
          <a:spcPct val="20000"/>
        </a:spcBef>
        <a:spcAft>
          <a:spcPct val="0"/>
        </a:spcAft>
        <a:buChar char="»"/>
        <a:defRPr sz="2000">
          <a:solidFill>
            <a:schemeClr val="tx1"/>
          </a:solidFill>
          <a:latin typeface="+mn-lt"/>
        </a:defRPr>
      </a:lvl5pPr>
      <a:lvl6pPr marL="2514080" indent="-228552" algn="l" rtl="0" fontAlgn="base">
        <a:spcBef>
          <a:spcPct val="20000"/>
        </a:spcBef>
        <a:spcAft>
          <a:spcPct val="0"/>
        </a:spcAft>
        <a:buChar char="»"/>
        <a:defRPr sz="2000">
          <a:solidFill>
            <a:schemeClr val="tx1"/>
          </a:solidFill>
          <a:latin typeface="+mn-lt"/>
        </a:defRPr>
      </a:lvl6pPr>
      <a:lvl7pPr marL="2971184" indent="-228552" algn="l" rtl="0" fontAlgn="base">
        <a:spcBef>
          <a:spcPct val="20000"/>
        </a:spcBef>
        <a:spcAft>
          <a:spcPct val="0"/>
        </a:spcAft>
        <a:buChar char="»"/>
        <a:defRPr sz="2000">
          <a:solidFill>
            <a:schemeClr val="tx1"/>
          </a:solidFill>
          <a:latin typeface="+mn-lt"/>
        </a:defRPr>
      </a:lvl7pPr>
      <a:lvl8pPr marL="3428290" indent="-228552" algn="l" rtl="0" fontAlgn="base">
        <a:spcBef>
          <a:spcPct val="20000"/>
        </a:spcBef>
        <a:spcAft>
          <a:spcPct val="0"/>
        </a:spcAft>
        <a:buChar char="»"/>
        <a:defRPr sz="2000">
          <a:solidFill>
            <a:schemeClr val="tx1"/>
          </a:solidFill>
          <a:latin typeface="+mn-lt"/>
        </a:defRPr>
      </a:lvl8pPr>
      <a:lvl9pPr marL="3885394" indent="-228552"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210" rtl="0" eaLnBrk="1" latinLnBrk="0" hangingPunct="1">
        <a:defRPr sz="1800" kern="1200">
          <a:solidFill>
            <a:schemeClr val="tx1"/>
          </a:solidFill>
          <a:latin typeface="+mn-lt"/>
          <a:ea typeface="+mn-ea"/>
          <a:cs typeface="+mn-cs"/>
        </a:defRPr>
      </a:lvl1pPr>
      <a:lvl2pPr marL="457105" algn="l" defTabSz="914210" rtl="0" eaLnBrk="1" latinLnBrk="0" hangingPunct="1">
        <a:defRPr sz="1800" kern="1200">
          <a:solidFill>
            <a:schemeClr val="tx1"/>
          </a:solidFill>
          <a:latin typeface="+mn-lt"/>
          <a:ea typeface="+mn-ea"/>
          <a:cs typeface="+mn-cs"/>
        </a:defRPr>
      </a:lvl2pPr>
      <a:lvl3pPr marL="914210" algn="l" defTabSz="914210" rtl="0" eaLnBrk="1" latinLnBrk="0" hangingPunct="1">
        <a:defRPr sz="1800" kern="1200">
          <a:solidFill>
            <a:schemeClr val="tx1"/>
          </a:solidFill>
          <a:latin typeface="+mn-lt"/>
          <a:ea typeface="+mn-ea"/>
          <a:cs typeface="+mn-cs"/>
        </a:defRPr>
      </a:lvl3pPr>
      <a:lvl4pPr marL="1371315" algn="l" defTabSz="914210" rtl="0" eaLnBrk="1" latinLnBrk="0" hangingPunct="1">
        <a:defRPr sz="1800" kern="1200">
          <a:solidFill>
            <a:schemeClr val="tx1"/>
          </a:solidFill>
          <a:latin typeface="+mn-lt"/>
          <a:ea typeface="+mn-ea"/>
          <a:cs typeface="+mn-cs"/>
        </a:defRPr>
      </a:lvl4pPr>
      <a:lvl5pPr marL="1828420" algn="l" defTabSz="914210" rtl="0" eaLnBrk="1" latinLnBrk="0" hangingPunct="1">
        <a:defRPr sz="1800" kern="1200">
          <a:solidFill>
            <a:schemeClr val="tx1"/>
          </a:solidFill>
          <a:latin typeface="+mn-lt"/>
          <a:ea typeface="+mn-ea"/>
          <a:cs typeface="+mn-cs"/>
        </a:defRPr>
      </a:lvl5pPr>
      <a:lvl6pPr marL="2285526" algn="l" defTabSz="914210" rtl="0" eaLnBrk="1" latinLnBrk="0" hangingPunct="1">
        <a:defRPr sz="1800" kern="1200">
          <a:solidFill>
            <a:schemeClr val="tx1"/>
          </a:solidFill>
          <a:latin typeface="+mn-lt"/>
          <a:ea typeface="+mn-ea"/>
          <a:cs typeface="+mn-cs"/>
        </a:defRPr>
      </a:lvl6pPr>
      <a:lvl7pPr marL="2742632" algn="l" defTabSz="914210" rtl="0" eaLnBrk="1" latinLnBrk="0" hangingPunct="1">
        <a:defRPr sz="1800" kern="1200">
          <a:solidFill>
            <a:schemeClr val="tx1"/>
          </a:solidFill>
          <a:latin typeface="+mn-lt"/>
          <a:ea typeface="+mn-ea"/>
          <a:cs typeface="+mn-cs"/>
        </a:defRPr>
      </a:lvl7pPr>
      <a:lvl8pPr marL="3199737" algn="l" defTabSz="914210" rtl="0" eaLnBrk="1" latinLnBrk="0" hangingPunct="1">
        <a:defRPr sz="1800" kern="1200">
          <a:solidFill>
            <a:schemeClr val="tx1"/>
          </a:solidFill>
          <a:latin typeface="+mn-lt"/>
          <a:ea typeface="+mn-ea"/>
          <a:cs typeface="+mn-cs"/>
        </a:defRPr>
      </a:lvl8pPr>
      <a:lvl9pPr marL="3656842" algn="l" defTabSz="91421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504031" y="167993"/>
            <a:ext cx="9072563" cy="1091953"/>
          </a:xfrm>
          <a:prstGeom prst="rect">
            <a:avLst/>
          </a:prstGeom>
        </p:spPr>
        <p:txBody>
          <a:bodyPr vert="horz" lIns="100794" tIns="50397" rIns="100794" bIns="50397" anchor="b" anchorCtr="0">
            <a:normAutofit/>
          </a:bodyPr>
          <a:lstStyle/>
          <a:p>
            <a:r>
              <a:rPr kumimoji="0" lang="en-US"/>
              <a:t>Click to edit Master title style</a:t>
            </a:r>
          </a:p>
        </p:txBody>
      </p:sp>
      <p:sp>
        <p:nvSpPr>
          <p:cNvPr id="13" name="Text Placeholder 12"/>
          <p:cNvSpPr>
            <a:spLocks noGrp="1"/>
          </p:cNvSpPr>
          <p:nvPr>
            <p:ph type="body" idx="1"/>
          </p:nvPr>
        </p:nvSpPr>
        <p:spPr>
          <a:xfrm>
            <a:off x="504031" y="1343942"/>
            <a:ext cx="9072563" cy="5412727"/>
          </a:xfrm>
          <a:prstGeom prst="rect">
            <a:avLst/>
          </a:prstGeom>
        </p:spPr>
        <p:txBody>
          <a:bodyPr vert="horz" lIns="100794" tIns="50397" rIns="100794" bIns="50397">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7056438" y="7006699"/>
            <a:ext cx="2523516" cy="403183"/>
          </a:xfrm>
          <a:prstGeom prst="rect">
            <a:avLst/>
          </a:prstGeom>
        </p:spPr>
        <p:txBody>
          <a:bodyPr vert="horz" lIns="100794" tIns="50397" rIns="100794" bIns="50397"/>
          <a:lstStyle>
            <a:lvl1pPr algn="l" eaLnBrk="1" latinLnBrk="0" hangingPunct="1">
              <a:defRPr kumimoji="0" sz="1500">
                <a:solidFill>
                  <a:schemeClr val="tx2"/>
                </a:solidFill>
              </a:defRPr>
            </a:lvl1pPr>
          </a:lstStyle>
          <a:p>
            <a:endParaRPr lang="en-US"/>
          </a:p>
        </p:txBody>
      </p:sp>
      <p:sp>
        <p:nvSpPr>
          <p:cNvPr id="3" name="Footer Placeholder 2"/>
          <p:cNvSpPr>
            <a:spLocks noGrp="1"/>
          </p:cNvSpPr>
          <p:nvPr>
            <p:ph type="ftr" sz="quarter" idx="3"/>
          </p:nvPr>
        </p:nvSpPr>
        <p:spPr>
          <a:xfrm>
            <a:off x="3195558" y="7006699"/>
            <a:ext cx="3864240" cy="403183"/>
          </a:xfrm>
          <a:prstGeom prst="rect">
            <a:avLst/>
          </a:prstGeom>
        </p:spPr>
        <p:txBody>
          <a:bodyPr vert="horz" lIns="100794" tIns="50397" rIns="100794" bIns="50397"/>
          <a:lstStyle>
            <a:lvl1pPr algn="r" eaLnBrk="1" latinLnBrk="0" hangingPunct="1">
              <a:defRPr kumimoji="0" sz="1500">
                <a:solidFill>
                  <a:schemeClr val="tx2"/>
                </a:solidFill>
              </a:defRPr>
            </a:lvl1pPr>
          </a:lstStyle>
          <a:p>
            <a:endParaRPr lang="en-US"/>
          </a:p>
        </p:txBody>
      </p:sp>
      <p:sp>
        <p:nvSpPr>
          <p:cNvPr id="23" name="Slide Number Placeholder 22"/>
          <p:cNvSpPr>
            <a:spLocks noGrp="1"/>
          </p:cNvSpPr>
          <p:nvPr>
            <p:ph type="sldNum" sz="quarter" idx="4"/>
          </p:nvPr>
        </p:nvSpPr>
        <p:spPr>
          <a:xfrm>
            <a:off x="675402" y="7006699"/>
            <a:ext cx="2184135" cy="403183"/>
          </a:xfrm>
          <a:prstGeom prst="rect">
            <a:avLst/>
          </a:prstGeom>
        </p:spPr>
        <p:txBody>
          <a:bodyPr vert="horz" lIns="100794" tIns="50397" rIns="100794" bIns="50397"/>
          <a:lstStyle>
            <a:lvl1pPr algn="l" eaLnBrk="1" latinLnBrk="0" hangingPunct="1">
              <a:defRPr kumimoji="0" sz="1500">
                <a:solidFill>
                  <a:schemeClr val="tx2"/>
                </a:solidFill>
              </a:defRPr>
            </a:lvl1pPr>
          </a:lstStyle>
          <a:p>
            <a:fld id="{1A62CC4F-A6C2-4F5D-9EED-7D155C821D6B}" type="slidenum">
              <a:rPr lang="en-US" smtClean="0"/>
              <a:pPr/>
              <a:t>‹#›</a:t>
            </a:fld>
            <a:endParaRPr lang="en-US"/>
          </a:p>
        </p:txBody>
      </p:sp>
      <p:sp>
        <p:nvSpPr>
          <p:cNvPr id="28" name="Straight Connector 27"/>
          <p:cNvSpPr>
            <a:spLocks noChangeShapeType="1"/>
          </p:cNvSpPr>
          <p:nvPr/>
        </p:nvSpPr>
        <p:spPr bwMode="auto">
          <a:xfrm>
            <a:off x="504031" y="7003199"/>
            <a:ext cx="9072563"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0794" tIns="50397" rIns="100794" bIns="50397" anchor="t" compatLnSpc="1"/>
          <a:lstStyle/>
          <a:p>
            <a:endParaRPr kumimoji="0" lang="en-US"/>
          </a:p>
        </p:txBody>
      </p:sp>
      <p:sp>
        <p:nvSpPr>
          <p:cNvPr id="29" name="Straight Connector 28"/>
          <p:cNvSpPr>
            <a:spLocks noChangeShapeType="1"/>
          </p:cNvSpPr>
          <p:nvPr/>
        </p:nvSpPr>
        <p:spPr bwMode="auto">
          <a:xfrm>
            <a:off x="504031" y="1259946"/>
            <a:ext cx="9072563" cy="0"/>
          </a:xfrm>
          <a:prstGeom prst="line">
            <a:avLst/>
          </a:prstGeom>
          <a:noFill/>
          <a:ln w="9525" cap="flat" cmpd="sng" algn="ctr">
            <a:solidFill>
              <a:schemeClr val="accent2"/>
            </a:solidFill>
            <a:prstDash val="dash"/>
            <a:round/>
            <a:headEnd type="none" w="med" len="med"/>
            <a:tailEnd type="none" w="med" len="med"/>
          </a:ln>
          <a:effectLst/>
        </p:spPr>
        <p:txBody>
          <a:bodyPr vert="horz" wrap="square" lIns="100794" tIns="50397" rIns="100794" bIns="50397" anchor="t" compatLnSpc="1"/>
          <a:lstStyle/>
          <a:p>
            <a:endParaRPr kumimoji="0" lang="en-US"/>
          </a:p>
        </p:txBody>
      </p:sp>
      <p:sp>
        <p:nvSpPr>
          <p:cNvPr id="10" name="Isosceles Triangle 9"/>
          <p:cNvSpPr>
            <a:spLocks noChangeAspect="1"/>
          </p:cNvSpPr>
          <p:nvPr/>
        </p:nvSpPr>
        <p:spPr>
          <a:xfrm rot="5400000">
            <a:off x="462040" y="7129186"/>
            <a:ext cx="210376" cy="132638"/>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794" tIns="50397" rIns="100794" bIns="50397"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ftr="0" dt="0"/>
  <p:txStyles>
    <p:titleStyle>
      <a:lvl1pPr algn="l" rtl="0" eaLnBrk="1" latinLnBrk="0" hangingPunct="1">
        <a:spcBef>
          <a:spcPct val="0"/>
        </a:spcBef>
        <a:buNone/>
        <a:defRPr kumimoji="0" sz="3500" kern="1200">
          <a:solidFill>
            <a:schemeClr val="tx2"/>
          </a:solidFill>
          <a:latin typeface="+mj-lt"/>
          <a:ea typeface="+mj-ea"/>
          <a:cs typeface="+mj-cs"/>
        </a:defRPr>
      </a:lvl1pPr>
    </p:titleStyle>
    <p:bodyStyle>
      <a:lvl1pPr marL="302383" indent="-302383" algn="l" rtl="0" eaLnBrk="1" latinLnBrk="0" hangingPunct="1">
        <a:spcBef>
          <a:spcPts val="661"/>
        </a:spcBef>
        <a:buClr>
          <a:schemeClr val="accent1"/>
        </a:buClr>
        <a:buSzPct val="76000"/>
        <a:buFont typeface="Wingdings 3"/>
        <a:buChar char=""/>
        <a:defRPr kumimoji="0" sz="2900" kern="1200">
          <a:solidFill>
            <a:schemeClr val="tx1"/>
          </a:solidFill>
          <a:latin typeface="+mn-lt"/>
          <a:ea typeface="+mn-ea"/>
          <a:cs typeface="+mn-cs"/>
        </a:defRPr>
      </a:lvl1pPr>
      <a:lvl2pPr marL="604766" indent="-302383" algn="l" rtl="0" eaLnBrk="1" latinLnBrk="0" hangingPunct="1">
        <a:spcBef>
          <a:spcPts val="551"/>
        </a:spcBef>
        <a:buClr>
          <a:schemeClr val="accent2"/>
        </a:buClr>
        <a:buSzPct val="76000"/>
        <a:buFont typeface="Wingdings 3"/>
        <a:buChar char=""/>
        <a:defRPr kumimoji="0" sz="2500" kern="1200">
          <a:solidFill>
            <a:schemeClr val="tx2"/>
          </a:solidFill>
          <a:latin typeface="+mn-lt"/>
          <a:ea typeface="+mn-ea"/>
          <a:cs typeface="+mn-cs"/>
        </a:defRPr>
      </a:lvl2pPr>
      <a:lvl3pPr marL="907149" indent="-251986" algn="l" rtl="0" eaLnBrk="1" latinLnBrk="0" hangingPunct="1">
        <a:spcBef>
          <a:spcPts val="551"/>
        </a:spcBef>
        <a:buClr>
          <a:schemeClr val="bg1">
            <a:shade val="50000"/>
          </a:schemeClr>
        </a:buClr>
        <a:buSzPct val="76000"/>
        <a:buFont typeface="Wingdings 3"/>
        <a:buChar char=""/>
        <a:defRPr kumimoji="0" sz="2200" kern="1200">
          <a:solidFill>
            <a:schemeClr val="tx1"/>
          </a:solidFill>
          <a:latin typeface="+mn-lt"/>
          <a:ea typeface="+mn-ea"/>
          <a:cs typeface="+mn-cs"/>
        </a:defRPr>
      </a:lvl3pPr>
      <a:lvl4pPr marL="1209532" indent="-251986" algn="l" rtl="0" eaLnBrk="1" latinLnBrk="0" hangingPunct="1">
        <a:spcBef>
          <a:spcPts val="441"/>
        </a:spcBef>
        <a:buClr>
          <a:schemeClr val="accent2">
            <a:shade val="75000"/>
          </a:schemeClr>
        </a:buClr>
        <a:buSzPct val="70000"/>
        <a:buFont typeface="Wingdings"/>
        <a:buChar char=""/>
        <a:defRPr kumimoji="0" sz="2000" kern="1200">
          <a:solidFill>
            <a:schemeClr val="tx1"/>
          </a:solidFill>
          <a:latin typeface="+mn-lt"/>
          <a:ea typeface="+mn-ea"/>
          <a:cs typeface="+mn-cs"/>
        </a:defRPr>
      </a:lvl4pPr>
      <a:lvl5pPr marL="1511915" indent="-251986" algn="l" rtl="0" eaLnBrk="1" latinLnBrk="0" hangingPunct="1">
        <a:spcBef>
          <a:spcPts val="331"/>
        </a:spcBef>
        <a:buClr>
          <a:schemeClr val="accent2"/>
        </a:buClr>
        <a:buSzPct val="70000"/>
        <a:buFont typeface="Wingdings"/>
        <a:buChar char=""/>
        <a:defRPr kumimoji="0" sz="1800" kern="1200">
          <a:solidFill>
            <a:schemeClr val="tx1"/>
          </a:solidFill>
          <a:latin typeface="+mn-lt"/>
          <a:ea typeface="+mn-ea"/>
          <a:cs typeface="+mn-cs"/>
        </a:defRPr>
      </a:lvl5pPr>
      <a:lvl6pPr marL="1814298" indent="-201589" algn="l" rtl="0" eaLnBrk="1" latinLnBrk="0" hangingPunct="1">
        <a:spcBef>
          <a:spcPts val="331"/>
        </a:spcBef>
        <a:buClr>
          <a:srgbClr val="9FB8CD">
            <a:shade val="75000"/>
          </a:srgbClr>
        </a:buClr>
        <a:buSzPct val="75000"/>
        <a:buFont typeface="Wingdings 3"/>
        <a:buChar char=""/>
        <a:defRPr kumimoji="0" lang="en-US" sz="1800" kern="1200" smtClean="0">
          <a:solidFill>
            <a:schemeClr val="tx1"/>
          </a:solidFill>
          <a:latin typeface="+mn-lt"/>
          <a:ea typeface="+mn-ea"/>
          <a:cs typeface="+mn-cs"/>
        </a:defRPr>
      </a:lvl6pPr>
      <a:lvl7pPr marL="2015886" indent="-201589" algn="l" rtl="0" eaLnBrk="1" latinLnBrk="0" hangingPunct="1">
        <a:spcBef>
          <a:spcPts val="331"/>
        </a:spcBef>
        <a:buClr>
          <a:srgbClr val="727CA3">
            <a:shade val="75000"/>
          </a:srgbClr>
        </a:buClr>
        <a:buSzPct val="75000"/>
        <a:buFont typeface="Wingdings 3"/>
        <a:buChar char=""/>
        <a:defRPr kumimoji="0" lang="en-US" sz="1500" kern="1200" smtClean="0">
          <a:solidFill>
            <a:schemeClr val="tx1"/>
          </a:solidFill>
          <a:latin typeface="+mn-lt"/>
          <a:ea typeface="+mn-ea"/>
          <a:cs typeface="+mn-cs"/>
        </a:defRPr>
      </a:lvl7pPr>
      <a:lvl8pPr marL="2217475" indent="-201589" algn="l" rtl="0" eaLnBrk="1" latinLnBrk="0" hangingPunct="1">
        <a:spcBef>
          <a:spcPts val="331"/>
        </a:spcBef>
        <a:buClr>
          <a:prstClr val="white">
            <a:shade val="50000"/>
          </a:prstClr>
        </a:buClr>
        <a:buSzPct val="75000"/>
        <a:buFont typeface="Wingdings 3"/>
        <a:buChar char=""/>
        <a:defRPr kumimoji="0" lang="en-US" sz="1500" kern="1200" smtClean="0">
          <a:solidFill>
            <a:schemeClr val="tx1"/>
          </a:solidFill>
          <a:latin typeface="+mn-lt"/>
          <a:ea typeface="+mn-ea"/>
          <a:cs typeface="+mn-cs"/>
        </a:defRPr>
      </a:lvl8pPr>
      <a:lvl9pPr marL="2419063" indent="-201589" algn="l" rtl="0" eaLnBrk="1" latinLnBrk="0" hangingPunct="1">
        <a:spcBef>
          <a:spcPts val="331"/>
        </a:spcBef>
        <a:buClr>
          <a:srgbClr val="9FB8CD"/>
        </a:buClr>
        <a:buSzPct val="75000"/>
        <a:buFont typeface="Wingdings 3"/>
        <a:buChar char=""/>
        <a:defRPr kumimoji="0" lang="en-US" sz="13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03972" algn="l" rtl="0" eaLnBrk="1" latinLnBrk="0" hangingPunct="1">
        <a:defRPr kumimoji="0" kern="1200">
          <a:solidFill>
            <a:schemeClr val="tx1"/>
          </a:solidFill>
          <a:latin typeface="+mn-lt"/>
          <a:ea typeface="+mn-ea"/>
          <a:cs typeface="+mn-cs"/>
        </a:defRPr>
      </a:lvl2pPr>
      <a:lvl3pPr marL="1007943" algn="l" rtl="0" eaLnBrk="1" latinLnBrk="0" hangingPunct="1">
        <a:defRPr kumimoji="0" kern="1200">
          <a:solidFill>
            <a:schemeClr val="tx1"/>
          </a:solidFill>
          <a:latin typeface="+mn-lt"/>
          <a:ea typeface="+mn-ea"/>
          <a:cs typeface="+mn-cs"/>
        </a:defRPr>
      </a:lvl3pPr>
      <a:lvl4pPr marL="1511915" algn="l" rtl="0" eaLnBrk="1" latinLnBrk="0" hangingPunct="1">
        <a:defRPr kumimoji="0" kern="1200">
          <a:solidFill>
            <a:schemeClr val="tx1"/>
          </a:solidFill>
          <a:latin typeface="+mn-lt"/>
          <a:ea typeface="+mn-ea"/>
          <a:cs typeface="+mn-cs"/>
        </a:defRPr>
      </a:lvl4pPr>
      <a:lvl5pPr marL="2015886" algn="l" rtl="0" eaLnBrk="1" latinLnBrk="0" hangingPunct="1">
        <a:defRPr kumimoji="0" kern="1200">
          <a:solidFill>
            <a:schemeClr val="tx1"/>
          </a:solidFill>
          <a:latin typeface="+mn-lt"/>
          <a:ea typeface="+mn-ea"/>
          <a:cs typeface="+mn-cs"/>
        </a:defRPr>
      </a:lvl5pPr>
      <a:lvl6pPr marL="2519858" algn="l" rtl="0" eaLnBrk="1" latinLnBrk="0" hangingPunct="1">
        <a:defRPr kumimoji="0" kern="1200">
          <a:solidFill>
            <a:schemeClr val="tx1"/>
          </a:solidFill>
          <a:latin typeface="+mn-lt"/>
          <a:ea typeface="+mn-ea"/>
          <a:cs typeface="+mn-cs"/>
        </a:defRPr>
      </a:lvl6pPr>
      <a:lvl7pPr marL="3023829" algn="l" rtl="0" eaLnBrk="1" latinLnBrk="0" hangingPunct="1">
        <a:defRPr kumimoji="0" kern="1200">
          <a:solidFill>
            <a:schemeClr val="tx1"/>
          </a:solidFill>
          <a:latin typeface="+mn-lt"/>
          <a:ea typeface="+mn-ea"/>
          <a:cs typeface="+mn-cs"/>
        </a:defRPr>
      </a:lvl7pPr>
      <a:lvl8pPr marL="3527801" algn="l" rtl="0" eaLnBrk="1" latinLnBrk="0" hangingPunct="1">
        <a:defRPr kumimoji="0" kern="1200">
          <a:solidFill>
            <a:schemeClr val="tx1"/>
          </a:solidFill>
          <a:latin typeface="+mn-lt"/>
          <a:ea typeface="+mn-ea"/>
          <a:cs typeface="+mn-cs"/>
        </a:defRPr>
      </a:lvl8pPr>
      <a:lvl9pPr marL="4031772"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hyperlink" Target="https://en.wikipedia.org/wiki/Java_version_history" TargetMode="Externa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hyperlink" Target="https://download.oracle.com/java/25/latest/jdk-25_windows-x64_bin.msi" TargetMode="External"/><Relationship Id="rId2" Type="http://schemas.openxmlformats.org/officeDocument/2006/relationships/hyperlink" Target="https://www.oracle.com/in/java/technologies/downloads/#jdk25-windows" TargetMode="Externa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hyperlink" Target="https://www.oracle.com/java/technologies/downloads/" TargetMode="Externa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7.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alpha val="85000"/>
          </a:schemeClr>
        </a:solidFill>
        <a:effectLst/>
      </p:bgPr>
    </p:bg>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a:xfrm>
            <a:off x="1130300" y="0"/>
            <a:ext cx="8091488" cy="1054102"/>
          </a:xfrm>
          <a:ln/>
        </p:spPr>
        <p:txBody>
          <a:bodyPr lIns="19837" tIns="51577" rIns="19837" bIns="51577">
            <a:normAutofit/>
          </a:bodyPr>
          <a:lstStyle/>
          <a:p>
            <a:pPr defTabSz="914210">
              <a:lnSpc>
                <a:spcPct val="80000"/>
              </a:lnSpc>
            </a:pPr>
            <a:r>
              <a:rPr lang="en-US" sz="2800" b="1" dirty="0">
                <a:solidFill>
                  <a:srgbClr val="C00000"/>
                </a:solidFill>
              </a:rPr>
              <a:t>PROGRAMMING IN JAVA</a:t>
            </a:r>
            <a:r>
              <a:rPr lang="en-GB" sz="2800" b="1" dirty="0">
                <a:solidFill>
                  <a:srgbClr val="C00000"/>
                </a:solidFill>
              </a:rPr>
              <a:t> </a:t>
            </a:r>
            <a:r>
              <a:rPr lang="en-GB" sz="5400" dirty="0">
                <a:solidFill>
                  <a:srgbClr val="C00000"/>
                </a:solidFill>
              </a:rPr>
              <a:t>– </a:t>
            </a:r>
            <a:r>
              <a:rPr lang="en-US" sz="2800" b="1" dirty="0">
                <a:solidFill>
                  <a:srgbClr val="C00000"/>
                </a:solidFill>
              </a:rPr>
              <a:t>U23ITTC02</a:t>
            </a:r>
            <a:endParaRPr lang="en-GB" sz="2800" b="1" dirty="0">
              <a:solidFill>
                <a:srgbClr val="C00000"/>
              </a:solidFill>
            </a:endParaRPr>
          </a:p>
        </p:txBody>
      </p:sp>
      <p:sp>
        <p:nvSpPr>
          <p:cNvPr id="689155" name="Text Box 3"/>
          <p:cNvSpPr txBox="1">
            <a:spLocks noChangeArrowheads="1"/>
          </p:cNvSpPr>
          <p:nvPr/>
        </p:nvSpPr>
        <p:spPr bwMode="auto">
          <a:xfrm>
            <a:off x="1538287" y="3705225"/>
            <a:ext cx="7053263" cy="1930400"/>
          </a:xfrm>
          <a:prstGeom prst="rect">
            <a:avLst/>
          </a:prstGeom>
          <a:noFill/>
          <a:ln w="9525">
            <a:noFill/>
            <a:miter lim="800000"/>
            <a:headEnd/>
            <a:tailEnd/>
          </a:ln>
        </p:spPr>
        <p:txBody>
          <a:bodyPr lIns="19837" tIns="51577" rIns="19837" bIns="51577" anchor="ctr"/>
          <a:lstStyle/>
          <a:p>
            <a:pPr algn="ctr" defTabSz="1007855">
              <a:tabLst>
                <a:tab pos="728511" algn="l"/>
                <a:tab pos="1679226" algn="l"/>
                <a:tab pos="2631530" algn="l"/>
                <a:tab pos="3583832" algn="l"/>
                <a:tab pos="4536134" algn="l"/>
                <a:tab pos="5488435" algn="l"/>
                <a:tab pos="6440739" algn="l"/>
              </a:tabLst>
            </a:pPr>
            <a:endParaRPr lang="en-GB" sz="4700" b="1" dirty="0">
              <a:solidFill>
                <a:schemeClr val="tx1"/>
              </a:solidFill>
              <a:latin typeface="Comic Sans MS" pitchFamily="66" charset="0"/>
            </a:endParaRPr>
          </a:p>
        </p:txBody>
      </p:sp>
      <p:pic>
        <p:nvPicPr>
          <p:cNvPr id="14338" name="Picture 2" descr="Java Development Services"/>
          <p:cNvPicPr>
            <a:picLocks noChangeAspect="1" noChangeArrowheads="1"/>
          </p:cNvPicPr>
          <p:nvPr/>
        </p:nvPicPr>
        <p:blipFill>
          <a:blip r:embed="rId3"/>
          <a:srcRect/>
          <a:stretch>
            <a:fillRect/>
          </a:stretch>
        </p:blipFill>
        <p:spPr bwMode="auto">
          <a:xfrm>
            <a:off x="-1" y="1252277"/>
            <a:ext cx="10080625" cy="630739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C3300"/>
                </a:solidFill>
              </a:rPr>
              <a:t>Course Outcomes</a:t>
            </a:r>
            <a:endParaRPr lang="en-US" dirty="0"/>
          </a:p>
        </p:txBody>
      </p:sp>
      <p:sp>
        <p:nvSpPr>
          <p:cNvPr id="3" name="Slide Number Placeholder 2"/>
          <p:cNvSpPr>
            <a:spLocks noGrp="1"/>
          </p:cNvSpPr>
          <p:nvPr>
            <p:ph type="sldNum" sz="quarter" idx="12"/>
          </p:nvPr>
        </p:nvSpPr>
        <p:spPr/>
        <p:txBody>
          <a:bodyPr/>
          <a:lstStyle/>
          <a:p>
            <a:fld id="{E3591306-41CF-4237-B2B4-5C605DD45071}" type="slidenum">
              <a:rPr lang="en-US" smtClean="0"/>
              <a:pPr/>
              <a:t>2</a:t>
            </a:fld>
            <a:endParaRPr lang="en-US"/>
          </a:p>
        </p:txBody>
      </p:sp>
      <p:sp>
        <p:nvSpPr>
          <p:cNvPr id="4" name="Content Placeholder 3"/>
          <p:cNvSpPr>
            <a:spLocks noGrp="1"/>
          </p:cNvSpPr>
          <p:nvPr>
            <p:ph sz="quarter" idx="1"/>
          </p:nvPr>
        </p:nvSpPr>
        <p:spPr/>
        <p:txBody>
          <a:bodyPr>
            <a:normAutofit/>
          </a:bodyPr>
          <a:lstStyle/>
          <a:p>
            <a:pPr marL="301625" indent="-301625" algn="just"/>
            <a:r>
              <a:rPr lang="en-US" sz="2800" b="1" dirty="0">
                <a:solidFill>
                  <a:srgbClr val="6600FF"/>
                </a:solidFill>
              </a:rPr>
              <a:t>CO1: Articulate the concept of Java fundamentals, OOPs and Strings   (K2)</a:t>
            </a:r>
          </a:p>
          <a:p>
            <a:pPr marL="301625" indent="-301625" algn="just"/>
            <a:r>
              <a:rPr lang="en-US" sz="2800" b="1" dirty="0"/>
              <a:t>CO2: </a:t>
            </a:r>
            <a:r>
              <a:rPr lang="en-US" sz="2800" dirty="0"/>
              <a:t>Demonstrate the principles of inheritance, packages and interfaces with real time applications (K3)</a:t>
            </a:r>
          </a:p>
          <a:p>
            <a:pPr marL="301625" indent="-301625" algn="just"/>
            <a:r>
              <a:rPr lang="en-US" sz="2800" b="1" dirty="0"/>
              <a:t>CO3: </a:t>
            </a:r>
            <a:r>
              <a:rPr lang="en-US" sz="2800" dirty="0"/>
              <a:t>Create real time applications using exception handling and thread programming. (K3)</a:t>
            </a:r>
          </a:p>
          <a:p>
            <a:pPr marL="301625" indent="-301625" algn="just"/>
            <a:r>
              <a:rPr lang="en-US" sz="2800" b="1" dirty="0"/>
              <a:t>CO4: </a:t>
            </a:r>
            <a:r>
              <a:rPr lang="en-US" sz="2800" dirty="0"/>
              <a:t>Build distributed applications using Collections and IO streams (K3)</a:t>
            </a:r>
          </a:p>
          <a:p>
            <a:pPr marL="301625" indent="-301625" algn="just"/>
            <a:r>
              <a:rPr lang="en-US" sz="2800" b="1" dirty="0"/>
              <a:t>CO5: </a:t>
            </a:r>
            <a:r>
              <a:rPr lang="en-US" sz="2800" dirty="0"/>
              <a:t>Design and build simple GUI programs using AWT, Swings and build database applications  (K3)</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31" y="167994"/>
            <a:ext cx="9072563" cy="336504"/>
          </a:xfrm>
        </p:spPr>
        <p:txBody>
          <a:bodyPr>
            <a:normAutofit fontScale="90000"/>
          </a:bodyPr>
          <a:lstStyle/>
          <a:p>
            <a:r>
              <a:rPr lang="en-US" b="1" dirty="0">
                <a:solidFill>
                  <a:srgbClr val="C00000"/>
                </a:solidFill>
              </a:rPr>
              <a:t>Syllabus </a:t>
            </a:r>
          </a:p>
        </p:txBody>
      </p:sp>
      <p:sp>
        <p:nvSpPr>
          <p:cNvPr id="3" name="Slide Number Placeholder 2"/>
          <p:cNvSpPr>
            <a:spLocks noGrp="1"/>
          </p:cNvSpPr>
          <p:nvPr>
            <p:ph type="sldNum" sz="quarter" idx="12"/>
          </p:nvPr>
        </p:nvSpPr>
        <p:spPr/>
        <p:txBody>
          <a:bodyPr/>
          <a:lstStyle/>
          <a:p>
            <a:fld id="{E3591306-41CF-4237-B2B4-5C605DD45071}" type="slidenum">
              <a:rPr lang="en-US" smtClean="0"/>
              <a:pPr/>
              <a:t>3</a:t>
            </a:fld>
            <a:endParaRPr lang="en-US"/>
          </a:p>
        </p:txBody>
      </p:sp>
      <p:sp>
        <p:nvSpPr>
          <p:cNvPr id="4" name="Content Placeholder 3"/>
          <p:cNvSpPr>
            <a:spLocks noGrp="1"/>
          </p:cNvSpPr>
          <p:nvPr>
            <p:ph sz="quarter" idx="1"/>
          </p:nvPr>
        </p:nvSpPr>
        <p:spPr>
          <a:xfrm>
            <a:off x="126124" y="593966"/>
            <a:ext cx="4776952" cy="6542689"/>
          </a:xfrm>
        </p:spPr>
        <p:txBody>
          <a:bodyPr>
            <a:noAutofit/>
          </a:bodyPr>
          <a:lstStyle/>
          <a:p>
            <a:r>
              <a:rPr lang="en-US" sz="1400" b="1" dirty="0">
                <a:solidFill>
                  <a:srgbClr val="7030A0"/>
                </a:solidFill>
                <a:latin typeface="Times New Roman" pitchFamily="18" charset="0"/>
                <a:cs typeface="Times New Roman" pitchFamily="18" charset="0"/>
              </a:rPr>
              <a:t>UNIT I- INTRODUCTION </a:t>
            </a:r>
          </a:p>
          <a:p>
            <a:pPr lvl="1" algn="just"/>
            <a:r>
              <a:rPr lang="en-US" sz="1400" b="1" dirty="0">
                <a:solidFill>
                  <a:schemeClr val="tx1"/>
                </a:solidFill>
                <a:latin typeface="Times New Roman" pitchFamily="18" charset="0"/>
                <a:cs typeface="Times New Roman" pitchFamily="18" charset="0"/>
              </a:rPr>
              <a:t>Introduction:</a:t>
            </a:r>
            <a:r>
              <a:rPr lang="en-US" sz="1400" b="1" dirty="0">
                <a:solidFill>
                  <a:srgbClr val="008000"/>
                </a:solidFill>
                <a:latin typeface="Times New Roman" pitchFamily="18" charset="0"/>
                <a:cs typeface="Times New Roman" pitchFamily="18" charset="0"/>
              </a:rPr>
              <a:t> Java: History – Features – JVM - JRE – JDK – Java Compilation and Execution – Data Types - Variables, Types, Expressions, Assignment Statements, </a:t>
            </a:r>
            <a:r>
              <a:rPr lang="en-US" sz="1400" b="1" dirty="0" err="1">
                <a:solidFill>
                  <a:srgbClr val="008000"/>
                </a:solidFill>
                <a:latin typeface="Times New Roman" pitchFamily="18" charset="0"/>
                <a:cs typeface="Times New Roman" pitchFamily="18" charset="0"/>
              </a:rPr>
              <a:t>Input/Output</a:t>
            </a:r>
            <a:r>
              <a:rPr lang="en-US" sz="1400" b="1" dirty="0">
                <a:solidFill>
                  <a:srgbClr val="008000"/>
                </a:solidFill>
                <a:latin typeface="Times New Roman" pitchFamily="18" charset="0"/>
                <a:cs typeface="Times New Roman" pitchFamily="18" charset="0"/>
              </a:rPr>
              <a:t> Statements: Scanner/System </a:t>
            </a:r>
            <a:r>
              <a:rPr lang="en-US" sz="1400" b="1" dirty="0" err="1">
                <a:solidFill>
                  <a:srgbClr val="008000"/>
                </a:solidFill>
                <a:latin typeface="Times New Roman" pitchFamily="18" charset="0"/>
                <a:cs typeface="Times New Roman" pitchFamily="18" charset="0"/>
              </a:rPr>
              <a:t>class,Type</a:t>
            </a:r>
            <a:r>
              <a:rPr lang="en-US" sz="1400" b="1" dirty="0">
                <a:solidFill>
                  <a:srgbClr val="008000"/>
                </a:solidFill>
                <a:latin typeface="Times New Roman" pitchFamily="18" charset="0"/>
                <a:cs typeface="Times New Roman" pitchFamily="18" charset="0"/>
              </a:rPr>
              <a:t> Casting (Primitives to Primitives), Conditional and Iterative Control Structures – Arrays </a:t>
            </a:r>
          </a:p>
          <a:p>
            <a:pPr lvl="1" algn="just"/>
            <a:r>
              <a:rPr lang="en-US" sz="1400" b="1" dirty="0">
                <a:solidFill>
                  <a:schemeClr val="tx1"/>
                </a:solidFill>
                <a:latin typeface="Times New Roman" pitchFamily="18" charset="0"/>
                <a:cs typeface="Times New Roman" pitchFamily="18" charset="0"/>
              </a:rPr>
              <a:t>OOPs with Java: </a:t>
            </a:r>
            <a:r>
              <a:rPr lang="en-US" sz="1400" b="1" dirty="0">
                <a:solidFill>
                  <a:srgbClr val="008000"/>
                </a:solidFill>
                <a:latin typeface="Times New Roman" pitchFamily="18" charset="0"/>
                <a:cs typeface="Times New Roman" pitchFamily="18" charset="0"/>
              </a:rPr>
              <a:t>Introduction to OOPs Concepts - Class – Objects – Methods - Access Modifiers – Creating Class and Objects, Object Life-Cycle - Garbage Collection-Constructors - this – static – Array of Objects – Nested Classes.</a:t>
            </a:r>
          </a:p>
          <a:p>
            <a:pPr lvl="1" algn="just"/>
            <a:r>
              <a:rPr lang="en-US" sz="1400" b="1" dirty="0">
                <a:solidFill>
                  <a:schemeClr val="tx1"/>
                </a:solidFill>
                <a:latin typeface="Times New Roman" pitchFamily="18" charset="0"/>
                <a:cs typeface="Times New Roman" pitchFamily="18" charset="0"/>
              </a:rPr>
              <a:t>String: </a:t>
            </a:r>
            <a:r>
              <a:rPr lang="en-US" sz="1400" b="1" dirty="0">
                <a:solidFill>
                  <a:srgbClr val="008000"/>
                </a:solidFill>
                <a:latin typeface="Times New Roman" pitchFamily="18" charset="0"/>
                <a:cs typeface="Times New Roman" pitchFamily="18" charset="0"/>
              </a:rPr>
              <a:t>String Class– Built-in Methods – </a:t>
            </a:r>
            <a:r>
              <a:rPr lang="en-US" sz="1400" b="1" dirty="0" err="1">
                <a:solidFill>
                  <a:srgbClr val="008000"/>
                </a:solidFill>
                <a:latin typeface="Times New Roman" pitchFamily="18" charset="0"/>
                <a:cs typeface="Times New Roman" pitchFamily="18" charset="0"/>
              </a:rPr>
              <a:t>StringBuilder</a:t>
            </a:r>
            <a:r>
              <a:rPr lang="en-US" sz="1400" b="1" dirty="0">
                <a:solidFill>
                  <a:srgbClr val="008000"/>
                </a:solidFill>
                <a:latin typeface="Times New Roman" pitchFamily="18" charset="0"/>
                <a:cs typeface="Times New Roman" pitchFamily="18" charset="0"/>
              </a:rPr>
              <a:t> – </a:t>
            </a:r>
            <a:r>
              <a:rPr lang="en-US" sz="1400" b="1" dirty="0" err="1">
                <a:solidFill>
                  <a:srgbClr val="008000"/>
                </a:solidFill>
                <a:latin typeface="Times New Roman" pitchFamily="18" charset="0"/>
                <a:cs typeface="Times New Roman" pitchFamily="18" charset="0"/>
              </a:rPr>
              <a:t>StringBuffer</a:t>
            </a:r>
            <a:endParaRPr lang="en-US" sz="1400" b="1" dirty="0">
              <a:solidFill>
                <a:srgbClr val="008000"/>
              </a:solidFill>
              <a:latin typeface="Times New Roman" pitchFamily="18" charset="0"/>
              <a:cs typeface="Times New Roman" pitchFamily="18" charset="0"/>
            </a:endParaRPr>
          </a:p>
          <a:p>
            <a:pPr algn="just"/>
            <a:r>
              <a:rPr lang="en-US" sz="1400" b="1" dirty="0">
                <a:solidFill>
                  <a:srgbClr val="7030A0"/>
                </a:solidFill>
                <a:latin typeface="Times New Roman" pitchFamily="18" charset="0"/>
                <a:cs typeface="Times New Roman" pitchFamily="18" charset="0"/>
              </a:rPr>
              <a:t>UNIT II- INHERITANCE, INTERFACES AND PACKAGES </a:t>
            </a:r>
          </a:p>
          <a:p>
            <a:pPr lvl="1" algn="just"/>
            <a:r>
              <a:rPr lang="en-US" sz="1400" b="1" dirty="0">
                <a:solidFill>
                  <a:schemeClr val="tx1"/>
                </a:solidFill>
                <a:latin typeface="Times New Roman" pitchFamily="18" charset="0"/>
                <a:cs typeface="Times New Roman" pitchFamily="18" charset="0"/>
              </a:rPr>
              <a:t>Inheritance:</a:t>
            </a:r>
            <a:r>
              <a:rPr lang="en-US" sz="1400" b="1" dirty="0">
                <a:solidFill>
                  <a:srgbClr val="008000"/>
                </a:solidFill>
                <a:latin typeface="Times New Roman" pitchFamily="18" charset="0"/>
                <a:cs typeface="Times New Roman" pitchFamily="18" charset="0"/>
              </a:rPr>
              <a:t> Types of Inheritance – is-a Relationship, has-a Relationship – super keyword – final keyword – Polymorphism - Method overloading and Method overriding – Abstract Class</a:t>
            </a:r>
          </a:p>
          <a:p>
            <a:pPr lvl="1" algn="just"/>
            <a:r>
              <a:rPr lang="en-US" sz="1400" b="1" dirty="0">
                <a:solidFill>
                  <a:schemeClr val="tx1"/>
                </a:solidFill>
                <a:latin typeface="Times New Roman" pitchFamily="18" charset="0"/>
                <a:cs typeface="Times New Roman" pitchFamily="18" charset="0"/>
              </a:rPr>
              <a:t>Interfaces:</a:t>
            </a:r>
            <a:r>
              <a:rPr lang="en-US" sz="1400" b="1" dirty="0">
                <a:solidFill>
                  <a:srgbClr val="008000"/>
                </a:solidFill>
                <a:latin typeface="Times New Roman" pitchFamily="18" charset="0"/>
                <a:cs typeface="Times New Roman" pitchFamily="18" charset="0"/>
              </a:rPr>
              <a:t> Define – Extend – Implement – Access - Interfaces </a:t>
            </a:r>
            <a:r>
              <a:rPr lang="en-US" sz="1400" b="1" dirty="0" err="1">
                <a:solidFill>
                  <a:srgbClr val="008000"/>
                </a:solidFill>
                <a:latin typeface="Times New Roman" pitchFamily="18" charset="0"/>
                <a:cs typeface="Times New Roman" pitchFamily="18" charset="0"/>
              </a:rPr>
              <a:t>vs</a:t>
            </a:r>
            <a:r>
              <a:rPr lang="en-US" sz="1400" b="1" dirty="0">
                <a:solidFill>
                  <a:srgbClr val="008000"/>
                </a:solidFill>
                <a:latin typeface="Times New Roman" pitchFamily="18" charset="0"/>
                <a:cs typeface="Times New Roman" pitchFamily="18" charset="0"/>
              </a:rPr>
              <a:t> Abstract classes, </a:t>
            </a:r>
          </a:p>
          <a:p>
            <a:pPr lvl="1" algn="just"/>
            <a:r>
              <a:rPr lang="en-US" sz="1400" b="1" dirty="0">
                <a:solidFill>
                  <a:schemeClr val="tx1"/>
                </a:solidFill>
                <a:latin typeface="Times New Roman" pitchFamily="18" charset="0"/>
                <a:cs typeface="Times New Roman" pitchFamily="18" charset="0"/>
              </a:rPr>
              <a:t>Type Conversions (Primitives to Objects vice-versa):</a:t>
            </a:r>
            <a:r>
              <a:rPr lang="en-US" sz="1400" b="1" dirty="0">
                <a:solidFill>
                  <a:srgbClr val="008000"/>
                </a:solidFill>
                <a:latin typeface="Times New Roman" pitchFamily="18" charset="0"/>
                <a:cs typeface="Times New Roman" pitchFamily="18" charset="0"/>
              </a:rPr>
              <a:t> </a:t>
            </a:r>
            <a:r>
              <a:rPr lang="en-US" sz="1400" b="1" dirty="0" err="1">
                <a:solidFill>
                  <a:srgbClr val="008000"/>
                </a:solidFill>
                <a:latin typeface="Times New Roman" pitchFamily="18" charset="0"/>
                <a:cs typeface="Times New Roman" pitchFamily="18" charset="0"/>
              </a:rPr>
              <a:t>Autoboxing</a:t>
            </a:r>
            <a:r>
              <a:rPr lang="en-US" sz="1400" b="1" dirty="0">
                <a:solidFill>
                  <a:srgbClr val="008000"/>
                </a:solidFill>
                <a:latin typeface="Times New Roman" pitchFamily="18" charset="0"/>
                <a:cs typeface="Times New Roman" pitchFamily="18" charset="0"/>
              </a:rPr>
              <a:t> and Auto unboxing</a:t>
            </a:r>
          </a:p>
          <a:p>
            <a:pPr lvl="1" algn="just"/>
            <a:r>
              <a:rPr lang="en-US" sz="1400" b="1" dirty="0">
                <a:solidFill>
                  <a:schemeClr val="tx1"/>
                </a:solidFill>
                <a:latin typeface="Times New Roman" pitchFamily="18" charset="0"/>
                <a:cs typeface="Times New Roman" pitchFamily="18" charset="0"/>
              </a:rPr>
              <a:t>Packages:</a:t>
            </a:r>
            <a:r>
              <a:rPr lang="en-US" sz="1400" b="1" dirty="0">
                <a:solidFill>
                  <a:srgbClr val="008000"/>
                </a:solidFill>
                <a:latin typeface="Times New Roman" pitchFamily="18" charset="0"/>
                <a:cs typeface="Times New Roman" pitchFamily="18" charset="0"/>
              </a:rPr>
              <a:t> Define – Create – Access – Import</a:t>
            </a:r>
          </a:p>
        </p:txBody>
      </p:sp>
      <p:sp>
        <p:nvSpPr>
          <p:cNvPr id="5" name="Rectangle 4"/>
          <p:cNvSpPr/>
          <p:nvPr/>
        </p:nvSpPr>
        <p:spPr>
          <a:xfrm>
            <a:off x="5153791" y="657028"/>
            <a:ext cx="4794250" cy="5478423"/>
          </a:xfrm>
          <a:prstGeom prst="rect">
            <a:avLst/>
          </a:prstGeom>
        </p:spPr>
        <p:txBody>
          <a:bodyPr wrap="square">
            <a:spAutoFit/>
          </a:bodyPr>
          <a:lstStyle/>
          <a:p>
            <a:r>
              <a:rPr lang="en-US" sz="1400" b="1" dirty="0">
                <a:solidFill>
                  <a:srgbClr val="7030A0"/>
                </a:solidFill>
              </a:rPr>
              <a:t>UNIT III- EXCEPTIONHANDLING AND MULTITHREADING</a:t>
            </a:r>
          </a:p>
          <a:p>
            <a:pPr lvl="1" algn="just"/>
            <a:r>
              <a:rPr lang="en-US" sz="1400" b="1" dirty="0">
                <a:solidFill>
                  <a:schemeClr val="tx1"/>
                </a:solidFill>
              </a:rPr>
              <a:t>Exception Handling: </a:t>
            </a:r>
            <a:r>
              <a:rPr lang="en-US" sz="1400" b="1" dirty="0">
                <a:solidFill>
                  <a:srgbClr val="008000"/>
                </a:solidFill>
              </a:rPr>
              <a:t>Exception Hierarchy – Checked and Unchecked Exceptions – try, catch, throws, throw and finally– User Defined Exceptions.</a:t>
            </a:r>
          </a:p>
          <a:p>
            <a:pPr lvl="1" algn="just"/>
            <a:r>
              <a:rPr lang="en-US" sz="1400" b="1" dirty="0">
                <a:solidFill>
                  <a:schemeClr val="tx1"/>
                </a:solidFill>
              </a:rPr>
              <a:t>Multithreading: </a:t>
            </a:r>
            <a:r>
              <a:rPr lang="en-US" sz="1400" b="1" dirty="0">
                <a:solidFill>
                  <a:srgbClr val="008000"/>
                </a:solidFill>
              </a:rPr>
              <a:t>Thread – Life cycle – Defining and Running – Implementation Types – Thread Priorities – Thread Synchronization - Inter-Thread Communication</a:t>
            </a:r>
          </a:p>
          <a:p>
            <a:pPr lvl="1" algn="just"/>
            <a:endParaRPr lang="en-US" sz="1400" b="1" dirty="0">
              <a:solidFill>
                <a:srgbClr val="008000"/>
              </a:solidFill>
            </a:endParaRPr>
          </a:p>
          <a:p>
            <a:pPr algn="just"/>
            <a:r>
              <a:rPr lang="en-US" sz="1400" b="1" dirty="0">
                <a:solidFill>
                  <a:srgbClr val="7030A0"/>
                </a:solidFill>
              </a:rPr>
              <a:t>UNIT IV –COLLECTIONS AND I/OSTREAMS</a:t>
            </a:r>
          </a:p>
          <a:p>
            <a:pPr lvl="1" algn="just"/>
            <a:r>
              <a:rPr lang="en-US" sz="1400" b="1" dirty="0">
                <a:solidFill>
                  <a:schemeClr val="tx1"/>
                </a:solidFill>
              </a:rPr>
              <a:t>Collections: </a:t>
            </a:r>
            <a:r>
              <a:rPr lang="en-US" sz="1400" b="1" dirty="0">
                <a:solidFill>
                  <a:srgbClr val="008000"/>
                </a:solidFill>
              </a:rPr>
              <a:t>List: </a:t>
            </a:r>
            <a:r>
              <a:rPr lang="en-US" sz="1400" b="1" dirty="0" err="1">
                <a:solidFill>
                  <a:srgbClr val="008000"/>
                </a:solidFill>
              </a:rPr>
              <a:t>ArrayList</a:t>
            </a:r>
            <a:r>
              <a:rPr lang="en-US" sz="1400" b="1" dirty="0">
                <a:solidFill>
                  <a:srgbClr val="008000"/>
                </a:solidFill>
              </a:rPr>
              <a:t> and </a:t>
            </a:r>
            <a:r>
              <a:rPr lang="en-US" sz="1400" b="1" dirty="0" err="1">
                <a:solidFill>
                  <a:srgbClr val="008000"/>
                </a:solidFill>
              </a:rPr>
              <a:t>LinkedList</a:t>
            </a:r>
            <a:r>
              <a:rPr lang="en-US" sz="1400" b="1" dirty="0">
                <a:solidFill>
                  <a:srgbClr val="008000"/>
                </a:solidFill>
              </a:rPr>
              <a:t>. Set: </a:t>
            </a:r>
            <a:r>
              <a:rPr lang="en-US" sz="1400" b="1" dirty="0" err="1">
                <a:solidFill>
                  <a:srgbClr val="008000"/>
                </a:solidFill>
              </a:rPr>
              <a:t>HashSet</a:t>
            </a:r>
            <a:r>
              <a:rPr lang="en-US" sz="1400" b="1" dirty="0">
                <a:solidFill>
                  <a:srgbClr val="008000"/>
                </a:solidFill>
              </a:rPr>
              <a:t> and </a:t>
            </a:r>
            <a:r>
              <a:rPr lang="en-US" sz="1400" b="1" dirty="0" err="1">
                <a:solidFill>
                  <a:srgbClr val="008000"/>
                </a:solidFill>
              </a:rPr>
              <a:t>TreeSet</a:t>
            </a:r>
            <a:r>
              <a:rPr lang="en-US" sz="1400" b="1" dirty="0">
                <a:solidFill>
                  <a:srgbClr val="008000"/>
                </a:solidFill>
              </a:rPr>
              <a:t>. Map: </a:t>
            </a:r>
            <a:r>
              <a:rPr lang="en-US" sz="1400" b="1" dirty="0" err="1">
                <a:solidFill>
                  <a:srgbClr val="008000"/>
                </a:solidFill>
              </a:rPr>
              <a:t>HashMap</a:t>
            </a:r>
            <a:r>
              <a:rPr lang="en-US" sz="1400" b="1" dirty="0">
                <a:solidFill>
                  <a:srgbClr val="008000"/>
                </a:solidFill>
              </a:rPr>
              <a:t> – Stack – Queue. Lambda Expressions.</a:t>
            </a:r>
          </a:p>
          <a:p>
            <a:pPr lvl="1" algn="just"/>
            <a:r>
              <a:rPr lang="en-US" sz="1400" b="1" dirty="0">
                <a:solidFill>
                  <a:schemeClr val="tx1"/>
                </a:solidFill>
              </a:rPr>
              <a:t>I/O Streams: </a:t>
            </a:r>
            <a:r>
              <a:rPr lang="en-US" sz="1400" b="1" dirty="0">
                <a:solidFill>
                  <a:srgbClr val="008000"/>
                </a:solidFill>
              </a:rPr>
              <a:t>Streams – Byte Streams and Character Streams – </a:t>
            </a:r>
            <a:r>
              <a:rPr lang="en-US" sz="1400" b="1" dirty="0" err="1">
                <a:solidFill>
                  <a:srgbClr val="008000"/>
                </a:solidFill>
              </a:rPr>
              <a:t>FileInputStream</a:t>
            </a:r>
            <a:r>
              <a:rPr lang="en-US" sz="1400" b="1" dirty="0">
                <a:solidFill>
                  <a:srgbClr val="008000"/>
                </a:solidFill>
              </a:rPr>
              <a:t> and </a:t>
            </a:r>
            <a:r>
              <a:rPr lang="en-US" sz="1400" b="1" dirty="0" err="1">
                <a:solidFill>
                  <a:srgbClr val="008000"/>
                </a:solidFill>
              </a:rPr>
              <a:t>FileOutputStream</a:t>
            </a:r>
            <a:r>
              <a:rPr lang="en-US" sz="1400" b="1" dirty="0">
                <a:solidFill>
                  <a:srgbClr val="008000"/>
                </a:solidFill>
              </a:rPr>
              <a:t> – </a:t>
            </a:r>
            <a:r>
              <a:rPr lang="en-US" sz="1400" b="1" dirty="0" err="1">
                <a:solidFill>
                  <a:srgbClr val="008000"/>
                </a:solidFill>
              </a:rPr>
              <a:t>FileReader</a:t>
            </a:r>
            <a:r>
              <a:rPr lang="en-US" sz="1400" b="1" dirty="0">
                <a:solidFill>
                  <a:srgbClr val="008000"/>
                </a:solidFill>
              </a:rPr>
              <a:t> and </a:t>
            </a:r>
            <a:r>
              <a:rPr lang="en-US" sz="1400" b="1" dirty="0" err="1">
                <a:solidFill>
                  <a:srgbClr val="008000"/>
                </a:solidFill>
              </a:rPr>
              <a:t>FileWriter</a:t>
            </a:r>
            <a:r>
              <a:rPr lang="en-US" sz="1400" b="1" dirty="0">
                <a:solidFill>
                  <a:srgbClr val="008000"/>
                </a:solidFill>
              </a:rPr>
              <a:t>. </a:t>
            </a:r>
          </a:p>
          <a:p>
            <a:pPr lvl="1" algn="just"/>
            <a:r>
              <a:rPr lang="en-US" sz="1400" b="1" dirty="0">
                <a:solidFill>
                  <a:schemeClr val="tx1"/>
                </a:solidFill>
              </a:rPr>
              <a:t>Object Serialization : </a:t>
            </a:r>
            <a:r>
              <a:rPr lang="en-US" sz="1400" b="1" dirty="0" err="1">
                <a:solidFill>
                  <a:srgbClr val="008000"/>
                </a:solidFill>
              </a:rPr>
              <a:t>ObjectInputStream</a:t>
            </a:r>
            <a:r>
              <a:rPr lang="en-US" sz="1400" b="1" dirty="0">
                <a:solidFill>
                  <a:srgbClr val="008000"/>
                </a:solidFill>
              </a:rPr>
              <a:t> and </a:t>
            </a:r>
            <a:r>
              <a:rPr lang="en-US" sz="1400" b="1" dirty="0" err="1">
                <a:solidFill>
                  <a:srgbClr val="008000"/>
                </a:solidFill>
              </a:rPr>
              <a:t>ObjectOutputStream</a:t>
            </a:r>
            <a:endParaRPr lang="en-US" sz="1400" b="1" dirty="0">
              <a:solidFill>
                <a:srgbClr val="008000"/>
              </a:solidFill>
            </a:endParaRPr>
          </a:p>
          <a:p>
            <a:pPr lvl="1" algn="just"/>
            <a:endParaRPr lang="en-US" sz="1400" b="1" dirty="0">
              <a:solidFill>
                <a:srgbClr val="008000"/>
              </a:solidFill>
            </a:endParaRPr>
          </a:p>
          <a:p>
            <a:r>
              <a:rPr lang="en-US" sz="1400" b="1" dirty="0">
                <a:solidFill>
                  <a:srgbClr val="7030A0"/>
                </a:solidFill>
              </a:rPr>
              <a:t>UNIT V – GUI AND JDBC</a:t>
            </a:r>
          </a:p>
          <a:p>
            <a:pPr lvl="1" algn="just"/>
            <a:r>
              <a:rPr lang="en-US" sz="1400" b="1" dirty="0">
                <a:solidFill>
                  <a:schemeClr val="tx1"/>
                </a:solidFill>
              </a:rPr>
              <a:t>AWT:</a:t>
            </a:r>
            <a:r>
              <a:rPr lang="en-US" sz="1400" b="1" dirty="0">
                <a:solidFill>
                  <a:srgbClr val="008000"/>
                </a:solidFill>
              </a:rPr>
              <a:t> Components – Controls – Event Handling. </a:t>
            </a:r>
            <a:r>
              <a:rPr lang="en-US" sz="1400" b="1" dirty="0">
                <a:solidFill>
                  <a:schemeClr val="tx1"/>
                </a:solidFill>
              </a:rPr>
              <a:t>SWING: </a:t>
            </a:r>
            <a:r>
              <a:rPr lang="en-US" sz="1400" b="1" dirty="0">
                <a:solidFill>
                  <a:srgbClr val="008000"/>
                </a:solidFill>
              </a:rPr>
              <a:t>Swing Components – Layout Management.</a:t>
            </a:r>
          </a:p>
          <a:p>
            <a:pPr lvl="1" algn="just"/>
            <a:r>
              <a:rPr lang="en-US" sz="1400" b="1" dirty="0">
                <a:solidFill>
                  <a:schemeClr val="tx1"/>
                </a:solidFill>
              </a:rPr>
              <a:t>JDBC: </a:t>
            </a:r>
            <a:r>
              <a:rPr lang="en-US" sz="1400" b="1" dirty="0">
                <a:solidFill>
                  <a:srgbClr val="008000"/>
                </a:solidFill>
              </a:rPr>
              <a:t>JDBC Architecture – JDBC Driver Types – Implementation of JDBC.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31" y="167994"/>
            <a:ext cx="9072563" cy="699110"/>
          </a:xfrm>
        </p:spPr>
        <p:txBody>
          <a:bodyPr/>
          <a:lstStyle/>
          <a:p>
            <a:r>
              <a:rPr lang="en-US" b="1" dirty="0">
                <a:solidFill>
                  <a:srgbClr val="C00000"/>
                </a:solidFill>
              </a:rPr>
              <a:t>Text Books and References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4</a:t>
            </a:fld>
            <a:endParaRPr lang="en-US"/>
          </a:p>
        </p:txBody>
      </p:sp>
      <p:sp>
        <p:nvSpPr>
          <p:cNvPr id="4" name="Content Placeholder 3"/>
          <p:cNvSpPr>
            <a:spLocks noGrp="1"/>
          </p:cNvSpPr>
          <p:nvPr>
            <p:ph sz="quarter" idx="1"/>
          </p:nvPr>
        </p:nvSpPr>
        <p:spPr>
          <a:xfrm>
            <a:off x="504031" y="1343942"/>
            <a:ext cx="9376569" cy="5442966"/>
          </a:xfrm>
        </p:spPr>
        <p:txBody>
          <a:bodyPr>
            <a:normAutofit fontScale="92500" lnSpcReduction="20000"/>
          </a:bodyPr>
          <a:lstStyle/>
          <a:p>
            <a:r>
              <a:rPr lang="en-US" b="1" dirty="0">
                <a:solidFill>
                  <a:srgbClr val="6600FF"/>
                </a:solidFill>
              </a:rPr>
              <a:t>Text Books:</a:t>
            </a:r>
            <a:endParaRPr lang="en-US" dirty="0">
              <a:solidFill>
                <a:srgbClr val="6600FF"/>
              </a:solidFill>
            </a:endParaRPr>
          </a:p>
          <a:p>
            <a:pPr lvl="1" algn="just"/>
            <a:r>
              <a:rPr lang="en-US" sz="2000" dirty="0">
                <a:solidFill>
                  <a:schemeClr val="tx1"/>
                </a:solidFill>
              </a:rPr>
              <a:t>Allen B. Downey and Chris </a:t>
            </a:r>
            <a:r>
              <a:rPr lang="en-US" sz="2000" dirty="0" err="1">
                <a:solidFill>
                  <a:schemeClr val="tx1"/>
                </a:solidFill>
              </a:rPr>
              <a:t>Mayeld</a:t>
            </a:r>
            <a:r>
              <a:rPr lang="en-US" sz="2000" dirty="0">
                <a:solidFill>
                  <a:schemeClr val="tx1"/>
                </a:solidFill>
              </a:rPr>
              <a:t>, “Think Java - How to Think Like a Computer Scientist”, 2nd Edition, Green Tea Press, 2020 </a:t>
            </a:r>
          </a:p>
          <a:p>
            <a:pPr lvl="1" algn="just"/>
            <a:r>
              <a:rPr lang="en-US" sz="2000" dirty="0">
                <a:solidFill>
                  <a:schemeClr val="tx1"/>
                </a:solidFill>
              </a:rPr>
              <a:t>Herbert </a:t>
            </a:r>
            <a:r>
              <a:rPr lang="en-US" sz="2000" dirty="0" err="1">
                <a:solidFill>
                  <a:schemeClr val="tx1"/>
                </a:solidFill>
              </a:rPr>
              <a:t>Schildt</a:t>
            </a:r>
            <a:r>
              <a:rPr lang="en-US" sz="2000" dirty="0">
                <a:solidFill>
                  <a:schemeClr val="tx1"/>
                </a:solidFill>
              </a:rPr>
              <a:t>, “Java: The Complete Reference”, TMH Publishing Company Ltd, 11th Edition, 2018. </a:t>
            </a:r>
          </a:p>
          <a:p>
            <a:pPr lvl="1" algn="just"/>
            <a:r>
              <a:rPr lang="en-US" sz="2000" dirty="0" err="1">
                <a:solidFill>
                  <a:schemeClr val="tx1"/>
                </a:solidFill>
              </a:rPr>
              <a:t>H.M.Dietel</a:t>
            </a:r>
            <a:r>
              <a:rPr lang="en-US" sz="2000" dirty="0">
                <a:solidFill>
                  <a:schemeClr val="tx1"/>
                </a:solidFill>
              </a:rPr>
              <a:t> and </a:t>
            </a:r>
            <a:r>
              <a:rPr lang="en-US" sz="2000" dirty="0" err="1">
                <a:solidFill>
                  <a:schemeClr val="tx1"/>
                </a:solidFill>
              </a:rPr>
              <a:t>P.J.Dietel</a:t>
            </a:r>
            <a:r>
              <a:rPr lang="en-US" sz="2000" dirty="0">
                <a:solidFill>
                  <a:schemeClr val="tx1"/>
                </a:solidFill>
              </a:rPr>
              <a:t>, “Java How to Program”, 11th Edition, Pearson Education/PHI, 2017 </a:t>
            </a:r>
          </a:p>
          <a:p>
            <a:pPr lvl="1" algn="just"/>
            <a:r>
              <a:rPr lang="en-US" sz="2000" dirty="0">
                <a:solidFill>
                  <a:schemeClr val="tx1"/>
                </a:solidFill>
              </a:rPr>
              <a:t>Cay S. </a:t>
            </a:r>
            <a:r>
              <a:rPr lang="en-US" sz="2000" dirty="0" err="1">
                <a:solidFill>
                  <a:schemeClr val="tx1"/>
                </a:solidFill>
              </a:rPr>
              <a:t>Horstmann</a:t>
            </a:r>
            <a:r>
              <a:rPr lang="en-US" sz="2000" dirty="0">
                <a:solidFill>
                  <a:schemeClr val="tx1"/>
                </a:solidFill>
              </a:rPr>
              <a:t>, Gary Cornell, “Core Java Volume - I Fundamentals”, 9th Edition, Prentice Hall, 2013.</a:t>
            </a:r>
          </a:p>
          <a:p>
            <a:r>
              <a:rPr lang="en-US" b="1" dirty="0">
                <a:solidFill>
                  <a:srgbClr val="6600FF"/>
                </a:solidFill>
              </a:rPr>
              <a:t>Reference Books:</a:t>
            </a:r>
          </a:p>
          <a:p>
            <a:pPr lvl="1" algn="just"/>
            <a:r>
              <a:rPr lang="en-US" sz="2200" dirty="0" err="1">
                <a:solidFill>
                  <a:schemeClr val="tx1"/>
                </a:solidFill>
              </a:rPr>
              <a:t>Sagayaraj</a:t>
            </a:r>
            <a:r>
              <a:rPr lang="en-US" sz="2200" dirty="0">
                <a:solidFill>
                  <a:schemeClr val="tx1"/>
                </a:solidFill>
              </a:rPr>
              <a:t>, Denis, </a:t>
            </a:r>
            <a:r>
              <a:rPr lang="en-US" sz="2200" dirty="0" err="1">
                <a:solidFill>
                  <a:schemeClr val="tx1"/>
                </a:solidFill>
              </a:rPr>
              <a:t>Karthik</a:t>
            </a:r>
            <a:r>
              <a:rPr lang="en-US" sz="2200" dirty="0">
                <a:solidFill>
                  <a:schemeClr val="tx1"/>
                </a:solidFill>
              </a:rPr>
              <a:t>, </a:t>
            </a:r>
            <a:r>
              <a:rPr lang="en-US" sz="2200" dirty="0" err="1">
                <a:solidFill>
                  <a:schemeClr val="tx1"/>
                </a:solidFill>
              </a:rPr>
              <a:t>Gajalakshmi</a:t>
            </a:r>
            <a:r>
              <a:rPr lang="en-US" sz="2200" dirty="0">
                <a:solidFill>
                  <a:schemeClr val="tx1"/>
                </a:solidFill>
              </a:rPr>
              <a:t>, “JAVA Programming for core and advanced learners”, Universities Press Private Limited, 2018. </a:t>
            </a:r>
          </a:p>
          <a:p>
            <a:pPr lvl="1" algn="just"/>
            <a:r>
              <a:rPr lang="en-US" sz="2200" dirty="0" err="1">
                <a:solidFill>
                  <a:schemeClr val="tx1"/>
                </a:solidFill>
              </a:rPr>
              <a:t>Poaul</a:t>
            </a:r>
            <a:r>
              <a:rPr lang="en-US" sz="2200" dirty="0">
                <a:solidFill>
                  <a:schemeClr val="tx1"/>
                </a:solidFill>
              </a:rPr>
              <a:t> </a:t>
            </a:r>
            <a:r>
              <a:rPr lang="en-US" sz="2200" dirty="0" err="1">
                <a:solidFill>
                  <a:schemeClr val="tx1"/>
                </a:solidFill>
              </a:rPr>
              <a:t>Deitel</a:t>
            </a:r>
            <a:r>
              <a:rPr lang="en-US" sz="2200" dirty="0">
                <a:solidFill>
                  <a:schemeClr val="tx1"/>
                </a:solidFill>
              </a:rPr>
              <a:t>, Harvey </a:t>
            </a:r>
            <a:r>
              <a:rPr lang="en-US" sz="2200" dirty="0" err="1">
                <a:solidFill>
                  <a:schemeClr val="tx1"/>
                </a:solidFill>
              </a:rPr>
              <a:t>Deitel</a:t>
            </a:r>
            <a:r>
              <a:rPr lang="en-US" sz="2200" dirty="0">
                <a:solidFill>
                  <a:schemeClr val="tx1"/>
                </a:solidFill>
              </a:rPr>
              <a:t>, “Java SE 8 for programmers”, 3rd Edition, Pearson, 2015. </a:t>
            </a:r>
          </a:p>
          <a:p>
            <a:pPr lvl="1" algn="just"/>
            <a:r>
              <a:rPr lang="en-US" sz="2200" dirty="0">
                <a:solidFill>
                  <a:schemeClr val="tx1"/>
                </a:solidFill>
              </a:rPr>
              <a:t>P.J. </a:t>
            </a:r>
            <a:r>
              <a:rPr lang="en-US" sz="2200" dirty="0" err="1">
                <a:solidFill>
                  <a:schemeClr val="tx1"/>
                </a:solidFill>
              </a:rPr>
              <a:t>Dietel</a:t>
            </a:r>
            <a:r>
              <a:rPr lang="en-US" sz="2200" dirty="0">
                <a:solidFill>
                  <a:schemeClr val="tx1"/>
                </a:solidFill>
              </a:rPr>
              <a:t> and H.M </a:t>
            </a:r>
            <a:r>
              <a:rPr lang="en-US" sz="2200" dirty="0" err="1">
                <a:solidFill>
                  <a:schemeClr val="tx1"/>
                </a:solidFill>
              </a:rPr>
              <a:t>Dietel</a:t>
            </a:r>
            <a:r>
              <a:rPr lang="en-US" sz="2200" dirty="0">
                <a:solidFill>
                  <a:schemeClr val="tx1"/>
                </a:solidFill>
              </a:rPr>
              <a:t>, “Java for Programmers”, Pearson Education, 9th Edition, 2011. </a:t>
            </a:r>
          </a:p>
          <a:p>
            <a:pPr lvl="1" algn="just"/>
            <a:r>
              <a:rPr lang="en-US" sz="2200" dirty="0">
                <a:solidFill>
                  <a:schemeClr val="tx1"/>
                </a:solidFill>
              </a:rPr>
              <a:t>Steven </a:t>
            </a:r>
            <a:r>
              <a:rPr lang="en-US" sz="2200" dirty="0" err="1">
                <a:solidFill>
                  <a:schemeClr val="tx1"/>
                </a:solidFill>
              </a:rPr>
              <a:t>Holzner</a:t>
            </a:r>
            <a:r>
              <a:rPr lang="en-US" sz="2200" dirty="0">
                <a:solidFill>
                  <a:schemeClr val="tx1"/>
                </a:solidFill>
              </a:rPr>
              <a:t>, “Java 2 Black book”, </a:t>
            </a:r>
            <a:r>
              <a:rPr lang="en-US" sz="2200" dirty="0" err="1">
                <a:solidFill>
                  <a:schemeClr val="tx1"/>
                </a:solidFill>
              </a:rPr>
              <a:t>Dreamtech</a:t>
            </a:r>
            <a:r>
              <a:rPr lang="en-US" sz="2200" dirty="0">
                <a:solidFill>
                  <a:schemeClr val="tx1"/>
                </a:solidFill>
              </a:rPr>
              <a:t> Press, 2011. </a:t>
            </a:r>
          </a:p>
          <a:p>
            <a:pPr lvl="1" algn="just"/>
            <a:endParaRPr lang="en-US" sz="20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31" y="167994"/>
            <a:ext cx="9072563" cy="699110"/>
          </a:xfrm>
        </p:spPr>
        <p:txBody>
          <a:bodyPr/>
          <a:lstStyle/>
          <a:p>
            <a:r>
              <a:rPr lang="en-US" b="1" dirty="0">
                <a:solidFill>
                  <a:srgbClr val="C00000"/>
                </a:solidFill>
              </a:rPr>
              <a:t>Text Books and References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5</a:t>
            </a:fld>
            <a:endParaRPr lang="en-US"/>
          </a:p>
        </p:txBody>
      </p:sp>
      <p:sp>
        <p:nvSpPr>
          <p:cNvPr id="4" name="Content Placeholder 3"/>
          <p:cNvSpPr>
            <a:spLocks noGrp="1"/>
          </p:cNvSpPr>
          <p:nvPr>
            <p:ph sz="quarter" idx="1"/>
          </p:nvPr>
        </p:nvSpPr>
        <p:spPr>
          <a:xfrm>
            <a:off x="504031" y="1343942"/>
            <a:ext cx="9376569" cy="5442966"/>
          </a:xfrm>
        </p:spPr>
        <p:txBody>
          <a:bodyPr>
            <a:normAutofit/>
          </a:bodyPr>
          <a:lstStyle/>
          <a:p>
            <a:pPr algn="just"/>
            <a:r>
              <a:rPr lang="en-US" b="1" dirty="0">
                <a:solidFill>
                  <a:srgbClr val="6600FF"/>
                </a:solidFill>
              </a:rPr>
              <a:t>Web References </a:t>
            </a:r>
          </a:p>
          <a:p>
            <a:pPr lvl="1" algn="just"/>
            <a:r>
              <a:rPr lang="en-US" sz="2400" dirty="0">
                <a:solidFill>
                  <a:schemeClr val="tx1"/>
                </a:solidFill>
              </a:rPr>
              <a:t>1. https://www.javatpoint.com/java-tutorial</a:t>
            </a:r>
          </a:p>
          <a:p>
            <a:pPr lvl="1" algn="just"/>
            <a:r>
              <a:rPr lang="en-US" sz="2400" dirty="0">
                <a:solidFill>
                  <a:schemeClr val="tx1"/>
                </a:solidFill>
              </a:rPr>
              <a:t>2. https://docs.oracle.com/en/java/</a:t>
            </a:r>
          </a:p>
          <a:p>
            <a:pPr lvl="1" algn="just"/>
            <a:r>
              <a:rPr lang="en-US" sz="2400" dirty="0">
                <a:solidFill>
                  <a:schemeClr val="tx1"/>
                </a:solidFill>
              </a:rPr>
              <a:t>3. https://www.studytonight.com/java/</a:t>
            </a:r>
          </a:p>
          <a:p>
            <a:pPr lvl="1" algn="just"/>
            <a:r>
              <a:rPr lang="en-US" sz="2400" dirty="0">
                <a:solidFill>
                  <a:schemeClr val="tx1"/>
                </a:solidFill>
              </a:rPr>
              <a:t>4. https://onlinecourses.nptel.ac.in/</a:t>
            </a:r>
          </a:p>
        </p:txBody>
      </p:sp>
    </p:spTree>
    <p:extLst>
      <p:ext uri="{BB962C8B-B14F-4D97-AF65-F5344CB8AC3E}">
        <p14:creationId xmlns:p14="http://schemas.microsoft.com/office/powerpoint/2010/main" val="90610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C00000"/>
                </a:solidFill>
              </a:rPr>
              <a:t>UNIT I</a:t>
            </a:r>
          </a:p>
        </p:txBody>
      </p:sp>
      <p:sp>
        <p:nvSpPr>
          <p:cNvPr id="3" name="Slide Number Placeholder 2"/>
          <p:cNvSpPr>
            <a:spLocks noGrp="1"/>
          </p:cNvSpPr>
          <p:nvPr>
            <p:ph type="sldNum" sz="quarter" idx="12"/>
          </p:nvPr>
        </p:nvSpPr>
        <p:spPr/>
        <p:txBody>
          <a:bodyPr/>
          <a:lstStyle/>
          <a:p>
            <a:fld id="{E3591306-41CF-4237-B2B4-5C605DD45071}" type="slidenum">
              <a:rPr lang="en-US" smtClean="0"/>
              <a:pPr/>
              <a:t>6</a:t>
            </a:fld>
            <a:endParaRPr lang="en-US"/>
          </a:p>
        </p:txBody>
      </p:sp>
      <p:sp>
        <p:nvSpPr>
          <p:cNvPr id="4" name="Content Placeholder 3"/>
          <p:cNvSpPr>
            <a:spLocks noGrp="1"/>
          </p:cNvSpPr>
          <p:nvPr>
            <p:ph sz="quarter" idx="1"/>
          </p:nvPr>
        </p:nvSpPr>
        <p:spPr>
          <a:xfrm>
            <a:off x="707231" y="1560786"/>
            <a:ext cx="9072563" cy="5439104"/>
          </a:xfrm>
        </p:spPr>
        <p:txBody>
          <a:bodyPr>
            <a:normAutofit fontScale="70000" lnSpcReduction="20000"/>
          </a:bodyPr>
          <a:lstStyle/>
          <a:p>
            <a:pPr marL="0" indent="0">
              <a:buNone/>
            </a:pPr>
            <a:r>
              <a:rPr lang="en-US" sz="3400" b="1" dirty="0">
                <a:solidFill>
                  <a:srgbClr val="7030A0"/>
                </a:solidFill>
                <a:latin typeface="Times New Roman" pitchFamily="18" charset="0"/>
                <a:cs typeface="Times New Roman" pitchFamily="18" charset="0"/>
              </a:rPr>
              <a:t>INTRODUCTION </a:t>
            </a:r>
          </a:p>
          <a:p>
            <a:pPr lvl="1" algn="just"/>
            <a:r>
              <a:rPr lang="en-US" sz="3400" b="1" dirty="0">
                <a:solidFill>
                  <a:srgbClr val="C00000"/>
                </a:solidFill>
                <a:latin typeface="Times New Roman" pitchFamily="18" charset="0"/>
                <a:cs typeface="Times New Roman" pitchFamily="18" charset="0"/>
              </a:rPr>
              <a:t>Introduction: </a:t>
            </a:r>
            <a:r>
              <a:rPr lang="en-US" sz="3400" b="1" dirty="0">
                <a:solidFill>
                  <a:srgbClr val="008000"/>
                </a:solidFill>
                <a:latin typeface="Times New Roman" pitchFamily="18" charset="0"/>
                <a:cs typeface="Times New Roman" pitchFamily="18" charset="0"/>
              </a:rPr>
              <a:t>Java: History – Features – JVM - JRE – JDK – Java Compilation and Execution – Data Types - Variables, Types, Expressions, Assignment Statements, Input / Output Statements: Scanner/System class, Type Casting (Primitives to Primitives), Conditional and Iterative Control Structures – Arrays </a:t>
            </a:r>
          </a:p>
          <a:p>
            <a:pPr lvl="1" algn="just"/>
            <a:endParaRPr lang="en-US" sz="3400" b="1" dirty="0">
              <a:solidFill>
                <a:srgbClr val="008000"/>
              </a:solidFill>
              <a:latin typeface="Times New Roman" pitchFamily="18" charset="0"/>
              <a:cs typeface="Times New Roman" pitchFamily="18" charset="0"/>
            </a:endParaRPr>
          </a:p>
          <a:p>
            <a:pPr lvl="1" algn="just"/>
            <a:r>
              <a:rPr lang="en-US" sz="3400" b="1" dirty="0">
                <a:solidFill>
                  <a:srgbClr val="C00000"/>
                </a:solidFill>
                <a:latin typeface="Times New Roman" pitchFamily="18" charset="0"/>
                <a:cs typeface="Times New Roman" pitchFamily="18" charset="0"/>
              </a:rPr>
              <a:t>OOPs with Java:</a:t>
            </a:r>
            <a:r>
              <a:rPr lang="en-US" sz="3400" b="1" dirty="0">
                <a:solidFill>
                  <a:schemeClr val="tx1"/>
                </a:solidFill>
                <a:latin typeface="Times New Roman" pitchFamily="18" charset="0"/>
                <a:cs typeface="Times New Roman" pitchFamily="18" charset="0"/>
              </a:rPr>
              <a:t> </a:t>
            </a:r>
            <a:r>
              <a:rPr lang="en-US" sz="3400" b="1" dirty="0">
                <a:solidFill>
                  <a:srgbClr val="008000"/>
                </a:solidFill>
                <a:latin typeface="Times New Roman" pitchFamily="18" charset="0"/>
                <a:cs typeface="Times New Roman" pitchFamily="18" charset="0"/>
              </a:rPr>
              <a:t>Introduction to OOPs Concepts - Class – Objects – Methods - Access Modifiers – Creating Class and Objects, Object Life-Cycle - Garbage Collection-Constructors - this – static – Array of Objects – Nested Classes.</a:t>
            </a:r>
          </a:p>
          <a:p>
            <a:pPr lvl="1" algn="just"/>
            <a:endParaRPr lang="en-US" sz="3400" b="1" dirty="0">
              <a:solidFill>
                <a:srgbClr val="008000"/>
              </a:solidFill>
              <a:latin typeface="Times New Roman" pitchFamily="18" charset="0"/>
              <a:cs typeface="Times New Roman" pitchFamily="18" charset="0"/>
            </a:endParaRPr>
          </a:p>
          <a:p>
            <a:pPr lvl="1" algn="just"/>
            <a:r>
              <a:rPr lang="en-US" sz="3400" b="1" dirty="0">
                <a:solidFill>
                  <a:srgbClr val="C00000"/>
                </a:solidFill>
                <a:latin typeface="Times New Roman" pitchFamily="18" charset="0"/>
                <a:cs typeface="Times New Roman" pitchFamily="18" charset="0"/>
              </a:rPr>
              <a:t>String:</a:t>
            </a:r>
            <a:r>
              <a:rPr lang="en-US" sz="3400" b="1" dirty="0">
                <a:solidFill>
                  <a:schemeClr val="tx1"/>
                </a:solidFill>
                <a:latin typeface="Times New Roman" pitchFamily="18" charset="0"/>
                <a:cs typeface="Times New Roman" pitchFamily="18" charset="0"/>
              </a:rPr>
              <a:t> </a:t>
            </a:r>
            <a:r>
              <a:rPr lang="en-US" sz="3400" b="1" dirty="0">
                <a:solidFill>
                  <a:srgbClr val="008000"/>
                </a:solidFill>
                <a:latin typeface="Times New Roman" pitchFamily="18" charset="0"/>
                <a:cs typeface="Times New Roman" pitchFamily="18" charset="0"/>
              </a:rPr>
              <a:t>String Class– Built-in Methods – String Builder – String Buffer</a:t>
            </a:r>
          </a:p>
          <a:p>
            <a:pPr lvl="1" algn="just"/>
            <a:endParaRPr lang="en-US" sz="2400" b="1" dirty="0">
              <a:solidFill>
                <a:srgbClr val="008000"/>
              </a:solidFill>
            </a:endParaRPr>
          </a:p>
          <a:p>
            <a:pPr>
              <a:buNone/>
            </a:pP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C00000"/>
                </a:solidFill>
              </a:rPr>
              <a:t>INTRODUCTION TO PROGRAMMING</a:t>
            </a:r>
            <a:endParaRPr lang="en-US" sz="2800"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7</a:t>
            </a:fld>
            <a:endParaRPr lang="en-US"/>
          </a:p>
        </p:txBody>
      </p:sp>
      <p:sp>
        <p:nvSpPr>
          <p:cNvPr id="4" name="Content Placeholder 3"/>
          <p:cNvSpPr>
            <a:spLocks noGrp="1"/>
          </p:cNvSpPr>
          <p:nvPr>
            <p:ph sz="quarter" idx="1"/>
          </p:nvPr>
        </p:nvSpPr>
        <p:spPr/>
        <p:txBody>
          <a:bodyPr>
            <a:normAutofit fontScale="92500" lnSpcReduction="10000"/>
          </a:bodyPr>
          <a:lstStyle/>
          <a:p>
            <a:pPr algn="just" fontAlgn="base"/>
            <a:r>
              <a:rPr lang="en-US" dirty="0"/>
              <a:t>A computer is a device that can accept human instruction, processes it and responds to it or a computer is a computational device which is used to process the data under the control of a computer program. </a:t>
            </a:r>
            <a:r>
              <a:rPr lang="en-US" b="1" dirty="0"/>
              <a:t>Program</a:t>
            </a:r>
            <a:r>
              <a:rPr lang="en-US" dirty="0"/>
              <a:t> is a sequence of instruction along with data.</a:t>
            </a:r>
          </a:p>
          <a:p>
            <a:pPr algn="just" fontAlgn="base"/>
            <a:r>
              <a:rPr lang="en-US" dirty="0"/>
              <a:t>The basic components of a computer are:</a:t>
            </a:r>
          </a:p>
          <a:p>
            <a:pPr lvl="1" algn="just" fontAlgn="base"/>
            <a:r>
              <a:rPr lang="en-US" dirty="0"/>
              <a:t>Input unit</a:t>
            </a:r>
          </a:p>
          <a:p>
            <a:pPr lvl="1" algn="just" fontAlgn="base"/>
            <a:r>
              <a:rPr lang="en-US" dirty="0"/>
              <a:t>Central Processing Unit(CPU)</a:t>
            </a:r>
          </a:p>
          <a:p>
            <a:pPr lvl="1" algn="just" fontAlgn="base"/>
            <a:r>
              <a:rPr lang="en-US" dirty="0"/>
              <a:t>Output unit</a:t>
            </a:r>
          </a:p>
          <a:p>
            <a:pPr algn="just" fontAlgn="base"/>
            <a:r>
              <a:rPr lang="en-US" dirty="0"/>
              <a:t>The CPU is further divided into three parts-</a:t>
            </a:r>
          </a:p>
          <a:p>
            <a:pPr lvl="1" algn="just"/>
            <a:r>
              <a:rPr lang="en-US" dirty="0"/>
              <a:t>Memory unit </a:t>
            </a:r>
          </a:p>
          <a:p>
            <a:pPr lvl="1" algn="just"/>
            <a:r>
              <a:rPr lang="en-US" dirty="0"/>
              <a:t>Control unit</a:t>
            </a:r>
          </a:p>
          <a:p>
            <a:pPr lvl="1" algn="just"/>
            <a:r>
              <a:rPr lang="en-US" dirty="0"/>
              <a:t>Arithmetic Logic unit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8</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US" b="1" dirty="0">
                <a:solidFill>
                  <a:srgbClr val="C00000"/>
                </a:solidFill>
              </a:rPr>
              <a:t>A program </a:t>
            </a:r>
            <a:r>
              <a:rPr lang="en-US" dirty="0"/>
              <a:t>is a set of instructions given to a computer to perform a specific operation.</a:t>
            </a:r>
          </a:p>
          <a:p>
            <a:pPr algn="just"/>
            <a:r>
              <a:rPr lang="en-US" dirty="0"/>
              <a:t>While executing the program, raw data is processed into a desired output format. </a:t>
            </a:r>
          </a:p>
          <a:p>
            <a:pPr algn="just"/>
            <a:r>
              <a:rPr lang="en-US" dirty="0"/>
              <a:t>These computer programs are written in a programming language which are high level languages. </a:t>
            </a:r>
          </a:p>
          <a:p>
            <a:pPr algn="just"/>
            <a:r>
              <a:rPr lang="en-US" dirty="0"/>
              <a:t>High level languages are nearly human languages which are more complex then the computer understandable language which are called machine language, or low level language.</a:t>
            </a:r>
          </a:p>
          <a:p>
            <a:pPr algn="just"/>
            <a:r>
              <a:rPr lang="en-US" dirty="0"/>
              <a:t>So after knowing the basics, we are ready to create a very simple and basic program. Like we have different languages to communicate with each other, likewise, we have different languages like C, C++, C#, Java, python, etc to communicate with the computers. </a:t>
            </a:r>
          </a:p>
          <a:p>
            <a:pPr algn="just"/>
            <a:r>
              <a:rPr lang="en-US" dirty="0"/>
              <a:t>The computer only understands binary language (the language of 0’s and 1’s) also called machine-understandable language or low-level language but the programs we are going to write are in a high-level language which is almost similar to human language.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9</a:t>
            </a:fld>
            <a:endParaRPr lang="en-US"/>
          </a:p>
        </p:txBody>
      </p:sp>
      <p:sp>
        <p:nvSpPr>
          <p:cNvPr id="4" name="Content Placeholder 3"/>
          <p:cNvSpPr>
            <a:spLocks noGrp="1"/>
          </p:cNvSpPr>
          <p:nvPr>
            <p:ph sz="quarter" idx="1"/>
          </p:nvPr>
        </p:nvSpPr>
        <p:spPr/>
        <p:txBody>
          <a:bodyPr/>
          <a:lstStyle/>
          <a:p>
            <a:r>
              <a:rPr lang="en-US" b="1" dirty="0">
                <a:solidFill>
                  <a:srgbClr val="C00000"/>
                </a:solidFill>
              </a:rPr>
              <a:t>Hierarchy of Computer language –</a:t>
            </a:r>
            <a:endParaRPr lang="en-US" dirty="0">
              <a:solidFill>
                <a:srgbClr val="C00000"/>
              </a:solidFill>
            </a:endParaRPr>
          </a:p>
          <a:p>
            <a:endParaRPr lang="en-US" dirty="0"/>
          </a:p>
        </p:txBody>
      </p:sp>
      <p:pic>
        <p:nvPicPr>
          <p:cNvPr id="40962" name="Picture 2" descr="https://media.geeksforgeeks.org/wp-content/uploads/pl-1.png"/>
          <p:cNvPicPr>
            <a:picLocks noChangeAspect="1" noChangeArrowheads="1"/>
          </p:cNvPicPr>
          <p:nvPr/>
        </p:nvPicPr>
        <p:blipFill>
          <a:blip r:embed="rId2"/>
          <a:srcRect/>
          <a:stretch>
            <a:fillRect/>
          </a:stretch>
        </p:blipFill>
        <p:spPr bwMode="auto">
          <a:xfrm>
            <a:off x="3059549" y="1999621"/>
            <a:ext cx="4522211" cy="4129873"/>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031" y="167993"/>
            <a:ext cx="9072563" cy="856939"/>
          </a:xfrm>
        </p:spPr>
        <p:txBody>
          <a:bodyPr>
            <a:normAutofit fontScale="90000"/>
          </a:bodyPr>
          <a:lstStyle/>
          <a:p>
            <a:r>
              <a:rPr lang="en-US" dirty="0">
                <a:solidFill>
                  <a:srgbClr val="C00000"/>
                </a:solidFill>
              </a:rPr>
              <a:t>There have been many programming language some of them are listed below:</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10</a:t>
            </a:fld>
            <a:endParaRPr lang="en-US"/>
          </a:p>
        </p:txBody>
      </p:sp>
      <p:sp>
        <p:nvSpPr>
          <p:cNvPr id="4" name="Content Placeholder 3"/>
          <p:cNvSpPr>
            <a:spLocks noGrp="1"/>
          </p:cNvSpPr>
          <p:nvPr>
            <p:ph sz="quarter" idx="1"/>
          </p:nvPr>
        </p:nvSpPr>
        <p:spPr>
          <a:xfrm>
            <a:off x="504031" y="1125415"/>
            <a:ext cx="9403644" cy="5661493"/>
          </a:xfrm>
        </p:spPr>
        <p:txBody>
          <a:bodyPr numCol="3">
            <a:noAutofit/>
          </a:bodyPr>
          <a:lstStyle/>
          <a:p>
            <a:r>
              <a:rPr lang="en-US" sz="1250" b="1" dirty="0"/>
              <a:t>C</a:t>
            </a:r>
          </a:p>
          <a:p>
            <a:r>
              <a:rPr lang="en-US" sz="1250" b="1" dirty="0"/>
              <a:t>Python</a:t>
            </a:r>
          </a:p>
          <a:p>
            <a:r>
              <a:rPr lang="en-US" sz="1250" b="1" dirty="0"/>
              <a:t>C++</a:t>
            </a:r>
          </a:p>
          <a:p>
            <a:r>
              <a:rPr lang="en-US" sz="1250" b="1" dirty="0"/>
              <a:t>C#</a:t>
            </a:r>
          </a:p>
          <a:p>
            <a:r>
              <a:rPr lang="en-US" sz="1250" b="1" dirty="0"/>
              <a:t>R</a:t>
            </a:r>
          </a:p>
          <a:p>
            <a:r>
              <a:rPr lang="en-US" sz="1250" b="1" dirty="0"/>
              <a:t>Ruby</a:t>
            </a:r>
          </a:p>
          <a:p>
            <a:r>
              <a:rPr lang="en-US" sz="1250" b="1" dirty="0"/>
              <a:t>COBOL</a:t>
            </a:r>
          </a:p>
          <a:p>
            <a:r>
              <a:rPr lang="en-US" sz="1250" b="1" dirty="0"/>
              <a:t>ADA</a:t>
            </a:r>
          </a:p>
          <a:p>
            <a:r>
              <a:rPr lang="en-US" sz="1250" b="1" dirty="0"/>
              <a:t>Java</a:t>
            </a:r>
          </a:p>
          <a:p>
            <a:r>
              <a:rPr lang="en-US" sz="1250" b="1" dirty="0"/>
              <a:t>Fortran</a:t>
            </a:r>
          </a:p>
          <a:p>
            <a:r>
              <a:rPr lang="en-US" sz="1250" b="1" dirty="0"/>
              <a:t>BASIC</a:t>
            </a:r>
          </a:p>
          <a:p>
            <a:r>
              <a:rPr lang="en-US" sz="1250" b="1" dirty="0"/>
              <a:t>Altair BASIC</a:t>
            </a:r>
          </a:p>
          <a:p>
            <a:r>
              <a:rPr lang="en-US" sz="1250" b="1" dirty="0"/>
              <a:t>True BASIC</a:t>
            </a:r>
          </a:p>
          <a:p>
            <a:r>
              <a:rPr lang="en-US" sz="1250" b="1" dirty="0"/>
              <a:t>Visual BASIC</a:t>
            </a:r>
          </a:p>
          <a:p>
            <a:r>
              <a:rPr lang="en-US" sz="1250" b="1" dirty="0"/>
              <a:t>GW BASIC</a:t>
            </a:r>
          </a:p>
          <a:p>
            <a:r>
              <a:rPr lang="en-US" sz="1250" b="1" dirty="0"/>
              <a:t>QBASIC</a:t>
            </a:r>
          </a:p>
          <a:p>
            <a:r>
              <a:rPr lang="en-US" sz="1250" b="1" dirty="0" err="1"/>
              <a:t>PureBASIC</a:t>
            </a:r>
            <a:endParaRPr lang="en-US" sz="1250" b="1" dirty="0"/>
          </a:p>
          <a:p>
            <a:r>
              <a:rPr lang="en-US" sz="1250" b="1" dirty="0"/>
              <a:t>PASCAL</a:t>
            </a:r>
          </a:p>
          <a:p>
            <a:r>
              <a:rPr lang="en-US" sz="1250" b="1" dirty="0"/>
              <a:t>Turbo Pascal</a:t>
            </a:r>
          </a:p>
          <a:p>
            <a:r>
              <a:rPr lang="en-US" sz="1250" b="1" dirty="0"/>
              <a:t>GO</a:t>
            </a:r>
          </a:p>
          <a:p>
            <a:r>
              <a:rPr lang="en-US" sz="1250" b="1" dirty="0"/>
              <a:t>ALGOL</a:t>
            </a:r>
          </a:p>
          <a:p>
            <a:r>
              <a:rPr lang="en-US" sz="1250" b="1" dirty="0"/>
              <a:t>LISP</a:t>
            </a:r>
          </a:p>
          <a:p>
            <a:r>
              <a:rPr lang="en-US" sz="1250" b="1" dirty="0"/>
              <a:t>SCALA</a:t>
            </a:r>
          </a:p>
          <a:p>
            <a:r>
              <a:rPr lang="en-US" sz="1250" b="1" dirty="0"/>
              <a:t>Swift</a:t>
            </a:r>
          </a:p>
          <a:p>
            <a:r>
              <a:rPr lang="en-US" sz="1250" b="1" dirty="0"/>
              <a:t>Rust</a:t>
            </a:r>
          </a:p>
          <a:p>
            <a:r>
              <a:rPr lang="en-US" sz="1250" b="1" dirty="0"/>
              <a:t>Prolog</a:t>
            </a:r>
          </a:p>
          <a:p>
            <a:r>
              <a:rPr lang="en-US" sz="1250" b="1" dirty="0" err="1"/>
              <a:t>Reia</a:t>
            </a:r>
            <a:endParaRPr lang="en-US" sz="1250" b="1" dirty="0"/>
          </a:p>
          <a:p>
            <a:r>
              <a:rPr lang="en-US" sz="1250" b="1" dirty="0"/>
              <a:t>Racket</a:t>
            </a:r>
          </a:p>
          <a:p>
            <a:r>
              <a:rPr lang="en-US" sz="1250" b="1" dirty="0"/>
              <a:t>Scheme</a:t>
            </a:r>
          </a:p>
          <a:p>
            <a:r>
              <a:rPr lang="en-US" sz="1250" b="1" dirty="0" err="1"/>
              <a:t>Shimula</a:t>
            </a:r>
            <a:endParaRPr lang="en-US" sz="1250" b="1" dirty="0"/>
          </a:p>
          <a:p>
            <a:r>
              <a:rPr lang="en-US" sz="1250" b="1" dirty="0"/>
              <a:t>Perl</a:t>
            </a:r>
          </a:p>
          <a:p>
            <a:r>
              <a:rPr lang="en-US" sz="1250" b="1" dirty="0"/>
              <a:t>PHP</a:t>
            </a:r>
          </a:p>
          <a:p>
            <a:r>
              <a:rPr lang="en-US" sz="1250" b="1" dirty="0"/>
              <a:t>JavaScript</a:t>
            </a:r>
          </a:p>
          <a:p>
            <a:r>
              <a:rPr lang="en-US" sz="1250" b="1" dirty="0"/>
              <a:t>Coffee Script</a:t>
            </a:r>
          </a:p>
          <a:p>
            <a:r>
              <a:rPr lang="en-US" sz="1250" b="1" dirty="0"/>
              <a:t>Visual FoxPro</a:t>
            </a:r>
          </a:p>
          <a:p>
            <a:r>
              <a:rPr lang="en-US" sz="1250" b="1" dirty="0"/>
              <a:t>Babel</a:t>
            </a:r>
          </a:p>
          <a:p>
            <a:r>
              <a:rPr lang="en-US" sz="1250" b="1" dirty="0"/>
              <a:t>Logo</a:t>
            </a:r>
          </a:p>
          <a:p>
            <a:r>
              <a:rPr lang="en-US" sz="1250" b="1" dirty="0" err="1"/>
              <a:t>Lua</a:t>
            </a:r>
            <a:endParaRPr lang="en-US" sz="1250" b="1" dirty="0"/>
          </a:p>
          <a:p>
            <a:r>
              <a:rPr lang="en-US" sz="1250" b="1" dirty="0"/>
              <a:t>Smalltalk</a:t>
            </a:r>
          </a:p>
          <a:p>
            <a:r>
              <a:rPr lang="en-US" sz="1250" b="1" dirty="0" err="1"/>
              <a:t>Matlab</a:t>
            </a:r>
            <a:endParaRPr lang="en-US" sz="1250" b="1" dirty="0"/>
          </a:p>
          <a:p>
            <a:r>
              <a:rPr lang="en-US" sz="1250" b="1" dirty="0"/>
              <a:t>F</a:t>
            </a:r>
          </a:p>
          <a:p>
            <a:r>
              <a:rPr lang="en-US" sz="1250" b="1" dirty="0"/>
              <a:t>F#</a:t>
            </a:r>
          </a:p>
          <a:p>
            <a:r>
              <a:rPr lang="en-US" sz="1250" b="1" dirty="0"/>
              <a:t>Dart</a:t>
            </a:r>
          </a:p>
          <a:p>
            <a:r>
              <a:rPr lang="en-US" sz="1250" b="1" dirty="0" err="1"/>
              <a:t>Datalog</a:t>
            </a:r>
            <a:endParaRPr lang="en-US" sz="1250" b="1" dirty="0"/>
          </a:p>
          <a:p>
            <a:r>
              <a:rPr lang="en-US" sz="1250" b="1" dirty="0"/>
              <a:t>Dbase</a:t>
            </a:r>
          </a:p>
          <a:p>
            <a:r>
              <a:rPr lang="en-US" sz="1250" b="1" dirty="0"/>
              <a:t>Haskell</a:t>
            </a:r>
          </a:p>
          <a:p>
            <a:r>
              <a:rPr lang="en-US" sz="1250" b="1" dirty="0"/>
              <a:t>Dylan</a:t>
            </a:r>
          </a:p>
          <a:p>
            <a:r>
              <a:rPr lang="en-US" sz="1250" b="1" dirty="0"/>
              <a:t>Julia</a:t>
            </a:r>
          </a:p>
          <a:p>
            <a:r>
              <a:rPr lang="en-US" sz="1250" b="1" dirty="0" err="1"/>
              <a:t>Ksh</a:t>
            </a:r>
            <a:endParaRPr lang="en-US" sz="1250" b="1" dirty="0"/>
          </a:p>
          <a:p>
            <a:r>
              <a:rPr lang="en-US" sz="1250" b="1" dirty="0"/>
              <a:t>Metro</a:t>
            </a:r>
          </a:p>
          <a:p>
            <a:r>
              <a:rPr lang="en-US" sz="1250" b="1" dirty="0"/>
              <a:t>Mumps</a:t>
            </a:r>
          </a:p>
          <a:p>
            <a:r>
              <a:rPr lang="en-US" sz="1250" b="1" dirty="0" err="1"/>
              <a:t>Nim</a:t>
            </a:r>
            <a:endParaRPr lang="en-US" sz="1250" b="1" dirty="0"/>
          </a:p>
          <a:p>
            <a:r>
              <a:rPr lang="en-US" sz="1250" b="1" dirty="0" err="1"/>
              <a:t>Ocaml</a:t>
            </a:r>
            <a:endParaRPr lang="en-US" sz="1250" b="1" dirty="0"/>
          </a:p>
          <a:p>
            <a:r>
              <a:rPr lang="en-US" sz="1250" b="1" dirty="0"/>
              <a:t>Pick</a:t>
            </a:r>
          </a:p>
          <a:p>
            <a:r>
              <a:rPr lang="en-US" sz="1250" b="1" dirty="0"/>
              <a:t>TCL</a:t>
            </a:r>
          </a:p>
          <a:p>
            <a:r>
              <a:rPr lang="en-US" sz="1250" b="1" dirty="0"/>
              <a:t>D</a:t>
            </a:r>
          </a:p>
          <a:p>
            <a:r>
              <a:rPr lang="en-US" sz="1250" b="1" dirty="0"/>
              <a:t>CPL</a:t>
            </a:r>
          </a:p>
          <a:p>
            <a:r>
              <a:rPr lang="en-US" sz="1250" b="1" dirty="0"/>
              <a:t>Curry</a:t>
            </a:r>
          </a:p>
          <a:p>
            <a:r>
              <a:rPr lang="en-US" sz="1250" b="1" dirty="0"/>
              <a:t>Action Script</a:t>
            </a:r>
          </a:p>
          <a:p>
            <a:r>
              <a:rPr lang="en-US" sz="1250" b="1" dirty="0" err="1"/>
              <a:t>Erlang</a:t>
            </a:r>
            <a:endParaRPr lang="en-US" sz="1250" b="1" dirty="0"/>
          </a:p>
          <a:p>
            <a:r>
              <a:rPr lang="en-US" sz="1250" b="1" dirty="0" err="1"/>
              <a:t>Clojure</a:t>
            </a:r>
            <a:endParaRPr lang="en-US" sz="1250" b="1" dirty="0"/>
          </a:p>
          <a:p>
            <a:r>
              <a:rPr lang="en-US" sz="1250" b="1" dirty="0" err="1"/>
              <a:t>DarkBASCIC</a:t>
            </a:r>
            <a:endParaRPr lang="en-US" sz="1250" b="1" dirty="0"/>
          </a:p>
          <a:p>
            <a:r>
              <a:rPr lang="en-US" sz="1250" b="1" dirty="0"/>
              <a:t>Assembly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Most Popular Programming Languages </a:t>
            </a:r>
            <a:r>
              <a:rPr lang="en-US" b="1" dirty="0"/>
              <a:t>–</a:t>
            </a:r>
            <a:br>
              <a:rPr lang="en-US" dirty="0"/>
            </a:br>
            <a:endParaRPr lang="en-US" dirty="0"/>
          </a:p>
        </p:txBody>
      </p:sp>
      <p:sp>
        <p:nvSpPr>
          <p:cNvPr id="3" name="Slide Number Placeholder 2"/>
          <p:cNvSpPr>
            <a:spLocks noGrp="1"/>
          </p:cNvSpPr>
          <p:nvPr>
            <p:ph type="sldNum" sz="quarter" idx="12"/>
          </p:nvPr>
        </p:nvSpPr>
        <p:spPr/>
        <p:txBody>
          <a:bodyPr/>
          <a:lstStyle/>
          <a:p>
            <a:fld id="{E3591306-41CF-4237-B2B4-5C605DD45071}" type="slidenum">
              <a:rPr lang="en-US" smtClean="0"/>
              <a:pPr/>
              <a:t>11</a:t>
            </a:fld>
            <a:endParaRPr lang="en-US"/>
          </a:p>
        </p:txBody>
      </p:sp>
      <p:sp>
        <p:nvSpPr>
          <p:cNvPr id="4" name="Content Placeholder 3"/>
          <p:cNvSpPr>
            <a:spLocks noGrp="1"/>
          </p:cNvSpPr>
          <p:nvPr>
            <p:ph sz="quarter" idx="1"/>
          </p:nvPr>
        </p:nvSpPr>
        <p:spPr/>
        <p:txBody>
          <a:bodyPr>
            <a:normAutofit fontScale="92500" lnSpcReduction="10000"/>
          </a:bodyPr>
          <a:lstStyle/>
          <a:p>
            <a:pPr fontAlgn="base"/>
            <a:r>
              <a:rPr lang="en-US" dirty="0"/>
              <a:t>C</a:t>
            </a:r>
          </a:p>
          <a:p>
            <a:pPr fontAlgn="base"/>
            <a:r>
              <a:rPr lang="en-US" dirty="0"/>
              <a:t>Python</a:t>
            </a:r>
          </a:p>
          <a:p>
            <a:pPr fontAlgn="base"/>
            <a:r>
              <a:rPr lang="en-US" dirty="0"/>
              <a:t>C++</a:t>
            </a:r>
          </a:p>
          <a:p>
            <a:pPr fontAlgn="base"/>
            <a:r>
              <a:rPr lang="en-US" dirty="0"/>
              <a:t>Java</a:t>
            </a:r>
          </a:p>
          <a:p>
            <a:pPr fontAlgn="base"/>
            <a:r>
              <a:rPr lang="en-US" dirty="0"/>
              <a:t>SCALA</a:t>
            </a:r>
          </a:p>
          <a:p>
            <a:pPr fontAlgn="base"/>
            <a:r>
              <a:rPr lang="en-US" dirty="0"/>
              <a:t>C#</a:t>
            </a:r>
          </a:p>
          <a:p>
            <a:pPr fontAlgn="base"/>
            <a:r>
              <a:rPr lang="en-US" dirty="0"/>
              <a:t>R</a:t>
            </a:r>
          </a:p>
          <a:p>
            <a:pPr fontAlgn="base"/>
            <a:r>
              <a:rPr lang="en-US" dirty="0"/>
              <a:t>Ruby</a:t>
            </a:r>
          </a:p>
          <a:p>
            <a:pPr fontAlgn="base"/>
            <a:r>
              <a:rPr lang="en-US" dirty="0"/>
              <a:t>Go</a:t>
            </a:r>
          </a:p>
          <a:p>
            <a:pPr fontAlgn="base"/>
            <a:r>
              <a:rPr lang="en-US" dirty="0"/>
              <a:t>Swift</a:t>
            </a:r>
          </a:p>
          <a:p>
            <a:pPr fontAlgn="base"/>
            <a:r>
              <a:rPr lang="en-US" dirty="0"/>
              <a:t>JavaScript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Characteristics of a programming Language </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12</a:t>
            </a:fld>
            <a:endParaRPr lang="en-US"/>
          </a:p>
        </p:txBody>
      </p:sp>
      <p:sp>
        <p:nvSpPr>
          <p:cNvPr id="4" name="Content Placeholder 3"/>
          <p:cNvSpPr>
            <a:spLocks noGrp="1"/>
          </p:cNvSpPr>
          <p:nvPr>
            <p:ph sz="quarter" idx="1"/>
          </p:nvPr>
        </p:nvSpPr>
        <p:spPr/>
        <p:txBody>
          <a:bodyPr>
            <a:normAutofit fontScale="77500" lnSpcReduction="20000"/>
          </a:bodyPr>
          <a:lstStyle/>
          <a:p>
            <a:pPr algn="just" fontAlgn="base"/>
            <a:r>
              <a:rPr lang="en-US" dirty="0"/>
              <a:t>A programming language must be </a:t>
            </a:r>
            <a:r>
              <a:rPr lang="en-US" b="1" dirty="0"/>
              <a:t>simple</a:t>
            </a:r>
            <a:r>
              <a:rPr lang="en-US" dirty="0"/>
              <a:t>, easy to learn and use, have good readability and human recognizable.</a:t>
            </a:r>
          </a:p>
          <a:p>
            <a:pPr algn="just" fontAlgn="base"/>
            <a:r>
              <a:rPr lang="en-US" dirty="0"/>
              <a:t>Abstraction is a must-have Characteristics for a programming language in which ability to define the complex structure and then its degree of usability comes.</a:t>
            </a:r>
          </a:p>
          <a:p>
            <a:pPr algn="just" fontAlgn="base"/>
            <a:r>
              <a:rPr lang="en-US" dirty="0"/>
              <a:t>A </a:t>
            </a:r>
            <a:r>
              <a:rPr lang="en-US" b="1" dirty="0"/>
              <a:t>portable</a:t>
            </a:r>
            <a:r>
              <a:rPr lang="en-US" dirty="0"/>
              <a:t> programming language is always preferred.</a:t>
            </a:r>
          </a:p>
          <a:p>
            <a:pPr algn="just" fontAlgn="base"/>
            <a:r>
              <a:rPr lang="en-US" dirty="0"/>
              <a:t>Programming language’s efficiency must be high so that it can be easily converted into a machine code and executed consumes little space in memory.</a:t>
            </a:r>
          </a:p>
          <a:p>
            <a:pPr algn="just" fontAlgn="base"/>
            <a:r>
              <a:rPr lang="en-US" dirty="0"/>
              <a:t>A programming language should be well structured and documented so that it is suitable for application development.</a:t>
            </a:r>
          </a:p>
          <a:p>
            <a:pPr algn="just" fontAlgn="base"/>
            <a:r>
              <a:rPr lang="en-US" dirty="0"/>
              <a:t>Necessary tools for development, debugging, testing, maintenance of a program must be provided by a programming language.</a:t>
            </a:r>
          </a:p>
          <a:p>
            <a:pPr algn="just" fontAlgn="base"/>
            <a:r>
              <a:rPr lang="en-US" dirty="0"/>
              <a:t>A programming language should provide single environment known as Integrated Development Environment(IDE).</a:t>
            </a:r>
          </a:p>
          <a:p>
            <a:pPr algn="just" fontAlgn="base"/>
            <a:r>
              <a:rPr lang="en-US" dirty="0"/>
              <a:t>A programming language must be consistent in terms of syntax and semantics.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9FE-5995-D70A-13A9-B657B22AC8FC}"/>
              </a:ext>
            </a:extLst>
          </p:cNvPr>
          <p:cNvSpPr>
            <a:spLocks noGrp="1"/>
          </p:cNvSpPr>
          <p:nvPr>
            <p:ph type="title"/>
          </p:nvPr>
        </p:nvSpPr>
        <p:spPr/>
        <p:txBody>
          <a:bodyPr>
            <a:normAutofit/>
          </a:bodyPr>
          <a:lstStyle/>
          <a:p>
            <a:r>
              <a:rPr lang="en-IN" b="1" dirty="0"/>
              <a:t>What is Java?</a:t>
            </a:r>
            <a:endParaRPr lang="en-IN" dirty="0"/>
          </a:p>
        </p:txBody>
      </p:sp>
      <p:sp>
        <p:nvSpPr>
          <p:cNvPr id="3" name="Slide Number Placeholder 2">
            <a:extLst>
              <a:ext uri="{FF2B5EF4-FFF2-40B4-BE49-F238E27FC236}">
                <a16:creationId xmlns:a16="http://schemas.microsoft.com/office/drawing/2014/main" id="{3CDC5CFE-BD92-F143-EBFB-52B58DEE0B6B}"/>
              </a:ext>
            </a:extLst>
          </p:cNvPr>
          <p:cNvSpPr>
            <a:spLocks noGrp="1"/>
          </p:cNvSpPr>
          <p:nvPr>
            <p:ph type="sldNum" sz="quarter" idx="12"/>
          </p:nvPr>
        </p:nvSpPr>
        <p:spPr/>
        <p:txBody>
          <a:bodyPr/>
          <a:lstStyle/>
          <a:p>
            <a:fld id="{E3591306-41CF-4237-B2B4-5C605DD45071}" type="slidenum">
              <a:rPr lang="en-US" smtClean="0"/>
              <a:pPr/>
              <a:t>13</a:t>
            </a:fld>
            <a:endParaRPr lang="en-US"/>
          </a:p>
        </p:txBody>
      </p:sp>
      <p:sp>
        <p:nvSpPr>
          <p:cNvPr id="4" name="Content Placeholder 3">
            <a:extLst>
              <a:ext uri="{FF2B5EF4-FFF2-40B4-BE49-F238E27FC236}">
                <a16:creationId xmlns:a16="http://schemas.microsoft.com/office/drawing/2014/main" id="{0D92CFD1-B8C1-9C54-A0E7-0DF82F5CD0AE}"/>
              </a:ext>
            </a:extLst>
          </p:cNvPr>
          <p:cNvSpPr>
            <a:spLocks noGrp="1"/>
          </p:cNvSpPr>
          <p:nvPr>
            <p:ph sz="quarter" idx="1"/>
          </p:nvPr>
        </p:nvSpPr>
        <p:spPr/>
        <p:txBody>
          <a:bodyPr/>
          <a:lstStyle/>
          <a:p>
            <a:pPr lvl="0" algn="just"/>
            <a:r>
              <a:rPr lang="en-IN" dirty="0"/>
              <a:t>Java is a high-level, object-oriented programming language designed with the motto “write once, run anywhere”, meaning the same compiled program can run on different platforms that have a Java Virtual Machine (JVM).</a:t>
            </a:r>
          </a:p>
          <a:p>
            <a:pPr lvl="0" algn="just"/>
            <a:r>
              <a:rPr lang="en-IN" dirty="0"/>
              <a:t>It is widely used for web applications, Android apps, desktop applications, and enterprise systems because of its portability, large standard library, and strong community support.</a:t>
            </a:r>
          </a:p>
        </p:txBody>
      </p:sp>
    </p:spTree>
    <p:extLst>
      <p:ext uri="{BB962C8B-B14F-4D97-AF65-F5344CB8AC3E}">
        <p14:creationId xmlns:p14="http://schemas.microsoft.com/office/powerpoint/2010/main" val="2469896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C00000"/>
                </a:solidFill>
              </a:rPr>
              <a:t>The History and Evolution of Java</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14</a:t>
            </a:fld>
            <a:endParaRPr lang="en-US"/>
          </a:p>
        </p:txBody>
      </p:sp>
      <p:sp>
        <p:nvSpPr>
          <p:cNvPr id="4" name="Content Placeholder 3"/>
          <p:cNvSpPr>
            <a:spLocks noGrp="1"/>
          </p:cNvSpPr>
          <p:nvPr>
            <p:ph sz="quarter" idx="1"/>
          </p:nvPr>
        </p:nvSpPr>
        <p:spPr/>
        <p:txBody>
          <a:bodyPr>
            <a:normAutofit fontScale="85000" lnSpcReduction="20000"/>
          </a:bodyPr>
          <a:lstStyle/>
          <a:p>
            <a:pPr algn="just"/>
            <a:r>
              <a:rPr lang="en-US" b="1" dirty="0"/>
              <a:t>The history of Java</a:t>
            </a:r>
            <a:r>
              <a:rPr lang="en-US" dirty="0"/>
              <a:t> is very interesting. Java was originally designed for interactive television, but it was too advanced technology for the digital cable television industry at the time. </a:t>
            </a:r>
          </a:p>
          <a:p>
            <a:pPr algn="just"/>
            <a:r>
              <a:rPr lang="en-US" dirty="0"/>
              <a:t>The history of Java starts with the Green Team. Java team members (also known as </a:t>
            </a:r>
            <a:r>
              <a:rPr lang="en-US" b="1" dirty="0"/>
              <a:t>Green Team</a:t>
            </a:r>
            <a:r>
              <a:rPr lang="en-US" dirty="0"/>
              <a:t>), initiated this project to develop a language for digital devices such as set-top boxes, televisions, etc. </a:t>
            </a:r>
          </a:p>
          <a:p>
            <a:pPr algn="just"/>
            <a:r>
              <a:rPr lang="en-US" dirty="0"/>
              <a:t>However, it was suited for internet programming. Later, Java technology was incorporated by Netscape.</a:t>
            </a:r>
          </a:p>
          <a:p>
            <a:pPr algn="just"/>
            <a:r>
              <a:rPr lang="en-US" dirty="0"/>
              <a:t>The principles for creating Java programming were </a:t>
            </a:r>
            <a:r>
              <a:rPr lang="en-US" b="1" dirty="0"/>
              <a:t>"Simple, Robust, Portable, Platform-independent, Secured, High Performance, Multithreaded, Architecture Neutral, Object-Oriented, Interpreted, and Dynamic". </a:t>
            </a:r>
          </a:p>
          <a:p>
            <a:pPr algn="just"/>
            <a:r>
              <a:rPr lang="en-US" dirty="0"/>
              <a:t>Java was developed by James Gosling, who is known as the father of Java, in 1995. James Gosling and his team members started the project in the early '90s.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3591306-41CF-4237-B2B4-5C605DD45071}" type="slidenum">
              <a:rPr lang="en-US" smtClean="0"/>
              <a:pPr/>
              <a:t>15</a:t>
            </a:fld>
            <a:endParaRPr lang="en-US"/>
          </a:p>
        </p:txBody>
      </p:sp>
      <p:sp>
        <p:nvSpPr>
          <p:cNvPr id="4" name="Content Placeholder 3"/>
          <p:cNvSpPr>
            <a:spLocks noGrp="1"/>
          </p:cNvSpPr>
          <p:nvPr>
            <p:ph sz="quarter" idx="1"/>
          </p:nvPr>
        </p:nvSpPr>
        <p:spPr>
          <a:xfrm>
            <a:off x="504031" y="388620"/>
            <a:ext cx="9072563" cy="6398288"/>
          </a:xfrm>
        </p:spPr>
        <p:txBody>
          <a:bodyPr>
            <a:normAutofit fontScale="85000" lnSpcReduction="10000"/>
          </a:bodyPr>
          <a:lstStyle/>
          <a:p>
            <a:pPr marL="0" indent="0" algn="just">
              <a:buNone/>
            </a:pPr>
            <a:r>
              <a:rPr lang="en-US" sz="2800" dirty="0"/>
              <a:t>Currently, Java is used in internet programming, mobile devices, games, e-business solutions, etc. There are given significant points that describe the history of Java.</a:t>
            </a:r>
          </a:p>
          <a:p>
            <a:pPr algn="just"/>
            <a:r>
              <a:rPr lang="en-US" sz="2800" b="1" dirty="0"/>
              <a:t>James Gosling</a:t>
            </a:r>
            <a:r>
              <a:rPr lang="en-US" sz="2800" dirty="0"/>
              <a:t>, </a:t>
            </a:r>
            <a:r>
              <a:rPr lang="en-US" sz="2800" b="1" dirty="0"/>
              <a:t>Mike Sheridan</a:t>
            </a:r>
            <a:r>
              <a:rPr lang="en-US" sz="2800" dirty="0"/>
              <a:t>, and </a:t>
            </a:r>
            <a:r>
              <a:rPr lang="en-US" sz="2800" b="1" dirty="0"/>
              <a:t>Patrick Naughton</a:t>
            </a:r>
            <a:r>
              <a:rPr lang="en-US" sz="2800" dirty="0"/>
              <a:t> initiated the Java language project in June 1991. The small team of sun engineers called </a:t>
            </a:r>
            <a:r>
              <a:rPr lang="en-US" sz="2800" b="1" dirty="0"/>
              <a:t>Green Team</a:t>
            </a:r>
            <a:r>
              <a:rPr lang="en-US" sz="2800" dirty="0"/>
              <a:t>.</a:t>
            </a:r>
          </a:p>
          <a:p>
            <a:pPr algn="just"/>
            <a:r>
              <a:rPr lang="en-US" sz="2800" dirty="0"/>
              <a:t>Initially designed for small, embedded systems in electronic appliances like set-top boxes.</a:t>
            </a:r>
          </a:p>
          <a:p>
            <a:pPr algn="just"/>
            <a:r>
              <a:rPr lang="en-US" sz="2800" dirty="0"/>
              <a:t>Firstly, it was called </a:t>
            </a:r>
            <a:r>
              <a:rPr lang="en-US" sz="2800" b="1" dirty="0"/>
              <a:t>"</a:t>
            </a:r>
            <a:r>
              <a:rPr lang="en-US" sz="2800" b="1" dirty="0" err="1"/>
              <a:t>Greentalk</a:t>
            </a:r>
            <a:r>
              <a:rPr lang="en-US" sz="2800" b="1" dirty="0"/>
              <a:t>"</a:t>
            </a:r>
            <a:r>
              <a:rPr lang="en-US" sz="2800" dirty="0"/>
              <a:t> by James Gosling, and the file extension was .</a:t>
            </a:r>
            <a:r>
              <a:rPr lang="en-US" sz="2800" dirty="0" err="1"/>
              <a:t>gt.</a:t>
            </a:r>
            <a:endParaRPr lang="en-US" sz="2800" dirty="0"/>
          </a:p>
          <a:p>
            <a:pPr algn="just"/>
            <a:r>
              <a:rPr lang="en-US" sz="2800" dirty="0"/>
              <a:t>After that, it was called </a:t>
            </a:r>
            <a:r>
              <a:rPr lang="en-US" sz="2800" b="1" dirty="0"/>
              <a:t>Oak</a:t>
            </a:r>
            <a:r>
              <a:rPr lang="en-US" sz="2800" dirty="0"/>
              <a:t> and was developed as a part of the Green project.</a:t>
            </a:r>
            <a:endParaRPr lang="en-US" sz="3200" dirty="0"/>
          </a:p>
          <a:p>
            <a:r>
              <a:rPr lang="en-US" sz="2800" b="1" dirty="0"/>
              <a:t>Why Java named "Oak"?</a:t>
            </a:r>
          </a:p>
          <a:p>
            <a:r>
              <a:rPr lang="en-US" sz="2800" dirty="0"/>
              <a:t>Why Oak? Oak is a symbol of strength and chosen as a national tree of many countries like the U.S.A., France, Germany, Romania, etc.</a:t>
            </a:r>
          </a:p>
          <a:p>
            <a:r>
              <a:rPr lang="en-US" sz="2800" dirty="0"/>
              <a:t>In 1995, Oak was renamed as "Java" because it was already a trademark by Oak Technologies.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3591306-41CF-4237-B2B4-5C605DD45071}" type="slidenum">
              <a:rPr lang="en-US" smtClean="0"/>
              <a:pPr/>
              <a:t>16</a:t>
            </a:fld>
            <a:endParaRPr lang="en-US"/>
          </a:p>
        </p:txBody>
      </p:sp>
      <p:sp>
        <p:nvSpPr>
          <p:cNvPr id="4" name="Content Placeholder 3"/>
          <p:cNvSpPr>
            <a:spLocks noGrp="1"/>
          </p:cNvSpPr>
          <p:nvPr>
            <p:ph sz="quarter" idx="1"/>
          </p:nvPr>
        </p:nvSpPr>
        <p:spPr>
          <a:xfrm>
            <a:off x="504031" y="525780"/>
            <a:ext cx="9072563" cy="6261128"/>
          </a:xfrm>
        </p:spPr>
        <p:txBody>
          <a:bodyPr>
            <a:normAutofit fontScale="92500" lnSpcReduction="10000"/>
          </a:bodyPr>
          <a:lstStyle/>
          <a:p>
            <a:pPr algn="just"/>
            <a:r>
              <a:rPr lang="en-US" b="1" dirty="0"/>
              <a:t>Why Java Programming named "Java"?</a:t>
            </a:r>
          </a:p>
          <a:p>
            <a:pPr algn="just"/>
            <a:r>
              <a:rPr lang="en-US" b="1" dirty="0"/>
              <a:t>Why had they chosen java name for Java language?</a:t>
            </a:r>
            <a:r>
              <a:rPr lang="en-US" dirty="0"/>
              <a:t> </a:t>
            </a:r>
          </a:p>
          <a:p>
            <a:pPr algn="just"/>
            <a:r>
              <a:rPr lang="en-US" dirty="0"/>
              <a:t>The team gathered to choose a new name. The suggested words were "dynamic", "revolutionary", "Silk", "jolt", "DNA", etc. They wanted something that reflected the essence of the technology: revolutionary, dynamic, lively, cool, unique, and easy to spell and fun to say.</a:t>
            </a:r>
          </a:p>
          <a:p>
            <a:pPr algn="just"/>
            <a:r>
              <a:rPr lang="en-US" dirty="0"/>
              <a:t>According to James Gosling, "Java was one of the top choices along with </a:t>
            </a:r>
            <a:r>
              <a:rPr lang="en-US" b="1" dirty="0"/>
              <a:t>Silk</a:t>
            </a:r>
            <a:r>
              <a:rPr lang="en-US" dirty="0"/>
              <a:t>". Since Java was so unique, most of the team members preferred Java than other names.</a:t>
            </a:r>
          </a:p>
          <a:p>
            <a:pPr algn="just"/>
            <a:r>
              <a:rPr lang="en-US" dirty="0"/>
              <a:t>Java is an island of Indonesia where the first coffee was produced (called java coffee). It is a kind of espresso bean. Java name was chosen by James Gosling while having coffee near his office.</a:t>
            </a:r>
          </a:p>
          <a:p>
            <a:pPr algn="just"/>
            <a:r>
              <a:rPr lang="en-US" dirty="0"/>
              <a:t>Notice that Java is just a name, not an acronym.</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3591306-41CF-4237-B2B4-5C605DD45071}" type="slidenum">
              <a:rPr lang="en-US" smtClean="0"/>
              <a:pPr/>
              <a:t>17</a:t>
            </a:fld>
            <a:endParaRPr lang="en-US"/>
          </a:p>
        </p:txBody>
      </p:sp>
      <p:sp>
        <p:nvSpPr>
          <p:cNvPr id="4" name="Content Placeholder 3"/>
          <p:cNvSpPr>
            <a:spLocks noGrp="1"/>
          </p:cNvSpPr>
          <p:nvPr>
            <p:ph sz="quarter" idx="1"/>
          </p:nvPr>
        </p:nvSpPr>
        <p:spPr>
          <a:xfrm>
            <a:off x="377191" y="1059497"/>
            <a:ext cx="9085104" cy="5440680"/>
          </a:xfrm>
        </p:spPr>
        <p:txBody>
          <a:bodyPr>
            <a:normAutofit/>
          </a:bodyPr>
          <a:lstStyle/>
          <a:p>
            <a:pPr algn="just"/>
            <a:r>
              <a:rPr lang="en-US" sz="2800" dirty="0"/>
              <a:t>Initially developed by James Gosling at Sun Microsystems (which is now a subsidiary of Oracle Corporation) and released in 1995.</a:t>
            </a:r>
          </a:p>
          <a:p>
            <a:pPr algn="just"/>
            <a:r>
              <a:rPr lang="en-US" sz="2800" dirty="0"/>
              <a:t>In 1995, Time magazine called </a:t>
            </a:r>
            <a:r>
              <a:rPr lang="en-US" sz="2800" b="1" dirty="0"/>
              <a:t>Java one of the Ten Best Products of 1995</a:t>
            </a:r>
            <a:r>
              <a:rPr lang="en-US" sz="2800" dirty="0"/>
              <a:t>.</a:t>
            </a:r>
          </a:p>
          <a:p>
            <a:pPr algn="just"/>
            <a:r>
              <a:rPr lang="en-US" sz="2800" dirty="0"/>
              <a:t>JDK 1.0 released in(January 23, 1996). After the first release of Java, there have been many additional features added to the language. Now Java is being used in Windows applications, Web applications, enterprise applications, mobile applications, cards, etc. Each new version adds the new features in Java.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BF5B9-FB8E-24E5-2902-0E2584F9E124}"/>
              </a:ext>
            </a:extLst>
          </p:cNvPr>
          <p:cNvSpPr>
            <a:spLocks noGrp="1"/>
          </p:cNvSpPr>
          <p:nvPr>
            <p:ph type="title"/>
          </p:nvPr>
        </p:nvSpPr>
        <p:spPr/>
        <p:txBody>
          <a:bodyPr>
            <a:normAutofit/>
          </a:bodyPr>
          <a:lstStyle/>
          <a:p>
            <a:r>
              <a:rPr lang="en-IN" sz="3600" b="1" dirty="0"/>
              <a:t>Java platform components</a:t>
            </a:r>
            <a:endParaRPr lang="en-IN" sz="3600" dirty="0"/>
          </a:p>
        </p:txBody>
      </p:sp>
      <p:sp>
        <p:nvSpPr>
          <p:cNvPr id="3" name="Slide Number Placeholder 2">
            <a:extLst>
              <a:ext uri="{FF2B5EF4-FFF2-40B4-BE49-F238E27FC236}">
                <a16:creationId xmlns:a16="http://schemas.microsoft.com/office/drawing/2014/main" id="{A68C51F1-40CD-7F5C-9953-90C4D0502C90}"/>
              </a:ext>
            </a:extLst>
          </p:cNvPr>
          <p:cNvSpPr>
            <a:spLocks noGrp="1"/>
          </p:cNvSpPr>
          <p:nvPr>
            <p:ph type="sldNum" sz="quarter" idx="12"/>
          </p:nvPr>
        </p:nvSpPr>
        <p:spPr/>
        <p:txBody>
          <a:bodyPr/>
          <a:lstStyle/>
          <a:p>
            <a:fld id="{E3591306-41CF-4237-B2B4-5C605DD45071}" type="slidenum">
              <a:rPr lang="en-US" smtClean="0"/>
              <a:pPr/>
              <a:t>18</a:t>
            </a:fld>
            <a:endParaRPr lang="en-US"/>
          </a:p>
        </p:txBody>
      </p:sp>
      <p:sp>
        <p:nvSpPr>
          <p:cNvPr id="4" name="Content Placeholder 3">
            <a:extLst>
              <a:ext uri="{FF2B5EF4-FFF2-40B4-BE49-F238E27FC236}">
                <a16:creationId xmlns:a16="http://schemas.microsoft.com/office/drawing/2014/main" id="{D05D4178-BFF6-8E9A-F5A7-5485D9EED7DB}"/>
              </a:ext>
            </a:extLst>
          </p:cNvPr>
          <p:cNvSpPr>
            <a:spLocks noGrp="1"/>
          </p:cNvSpPr>
          <p:nvPr>
            <p:ph sz="quarter" idx="1"/>
          </p:nvPr>
        </p:nvSpPr>
        <p:spPr/>
        <p:txBody>
          <a:bodyPr/>
          <a:lstStyle/>
          <a:p>
            <a:pPr lvl="0" algn="just"/>
            <a:r>
              <a:rPr lang="en-IN" b="1" dirty="0"/>
              <a:t>JVM (Java Virtual Machine): </a:t>
            </a:r>
            <a:r>
              <a:rPr lang="en-IN" dirty="0"/>
              <a:t>Executes compiled Java bytecode and provides a platform-independent runtime environment.</a:t>
            </a:r>
          </a:p>
          <a:p>
            <a:pPr lvl="0" algn="just"/>
            <a:r>
              <a:rPr lang="en-IN" b="1" dirty="0"/>
              <a:t>JRE (Java Runtime Environment): </a:t>
            </a:r>
            <a:r>
              <a:rPr lang="en-IN" dirty="0"/>
              <a:t>Includes the JVM and core libraries needed to run Java programs; used by end users.</a:t>
            </a:r>
          </a:p>
          <a:p>
            <a:pPr lvl="0" algn="just"/>
            <a:r>
              <a:rPr lang="en-IN" b="1" dirty="0"/>
              <a:t>JDK (Java Development Kit): </a:t>
            </a:r>
            <a:r>
              <a:rPr lang="en-IN" dirty="0"/>
              <a:t>Includes JRE plus compilers and development tools; required for writing and compiling Java code.</a:t>
            </a:r>
          </a:p>
          <a:p>
            <a:pPr algn="just"/>
            <a:endParaRPr lang="en-IN" dirty="0"/>
          </a:p>
        </p:txBody>
      </p:sp>
    </p:spTree>
    <p:extLst>
      <p:ext uri="{BB962C8B-B14F-4D97-AF65-F5344CB8AC3E}">
        <p14:creationId xmlns:p14="http://schemas.microsoft.com/office/powerpoint/2010/main" val="3034783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2901" y="167994"/>
            <a:ext cx="8973693" cy="766504"/>
          </a:xfrm>
        </p:spPr>
        <p:txBody>
          <a:bodyPr/>
          <a:lstStyle/>
          <a:p>
            <a:r>
              <a:rPr lang="en-US" dirty="0">
                <a:solidFill>
                  <a:srgbClr val="C00000"/>
                </a:solidFill>
              </a:rPr>
              <a:t>Java Versions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19</a:t>
            </a:fld>
            <a:endParaRPr lang="en-US"/>
          </a:p>
        </p:txBody>
      </p:sp>
      <p:graphicFrame>
        <p:nvGraphicFramePr>
          <p:cNvPr id="6" name="Content Placeholder 5"/>
          <p:cNvGraphicFramePr>
            <a:graphicFrameLocks noGrp="1"/>
          </p:cNvGraphicFramePr>
          <p:nvPr>
            <p:ph sz="quarter" idx="1"/>
            <p:extLst>
              <p:ext uri="{D42A27DB-BD31-4B8C-83A1-F6EECF244321}">
                <p14:modId xmlns:p14="http://schemas.microsoft.com/office/powerpoint/2010/main" val="1365235256"/>
              </p:ext>
            </p:extLst>
          </p:nvPr>
        </p:nvGraphicFramePr>
        <p:xfrm>
          <a:off x="723478" y="944546"/>
          <a:ext cx="8862648" cy="6080395"/>
        </p:xfrm>
        <a:graphic>
          <a:graphicData uri="http://schemas.openxmlformats.org/drawingml/2006/table">
            <a:tbl>
              <a:tblPr/>
              <a:tblGrid>
                <a:gridCol w="1264587">
                  <a:extLst>
                    <a:ext uri="{9D8B030D-6E8A-4147-A177-3AD203B41FA5}">
                      <a16:colId xmlns:a16="http://schemas.microsoft.com/office/drawing/2014/main" val="20000"/>
                    </a:ext>
                  </a:extLst>
                </a:gridCol>
                <a:gridCol w="1812575">
                  <a:extLst>
                    <a:ext uri="{9D8B030D-6E8A-4147-A177-3AD203B41FA5}">
                      <a16:colId xmlns:a16="http://schemas.microsoft.com/office/drawing/2014/main" val="20001"/>
                    </a:ext>
                  </a:extLst>
                </a:gridCol>
                <a:gridCol w="3435462">
                  <a:extLst>
                    <a:ext uri="{9D8B030D-6E8A-4147-A177-3AD203B41FA5}">
                      <a16:colId xmlns:a16="http://schemas.microsoft.com/office/drawing/2014/main" val="20002"/>
                    </a:ext>
                  </a:extLst>
                </a:gridCol>
                <a:gridCol w="2350024">
                  <a:extLst>
                    <a:ext uri="{9D8B030D-6E8A-4147-A177-3AD203B41FA5}">
                      <a16:colId xmlns:a16="http://schemas.microsoft.com/office/drawing/2014/main" val="20003"/>
                    </a:ext>
                  </a:extLst>
                </a:gridCol>
              </a:tblGrid>
              <a:tr h="386083">
                <a:tc>
                  <a:txBody>
                    <a:bodyPr/>
                    <a:lstStyle/>
                    <a:p>
                      <a:pPr algn="ctr"/>
                      <a:r>
                        <a:rPr lang="en-US" sz="1200" dirty="0"/>
                        <a:t>Version</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200"/>
                        <a:t>Release</a:t>
                      </a:r>
                      <a:br>
                        <a:rPr lang="en-US" sz="1200"/>
                      </a:br>
                      <a:r>
                        <a:rPr lang="en-US" sz="1200"/>
                        <a:t>date</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200" dirty="0"/>
                        <a:t>End of Free</a:t>
                      </a:r>
                      <a:br>
                        <a:rPr lang="en-US" sz="1200" dirty="0"/>
                      </a:br>
                      <a:r>
                        <a:rPr lang="en-US" sz="1200" dirty="0"/>
                        <a:t>Public Updates</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1200"/>
                        <a:t>Extended</a:t>
                      </a:r>
                      <a:br>
                        <a:rPr lang="en-US" sz="1200"/>
                      </a:br>
                      <a:r>
                        <a:rPr lang="en-US" sz="1200"/>
                        <a:t>Support Until</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10000"/>
                  </a:ext>
                </a:extLst>
              </a:tr>
              <a:tr h="204310">
                <a:tc>
                  <a:txBody>
                    <a:bodyPr/>
                    <a:lstStyle/>
                    <a:p>
                      <a:r>
                        <a:rPr lang="en-US" sz="1200"/>
                        <a:t>JDK Beta</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1995</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tc>
                  <a:txBody>
                    <a:bodyPr/>
                    <a:lstStyle/>
                    <a:p>
                      <a:pPr algn="ctr" fontAlgn="ctr"/>
                      <a:r>
                        <a:rPr lang="en-US" sz="1200">
                          <a:solidFill>
                            <a:srgbClr val="2C2C2C"/>
                          </a:solidFill>
                        </a:rPr>
                        <a:t>?</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01"/>
                  </a:ext>
                </a:extLst>
              </a:tr>
              <a:tr h="204310">
                <a:tc>
                  <a:txBody>
                    <a:bodyPr/>
                    <a:lstStyle/>
                    <a:p>
                      <a:r>
                        <a:rPr lang="en-US" sz="1200"/>
                        <a:t>JDK 1.0</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January 1996</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tc>
                  <a:txBody>
                    <a:bodyPr/>
                    <a:lstStyle/>
                    <a:p>
                      <a:pPr algn="ctr" fontAlgn="ctr"/>
                      <a:r>
                        <a:rPr lang="en-US" sz="1200">
                          <a:solidFill>
                            <a:srgbClr val="2C2C2C"/>
                          </a:solidFill>
                        </a:rPr>
                        <a:t>?</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02"/>
                  </a:ext>
                </a:extLst>
              </a:tr>
              <a:tr h="204310">
                <a:tc>
                  <a:txBody>
                    <a:bodyPr/>
                    <a:lstStyle/>
                    <a:p>
                      <a:r>
                        <a:rPr lang="en-US" sz="1200"/>
                        <a:t>JDK 1.1</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February 1997</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tc>
                  <a:txBody>
                    <a:bodyPr/>
                    <a:lstStyle/>
                    <a:p>
                      <a:pPr algn="ctr" fontAlgn="ctr"/>
                      <a:r>
                        <a:rPr lang="en-US" sz="1200">
                          <a:solidFill>
                            <a:srgbClr val="2C2C2C"/>
                          </a:solidFill>
                        </a:rPr>
                        <a:t>?</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03"/>
                  </a:ext>
                </a:extLst>
              </a:tr>
              <a:tr h="204310">
                <a:tc>
                  <a:txBody>
                    <a:bodyPr/>
                    <a:lstStyle/>
                    <a:p>
                      <a:r>
                        <a:rPr lang="en-US" sz="1200"/>
                        <a:t>J2SE 1.2</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December 1998</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tc>
                  <a:txBody>
                    <a:bodyPr/>
                    <a:lstStyle/>
                    <a:p>
                      <a:pPr algn="ctr" fontAlgn="ctr"/>
                      <a:r>
                        <a:rPr lang="en-US" sz="1200">
                          <a:solidFill>
                            <a:srgbClr val="2C2C2C"/>
                          </a:solidFill>
                        </a:rPr>
                        <a:t>?</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04"/>
                  </a:ext>
                </a:extLst>
              </a:tr>
              <a:tr h="204310">
                <a:tc>
                  <a:txBody>
                    <a:bodyPr/>
                    <a:lstStyle/>
                    <a:p>
                      <a:r>
                        <a:rPr lang="en-US" sz="1200"/>
                        <a:t>J2SE 1.3</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May 2000</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tc>
                  <a:txBody>
                    <a:bodyPr/>
                    <a:lstStyle/>
                    <a:p>
                      <a:pPr algn="ctr" fontAlgn="ctr"/>
                      <a:r>
                        <a:rPr lang="en-US" sz="1200">
                          <a:solidFill>
                            <a:srgbClr val="2C2C2C"/>
                          </a:solidFill>
                        </a:rPr>
                        <a:t>?</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05"/>
                  </a:ext>
                </a:extLst>
              </a:tr>
              <a:tr h="204310">
                <a:tc>
                  <a:txBody>
                    <a:bodyPr/>
                    <a:lstStyle/>
                    <a:p>
                      <a:r>
                        <a:rPr lang="en-US" sz="1200"/>
                        <a:t>J2SE 1.4</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February 2002</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October 2008</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February 2013</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r h="204310">
                <a:tc>
                  <a:txBody>
                    <a:bodyPr/>
                    <a:lstStyle/>
                    <a:p>
                      <a:r>
                        <a:rPr lang="en-US" sz="1200"/>
                        <a:t>J2SE 5.0</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September 2004</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November 2009</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April 2015</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7"/>
                  </a:ext>
                </a:extLst>
              </a:tr>
              <a:tr h="567856">
                <a:tc>
                  <a:txBody>
                    <a:bodyPr/>
                    <a:lstStyle/>
                    <a:p>
                      <a:r>
                        <a:rPr lang="en-US" sz="1200"/>
                        <a:t>Java SE 6</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December 2006</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April 2013</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December 2018</a:t>
                      </a:r>
                      <a:br>
                        <a:rPr lang="en-US" sz="1200"/>
                      </a:br>
                      <a:r>
                        <a:rPr lang="en-US" sz="1200"/>
                        <a:t>December 2023, paid support for Zulu</a:t>
                      </a:r>
                      <a:r>
                        <a:rPr lang="en-US" sz="1200" b="0" i="0" u="none" strike="noStrike" baseline="30000">
                          <a:solidFill>
                            <a:srgbClr val="0645AD"/>
                          </a:solidFill>
                          <a:hlinkClick r:id="rId2"/>
                        </a:rPr>
                        <a:t>[8]</a:t>
                      </a:r>
                      <a:endParaRPr lang="en-US" sz="1200"/>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8"/>
                  </a:ext>
                </a:extLst>
              </a:tr>
              <a:tr h="204310">
                <a:tc>
                  <a:txBody>
                    <a:bodyPr/>
                    <a:lstStyle/>
                    <a:p>
                      <a:r>
                        <a:rPr lang="en-US" sz="1200"/>
                        <a:t>Java SE 7</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July 2011</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April 2015</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July 2022</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9"/>
                  </a:ext>
                </a:extLst>
              </a:tr>
              <a:tr h="1104341">
                <a:tc>
                  <a:txBody>
                    <a:bodyPr/>
                    <a:lstStyle/>
                    <a:p>
                      <a:r>
                        <a:rPr lang="en-US" sz="1200"/>
                        <a:t>Java SE 8 (LTS)</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EF8C6"/>
                    </a:solidFill>
                  </a:tcPr>
                </a:tc>
                <a:tc>
                  <a:txBody>
                    <a:bodyPr/>
                    <a:lstStyle/>
                    <a:p>
                      <a:r>
                        <a:rPr lang="en-US" sz="1200"/>
                        <a:t>March 2014</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b="1"/>
                        <a:t>January 2019 for Oracle (commercial)</a:t>
                      </a:r>
                      <a:br>
                        <a:rPr lang="en-US" sz="1200"/>
                      </a:br>
                      <a:r>
                        <a:rPr lang="en-US" sz="1200"/>
                        <a:t>December 2030 for Oracle (non-commercial)</a:t>
                      </a:r>
                      <a:br>
                        <a:rPr lang="en-US" sz="1200"/>
                      </a:br>
                      <a:r>
                        <a:rPr lang="en-US" sz="1200"/>
                        <a:t>December 2030 for Zulu</a:t>
                      </a:r>
                      <a:br>
                        <a:rPr lang="en-US" sz="1200"/>
                      </a:br>
                      <a:r>
                        <a:rPr lang="en-US" sz="1200"/>
                        <a:t>At least May 2026 for AdoptOpenJDK</a:t>
                      </a:r>
                      <a:br>
                        <a:rPr lang="en-US" sz="1200"/>
                      </a:br>
                      <a:r>
                        <a:rPr lang="en-US" sz="1200"/>
                        <a:t>At least May 2026 for Amazon Corretto</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December 2030</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10"/>
                  </a:ext>
                </a:extLst>
              </a:tr>
              <a:tr h="204310">
                <a:tc>
                  <a:txBody>
                    <a:bodyPr/>
                    <a:lstStyle/>
                    <a:p>
                      <a:r>
                        <a:rPr lang="en-US" sz="1200"/>
                        <a:t>Java SE 9</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September 2017</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March 2018 for OpenJDK</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N/A</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11"/>
                  </a:ext>
                </a:extLst>
              </a:tr>
              <a:tr h="225375">
                <a:tc>
                  <a:txBody>
                    <a:bodyPr/>
                    <a:lstStyle/>
                    <a:p>
                      <a:r>
                        <a:rPr lang="en-US" sz="1200"/>
                        <a:t>Java SE 10</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March 2018</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September 2018 for OpenJDK</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N/A</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12"/>
                  </a:ext>
                </a:extLst>
              </a:tr>
              <a:tr h="766278">
                <a:tc>
                  <a:txBody>
                    <a:bodyPr/>
                    <a:lstStyle/>
                    <a:p>
                      <a:r>
                        <a:rPr lang="en-US" sz="1200"/>
                        <a:t>Java SE 11 (LTS)</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EF8C6"/>
                    </a:solidFill>
                  </a:tcPr>
                </a:tc>
                <a:tc>
                  <a:txBody>
                    <a:bodyPr/>
                    <a:lstStyle/>
                    <a:p>
                      <a:r>
                        <a:rPr lang="en-US" sz="1200"/>
                        <a:t>September 2018</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September 2027 for Zulu</a:t>
                      </a:r>
                      <a:br>
                        <a:rPr lang="en-US" sz="1200"/>
                      </a:br>
                      <a:r>
                        <a:rPr lang="en-US" sz="1200"/>
                        <a:t>At least October 2024 for AdoptOpenJDK</a:t>
                      </a:r>
                      <a:br>
                        <a:rPr lang="en-US" sz="1200"/>
                      </a:br>
                      <a:r>
                        <a:rPr lang="en-US" sz="1200"/>
                        <a:t>At least September 2027 for Amazon Corretto</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September 2026,</a:t>
                      </a:r>
                      <a:br>
                        <a:rPr lang="en-US" sz="1200"/>
                      </a:br>
                      <a:r>
                        <a:rPr lang="en-US" sz="1200"/>
                        <a:t>or September 2027 for e.g. Zulu</a:t>
                      </a:r>
                      <a:r>
                        <a:rPr lang="en-US" sz="1200" b="0" i="0" u="none" strike="noStrike" baseline="30000">
                          <a:solidFill>
                            <a:srgbClr val="0645AD"/>
                          </a:solidFill>
                          <a:hlinkClick r:id="rId2"/>
                        </a:rPr>
                        <a:t>[8]</a:t>
                      </a:r>
                      <a:endParaRPr lang="en-US" sz="1200"/>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13"/>
                  </a:ext>
                </a:extLst>
              </a:tr>
              <a:tr h="225375">
                <a:tc>
                  <a:txBody>
                    <a:bodyPr/>
                    <a:lstStyle/>
                    <a:p>
                      <a:r>
                        <a:rPr lang="en-US" sz="1200"/>
                        <a:t>Java SE 12</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March 2019</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September 2019 for OpenJDK</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N/A</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14"/>
                  </a:ext>
                </a:extLst>
              </a:tr>
              <a:tr h="204310">
                <a:tc>
                  <a:txBody>
                    <a:bodyPr/>
                    <a:lstStyle/>
                    <a:p>
                      <a:r>
                        <a:rPr lang="en-US" sz="1200"/>
                        <a:t>Java SE 13</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September 2019</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March 2020 for OpenJDK</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N/A</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15"/>
                  </a:ext>
                </a:extLst>
              </a:tr>
              <a:tr h="225375">
                <a:tc>
                  <a:txBody>
                    <a:bodyPr/>
                    <a:lstStyle/>
                    <a:p>
                      <a:r>
                        <a:rPr lang="en-US" sz="1200"/>
                        <a:t>Java SE 14</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March 2020</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September 2020 for OpenJDK</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N/A</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16"/>
                  </a:ext>
                </a:extLst>
              </a:tr>
              <a:tr h="292988">
                <a:tc>
                  <a:txBody>
                    <a:bodyPr/>
                    <a:lstStyle/>
                    <a:p>
                      <a:r>
                        <a:rPr lang="en-US" sz="1200"/>
                        <a:t>Java SE 15</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DB3AB"/>
                    </a:solidFill>
                  </a:tcPr>
                </a:tc>
                <a:tc>
                  <a:txBody>
                    <a:bodyPr/>
                    <a:lstStyle/>
                    <a:p>
                      <a:r>
                        <a:rPr lang="en-US" sz="1200"/>
                        <a:t>September 2020</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March 2021 for OpenJDK, March 2023 for Zulu</a:t>
                      </a:r>
                      <a:r>
                        <a:rPr lang="en-US" sz="1200" b="0" i="0" u="none" strike="noStrike" baseline="30000">
                          <a:solidFill>
                            <a:srgbClr val="0645AD"/>
                          </a:solidFill>
                          <a:hlinkClick r:id="rId2"/>
                        </a:rPr>
                        <a:t>[8]</a:t>
                      </a:r>
                      <a:endParaRPr lang="en-US" sz="1200"/>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a:solidFill>
                            <a:srgbClr val="2C2C2C"/>
                          </a:solidFill>
                        </a:rPr>
                        <a:t>N/A</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17"/>
                  </a:ext>
                </a:extLst>
              </a:tr>
              <a:tr h="225375">
                <a:tc>
                  <a:txBody>
                    <a:bodyPr/>
                    <a:lstStyle/>
                    <a:p>
                      <a:r>
                        <a:rPr lang="en-US" sz="1200" b="1"/>
                        <a:t>Java SE 16</a:t>
                      </a:r>
                      <a:endParaRPr lang="en-US" sz="1200"/>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D4F4B4"/>
                    </a:solidFill>
                  </a:tcPr>
                </a:tc>
                <a:tc>
                  <a:txBody>
                    <a:bodyPr/>
                    <a:lstStyle/>
                    <a:p>
                      <a:r>
                        <a:rPr lang="en-US" sz="1200"/>
                        <a:t>March 2021</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200"/>
                        <a:t>September 2021 for OpenJDK</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fontAlgn="ctr"/>
                      <a:r>
                        <a:rPr lang="en-US" sz="1200" dirty="0">
                          <a:solidFill>
                            <a:srgbClr val="2C2C2C"/>
                          </a:solidFill>
                        </a:rPr>
                        <a:t>N/A</a:t>
                      </a:r>
                    </a:p>
                  </a:txBody>
                  <a:tcPr marL="22675" marR="22675" marT="11337" marB="11337"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CECEC"/>
                    </a:solidFill>
                  </a:tcPr>
                </a:tc>
                <a:extLst>
                  <a:ext uri="{0D108BD9-81ED-4DB2-BD59-A6C34878D82A}">
                    <a16:rowId xmlns:a16="http://schemas.microsoft.com/office/drawing/2014/main" val="10018"/>
                  </a:ext>
                </a:extLst>
              </a:tr>
            </a:tbl>
          </a:graphicData>
        </a:graphic>
      </p:graphicFrame>
      <p:sp>
        <p:nvSpPr>
          <p:cNvPr id="54275" name="Rectangle 3"/>
          <p:cNvSpPr>
            <a:spLocks noChangeArrowheads="1"/>
          </p:cNvSpPr>
          <p:nvPr/>
        </p:nvSpPr>
        <p:spPr bwMode="auto">
          <a:xfrm>
            <a:off x="0" y="0"/>
            <a:ext cx="10080625"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charset="0"/>
                <a:cs typeface="Arial" charset="0"/>
              </a:rPr>
            </a:br>
            <a:endParaRPr kumimoji="0" lang="en-US" sz="1800" b="0" i="0" u="none" strike="noStrike" cap="none" normalizeH="0" baseline="0">
              <a:ln>
                <a:noFill/>
              </a:ln>
              <a:solidFill>
                <a:schemeClr val="tx1"/>
              </a:solidFill>
              <a:effectLst/>
              <a:latin typeface="Arial" charset="0"/>
              <a:cs typeface="Arial"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20C57-0C5A-936E-409E-1722B10FBA89}"/>
              </a:ext>
            </a:extLst>
          </p:cNvPr>
          <p:cNvSpPr>
            <a:spLocks noGrp="1"/>
          </p:cNvSpPr>
          <p:nvPr>
            <p:ph type="title"/>
          </p:nvPr>
        </p:nvSpPr>
        <p:spPr/>
        <p:txBody>
          <a:bodyPr/>
          <a:lstStyle/>
          <a:p>
            <a:r>
              <a:rPr lang="en-US" dirty="0"/>
              <a:t>Latest Version</a:t>
            </a:r>
            <a:endParaRPr lang="en-IN" dirty="0"/>
          </a:p>
        </p:txBody>
      </p:sp>
      <p:sp>
        <p:nvSpPr>
          <p:cNvPr id="3" name="Slide Number Placeholder 2">
            <a:extLst>
              <a:ext uri="{FF2B5EF4-FFF2-40B4-BE49-F238E27FC236}">
                <a16:creationId xmlns:a16="http://schemas.microsoft.com/office/drawing/2014/main" id="{A9B0CF08-4121-991A-34FC-B8B238FDE21C}"/>
              </a:ext>
            </a:extLst>
          </p:cNvPr>
          <p:cNvSpPr>
            <a:spLocks noGrp="1"/>
          </p:cNvSpPr>
          <p:nvPr>
            <p:ph type="sldNum" sz="quarter" idx="12"/>
          </p:nvPr>
        </p:nvSpPr>
        <p:spPr/>
        <p:txBody>
          <a:bodyPr/>
          <a:lstStyle/>
          <a:p>
            <a:fld id="{E3591306-41CF-4237-B2B4-5C605DD45071}" type="slidenum">
              <a:rPr lang="en-US" smtClean="0"/>
              <a:pPr/>
              <a:t>20</a:t>
            </a:fld>
            <a:endParaRPr lang="en-US"/>
          </a:p>
        </p:txBody>
      </p:sp>
      <p:sp>
        <p:nvSpPr>
          <p:cNvPr id="4" name="Content Placeholder 3">
            <a:extLst>
              <a:ext uri="{FF2B5EF4-FFF2-40B4-BE49-F238E27FC236}">
                <a16:creationId xmlns:a16="http://schemas.microsoft.com/office/drawing/2014/main" id="{71C74DA7-7D76-F195-2B7B-56AD564546B0}"/>
              </a:ext>
            </a:extLst>
          </p:cNvPr>
          <p:cNvSpPr>
            <a:spLocks noGrp="1"/>
          </p:cNvSpPr>
          <p:nvPr>
            <p:ph sz="quarter" idx="1"/>
          </p:nvPr>
        </p:nvSpPr>
        <p:spPr/>
        <p:txBody>
          <a:bodyPr/>
          <a:lstStyle/>
          <a:p>
            <a:r>
              <a:rPr lang="en-US" dirty="0"/>
              <a:t>Java 25</a:t>
            </a:r>
          </a:p>
          <a:p>
            <a:pPr lvl="1"/>
            <a:r>
              <a:rPr lang="en-US" dirty="0"/>
              <a:t>JDK 25.0.1</a:t>
            </a:r>
          </a:p>
          <a:p>
            <a:pPr lvl="1"/>
            <a:r>
              <a:rPr lang="en-IN" dirty="0">
                <a:hlinkClick r:id="rId2"/>
              </a:rPr>
              <a:t>https://www.oracle.com/in/java/technologies/downloads/#jdk25-windows</a:t>
            </a:r>
            <a:endParaRPr lang="en-IN" dirty="0"/>
          </a:p>
          <a:p>
            <a:pPr marL="302383" lvl="1" indent="0">
              <a:buNone/>
            </a:pPr>
            <a:r>
              <a:rPr lang="en-IN" dirty="0" err="1"/>
              <a:t>MicroSoft</a:t>
            </a:r>
            <a:r>
              <a:rPr lang="en-IN" dirty="0"/>
              <a:t> Installer (MSI)</a:t>
            </a:r>
          </a:p>
          <a:p>
            <a:pPr lvl="1"/>
            <a:r>
              <a:rPr lang="en-IN" dirty="0">
                <a:hlinkClick r:id="rId3"/>
              </a:rPr>
              <a:t>https://download.oracle.com/java/25/latest/jdk-25_windows-x64_bin.msi</a:t>
            </a:r>
            <a:endParaRPr lang="en-IN" dirty="0"/>
          </a:p>
          <a:p>
            <a:pPr lvl="1"/>
            <a:endParaRPr lang="en-IN" dirty="0"/>
          </a:p>
        </p:txBody>
      </p:sp>
      <p:pic>
        <p:nvPicPr>
          <p:cNvPr id="6" name="Picture 5">
            <a:extLst>
              <a:ext uri="{FF2B5EF4-FFF2-40B4-BE49-F238E27FC236}">
                <a16:creationId xmlns:a16="http://schemas.microsoft.com/office/drawing/2014/main" id="{3F9F8C07-D0C0-D810-4D8C-D2AC6BF5CD07}"/>
              </a:ext>
            </a:extLst>
          </p:cNvPr>
          <p:cNvPicPr>
            <a:picLocks noChangeAspect="1"/>
          </p:cNvPicPr>
          <p:nvPr/>
        </p:nvPicPr>
        <p:blipFill>
          <a:blip r:embed="rId4"/>
          <a:stretch>
            <a:fillRect/>
          </a:stretch>
        </p:blipFill>
        <p:spPr>
          <a:xfrm>
            <a:off x="1567021" y="4549140"/>
            <a:ext cx="3261542" cy="2237768"/>
          </a:xfrm>
          <a:prstGeom prst="rect">
            <a:avLst/>
          </a:prstGeom>
        </p:spPr>
      </p:pic>
      <p:pic>
        <p:nvPicPr>
          <p:cNvPr id="8" name="Picture 7">
            <a:extLst>
              <a:ext uri="{FF2B5EF4-FFF2-40B4-BE49-F238E27FC236}">
                <a16:creationId xmlns:a16="http://schemas.microsoft.com/office/drawing/2014/main" id="{46D9915E-3CE8-DAD4-5C11-E1F90EF5D22C}"/>
              </a:ext>
            </a:extLst>
          </p:cNvPr>
          <p:cNvPicPr>
            <a:picLocks noChangeAspect="1"/>
          </p:cNvPicPr>
          <p:nvPr/>
        </p:nvPicPr>
        <p:blipFill>
          <a:blip r:embed="rId5"/>
          <a:stretch>
            <a:fillRect/>
          </a:stretch>
        </p:blipFill>
        <p:spPr>
          <a:xfrm>
            <a:off x="5558222" y="4666860"/>
            <a:ext cx="3128578" cy="2229944"/>
          </a:xfrm>
          <a:prstGeom prst="rect">
            <a:avLst/>
          </a:prstGeom>
        </p:spPr>
      </p:pic>
    </p:spTree>
    <p:extLst>
      <p:ext uri="{BB962C8B-B14F-4D97-AF65-F5344CB8AC3E}">
        <p14:creationId xmlns:p14="http://schemas.microsoft.com/office/powerpoint/2010/main" val="620170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962DF-0D81-2371-3163-D20FF55726D0}"/>
              </a:ext>
            </a:extLst>
          </p:cNvPr>
          <p:cNvSpPr>
            <a:spLocks noGrp="1"/>
          </p:cNvSpPr>
          <p:nvPr>
            <p:ph type="title"/>
          </p:nvPr>
        </p:nvSpPr>
        <p:spPr/>
        <p:txBody>
          <a:bodyPr/>
          <a:lstStyle/>
          <a:p>
            <a:r>
              <a:rPr lang="en-US" dirty="0"/>
              <a:t>Setting up Java environment variables</a:t>
            </a:r>
            <a:endParaRPr lang="en-IN" dirty="0"/>
          </a:p>
        </p:txBody>
      </p:sp>
      <p:sp>
        <p:nvSpPr>
          <p:cNvPr id="3" name="Slide Number Placeholder 2">
            <a:extLst>
              <a:ext uri="{FF2B5EF4-FFF2-40B4-BE49-F238E27FC236}">
                <a16:creationId xmlns:a16="http://schemas.microsoft.com/office/drawing/2014/main" id="{AC3E3C25-871A-6ECF-B590-834049E7F05E}"/>
              </a:ext>
            </a:extLst>
          </p:cNvPr>
          <p:cNvSpPr>
            <a:spLocks noGrp="1"/>
          </p:cNvSpPr>
          <p:nvPr>
            <p:ph type="sldNum" sz="quarter" idx="12"/>
          </p:nvPr>
        </p:nvSpPr>
        <p:spPr/>
        <p:txBody>
          <a:bodyPr/>
          <a:lstStyle/>
          <a:p>
            <a:fld id="{E3591306-41CF-4237-B2B4-5C605DD45071}" type="slidenum">
              <a:rPr lang="en-US" smtClean="0"/>
              <a:pPr/>
              <a:t>21</a:t>
            </a:fld>
            <a:endParaRPr lang="en-US"/>
          </a:p>
        </p:txBody>
      </p:sp>
      <p:sp>
        <p:nvSpPr>
          <p:cNvPr id="4" name="Content Placeholder 3">
            <a:extLst>
              <a:ext uri="{FF2B5EF4-FFF2-40B4-BE49-F238E27FC236}">
                <a16:creationId xmlns:a16="http://schemas.microsoft.com/office/drawing/2014/main" id="{E16C60EE-14C7-461D-1A50-49A9ED4ABAAA}"/>
              </a:ext>
            </a:extLst>
          </p:cNvPr>
          <p:cNvSpPr>
            <a:spLocks noGrp="1"/>
          </p:cNvSpPr>
          <p:nvPr>
            <p:ph sz="quarter" idx="1"/>
          </p:nvPr>
        </p:nvSpPr>
        <p:spPr/>
        <p:txBody>
          <a:bodyPr/>
          <a:lstStyle/>
          <a:p>
            <a:r>
              <a:rPr lang="en-US" dirty="0"/>
              <a:t>Creating the JAVA_HOME variable and </a:t>
            </a:r>
          </a:p>
          <a:p>
            <a:r>
              <a:rPr lang="en-US" dirty="0"/>
              <a:t>Updating the system PATH variable</a:t>
            </a:r>
          </a:p>
          <a:p>
            <a:endParaRPr lang="en-IN" dirty="0"/>
          </a:p>
        </p:txBody>
      </p:sp>
      <p:sp>
        <p:nvSpPr>
          <p:cNvPr id="6" name="Rectangle 2">
            <a:extLst>
              <a:ext uri="{FF2B5EF4-FFF2-40B4-BE49-F238E27FC236}">
                <a16:creationId xmlns:a16="http://schemas.microsoft.com/office/drawing/2014/main" id="{40A9FA2E-3396-1718-47DF-7C6394CFB671}"/>
              </a:ext>
            </a:extLst>
          </p:cNvPr>
          <p:cNvSpPr>
            <a:spLocks noChangeArrowheads="1"/>
          </p:cNvSpPr>
          <p:nvPr/>
        </p:nvSpPr>
        <p:spPr bwMode="auto">
          <a:xfrm>
            <a:off x="788671" y="2567799"/>
            <a:ext cx="8616552" cy="4212625"/>
          </a:xfrm>
          <a:prstGeom prst="rect">
            <a:avLst/>
          </a:prstGeom>
          <a:solidFill>
            <a:srgbClr val="F3F5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9828" rIns="0" bIns="139656" numCol="1" anchor="ctr" anchorCtr="0" compatLnSpc="1">
            <a:prstTxWarp prst="textNoShape">
              <a:avLst/>
            </a:prstTxWarp>
            <a:spAutoFit/>
          </a:bodyPr>
          <a:lstStyle>
            <a:lvl1pPr>
              <a:defRPr>
                <a:solidFill>
                  <a:schemeClr val="tx1"/>
                </a:solidFill>
                <a:latin typeface="Arial" panose="020B0604020202020204" pitchFamily="34" charset="0"/>
              </a:defRPr>
            </a:lvl1pPr>
            <a:lvl2pPr marL="457200">
              <a:defRPr>
                <a:solidFill>
                  <a:schemeClr val="tx1"/>
                </a:solidFill>
                <a:latin typeface="Arial" panose="020B0604020202020204" pitchFamily="34" charset="0"/>
              </a:defRPr>
            </a:lvl2pPr>
            <a:lvl3pPr marL="914400">
              <a:defRPr>
                <a:solidFill>
                  <a:schemeClr val="tx1"/>
                </a:solidFill>
                <a:latin typeface="Arial" panose="020B0604020202020204" pitchFamily="34" charset="0"/>
              </a:defRPr>
            </a:lvl3pPr>
            <a:lvl4pPr marL="1371600">
              <a:defRPr>
                <a:solidFill>
                  <a:schemeClr val="tx1"/>
                </a:solidFill>
                <a:latin typeface="Arial" panose="020B0604020202020204" pitchFamily="34" charset="0"/>
              </a:defRPr>
            </a:lvl4pPr>
            <a:lvl5pPr marL="182880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mn-lt"/>
              </a:rPr>
              <a:t>Ensure the Java Development Kit (JDK) is installed before proceeding. You can download the latest JDK from the </a:t>
            </a:r>
            <a:r>
              <a:rPr lang="en-US" altLang="en-US" sz="2000" dirty="0">
                <a:latin typeface="+mn-lt"/>
                <a:hlinkClick r:id="rId2">
                  <a:extLst>
                    <a:ext uri="{A12FA001-AC4F-418D-AE19-62706E023703}">
                      <ahyp:hlinkClr xmlns:ahyp="http://schemas.microsoft.com/office/drawing/2018/hyperlinkcolor" val="tx"/>
                    </a:ext>
                  </a:extLst>
                </a:hlinkClick>
              </a:rPr>
              <a:t>Oracle website</a:t>
            </a:r>
            <a:r>
              <a:rPr lang="en-US" altLang="en-US" sz="2000" dirty="0">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mn-lt"/>
              </a:rPr>
              <a:t>Windows (10/11)</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sz="2000" dirty="0">
                <a:latin typeface="+mn-lt"/>
              </a:rPr>
              <a:t>Access Environment Variables:</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mn-lt"/>
              </a:rPr>
              <a:t>Search for "environment variables" in the Start menu and select Edit the system environment variables.</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mn-lt"/>
              </a:rPr>
              <a:t>In the System Properties dialog box, click the Environment Variables... button.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n-US" altLang="en-US" sz="2000" dirty="0">
                <a:latin typeface="+mn-lt"/>
              </a:rPr>
              <a:t>Set JAVA_HOME System Variable:</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mn-lt"/>
              </a:rPr>
              <a:t>Under System variables, click New....</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mn-lt"/>
              </a:rPr>
              <a:t>Enter JAVA_HOME in the Variable name field.</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mn-lt"/>
              </a:rPr>
              <a:t>For Variable value, enter the path to your JDK installation directory (e.g., C:\Program Files\Java\jdk-25). Do not include the \bin folder path here.</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mn-lt"/>
              </a:rPr>
              <a:t>Click OK.</a:t>
            </a:r>
          </a:p>
        </p:txBody>
      </p:sp>
    </p:spTree>
    <p:extLst>
      <p:ext uri="{BB962C8B-B14F-4D97-AF65-F5344CB8AC3E}">
        <p14:creationId xmlns:p14="http://schemas.microsoft.com/office/powerpoint/2010/main" val="2025848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460576-4E04-F4BB-35B5-52738D77ABA3}"/>
              </a:ext>
            </a:extLst>
          </p:cNvPr>
          <p:cNvSpPr>
            <a:spLocks noGrp="1"/>
          </p:cNvSpPr>
          <p:nvPr>
            <p:ph type="sldNum" sz="quarter" idx="12"/>
          </p:nvPr>
        </p:nvSpPr>
        <p:spPr/>
        <p:txBody>
          <a:bodyPr/>
          <a:lstStyle/>
          <a:p>
            <a:fld id="{E3591306-41CF-4237-B2B4-5C605DD45071}" type="slidenum">
              <a:rPr lang="en-US" smtClean="0"/>
              <a:pPr/>
              <a:t>22</a:t>
            </a:fld>
            <a:endParaRPr lang="en-US"/>
          </a:p>
        </p:txBody>
      </p:sp>
      <p:sp>
        <p:nvSpPr>
          <p:cNvPr id="4" name="Content Placeholder 3">
            <a:extLst>
              <a:ext uri="{FF2B5EF4-FFF2-40B4-BE49-F238E27FC236}">
                <a16:creationId xmlns:a16="http://schemas.microsoft.com/office/drawing/2014/main" id="{93E2FC77-D9D2-CF39-FB72-BC8330260678}"/>
              </a:ext>
            </a:extLst>
          </p:cNvPr>
          <p:cNvSpPr>
            <a:spLocks noGrp="1"/>
          </p:cNvSpPr>
          <p:nvPr>
            <p:ph sz="quarter" idx="1"/>
          </p:nvPr>
        </p:nvSpPr>
        <p:spPr/>
        <p:txBody>
          <a:bodyPr/>
          <a:lstStyle/>
          <a:p>
            <a:endParaRPr lang="en-IN" dirty="0"/>
          </a:p>
        </p:txBody>
      </p:sp>
      <p:sp>
        <p:nvSpPr>
          <p:cNvPr id="6" name="TextBox 5">
            <a:extLst>
              <a:ext uri="{FF2B5EF4-FFF2-40B4-BE49-F238E27FC236}">
                <a16:creationId xmlns:a16="http://schemas.microsoft.com/office/drawing/2014/main" id="{69ECDB2B-D615-00D3-18E8-E9C6C8285FBB}"/>
              </a:ext>
            </a:extLst>
          </p:cNvPr>
          <p:cNvSpPr txBox="1"/>
          <p:nvPr/>
        </p:nvSpPr>
        <p:spPr>
          <a:xfrm>
            <a:off x="675402" y="1618601"/>
            <a:ext cx="8680869" cy="489364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rgbClr val="0A0A0A"/>
                </a:solidFill>
                <a:effectLst/>
                <a:latin typeface="Google Sans"/>
              </a:rPr>
              <a:t>Update the </a:t>
            </a:r>
            <a:r>
              <a:rPr kumimoji="0" lang="en-US" altLang="en-US" sz="1600" b="1" i="0" u="none" strike="noStrike" cap="none" normalizeH="0" baseline="0" dirty="0">
                <a:ln>
                  <a:noFill/>
                </a:ln>
                <a:solidFill>
                  <a:srgbClr val="0A0A0A"/>
                </a:solidFill>
                <a:effectLst/>
                <a:latin typeface="Arial Unicode MS"/>
              </a:rPr>
              <a:t>Path</a:t>
            </a:r>
            <a:r>
              <a:rPr kumimoji="0" lang="en-US" altLang="en-US" b="1" i="0" u="none" strike="noStrike" cap="none" normalizeH="0" baseline="0" dirty="0">
                <a:ln>
                  <a:noFill/>
                </a:ln>
                <a:solidFill>
                  <a:srgbClr val="0A0A0A"/>
                </a:solidFill>
                <a:effectLst/>
                <a:latin typeface="Google Sans"/>
              </a:rPr>
              <a:t> System Variable:</a:t>
            </a:r>
            <a:endParaRPr kumimoji="0" lang="en-US" altLang="en-US" b="0" i="0" u="none" strike="noStrike" cap="none" normalizeH="0" baseline="0" dirty="0">
              <a:ln>
                <a:noFill/>
              </a:ln>
              <a:solidFill>
                <a:srgbClr val="0A0A0A"/>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A0A0A"/>
                </a:solidFill>
                <a:effectLst/>
                <a:latin typeface="Google Sans"/>
              </a:rPr>
              <a:t>In the </a:t>
            </a:r>
            <a:r>
              <a:rPr kumimoji="0" lang="en-US" altLang="en-US" b="0" i="1" u="none" strike="noStrike" cap="none" normalizeH="0" baseline="0" dirty="0">
                <a:ln>
                  <a:noFill/>
                </a:ln>
                <a:solidFill>
                  <a:srgbClr val="0A0A0A"/>
                </a:solidFill>
                <a:effectLst/>
                <a:latin typeface="Google Sans"/>
              </a:rPr>
              <a:t>System variables</a:t>
            </a:r>
            <a:r>
              <a:rPr kumimoji="0" lang="en-US" altLang="en-US" b="0" i="0" u="none" strike="noStrike" cap="none" normalizeH="0" baseline="0" dirty="0">
                <a:ln>
                  <a:noFill/>
                </a:ln>
                <a:solidFill>
                  <a:srgbClr val="0A0A0A"/>
                </a:solidFill>
                <a:effectLst/>
                <a:latin typeface="Google Sans"/>
              </a:rPr>
              <a:t> section, select the </a:t>
            </a:r>
            <a:r>
              <a:rPr kumimoji="0" lang="en-US" altLang="en-US" b="1" i="0" u="none" strike="noStrike" cap="none" normalizeH="0" baseline="0" dirty="0">
                <a:ln>
                  <a:noFill/>
                </a:ln>
                <a:solidFill>
                  <a:srgbClr val="0A0A0A"/>
                </a:solidFill>
                <a:effectLst/>
                <a:latin typeface="Google Sans"/>
              </a:rPr>
              <a:t>Path</a:t>
            </a:r>
            <a:r>
              <a:rPr kumimoji="0" lang="en-US" altLang="en-US" b="0" i="0" u="none" strike="noStrike" cap="none" normalizeH="0" baseline="0" dirty="0">
                <a:ln>
                  <a:noFill/>
                </a:ln>
                <a:solidFill>
                  <a:srgbClr val="0A0A0A"/>
                </a:solidFill>
                <a:effectLst/>
                <a:latin typeface="Google Sans"/>
              </a:rPr>
              <a:t> variable and click </a:t>
            </a:r>
            <a:r>
              <a:rPr kumimoji="0" lang="en-US" altLang="en-US" b="1" i="0" u="none" strike="noStrike" cap="none" normalizeH="0" baseline="0" dirty="0">
                <a:ln>
                  <a:noFill/>
                </a:ln>
                <a:solidFill>
                  <a:srgbClr val="0A0A0A"/>
                </a:solidFill>
                <a:effectLst/>
                <a:latin typeface="Google Sans"/>
              </a:rPr>
              <a:t>Edit...</a:t>
            </a:r>
            <a:r>
              <a:rPr kumimoji="0" lang="en-US" altLang="en-US" b="0" i="0" u="none" strike="noStrike" cap="none" normalizeH="0" baseline="0" dirty="0">
                <a:ln>
                  <a:noFill/>
                </a:ln>
                <a:solidFill>
                  <a:srgbClr val="0A0A0A"/>
                </a:solidFill>
                <a:effectLst/>
                <a:latin typeface="Google Sans"/>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A0A0A"/>
                </a:solidFill>
                <a:effectLst/>
                <a:latin typeface="Google Sans"/>
              </a:rPr>
              <a:t>In the </a:t>
            </a:r>
            <a:r>
              <a:rPr kumimoji="0" lang="en-US" altLang="en-US" b="0" i="1" u="none" strike="noStrike" cap="none" normalizeH="0" baseline="0" dirty="0">
                <a:ln>
                  <a:noFill/>
                </a:ln>
                <a:solidFill>
                  <a:srgbClr val="0A0A0A"/>
                </a:solidFill>
                <a:effectLst/>
                <a:latin typeface="Google Sans"/>
              </a:rPr>
              <a:t>Edit environment variable</a:t>
            </a:r>
            <a:r>
              <a:rPr kumimoji="0" lang="en-US" altLang="en-US" b="0" i="0" u="none" strike="noStrike" cap="none" normalizeH="0" baseline="0" dirty="0">
                <a:ln>
                  <a:noFill/>
                </a:ln>
                <a:solidFill>
                  <a:srgbClr val="0A0A0A"/>
                </a:solidFill>
                <a:effectLst/>
                <a:latin typeface="Google Sans"/>
              </a:rPr>
              <a:t> window, click </a:t>
            </a:r>
            <a:r>
              <a:rPr kumimoji="0" lang="en-US" altLang="en-US" b="1" i="0" u="none" strike="noStrike" cap="none" normalizeH="0" baseline="0" dirty="0">
                <a:ln>
                  <a:noFill/>
                </a:ln>
                <a:solidFill>
                  <a:srgbClr val="0A0A0A"/>
                </a:solidFill>
                <a:effectLst/>
                <a:latin typeface="Google Sans"/>
              </a:rPr>
              <a:t>New</a:t>
            </a:r>
            <a:r>
              <a:rPr kumimoji="0" lang="en-US" altLang="en-US" b="0" i="0" u="none" strike="noStrike" cap="none" normalizeH="0" baseline="0" dirty="0">
                <a:ln>
                  <a:noFill/>
                </a:ln>
                <a:solidFill>
                  <a:srgbClr val="0A0A0A"/>
                </a:solidFill>
                <a:effectLst/>
                <a:latin typeface="Google Sans"/>
              </a:rPr>
              <a:t> and type </a:t>
            </a:r>
            <a:r>
              <a:rPr kumimoji="0" lang="en-US" altLang="en-US" sz="1600" b="0" i="0" u="none" strike="noStrike" cap="none" normalizeH="0" baseline="0" dirty="0">
                <a:ln>
                  <a:noFill/>
                </a:ln>
                <a:solidFill>
                  <a:srgbClr val="0A0A0A"/>
                </a:solidFill>
                <a:effectLst/>
                <a:latin typeface="Arial Unicode MS"/>
              </a:rPr>
              <a:t>%JAVA_HOME%\bin</a:t>
            </a:r>
            <a:r>
              <a:rPr kumimoji="0" lang="en-US" altLang="en-US" b="0" i="0" u="none" strike="noStrike" cap="none" normalizeH="0" baseline="0" dirty="0">
                <a:ln>
                  <a:noFill/>
                </a:ln>
                <a:solidFill>
                  <a:srgbClr val="0A0A0A"/>
                </a:solidFill>
                <a:effectLst/>
                <a:latin typeface="Google Sans"/>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A0A0A"/>
                </a:solidFill>
                <a:effectLst/>
                <a:latin typeface="Google Sans"/>
              </a:rPr>
              <a:t>Click </a:t>
            </a:r>
            <a:r>
              <a:rPr kumimoji="0" lang="en-US" altLang="en-US" b="1" i="0" u="none" strike="noStrike" cap="none" normalizeH="0" baseline="0" dirty="0">
                <a:ln>
                  <a:noFill/>
                </a:ln>
                <a:solidFill>
                  <a:srgbClr val="0A0A0A"/>
                </a:solidFill>
                <a:effectLst/>
                <a:latin typeface="Google Sans"/>
              </a:rPr>
              <a:t>OK</a:t>
            </a:r>
            <a:r>
              <a:rPr kumimoji="0" lang="en-US" altLang="en-US" b="0" i="0" u="none" strike="noStrike" cap="none" normalizeH="0" baseline="0" dirty="0">
                <a:ln>
                  <a:noFill/>
                </a:ln>
                <a:solidFill>
                  <a:srgbClr val="0A0A0A"/>
                </a:solidFill>
                <a:effectLst/>
                <a:latin typeface="Google Sans"/>
              </a:rPr>
              <a:t> on all open windows to save the changes.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rgbClr val="0A0A0A"/>
                </a:solidFill>
                <a:effectLst/>
                <a:latin typeface="Google Sans"/>
              </a:rPr>
              <a:t>Verify Setup:</a:t>
            </a:r>
            <a:endParaRPr kumimoji="0" lang="en-US" altLang="en-US" b="0" i="0" u="none" strike="noStrike" cap="none" normalizeH="0" baseline="0" dirty="0">
              <a:ln>
                <a:noFill/>
              </a:ln>
              <a:solidFill>
                <a:srgbClr val="0A0A0A"/>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A0A0A"/>
                </a:solidFill>
                <a:effectLst/>
                <a:latin typeface="Google Sans"/>
              </a:rPr>
              <a:t>Open a new Command Prompt or PowerShell window (existing windows won't reflect the changes).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A0A0A"/>
                </a:solidFill>
                <a:effectLst/>
                <a:latin typeface="Google Sans"/>
              </a:rPr>
              <a:t>Type </a:t>
            </a:r>
            <a:r>
              <a:rPr kumimoji="0" lang="en-US" altLang="en-US" sz="1600" b="0" i="0" u="none" strike="noStrike" cap="none" normalizeH="0" baseline="0" dirty="0">
                <a:ln>
                  <a:noFill/>
                </a:ln>
                <a:solidFill>
                  <a:srgbClr val="0A0A0A"/>
                </a:solidFill>
                <a:effectLst/>
                <a:latin typeface="Arial Unicode MS"/>
              </a:rPr>
              <a:t>java --version</a:t>
            </a:r>
            <a:r>
              <a:rPr kumimoji="0" lang="en-US" altLang="en-US" b="0" i="0" u="none" strike="noStrike" cap="none" normalizeH="0" baseline="0" dirty="0">
                <a:ln>
                  <a:noFill/>
                </a:ln>
                <a:solidFill>
                  <a:srgbClr val="0A0A0A"/>
                </a:solidFill>
                <a:effectLst/>
                <a:latin typeface="Google Sans"/>
              </a:rPr>
              <a:t> and press Enter.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A0A0A"/>
                </a:solidFill>
                <a:effectLst/>
                <a:latin typeface="Google Sans"/>
              </a:rPr>
              <a:t>Type </a:t>
            </a:r>
            <a:r>
              <a:rPr kumimoji="0" lang="en-US" altLang="en-US" sz="1600" b="0" i="0" u="none" strike="noStrike" cap="none" normalizeH="0" baseline="0" dirty="0" err="1">
                <a:ln>
                  <a:noFill/>
                </a:ln>
                <a:solidFill>
                  <a:srgbClr val="0A0A0A"/>
                </a:solidFill>
                <a:effectLst/>
                <a:latin typeface="Arial Unicode MS"/>
              </a:rPr>
              <a:t>javac</a:t>
            </a:r>
            <a:r>
              <a:rPr kumimoji="0" lang="en-US" altLang="en-US" sz="1600" b="0" i="0" u="none" strike="noStrike" cap="none" normalizeH="0" baseline="0" dirty="0">
                <a:ln>
                  <a:noFill/>
                </a:ln>
                <a:solidFill>
                  <a:srgbClr val="0A0A0A"/>
                </a:solidFill>
                <a:effectLst/>
                <a:latin typeface="Arial Unicode MS"/>
              </a:rPr>
              <a:t> --version</a:t>
            </a:r>
            <a:r>
              <a:rPr kumimoji="0" lang="en-US" altLang="en-US" b="0" i="0" u="none" strike="noStrike" cap="none" normalizeH="0" baseline="0" dirty="0">
                <a:ln>
                  <a:noFill/>
                </a:ln>
                <a:solidFill>
                  <a:srgbClr val="0A0A0A"/>
                </a:solidFill>
                <a:effectLst/>
                <a:latin typeface="Google Sans"/>
              </a:rPr>
              <a:t> and press Enter.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A0A0A"/>
                </a:solidFill>
                <a:effectLst/>
                <a:latin typeface="Google Sans"/>
              </a:rPr>
              <a:t>If the version information is displayed without errors, the setup is successful. </a:t>
            </a:r>
          </a:p>
        </p:txBody>
      </p:sp>
    </p:spTree>
    <p:extLst>
      <p:ext uri="{BB962C8B-B14F-4D97-AF65-F5344CB8AC3E}">
        <p14:creationId xmlns:p14="http://schemas.microsoft.com/office/powerpoint/2010/main" val="1086478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74FB3-AF7C-19AD-5552-2B5ACDECA1CA}"/>
              </a:ext>
            </a:extLst>
          </p:cNvPr>
          <p:cNvSpPr>
            <a:spLocks noGrp="1"/>
          </p:cNvSpPr>
          <p:nvPr>
            <p:ph type="title"/>
          </p:nvPr>
        </p:nvSpPr>
        <p:spPr/>
        <p:txBody>
          <a:bodyPr/>
          <a:lstStyle/>
          <a:p>
            <a:r>
              <a:rPr lang="en-IN" b="1" dirty="0"/>
              <a:t>classes and objects</a:t>
            </a:r>
            <a:endParaRPr lang="en-IN" dirty="0"/>
          </a:p>
        </p:txBody>
      </p:sp>
      <p:sp>
        <p:nvSpPr>
          <p:cNvPr id="3" name="Slide Number Placeholder 2">
            <a:extLst>
              <a:ext uri="{FF2B5EF4-FFF2-40B4-BE49-F238E27FC236}">
                <a16:creationId xmlns:a16="http://schemas.microsoft.com/office/drawing/2014/main" id="{FB5DEE3F-3715-4BC1-82F5-B50158E2FE4F}"/>
              </a:ext>
            </a:extLst>
          </p:cNvPr>
          <p:cNvSpPr>
            <a:spLocks noGrp="1"/>
          </p:cNvSpPr>
          <p:nvPr>
            <p:ph type="sldNum" sz="quarter" idx="12"/>
          </p:nvPr>
        </p:nvSpPr>
        <p:spPr/>
        <p:txBody>
          <a:bodyPr/>
          <a:lstStyle/>
          <a:p>
            <a:fld id="{E3591306-41CF-4237-B2B4-5C605DD45071}" type="slidenum">
              <a:rPr lang="en-US" smtClean="0"/>
              <a:pPr/>
              <a:t>23</a:t>
            </a:fld>
            <a:endParaRPr lang="en-US"/>
          </a:p>
        </p:txBody>
      </p:sp>
      <p:sp>
        <p:nvSpPr>
          <p:cNvPr id="4" name="Content Placeholder 3">
            <a:extLst>
              <a:ext uri="{FF2B5EF4-FFF2-40B4-BE49-F238E27FC236}">
                <a16:creationId xmlns:a16="http://schemas.microsoft.com/office/drawing/2014/main" id="{EA7B7912-CCAF-AC2F-F739-2B0FC670CB07}"/>
              </a:ext>
            </a:extLst>
          </p:cNvPr>
          <p:cNvSpPr>
            <a:spLocks noGrp="1"/>
          </p:cNvSpPr>
          <p:nvPr>
            <p:ph sz="quarter" idx="1"/>
          </p:nvPr>
        </p:nvSpPr>
        <p:spPr/>
        <p:txBody>
          <a:bodyPr>
            <a:normAutofit fontScale="85000" lnSpcReduction="20000"/>
          </a:bodyPr>
          <a:lstStyle/>
          <a:p>
            <a:pPr lvl="0" algn="just"/>
            <a:r>
              <a:rPr lang="en-IN" dirty="0"/>
              <a:t>Java is object-oriented: programs are built from classes (blueprints) and objects (instances).</a:t>
            </a:r>
          </a:p>
          <a:p>
            <a:pPr lvl="0" algn="just"/>
            <a:r>
              <a:rPr lang="en-IN" dirty="0"/>
              <a:t>A class defines fields (data) and methods (</a:t>
            </a:r>
            <a:r>
              <a:rPr lang="en-IN" dirty="0" err="1"/>
              <a:t>behavior</a:t>
            </a:r>
            <a:r>
              <a:rPr lang="en-IN" dirty="0"/>
              <a:t>); </a:t>
            </a:r>
          </a:p>
          <a:p>
            <a:r>
              <a:rPr lang="en-US" dirty="0"/>
              <a:t>An </a:t>
            </a:r>
            <a:r>
              <a:rPr lang="en-US" b="1" dirty="0"/>
              <a:t>object</a:t>
            </a:r>
            <a:r>
              <a:rPr lang="en-US" dirty="0"/>
              <a:t> is a </a:t>
            </a:r>
            <a:r>
              <a:rPr lang="en-US" b="1" dirty="0"/>
              <a:t>real-world entity</a:t>
            </a:r>
            <a:r>
              <a:rPr lang="en-US" dirty="0"/>
              <a:t> that represents:</a:t>
            </a:r>
          </a:p>
          <a:p>
            <a:pPr marL="302383" lvl="1" indent="0">
              <a:buNone/>
            </a:pPr>
            <a:r>
              <a:rPr lang="en-US" b="1" dirty="0"/>
              <a:t>State</a:t>
            </a:r>
            <a:r>
              <a:rPr lang="en-US" dirty="0"/>
              <a:t> → data / variables</a:t>
            </a:r>
          </a:p>
          <a:p>
            <a:pPr marL="302383" lvl="1" indent="0">
              <a:buNone/>
            </a:pPr>
            <a:r>
              <a:rPr lang="en-US" b="1" dirty="0"/>
              <a:t>Behavior</a:t>
            </a:r>
            <a:r>
              <a:rPr lang="en-US" dirty="0"/>
              <a:t> → methods / functions</a:t>
            </a:r>
          </a:p>
          <a:p>
            <a:pPr marL="302383" lvl="1" indent="0">
              <a:buNone/>
            </a:pPr>
            <a:r>
              <a:rPr lang="en-US" b="1" dirty="0"/>
              <a:t>Identity</a:t>
            </a:r>
            <a:r>
              <a:rPr lang="en-US" dirty="0"/>
              <a:t> → memory reference (unique)</a:t>
            </a:r>
          </a:p>
          <a:p>
            <a:r>
              <a:rPr lang="en-US" dirty="0"/>
              <a:t>An object is an </a:t>
            </a:r>
            <a:r>
              <a:rPr lang="en-US" b="1" dirty="0"/>
              <a:t>instance of a class. </a:t>
            </a:r>
            <a:r>
              <a:rPr lang="en-US" dirty="0"/>
              <a:t>It</a:t>
            </a:r>
            <a:r>
              <a:rPr lang="en-US" b="1" dirty="0"/>
              <a:t> </a:t>
            </a:r>
            <a:r>
              <a:rPr lang="en-US" dirty="0"/>
              <a:t>is a runtime entity created from a class, which occupies memory and contains data members and member functions.</a:t>
            </a:r>
            <a:endParaRPr lang="en-IN" dirty="0"/>
          </a:p>
          <a:p>
            <a:pPr lvl="0" algn="just"/>
            <a:r>
              <a:rPr lang="en-IN" dirty="0"/>
              <a:t>An object represents a specific entity created from that class using the new keyword, </a:t>
            </a:r>
          </a:p>
          <a:p>
            <a:pPr lvl="0" algn="just"/>
            <a:r>
              <a:rPr lang="en-IN" dirty="0"/>
              <a:t>Example </a:t>
            </a:r>
          </a:p>
          <a:p>
            <a:pPr marL="0" lvl="0" indent="0" algn="just">
              <a:buNone/>
            </a:pPr>
            <a:r>
              <a:rPr lang="en-IN" dirty="0"/>
              <a:t>		Student s = new Student();</a:t>
            </a:r>
          </a:p>
        </p:txBody>
      </p:sp>
    </p:spTree>
    <p:extLst>
      <p:ext uri="{BB962C8B-B14F-4D97-AF65-F5344CB8AC3E}">
        <p14:creationId xmlns:p14="http://schemas.microsoft.com/office/powerpoint/2010/main" val="4190410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E38E-B83B-9DEE-DDD3-030C2724F191}"/>
              </a:ext>
            </a:extLst>
          </p:cNvPr>
          <p:cNvSpPr>
            <a:spLocks noGrp="1"/>
          </p:cNvSpPr>
          <p:nvPr>
            <p:ph type="title"/>
          </p:nvPr>
        </p:nvSpPr>
        <p:spPr/>
        <p:txBody>
          <a:bodyPr/>
          <a:lstStyle/>
          <a:p>
            <a:r>
              <a:rPr lang="en-US" dirty="0"/>
              <a:t>--version</a:t>
            </a:r>
            <a:endParaRPr lang="en-IN" dirty="0"/>
          </a:p>
        </p:txBody>
      </p:sp>
      <p:sp>
        <p:nvSpPr>
          <p:cNvPr id="3" name="Slide Number Placeholder 2">
            <a:extLst>
              <a:ext uri="{FF2B5EF4-FFF2-40B4-BE49-F238E27FC236}">
                <a16:creationId xmlns:a16="http://schemas.microsoft.com/office/drawing/2014/main" id="{F4E2DEA7-8FA5-9C5C-F572-9FEBFA4BEFDD}"/>
              </a:ext>
            </a:extLst>
          </p:cNvPr>
          <p:cNvSpPr>
            <a:spLocks noGrp="1"/>
          </p:cNvSpPr>
          <p:nvPr>
            <p:ph type="sldNum" sz="quarter" idx="12"/>
          </p:nvPr>
        </p:nvSpPr>
        <p:spPr/>
        <p:txBody>
          <a:bodyPr/>
          <a:lstStyle/>
          <a:p>
            <a:fld id="{E3591306-41CF-4237-B2B4-5C605DD45071}" type="slidenum">
              <a:rPr lang="en-US" smtClean="0"/>
              <a:pPr/>
              <a:t>24</a:t>
            </a:fld>
            <a:endParaRPr lang="en-US"/>
          </a:p>
        </p:txBody>
      </p:sp>
      <p:sp>
        <p:nvSpPr>
          <p:cNvPr id="4" name="Content Placeholder 3">
            <a:extLst>
              <a:ext uri="{FF2B5EF4-FFF2-40B4-BE49-F238E27FC236}">
                <a16:creationId xmlns:a16="http://schemas.microsoft.com/office/drawing/2014/main" id="{88D44B28-1B19-0DCB-ACF1-9DFBBCDADCC5}"/>
              </a:ext>
            </a:extLst>
          </p:cNvPr>
          <p:cNvSpPr>
            <a:spLocks noGrp="1"/>
          </p:cNvSpPr>
          <p:nvPr>
            <p:ph sz="quarter" idx="1"/>
          </p:nvPr>
        </p:nvSpPr>
        <p:spPr/>
        <p:txBody>
          <a:bodyPr/>
          <a:lstStyle/>
          <a:p>
            <a:endParaRPr lang="en-IN" dirty="0"/>
          </a:p>
        </p:txBody>
      </p:sp>
      <p:pic>
        <p:nvPicPr>
          <p:cNvPr id="6" name="Picture 5">
            <a:extLst>
              <a:ext uri="{FF2B5EF4-FFF2-40B4-BE49-F238E27FC236}">
                <a16:creationId xmlns:a16="http://schemas.microsoft.com/office/drawing/2014/main" id="{576327E6-C671-1CCC-979A-78FF79499084}"/>
              </a:ext>
            </a:extLst>
          </p:cNvPr>
          <p:cNvPicPr>
            <a:picLocks noChangeAspect="1"/>
          </p:cNvPicPr>
          <p:nvPr/>
        </p:nvPicPr>
        <p:blipFill>
          <a:blip r:embed="rId2"/>
          <a:stretch>
            <a:fillRect/>
          </a:stretch>
        </p:blipFill>
        <p:spPr>
          <a:xfrm>
            <a:off x="675402" y="1479737"/>
            <a:ext cx="8249059" cy="4202606"/>
          </a:xfrm>
          <a:prstGeom prst="rect">
            <a:avLst/>
          </a:prstGeom>
        </p:spPr>
      </p:pic>
    </p:spTree>
    <p:extLst>
      <p:ext uri="{BB962C8B-B14F-4D97-AF65-F5344CB8AC3E}">
        <p14:creationId xmlns:p14="http://schemas.microsoft.com/office/powerpoint/2010/main" val="2996835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E8969-51A2-C5F3-D8FC-23F205416B29}"/>
              </a:ext>
            </a:extLst>
          </p:cNvPr>
          <p:cNvSpPr>
            <a:spLocks noGrp="1"/>
          </p:cNvSpPr>
          <p:nvPr>
            <p:ph type="title"/>
          </p:nvPr>
        </p:nvSpPr>
        <p:spPr/>
        <p:txBody>
          <a:bodyPr>
            <a:normAutofit/>
          </a:bodyPr>
          <a:lstStyle/>
          <a:p>
            <a:r>
              <a:rPr lang="en-IN" b="1" dirty="0"/>
              <a:t>Basic syntax and rules</a:t>
            </a:r>
            <a:endParaRPr lang="en-IN" dirty="0"/>
          </a:p>
        </p:txBody>
      </p:sp>
      <p:sp>
        <p:nvSpPr>
          <p:cNvPr id="3" name="Slide Number Placeholder 2">
            <a:extLst>
              <a:ext uri="{FF2B5EF4-FFF2-40B4-BE49-F238E27FC236}">
                <a16:creationId xmlns:a16="http://schemas.microsoft.com/office/drawing/2014/main" id="{C808E7F7-53D0-6044-3DA3-C45473D3374D}"/>
              </a:ext>
            </a:extLst>
          </p:cNvPr>
          <p:cNvSpPr>
            <a:spLocks noGrp="1"/>
          </p:cNvSpPr>
          <p:nvPr>
            <p:ph type="sldNum" sz="quarter" idx="12"/>
          </p:nvPr>
        </p:nvSpPr>
        <p:spPr/>
        <p:txBody>
          <a:bodyPr/>
          <a:lstStyle/>
          <a:p>
            <a:fld id="{E3591306-41CF-4237-B2B4-5C605DD45071}" type="slidenum">
              <a:rPr lang="en-US" smtClean="0"/>
              <a:pPr/>
              <a:t>25</a:t>
            </a:fld>
            <a:endParaRPr lang="en-US"/>
          </a:p>
        </p:txBody>
      </p:sp>
      <p:sp>
        <p:nvSpPr>
          <p:cNvPr id="4" name="Content Placeholder 3">
            <a:extLst>
              <a:ext uri="{FF2B5EF4-FFF2-40B4-BE49-F238E27FC236}">
                <a16:creationId xmlns:a16="http://schemas.microsoft.com/office/drawing/2014/main" id="{C6FFDFFA-7ECC-8CF5-04F6-DF8734A44FA3}"/>
              </a:ext>
            </a:extLst>
          </p:cNvPr>
          <p:cNvSpPr>
            <a:spLocks noGrp="1"/>
          </p:cNvSpPr>
          <p:nvPr>
            <p:ph sz="quarter" idx="1"/>
          </p:nvPr>
        </p:nvSpPr>
        <p:spPr/>
        <p:txBody>
          <a:bodyPr>
            <a:normAutofit lnSpcReduction="10000"/>
          </a:bodyPr>
          <a:lstStyle/>
          <a:p>
            <a:pPr lvl="0"/>
            <a:r>
              <a:rPr lang="en-IN" dirty="0"/>
              <a:t>A Java source file has extension .java and usually contains one public class with the same name as the file.</a:t>
            </a:r>
          </a:p>
          <a:p>
            <a:pPr lvl="0"/>
            <a:r>
              <a:rPr lang="en-IN" dirty="0"/>
              <a:t>Java is case-sensitive (main and Main are different), statements end with a semicolon ;, and blocks of code are enclosed in curly braces {}.</a:t>
            </a:r>
          </a:p>
          <a:p>
            <a:pPr marL="0" indent="0">
              <a:buNone/>
            </a:pPr>
            <a:r>
              <a:rPr lang="en-IN" b="1" dirty="0"/>
              <a:t>Variables and data types</a:t>
            </a:r>
            <a:endParaRPr lang="en-IN" dirty="0"/>
          </a:p>
          <a:p>
            <a:pPr lvl="0"/>
            <a:r>
              <a:rPr lang="en-IN" dirty="0"/>
              <a:t>A variable is a named storage location with a type, such as int x = 10; or double price = 99.5;.</a:t>
            </a:r>
          </a:p>
          <a:p>
            <a:pPr lvl="0"/>
            <a:r>
              <a:rPr lang="en-IN" dirty="0"/>
              <a:t>Java has </a:t>
            </a:r>
            <a:r>
              <a:rPr lang="en-IN" dirty="0" err="1"/>
              <a:t>primitivetypes</a:t>
            </a:r>
            <a:r>
              <a:rPr lang="en-IN" dirty="0"/>
              <a:t> (e.g., byte, short, int, long, float, double, char, </a:t>
            </a:r>
            <a:r>
              <a:rPr lang="en-IN" dirty="0" err="1"/>
              <a:t>boolean</a:t>
            </a:r>
            <a:r>
              <a:rPr lang="en-IN" dirty="0"/>
              <a:t>) and reference types (classes, arrays, interfaces, etc.).</a:t>
            </a:r>
          </a:p>
          <a:p>
            <a:pPr lvl="0"/>
            <a:endParaRPr lang="en-IN" dirty="0"/>
          </a:p>
          <a:p>
            <a:endParaRPr lang="en-IN" dirty="0"/>
          </a:p>
        </p:txBody>
      </p:sp>
    </p:spTree>
    <p:extLst>
      <p:ext uri="{BB962C8B-B14F-4D97-AF65-F5344CB8AC3E}">
        <p14:creationId xmlns:p14="http://schemas.microsoft.com/office/powerpoint/2010/main" val="2797705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E0F9-214D-94A0-721C-8C9059108DF2}"/>
              </a:ext>
            </a:extLst>
          </p:cNvPr>
          <p:cNvSpPr>
            <a:spLocks noGrp="1"/>
          </p:cNvSpPr>
          <p:nvPr>
            <p:ph type="title"/>
          </p:nvPr>
        </p:nvSpPr>
        <p:spPr/>
        <p:txBody>
          <a:bodyPr/>
          <a:lstStyle/>
          <a:p>
            <a:r>
              <a:rPr lang="en-US" dirty="0"/>
              <a:t>First Java Program </a:t>
            </a:r>
            <a:endParaRPr lang="en-IN" dirty="0"/>
          </a:p>
        </p:txBody>
      </p:sp>
      <p:sp>
        <p:nvSpPr>
          <p:cNvPr id="3" name="Slide Number Placeholder 2">
            <a:extLst>
              <a:ext uri="{FF2B5EF4-FFF2-40B4-BE49-F238E27FC236}">
                <a16:creationId xmlns:a16="http://schemas.microsoft.com/office/drawing/2014/main" id="{704B371A-7B61-76A6-89A7-C4B66DA15786}"/>
              </a:ext>
            </a:extLst>
          </p:cNvPr>
          <p:cNvSpPr>
            <a:spLocks noGrp="1"/>
          </p:cNvSpPr>
          <p:nvPr>
            <p:ph type="sldNum" sz="quarter" idx="12"/>
          </p:nvPr>
        </p:nvSpPr>
        <p:spPr/>
        <p:txBody>
          <a:bodyPr/>
          <a:lstStyle/>
          <a:p>
            <a:fld id="{E3591306-41CF-4237-B2B4-5C605DD45071}" type="slidenum">
              <a:rPr lang="en-US" smtClean="0"/>
              <a:pPr/>
              <a:t>26</a:t>
            </a:fld>
            <a:endParaRPr lang="en-US"/>
          </a:p>
        </p:txBody>
      </p:sp>
      <p:sp>
        <p:nvSpPr>
          <p:cNvPr id="4" name="Content Placeholder 3">
            <a:extLst>
              <a:ext uri="{FF2B5EF4-FFF2-40B4-BE49-F238E27FC236}">
                <a16:creationId xmlns:a16="http://schemas.microsoft.com/office/drawing/2014/main" id="{102BB5E8-763D-5036-8549-99CAE8D1B375}"/>
              </a:ext>
            </a:extLst>
          </p:cNvPr>
          <p:cNvSpPr>
            <a:spLocks noGrp="1"/>
          </p:cNvSpPr>
          <p:nvPr>
            <p:ph sz="quarter" idx="1"/>
          </p:nvPr>
        </p:nvSpPr>
        <p:spPr/>
        <p:txBody>
          <a:bodyPr>
            <a:normAutofit fontScale="92500"/>
          </a:bodyPr>
          <a:lstStyle/>
          <a:p>
            <a:r>
              <a:rPr lang="en-US" dirty="0"/>
              <a:t>Create a New Folder</a:t>
            </a:r>
          </a:p>
          <a:p>
            <a:r>
              <a:rPr lang="en-US" dirty="0"/>
              <a:t>Right click -&gt; New text file -&gt; Rename filename.txt as classname.java -&gt; Open with notepad </a:t>
            </a:r>
          </a:p>
          <a:p>
            <a:r>
              <a:rPr lang="en-US" dirty="0"/>
              <a:t>Write your first program</a:t>
            </a:r>
          </a:p>
          <a:p>
            <a:pPr marL="302383" lvl="1" indent="0">
              <a:buNone/>
            </a:pPr>
            <a:r>
              <a:rPr lang="en-IN" dirty="0"/>
              <a:t>class </a:t>
            </a:r>
            <a:r>
              <a:rPr lang="en-IN" dirty="0" err="1"/>
              <a:t>Helloworld</a:t>
            </a:r>
            <a:r>
              <a:rPr lang="en-IN" dirty="0"/>
              <a:t>	//every application must have at least one class</a:t>
            </a:r>
          </a:p>
          <a:p>
            <a:pPr marL="302383" lvl="1" indent="0">
              <a:buNone/>
            </a:pPr>
            <a:r>
              <a:rPr lang="en-IN" dirty="0"/>
              <a:t>{</a:t>
            </a:r>
          </a:p>
          <a:p>
            <a:pPr marL="302383" lvl="1" indent="0">
              <a:buNone/>
            </a:pPr>
            <a:r>
              <a:rPr lang="en-IN" dirty="0"/>
              <a:t>	public static void main(String[] </a:t>
            </a:r>
            <a:r>
              <a:rPr lang="en-IN" dirty="0" err="1"/>
              <a:t>args</a:t>
            </a:r>
            <a:r>
              <a:rPr lang="en-IN" dirty="0"/>
              <a:t>)                         //entry point</a:t>
            </a:r>
          </a:p>
          <a:p>
            <a:pPr marL="302383" lvl="1" indent="0">
              <a:buNone/>
            </a:pPr>
            <a:r>
              <a:rPr lang="en-IN" dirty="0"/>
              <a:t>		{</a:t>
            </a:r>
          </a:p>
          <a:p>
            <a:pPr marL="302383" lvl="1" indent="0">
              <a:buNone/>
            </a:pPr>
            <a:r>
              <a:rPr lang="en-IN" dirty="0"/>
              <a:t>		</a:t>
            </a:r>
            <a:r>
              <a:rPr lang="en-IN" dirty="0" err="1"/>
              <a:t>System.out.println</a:t>
            </a:r>
            <a:r>
              <a:rPr lang="en-IN" dirty="0"/>
              <a:t>("</a:t>
            </a:r>
            <a:r>
              <a:rPr lang="en-IN" dirty="0" err="1"/>
              <a:t>Helloworld</a:t>
            </a:r>
            <a:r>
              <a:rPr lang="en-IN" dirty="0"/>
              <a:t>!"); </a:t>
            </a:r>
          </a:p>
          <a:p>
            <a:pPr marL="302383" lvl="1" indent="0">
              <a:buNone/>
            </a:pPr>
            <a:r>
              <a:rPr lang="en-IN" dirty="0"/>
              <a:t>                                                         //prints text to the console</a:t>
            </a:r>
          </a:p>
          <a:p>
            <a:pPr marL="302383" lvl="1" indent="0">
              <a:buNone/>
            </a:pPr>
            <a:r>
              <a:rPr lang="en-IN" dirty="0"/>
              <a:t>		}</a:t>
            </a:r>
          </a:p>
          <a:p>
            <a:pPr marL="302383" lvl="1" indent="0">
              <a:buNone/>
            </a:pPr>
            <a:r>
              <a:rPr lang="en-IN" dirty="0"/>
              <a:t>}</a:t>
            </a:r>
          </a:p>
          <a:p>
            <a:pPr marL="302383" lvl="1" indent="0">
              <a:buNone/>
            </a:pPr>
            <a:endParaRPr lang="en-IN" dirty="0"/>
          </a:p>
        </p:txBody>
      </p:sp>
    </p:spTree>
    <p:extLst>
      <p:ext uri="{BB962C8B-B14F-4D97-AF65-F5344CB8AC3E}">
        <p14:creationId xmlns:p14="http://schemas.microsoft.com/office/powerpoint/2010/main" val="717544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D6825-A992-D50F-07B0-FCE0E8A67115}"/>
              </a:ext>
            </a:extLst>
          </p:cNvPr>
          <p:cNvSpPr>
            <a:spLocks noGrp="1"/>
          </p:cNvSpPr>
          <p:nvPr>
            <p:ph type="title"/>
          </p:nvPr>
        </p:nvSpPr>
        <p:spPr/>
        <p:txBody>
          <a:bodyPr/>
          <a:lstStyle/>
          <a:p>
            <a:r>
              <a:rPr lang="en-US" dirty="0"/>
              <a:t>Compile and Run</a:t>
            </a:r>
            <a:endParaRPr lang="en-IN" dirty="0"/>
          </a:p>
        </p:txBody>
      </p:sp>
      <p:sp>
        <p:nvSpPr>
          <p:cNvPr id="3" name="Slide Number Placeholder 2">
            <a:extLst>
              <a:ext uri="{FF2B5EF4-FFF2-40B4-BE49-F238E27FC236}">
                <a16:creationId xmlns:a16="http://schemas.microsoft.com/office/drawing/2014/main" id="{42B4797B-BE3B-1590-1BDD-029B98F4452A}"/>
              </a:ext>
            </a:extLst>
          </p:cNvPr>
          <p:cNvSpPr>
            <a:spLocks noGrp="1"/>
          </p:cNvSpPr>
          <p:nvPr>
            <p:ph type="sldNum" sz="quarter" idx="12"/>
          </p:nvPr>
        </p:nvSpPr>
        <p:spPr/>
        <p:txBody>
          <a:bodyPr/>
          <a:lstStyle/>
          <a:p>
            <a:fld id="{E3591306-41CF-4237-B2B4-5C605DD45071}" type="slidenum">
              <a:rPr lang="en-US" smtClean="0"/>
              <a:pPr/>
              <a:t>27</a:t>
            </a:fld>
            <a:endParaRPr lang="en-US"/>
          </a:p>
        </p:txBody>
      </p:sp>
      <p:sp>
        <p:nvSpPr>
          <p:cNvPr id="4" name="Content Placeholder 3">
            <a:extLst>
              <a:ext uri="{FF2B5EF4-FFF2-40B4-BE49-F238E27FC236}">
                <a16:creationId xmlns:a16="http://schemas.microsoft.com/office/drawing/2014/main" id="{6AFC30E9-832F-D5AB-ED27-D3E170A3932B}"/>
              </a:ext>
            </a:extLst>
          </p:cNvPr>
          <p:cNvSpPr>
            <a:spLocks noGrp="1"/>
          </p:cNvSpPr>
          <p:nvPr>
            <p:ph sz="quarter" idx="1"/>
          </p:nvPr>
        </p:nvSpPr>
        <p:spPr/>
        <p:txBody>
          <a:bodyPr/>
          <a:lstStyle/>
          <a:p>
            <a:r>
              <a:rPr lang="en-US" dirty="0"/>
              <a:t>Save file</a:t>
            </a:r>
          </a:p>
          <a:p>
            <a:r>
              <a:rPr lang="en-US" dirty="0"/>
              <a:t>In current working directory – Click on the address bar – type </a:t>
            </a:r>
            <a:r>
              <a:rPr lang="en-US" dirty="0" err="1"/>
              <a:t>cmd</a:t>
            </a:r>
            <a:r>
              <a:rPr lang="en-US" dirty="0"/>
              <a:t> – opens command prompt</a:t>
            </a:r>
          </a:p>
          <a:p>
            <a:endParaRPr lang="en-IN" dirty="0"/>
          </a:p>
        </p:txBody>
      </p:sp>
      <p:pic>
        <p:nvPicPr>
          <p:cNvPr id="6" name="Picture 5">
            <a:extLst>
              <a:ext uri="{FF2B5EF4-FFF2-40B4-BE49-F238E27FC236}">
                <a16:creationId xmlns:a16="http://schemas.microsoft.com/office/drawing/2014/main" id="{29D8452E-7D68-C6C7-5131-D36DA6B8E68C}"/>
              </a:ext>
            </a:extLst>
          </p:cNvPr>
          <p:cNvPicPr>
            <a:picLocks noChangeAspect="1"/>
          </p:cNvPicPr>
          <p:nvPr/>
        </p:nvPicPr>
        <p:blipFill>
          <a:blip r:embed="rId2"/>
          <a:stretch>
            <a:fillRect/>
          </a:stretch>
        </p:blipFill>
        <p:spPr>
          <a:xfrm>
            <a:off x="814127" y="3099325"/>
            <a:ext cx="8199244" cy="2713645"/>
          </a:xfrm>
          <a:prstGeom prst="rect">
            <a:avLst/>
          </a:prstGeom>
        </p:spPr>
      </p:pic>
    </p:spTree>
    <p:extLst>
      <p:ext uri="{BB962C8B-B14F-4D97-AF65-F5344CB8AC3E}">
        <p14:creationId xmlns:p14="http://schemas.microsoft.com/office/powerpoint/2010/main" val="3717075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ADD58-3811-5086-E3AC-FF593291923B}"/>
              </a:ext>
            </a:extLst>
          </p:cNvPr>
          <p:cNvSpPr>
            <a:spLocks noGrp="1"/>
          </p:cNvSpPr>
          <p:nvPr>
            <p:ph type="title"/>
          </p:nvPr>
        </p:nvSpPr>
        <p:spPr/>
        <p:txBody>
          <a:bodyPr/>
          <a:lstStyle/>
          <a:p>
            <a:endParaRPr lang="en-IN"/>
          </a:p>
        </p:txBody>
      </p:sp>
      <p:sp>
        <p:nvSpPr>
          <p:cNvPr id="3" name="Slide Number Placeholder 2">
            <a:extLst>
              <a:ext uri="{FF2B5EF4-FFF2-40B4-BE49-F238E27FC236}">
                <a16:creationId xmlns:a16="http://schemas.microsoft.com/office/drawing/2014/main" id="{72B85408-885E-5B47-6609-A2CAF609D341}"/>
              </a:ext>
            </a:extLst>
          </p:cNvPr>
          <p:cNvSpPr>
            <a:spLocks noGrp="1"/>
          </p:cNvSpPr>
          <p:nvPr>
            <p:ph type="sldNum" sz="quarter" idx="12"/>
          </p:nvPr>
        </p:nvSpPr>
        <p:spPr/>
        <p:txBody>
          <a:bodyPr/>
          <a:lstStyle/>
          <a:p>
            <a:fld id="{E3591306-41CF-4237-B2B4-5C605DD45071}" type="slidenum">
              <a:rPr lang="en-US" smtClean="0"/>
              <a:pPr/>
              <a:t>28</a:t>
            </a:fld>
            <a:endParaRPr lang="en-US"/>
          </a:p>
        </p:txBody>
      </p:sp>
      <p:pic>
        <p:nvPicPr>
          <p:cNvPr id="6" name="Content Placeholder 5">
            <a:extLst>
              <a:ext uri="{FF2B5EF4-FFF2-40B4-BE49-F238E27FC236}">
                <a16:creationId xmlns:a16="http://schemas.microsoft.com/office/drawing/2014/main" id="{96339427-1B38-DC08-C320-A4D1F5F9518C}"/>
              </a:ext>
            </a:extLst>
          </p:cNvPr>
          <p:cNvPicPr>
            <a:picLocks noGrp="1" noChangeAspect="1"/>
          </p:cNvPicPr>
          <p:nvPr>
            <p:ph sz="quarter" idx="1"/>
          </p:nvPr>
        </p:nvPicPr>
        <p:blipFill>
          <a:blip r:embed="rId2"/>
          <a:stretch>
            <a:fillRect/>
          </a:stretch>
        </p:blipFill>
        <p:spPr>
          <a:xfrm>
            <a:off x="1472701" y="4714119"/>
            <a:ext cx="7135221" cy="1743318"/>
          </a:xfrm>
          <a:prstGeom prst="rect">
            <a:avLst/>
          </a:prstGeom>
        </p:spPr>
      </p:pic>
      <p:sp>
        <p:nvSpPr>
          <p:cNvPr id="8" name="TextBox 7">
            <a:extLst>
              <a:ext uri="{FF2B5EF4-FFF2-40B4-BE49-F238E27FC236}">
                <a16:creationId xmlns:a16="http://schemas.microsoft.com/office/drawing/2014/main" id="{09C85BD0-A440-2459-E8D6-DB1EADCFAE97}"/>
              </a:ext>
            </a:extLst>
          </p:cNvPr>
          <p:cNvSpPr txBox="1"/>
          <p:nvPr/>
        </p:nvSpPr>
        <p:spPr>
          <a:xfrm>
            <a:off x="1320165" y="1259946"/>
            <a:ext cx="7135220" cy="3046988"/>
          </a:xfrm>
          <a:prstGeom prst="rect">
            <a:avLst/>
          </a:prstGeom>
          <a:noFill/>
        </p:spPr>
        <p:txBody>
          <a:bodyPr wrap="square">
            <a:spAutoFit/>
          </a:bodyPr>
          <a:lstStyle/>
          <a:p>
            <a:r>
              <a:rPr lang="en-IN" dirty="0"/>
              <a:t>class </a:t>
            </a:r>
            <a:r>
              <a:rPr lang="en-IN" dirty="0" err="1"/>
              <a:t>Helloworld</a:t>
            </a:r>
            <a:endParaRPr lang="en-IN" dirty="0"/>
          </a:p>
          <a:p>
            <a:r>
              <a:rPr lang="en-IN" dirty="0"/>
              <a:t>{</a:t>
            </a:r>
          </a:p>
          <a:p>
            <a:r>
              <a:rPr lang="en-IN" dirty="0"/>
              <a:t>	public static void main(String[] </a:t>
            </a:r>
            <a:r>
              <a:rPr lang="en-IN" dirty="0" err="1"/>
              <a:t>args</a:t>
            </a:r>
            <a:r>
              <a:rPr lang="en-IN" dirty="0"/>
              <a:t>)</a:t>
            </a:r>
          </a:p>
          <a:p>
            <a:r>
              <a:rPr lang="en-IN" dirty="0"/>
              <a:t>		{</a:t>
            </a:r>
          </a:p>
          <a:p>
            <a:r>
              <a:rPr lang="en-IN" dirty="0"/>
              <a:t>		String name=</a:t>
            </a:r>
            <a:r>
              <a:rPr lang="en-IN" dirty="0" err="1"/>
              <a:t>args</a:t>
            </a:r>
            <a:r>
              <a:rPr lang="en-IN" dirty="0"/>
              <a:t>[0];</a:t>
            </a:r>
          </a:p>
          <a:p>
            <a:r>
              <a:rPr lang="en-IN" dirty="0"/>
              <a:t>		</a:t>
            </a:r>
            <a:r>
              <a:rPr lang="en-IN" dirty="0" err="1"/>
              <a:t>System.out.println</a:t>
            </a:r>
            <a:r>
              <a:rPr lang="en-IN" dirty="0"/>
              <a:t>("Hello" + name);</a:t>
            </a:r>
          </a:p>
          <a:p>
            <a:r>
              <a:rPr lang="en-IN" dirty="0"/>
              <a:t>		}</a:t>
            </a:r>
          </a:p>
          <a:p>
            <a:r>
              <a:rPr lang="en-IN" dirty="0"/>
              <a:t>}</a:t>
            </a:r>
          </a:p>
        </p:txBody>
      </p:sp>
    </p:spTree>
    <p:extLst>
      <p:ext uri="{BB962C8B-B14F-4D97-AF65-F5344CB8AC3E}">
        <p14:creationId xmlns:p14="http://schemas.microsoft.com/office/powerpoint/2010/main" val="2980019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terminology</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29</a:t>
            </a:fld>
            <a:endParaRPr lang="en-US"/>
          </a:p>
        </p:txBody>
      </p:sp>
      <p:sp>
        <p:nvSpPr>
          <p:cNvPr id="4" name="Content Placeholder 3"/>
          <p:cNvSpPr>
            <a:spLocks noGrp="1"/>
          </p:cNvSpPr>
          <p:nvPr>
            <p:ph sz="quarter" idx="1"/>
          </p:nvPr>
        </p:nvSpPr>
        <p:spPr/>
        <p:txBody>
          <a:bodyPr>
            <a:normAutofit fontScale="92500" lnSpcReduction="20000"/>
          </a:bodyPr>
          <a:lstStyle/>
          <a:p>
            <a:r>
              <a:rPr lang="en-US" b="1" dirty="0"/>
              <a:t>Java Virtual Machine (JVM)</a:t>
            </a:r>
            <a:br>
              <a:rPr lang="en-US" dirty="0"/>
            </a:br>
            <a:r>
              <a:rPr lang="en-US" sz="2600" dirty="0"/>
              <a:t>This is generally referred as JVM. Before, we discuss about JVM lets see the phases of program execution. Phases are as follows: we write the program, then we compile the program and at last we run the program.</a:t>
            </a:r>
            <a:br>
              <a:rPr lang="en-US" sz="2600" dirty="0"/>
            </a:br>
            <a:r>
              <a:rPr lang="en-US" sz="2600" dirty="0">
                <a:solidFill>
                  <a:srgbClr val="C00000"/>
                </a:solidFill>
              </a:rPr>
              <a:t>1) Writing of the program is of course done by java programmer like you and me.</a:t>
            </a:r>
            <a:br>
              <a:rPr lang="en-US" sz="2600" dirty="0">
                <a:solidFill>
                  <a:srgbClr val="C00000"/>
                </a:solidFill>
              </a:rPr>
            </a:br>
            <a:r>
              <a:rPr lang="en-US" sz="2600" dirty="0">
                <a:solidFill>
                  <a:srgbClr val="C00000"/>
                </a:solidFill>
              </a:rPr>
              <a:t>2) Compilation of program is done by </a:t>
            </a:r>
            <a:r>
              <a:rPr lang="en-US" sz="2600" dirty="0" err="1">
                <a:solidFill>
                  <a:srgbClr val="C00000"/>
                </a:solidFill>
              </a:rPr>
              <a:t>javac</a:t>
            </a:r>
            <a:r>
              <a:rPr lang="en-US" sz="2600" dirty="0">
                <a:solidFill>
                  <a:srgbClr val="C00000"/>
                </a:solidFill>
              </a:rPr>
              <a:t> compiler, </a:t>
            </a:r>
            <a:r>
              <a:rPr lang="en-US" sz="2600" dirty="0" err="1">
                <a:solidFill>
                  <a:srgbClr val="C00000"/>
                </a:solidFill>
              </a:rPr>
              <a:t>javac</a:t>
            </a:r>
            <a:r>
              <a:rPr lang="en-US" sz="2600" dirty="0">
                <a:solidFill>
                  <a:srgbClr val="C00000"/>
                </a:solidFill>
              </a:rPr>
              <a:t> is the primary java compiler included in java development kit (JDK). It takes java program as input and generates java bytecode as output.</a:t>
            </a:r>
            <a:br>
              <a:rPr lang="en-US" sz="2600" dirty="0">
                <a:solidFill>
                  <a:srgbClr val="C00000"/>
                </a:solidFill>
              </a:rPr>
            </a:br>
            <a:r>
              <a:rPr lang="en-US" sz="2600" dirty="0">
                <a:solidFill>
                  <a:srgbClr val="C00000"/>
                </a:solidFill>
              </a:rPr>
              <a:t>3) In third phase, JVM executes the </a:t>
            </a:r>
            <a:r>
              <a:rPr lang="en-US" sz="2600" dirty="0" err="1">
                <a:solidFill>
                  <a:srgbClr val="C00000"/>
                </a:solidFill>
              </a:rPr>
              <a:t>bytecode</a:t>
            </a:r>
            <a:r>
              <a:rPr lang="en-US" sz="2600" dirty="0">
                <a:solidFill>
                  <a:srgbClr val="C00000"/>
                </a:solidFill>
              </a:rPr>
              <a:t> generated by compiler. This is called program run phase.</a:t>
            </a:r>
          </a:p>
          <a:p>
            <a:r>
              <a:rPr lang="en-US" sz="2600" dirty="0"/>
              <a:t>So, now that we understood that the primary function of JVM is to execute the </a:t>
            </a:r>
            <a:r>
              <a:rPr lang="en-US" sz="2600" dirty="0" err="1"/>
              <a:t>bytecode</a:t>
            </a:r>
            <a:r>
              <a:rPr lang="en-US" sz="2600" dirty="0"/>
              <a:t> produced by compiler. </a:t>
            </a:r>
            <a:r>
              <a:rPr lang="en-US" sz="2600" b="1" dirty="0"/>
              <a:t>Each operating system has different JVM, however the output they produce after execution of </a:t>
            </a:r>
            <a:r>
              <a:rPr lang="en-US" sz="2600" b="1" dirty="0" err="1"/>
              <a:t>bytecode</a:t>
            </a:r>
            <a:r>
              <a:rPr lang="en-US" sz="2600" b="1" dirty="0"/>
              <a:t> is same across all operating systems</a:t>
            </a:r>
            <a:r>
              <a:rPr lang="en-US" sz="2600" dirty="0"/>
              <a:t>. That is why we call java as platform independent language.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3591306-41CF-4237-B2B4-5C605DD45071}" type="slidenum">
              <a:rPr lang="en-US" smtClean="0"/>
              <a:pPr/>
              <a:t>30</a:t>
            </a:fld>
            <a:endParaRPr lang="en-US"/>
          </a:p>
        </p:txBody>
      </p:sp>
      <p:sp>
        <p:nvSpPr>
          <p:cNvPr id="4" name="Content Placeholder 3"/>
          <p:cNvSpPr>
            <a:spLocks noGrp="1"/>
          </p:cNvSpPr>
          <p:nvPr>
            <p:ph sz="quarter" idx="1"/>
          </p:nvPr>
        </p:nvSpPr>
        <p:spPr>
          <a:xfrm>
            <a:off x="504031" y="522514"/>
            <a:ext cx="9072563" cy="6264394"/>
          </a:xfrm>
        </p:spPr>
        <p:txBody>
          <a:bodyPr>
            <a:normAutofit fontScale="85000" lnSpcReduction="10000"/>
          </a:bodyPr>
          <a:lstStyle/>
          <a:p>
            <a:r>
              <a:rPr lang="en-US" b="1" dirty="0"/>
              <a:t>Bytecode</a:t>
            </a:r>
            <a:br>
              <a:rPr lang="en-US" dirty="0"/>
            </a:br>
            <a:r>
              <a:rPr lang="en-US" dirty="0"/>
              <a:t>As discussed above, </a:t>
            </a:r>
            <a:r>
              <a:rPr lang="en-US" dirty="0" err="1"/>
              <a:t>javac</a:t>
            </a:r>
            <a:r>
              <a:rPr lang="en-US" dirty="0"/>
              <a:t> compiler of JDK compiles the java source code into bytecode so that it can be executed by JVM. The bytecode is saved in a .class file by compiler.</a:t>
            </a:r>
          </a:p>
          <a:p>
            <a:r>
              <a:rPr lang="en-US" b="1" dirty="0"/>
              <a:t>Java Development Kit(JDK)</a:t>
            </a:r>
            <a:br>
              <a:rPr lang="en-US" dirty="0"/>
            </a:br>
            <a:r>
              <a:rPr lang="en-US" dirty="0"/>
              <a:t>While explaining JVM and bytecode, I have used the term JDK. Let’s discuss about it. As the name suggests this is complete java development kit that includes JRE (Java Runtime Environment), compilers and various tools like </a:t>
            </a:r>
            <a:r>
              <a:rPr lang="en-US" dirty="0" err="1"/>
              <a:t>JavaDoc</a:t>
            </a:r>
            <a:r>
              <a:rPr lang="en-US" dirty="0"/>
              <a:t>, Java debugger etc.</a:t>
            </a:r>
            <a:br>
              <a:rPr lang="en-US" dirty="0"/>
            </a:br>
            <a:r>
              <a:rPr lang="en-US" dirty="0"/>
              <a:t>In order to create, compile and run Java program you would need JDK installed on your computer.</a:t>
            </a:r>
          </a:p>
          <a:p>
            <a:r>
              <a:rPr lang="en-US" b="1" dirty="0"/>
              <a:t>Java Runtime Environment(JRE)</a:t>
            </a:r>
            <a:br>
              <a:rPr lang="en-US" dirty="0"/>
            </a:br>
            <a:r>
              <a:rPr lang="en-US" dirty="0"/>
              <a:t>JRE is a part of JDK which means that JDK includes JRE. When you have JRE installed on your system, you can run a java program however you won’t be able to compile it. JRE includes JVM, browser </a:t>
            </a:r>
            <a:r>
              <a:rPr lang="en-US" dirty="0" err="1"/>
              <a:t>plugins</a:t>
            </a:r>
            <a:r>
              <a:rPr lang="en-US" dirty="0"/>
              <a:t> and applets support. When you only need to run a java program on your computer, you would only need JRE.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3591306-41CF-4237-B2B4-5C605DD45071}" type="slidenum">
              <a:rPr lang="en-US" smtClean="0"/>
              <a:pPr/>
              <a:t>31</a:t>
            </a:fld>
            <a:endParaRPr lang="en-US"/>
          </a:p>
        </p:txBody>
      </p:sp>
      <p:sp>
        <p:nvSpPr>
          <p:cNvPr id="4" name="Content Placeholder 3"/>
          <p:cNvSpPr>
            <a:spLocks noGrp="1"/>
          </p:cNvSpPr>
          <p:nvPr>
            <p:ph sz="quarter" idx="1"/>
          </p:nvPr>
        </p:nvSpPr>
        <p:spPr>
          <a:xfrm>
            <a:off x="675402" y="555171"/>
            <a:ext cx="8901192" cy="6231737"/>
          </a:xfrm>
        </p:spPr>
        <p:txBody>
          <a:bodyPr>
            <a:normAutofit/>
          </a:bodyPr>
          <a:lstStyle/>
          <a:p>
            <a:pPr fontAlgn="base"/>
            <a:r>
              <a:rPr lang="en-US" b="1" dirty="0"/>
              <a:t>Garbage Collector</a:t>
            </a:r>
          </a:p>
          <a:p>
            <a:pPr algn="just" fontAlgn="base"/>
            <a:r>
              <a:rPr lang="en-US" sz="2400" dirty="0"/>
              <a:t>In Java, programmers can’t delete the objects. To delete or recollect that memory JVM has a program called </a:t>
            </a:r>
            <a:r>
              <a:rPr lang="en-US" sz="2400" u="sng" dirty="0"/>
              <a:t>Garbage Collector</a:t>
            </a:r>
            <a:r>
              <a:rPr lang="en-US" sz="2400" dirty="0"/>
              <a:t>. </a:t>
            </a:r>
          </a:p>
          <a:p>
            <a:pPr algn="just" fontAlgn="base"/>
            <a:r>
              <a:rPr lang="en-US" sz="2400" dirty="0"/>
              <a:t>Garbage Collector can recollect the of objects that are not referenced. So Java makes the life of a programmer easy by handling memory management. </a:t>
            </a:r>
          </a:p>
          <a:p>
            <a:pPr algn="just" fontAlgn="base"/>
            <a:r>
              <a:rPr lang="en-US" sz="2400" dirty="0"/>
              <a:t>However, programmers should be careful about their code whether they are using objects that have been used for a long time. Because Garbage cannot recover the memory of objects being referenced.</a:t>
            </a:r>
          </a:p>
          <a:p>
            <a:pPr fontAlgn="base"/>
            <a:r>
              <a:rPr lang="en-US" b="1" dirty="0" err="1"/>
              <a:t>ClassPath</a:t>
            </a:r>
            <a:endParaRPr lang="en-US" b="1" dirty="0"/>
          </a:p>
          <a:p>
            <a:pPr algn="just" fontAlgn="base"/>
            <a:r>
              <a:rPr lang="en-US" sz="2400" dirty="0"/>
              <a:t>The classpath is the file path where the java runtime and Java compiler looks for </a:t>
            </a:r>
            <a:r>
              <a:rPr lang="en-US" sz="2400" b="1" dirty="0"/>
              <a:t>.class</a:t>
            </a:r>
            <a:r>
              <a:rPr lang="en-US" sz="2400" dirty="0"/>
              <a:t> files to load. By default, JDK provides many libraries. If you want to include external libraries they should be added to the classpath.</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Java Byte Code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32</a:t>
            </a:fld>
            <a:endParaRPr lang="en-US"/>
          </a:p>
        </p:txBody>
      </p:sp>
      <p:sp>
        <p:nvSpPr>
          <p:cNvPr id="4" name="Content Placeholder 3"/>
          <p:cNvSpPr>
            <a:spLocks noGrp="1"/>
          </p:cNvSpPr>
          <p:nvPr>
            <p:ph sz="quarter" idx="1"/>
          </p:nvPr>
        </p:nvSpPr>
        <p:spPr/>
        <p:txBody>
          <a:bodyPr>
            <a:normAutofit/>
          </a:bodyPr>
          <a:lstStyle/>
          <a:p>
            <a:pPr algn="just"/>
            <a:r>
              <a:rPr lang="en-US" sz="3200" dirty="0"/>
              <a:t>Java </a:t>
            </a:r>
            <a:r>
              <a:rPr lang="en-US" sz="3200" dirty="0" err="1"/>
              <a:t>bytecode</a:t>
            </a:r>
            <a:r>
              <a:rPr lang="en-US" sz="3200" dirty="0"/>
              <a:t> is the instruction set for the Java Virtual Machine. It acts similar to an assembler which is an alias representation of a C++ code. </a:t>
            </a:r>
          </a:p>
          <a:p>
            <a:pPr algn="just"/>
            <a:r>
              <a:rPr lang="en-US" sz="3200" dirty="0"/>
              <a:t>As soon as a java program is compiled, java </a:t>
            </a:r>
            <a:r>
              <a:rPr lang="en-US" sz="3200" dirty="0" err="1"/>
              <a:t>bytecode</a:t>
            </a:r>
            <a:r>
              <a:rPr lang="en-US" sz="3200" dirty="0"/>
              <a:t> is generated. In more apt terms, java </a:t>
            </a:r>
            <a:r>
              <a:rPr lang="en-US" sz="3200" dirty="0" err="1"/>
              <a:t>bytecode</a:t>
            </a:r>
            <a:r>
              <a:rPr lang="en-US" sz="3200" dirty="0"/>
              <a:t> is the machine code in the form of a .class file. </a:t>
            </a:r>
          </a:p>
          <a:p>
            <a:pPr algn="just"/>
            <a:r>
              <a:rPr lang="en-US" sz="3200" dirty="0"/>
              <a:t>With the help of java </a:t>
            </a:r>
            <a:r>
              <a:rPr lang="en-US" sz="3200" dirty="0" err="1"/>
              <a:t>bytecode</a:t>
            </a:r>
            <a:r>
              <a:rPr lang="en-US" sz="3200" dirty="0"/>
              <a:t> we achieve platform independence in java.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3591306-41CF-4237-B2B4-5C605DD45071}" type="slidenum">
              <a:rPr lang="en-US" smtClean="0"/>
              <a:pPr/>
              <a:t>33</a:t>
            </a:fld>
            <a:endParaRPr lang="en-US"/>
          </a:p>
        </p:txBody>
      </p:sp>
      <p:sp>
        <p:nvSpPr>
          <p:cNvPr id="4" name="Content Placeholder 3"/>
          <p:cNvSpPr>
            <a:spLocks noGrp="1"/>
          </p:cNvSpPr>
          <p:nvPr>
            <p:ph sz="quarter" idx="1"/>
          </p:nvPr>
        </p:nvSpPr>
        <p:spPr>
          <a:xfrm>
            <a:off x="342901" y="669471"/>
            <a:ext cx="9233694" cy="6117437"/>
          </a:xfrm>
        </p:spPr>
        <p:txBody>
          <a:bodyPr>
            <a:normAutofit fontScale="92500" lnSpcReduction="20000"/>
          </a:bodyPr>
          <a:lstStyle/>
          <a:p>
            <a:pPr marL="0" indent="0">
              <a:buNone/>
            </a:pPr>
            <a:r>
              <a:rPr lang="en-US" sz="2800" b="1" dirty="0"/>
              <a:t>How does it works?</a:t>
            </a:r>
          </a:p>
          <a:p>
            <a:pPr algn="just">
              <a:lnSpc>
                <a:spcPct val="120000"/>
              </a:lnSpc>
            </a:pPr>
            <a:r>
              <a:rPr lang="en-US" sz="2800" dirty="0"/>
              <a:t>When we write a program in Java, firstly, the compiler compiles that program and a </a:t>
            </a:r>
            <a:r>
              <a:rPr lang="en-US" sz="2800" dirty="0" err="1"/>
              <a:t>bytecode</a:t>
            </a:r>
            <a:r>
              <a:rPr lang="en-US" sz="2800" dirty="0"/>
              <a:t> is generated for that piece of code. </a:t>
            </a:r>
          </a:p>
          <a:p>
            <a:pPr algn="just">
              <a:lnSpc>
                <a:spcPct val="120000"/>
              </a:lnSpc>
            </a:pPr>
            <a:r>
              <a:rPr lang="en-US" sz="2800" dirty="0"/>
              <a:t>When we wish to run this .class file on any other platform, we can do so. After the first compilation, the </a:t>
            </a:r>
            <a:r>
              <a:rPr lang="en-US" sz="2800" dirty="0" err="1"/>
              <a:t>bytecode</a:t>
            </a:r>
            <a:r>
              <a:rPr lang="en-US" sz="2800" dirty="0"/>
              <a:t> generated is now run by the Java Virtual Machine and not the processor in consideration. </a:t>
            </a:r>
          </a:p>
          <a:p>
            <a:pPr algn="just">
              <a:lnSpc>
                <a:spcPct val="120000"/>
              </a:lnSpc>
            </a:pPr>
            <a:r>
              <a:rPr lang="en-US" sz="2800" dirty="0"/>
              <a:t>This essentially means that we only need to have basic java installation on any platforms that we want to run our code on.</a:t>
            </a:r>
          </a:p>
          <a:p>
            <a:pPr algn="just">
              <a:lnSpc>
                <a:spcPct val="120000"/>
              </a:lnSpc>
            </a:pPr>
            <a:r>
              <a:rPr lang="en-US" sz="2800" dirty="0"/>
              <a:t>Resources required to run the </a:t>
            </a:r>
            <a:r>
              <a:rPr lang="en-US" sz="2800" dirty="0" err="1"/>
              <a:t>bytecode</a:t>
            </a:r>
            <a:r>
              <a:rPr lang="en-US" sz="2800" dirty="0"/>
              <a:t> are made available by the Java Virtual Machine, which calls the processor to allocate the required resources. </a:t>
            </a:r>
          </a:p>
          <a:p>
            <a:pPr algn="just">
              <a:lnSpc>
                <a:spcPct val="120000"/>
              </a:lnSpc>
            </a:pPr>
            <a:r>
              <a:rPr lang="en-US" sz="2800" dirty="0"/>
              <a:t>JVM's are stack-based so they stack implementation to read the codes.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34</a:t>
            </a:fld>
            <a:endParaRPr lang="en-US"/>
          </a:p>
        </p:txBody>
      </p:sp>
      <p:sp>
        <p:nvSpPr>
          <p:cNvPr id="4" name="Content Placeholder 3"/>
          <p:cNvSpPr>
            <a:spLocks noGrp="1"/>
          </p:cNvSpPr>
          <p:nvPr>
            <p:ph sz="quarter" idx="1"/>
          </p:nvPr>
        </p:nvSpPr>
        <p:spPr/>
        <p:txBody>
          <a:bodyPr/>
          <a:lstStyle/>
          <a:p>
            <a:endParaRPr lang="en-US"/>
          </a:p>
        </p:txBody>
      </p:sp>
      <p:pic>
        <p:nvPicPr>
          <p:cNvPr id="61442" name="Picture 2" descr="Java Bytecode"/>
          <p:cNvPicPr>
            <a:picLocks noChangeAspect="1" noChangeArrowheads="1"/>
          </p:cNvPicPr>
          <p:nvPr/>
        </p:nvPicPr>
        <p:blipFill>
          <a:blip r:embed="rId2"/>
          <a:srcRect/>
          <a:stretch>
            <a:fillRect/>
          </a:stretch>
        </p:blipFill>
        <p:spPr bwMode="auto">
          <a:xfrm>
            <a:off x="1210195" y="462524"/>
            <a:ext cx="7660233" cy="6014558"/>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Advantage of Java </a:t>
            </a:r>
            <a:r>
              <a:rPr lang="en-US" b="1" dirty="0" err="1"/>
              <a:t>Bytecode</a:t>
            </a:r>
            <a:endParaRPr lang="en-US" dirty="0"/>
          </a:p>
        </p:txBody>
      </p:sp>
      <p:sp>
        <p:nvSpPr>
          <p:cNvPr id="3" name="Slide Number Placeholder 2"/>
          <p:cNvSpPr>
            <a:spLocks noGrp="1"/>
          </p:cNvSpPr>
          <p:nvPr>
            <p:ph type="sldNum" sz="quarter" idx="12"/>
          </p:nvPr>
        </p:nvSpPr>
        <p:spPr/>
        <p:txBody>
          <a:bodyPr/>
          <a:lstStyle/>
          <a:p>
            <a:fld id="{E3591306-41CF-4237-B2B4-5C605DD45071}" type="slidenum">
              <a:rPr lang="en-US" smtClean="0"/>
              <a:pPr/>
              <a:t>35</a:t>
            </a:fld>
            <a:endParaRPr lang="en-US"/>
          </a:p>
        </p:txBody>
      </p:sp>
      <p:sp>
        <p:nvSpPr>
          <p:cNvPr id="4" name="Content Placeholder 3"/>
          <p:cNvSpPr>
            <a:spLocks noGrp="1"/>
          </p:cNvSpPr>
          <p:nvPr>
            <p:ph sz="quarter" idx="1"/>
          </p:nvPr>
        </p:nvSpPr>
        <p:spPr/>
        <p:txBody>
          <a:bodyPr>
            <a:normAutofit/>
          </a:bodyPr>
          <a:lstStyle/>
          <a:p>
            <a:pPr algn="just"/>
            <a:r>
              <a:rPr lang="en-US" sz="2800" dirty="0"/>
              <a:t>Hence </a:t>
            </a:r>
            <a:r>
              <a:rPr lang="en-US" sz="2800" dirty="0" err="1"/>
              <a:t>bytecode</a:t>
            </a:r>
            <a:r>
              <a:rPr lang="en-US" sz="2800" dirty="0"/>
              <a:t> is a very important component of any java program.</a:t>
            </a:r>
          </a:p>
          <a:p>
            <a:pPr algn="just"/>
            <a:r>
              <a:rPr lang="en-US" sz="2800" dirty="0"/>
              <a:t>The set of instructions for the JVM may differ from system to system but all can interpret the </a:t>
            </a:r>
            <a:r>
              <a:rPr lang="en-US" sz="2800" dirty="0" err="1"/>
              <a:t>bytecode</a:t>
            </a:r>
            <a:r>
              <a:rPr lang="en-US" sz="2800" dirty="0"/>
              <a:t>. </a:t>
            </a:r>
          </a:p>
          <a:p>
            <a:pPr algn="just"/>
            <a:r>
              <a:rPr lang="en-US" sz="2800" dirty="0"/>
              <a:t>A point to keep in mind is that </a:t>
            </a:r>
            <a:r>
              <a:rPr lang="en-US" sz="2800" dirty="0" err="1"/>
              <a:t>bytecodes</a:t>
            </a:r>
            <a:r>
              <a:rPr lang="en-US" sz="2800" dirty="0"/>
              <a:t> are non-</a:t>
            </a:r>
            <a:r>
              <a:rPr lang="en-US" sz="2800" dirty="0" err="1"/>
              <a:t>runnable</a:t>
            </a:r>
            <a:r>
              <a:rPr lang="en-US" sz="2800" dirty="0"/>
              <a:t> codes and rely on the availability of an interpreter to execute and thus the JVM comes into play.</a:t>
            </a:r>
          </a:p>
          <a:p>
            <a:r>
              <a:rPr lang="en-US" sz="2800" dirty="0" err="1"/>
              <a:t>Bytecode</a:t>
            </a:r>
            <a:r>
              <a:rPr lang="en-US" sz="2800" dirty="0"/>
              <a:t> is essentially the machine level language which runs on the Java Virtual Machine. Whenever a class is loaded, it gets a stream of bytecode per method of the class.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84492F4-9B7B-548F-5104-43FE470A9D12}"/>
              </a:ext>
            </a:extLst>
          </p:cNvPr>
          <p:cNvSpPr>
            <a:spLocks noGrp="1"/>
          </p:cNvSpPr>
          <p:nvPr>
            <p:ph type="sldNum" sz="quarter" idx="12"/>
          </p:nvPr>
        </p:nvSpPr>
        <p:spPr/>
        <p:txBody>
          <a:bodyPr/>
          <a:lstStyle/>
          <a:p>
            <a:fld id="{E3591306-41CF-4237-B2B4-5C605DD45071}" type="slidenum">
              <a:rPr lang="en-US" smtClean="0"/>
              <a:pPr/>
              <a:t>36</a:t>
            </a:fld>
            <a:endParaRPr lang="en-US"/>
          </a:p>
        </p:txBody>
      </p:sp>
      <p:sp>
        <p:nvSpPr>
          <p:cNvPr id="4" name="Content Placeholder 3">
            <a:extLst>
              <a:ext uri="{FF2B5EF4-FFF2-40B4-BE49-F238E27FC236}">
                <a16:creationId xmlns:a16="http://schemas.microsoft.com/office/drawing/2014/main" id="{663ED4BF-BBC7-C361-E534-C61FCBDD683D}"/>
              </a:ext>
            </a:extLst>
          </p:cNvPr>
          <p:cNvSpPr>
            <a:spLocks noGrp="1"/>
          </p:cNvSpPr>
          <p:nvPr>
            <p:ph sz="quarter" idx="1"/>
          </p:nvPr>
        </p:nvSpPr>
        <p:spPr>
          <a:xfrm>
            <a:off x="538843" y="620486"/>
            <a:ext cx="9037751" cy="6166422"/>
          </a:xfrm>
        </p:spPr>
        <p:txBody>
          <a:bodyPr>
            <a:normAutofit fontScale="92500" lnSpcReduction="10000"/>
          </a:bodyPr>
          <a:lstStyle/>
          <a:p>
            <a:pPr algn="just"/>
            <a:r>
              <a:rPr lang="en-US" sz="3200" dirty="0"/>
              <a:t>Whenever that method is called during the execution of a program, the bytecode for that method gets invoked.</a:t>
            </a:r>
          </a:p>
          <a:p>
            <a:pPr algn="just"/>
            <a:r>
              <a:rPr lang="en-US" sz="3200" dirty="0"/>
              <a:t>Javac not only compiles the program but also generates the bytecode for the program. Thus, we have realized that the bytecode implementation makes Java a </a:t>
            </a:r>
            <a:r>
              <a:rPr lang="en-US" sz="3200" b="1" dirty="0"/>
              <a:t>platform-independent</a:t>
            </a:r>
            <a:r>
              <a:rPr lang="en-US" sz="3200" dirty="0"/>
              <a:t> language.</a:t>
            </a:r>
          </a:p>
          <a:p>
            <a:pPr algn="just"/>
            <a:r>
              <a:rPr lang="en-US" sz="3200" dirty="0"/>
              <a:t>This helps to add portability to Java which is lacking in languages like C or C++. Portability ensures that Java can be implemented on a wide array of platforms like desktops, mobile devices, severs and many more. </a:t>
            </a:r>
          </a:p>
          <a:p>
            <a:pPr algn="just"/>
            <a:r>
              <a:rPr lang="en-US" sz="3200" dirty="0"/>
              <a:t>Supporting this, Sun Microsystems captioned JAVA as </a:t>
            </a:r>
            <a:r>
              <a:rPr lang="en-US" sz="3200" i="1" dirty="0"/>
              <a:t>"write once, read anywhere" or "WORA"</a:t>
            </a:r>
            <a:r>
              <a:rPr lang="en-US" sz="3200" dirty="0"/>
              <a:t> in resonance to the bytecode interpretation.</a:t>
            </a:r>
          </a:p>
        </p:txBody>
      </p:sp>
    </p:spTree>
    <p:extLst>
      <p:ext uri="{BB962C8B-B14F-4D97-AF65-F5344CB8AC3E}">
        <p14:creationId xmlns:p14="http://schemas.microsoft.com/office/powerpoint/2010/main" val="31306546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Java Buzzwords or Features of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37</a:t>
            </a:fld>
            <a:endParaRPr lang="en-US"/>
          </a:p>
        </p:txBody>
      </p:sp>
      <p:sp>
        <p:nvSpPr>
          <p:cNvPr id="4" name="Content Placeholder 3"/>
          <p:cNvSpPr>
            <a:spLocks noGrp="1"/>
          </p:cNvSpPr>
          <p:nvPr>
            <p:ph sz="quarter" idx="1"/>
          </p:nvPr>
        </p:nvSpPr>
        <p:spPr/>
        <p:txBody>
          <a:bodyPr>
            <a:normAutofit fontScale="70000" lnSpcReduction="20000"/>
          </a:bodyPr>
          <a:lstStyle/>
          <a:p>
            <a:pPr algn="just"/>
            <a:r>
              <a:rPr lang="en-US" dirty="0"/>
              <a:t>The primary objective of Java programming language creation was to make it portable, simple and secure programming language. Apart from this, there are also some excellent features which play an important role in the popularity of this language. The features of Java are also known as </a:t>
            </a:r>
            <a:r>
              <a:rPr lang="en-US" b="1" dirty="0"/>
              <a:t>java </a:t>
            </a:r>
            <a:r>
              <a:rPr lang="en-US" b="1" i="1" dirty="0"/>
              <a:t>buzzwords</a:t>
            </a:r>
            <a:r>
              <a:rPr lang="en-US" b="1" dirty="0"/>
              <a:t>.</a:t>
            </a:r>
          </a:p>
          <a:p>
            <a:r>
              <a:rPr lang="en-US" dirty="0"/>
              <a:t>A list of most important features of Java language is given below.</a:t>
            </a:r>
          </a:p>
          <a:p>
            <a:r>
              <a:rPr lang="en-US" dirty="0"/>
              <a:t>Simple</a:t>
            </a:r>
          </a:p>
          <a:p>
            <a:r>
              <a:rPr lang="en-US" dirty="0"/>
              <a:t>Object-Oriented</a:t>
            </a:r>
          </a:p>
          <a:p>
            <a:r>
              <a:rPr lang="en-US" dirty="0"/>
              <a:t>Portable</a:t>
            </a:r>
          </a:p>
          <a:p>
            <a:r>
              <a:rPr lang="en-US" dirty="0"/>
              <a:t>Platform independent</a:t>
            </a:r>
          </a:p>
          <a:p>
            <a:r>
              <a:rPr lang="en-US" dirty="0"/>
              <a:t>Secured</a:t>
            </a:r>
          </a:p>
          <a:p>
            <a:r>
              <a:rPr lang="en-US" dirty="0"/>
              <a:t>Robust</a:t>
            </a:r>
          </a:p>
          <a:p>
            <a:r>
              <a:rPr lang="en-US" dirty="0"/>
              <a:t>Architecture neutral</a:t>
            </a:r>
          </a:p>
          <a:p>
            <a:r>
              <a:rPr lang="en-US" dirty="0"/>
              <a:t>Interpreted</a:t>
            </a:r>
          </a:p>
          <a:p>
            <a:r>
              <a:rPr lang="en-US" dirty="0"/>
              <a:t>High Performance</a:t>
            </a:r>
          </a:p>
          <a:p>
            <a:r>
              <a:rPr lang="en-US" dirty="0"/>
              <a:t>Multithreaded</a:t>
            </a:r>
          </a:p>
          <a:p>
            <a:r>
              <a:rPr lang="en-US" dirty="0"/>
              <a:t>Distributed</a:t>
            </a:r>
          </a:p>
          <a:p>
            <a:r>
              <a:rPr lang="en-US" dirty="0"/>
              <a:t>Dynamic</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3591306-41CF-4237-B2B4-5C605DD45071}" type="slidenum">
              <a:rPr lang="en-US" smtClean="0"/>
              <a:pPr/>
              <a:t>38</a:t>
            </a:fld>
            <a:endParaRPr lang="en-US"/>
          </a:p>
        </p:txBody>
      </p:sp>
      <p:sp>
        <p:nvSpPr>
          <p:cNvPr id="4" name="Content Placeholder 3"/>
          <p:cNvSpPr>
            <a:spLocks noGrp="1"/>
          </p:cNvSpPr>
          <p:nvPr>
            <p:ph sz="quarter" idx="1"/>
          </p:nvPr>
        </p:nvSpPr>
        <p:spPr>
          <a:xfrm>
            <a:off x="504031" y="387784"/>
            <a:ext cx="9072563" cy="6618915"/>
          </a:xfrm>
        </p:spPr>
        <p:txBody>
          <a:bodyPr>
            <a:noAutofit/>
          </a:bodyPr>
          <a:lstStyle/>
          <a:p>
            <a:pPr algn="just"/>
            <a:r>
              <a:rPr lang="en-US" sz="2200" b="1" dirty="0"/>
              <a:t>Simple</a:t>
            </a:r>
          </a:p>
          <a:p>
            <a:pPr lvl="1" algn="just"/>
            <a:r>
              <a:rPr lang="en-US" sz="2200" dirty="0"/>
              <a:t>Java is very easy to learn, and its syntax is simple, clean and easy to understand. According to Sun, Java language is a simple programming language because:</a:t>
            </a:r>
          </a:p>
          <a:p>
            <a:pPr lvl="1" algn="just"/>
            <a:r>
              <a:rPr lang="en-US" sz="2200" dirty="0"/>
              <a:t>Java syntax is based on C++ (so easier for programmers to learn it after C++).</a:t>
            </a:r>
          </a:p>
          <a:p>
            <a:pPr lvl="1" algn="just"/>
            <a:r>
              <a:rPr lang="en-US" sz="2200" dirty="0"/>
              <a:t>Java has removed many complicated and rarely-used features, for example, explicit pointers, operator overloading, etc.</a:t>
            </a:r>
          </a:p>
          <a:p>
            <a:pPr lvl="1" algn="just"/>
            <a:r>
              <a:rPr lang="en-US" sz="2200" dirty="0"/>
              <a:t>There is no need to remove unreferenced objects because there is an Automatic Garbage Collection in Java.</a:t>
            </a:r>
          </a:p>
          <a:p>
            <a:pPr algn="just"/>
            <a:r>
              <a:rPr lang="en-US" sz="2200" b="1" dirty="0"/>
              <a:t>Object-oriented</a:t>
            </a:r>
          </a:p>
          <a:p>
            <a:pPr lvl="1" algn="just"/>
            <a:r>
              <a:rPr lang="en-US" sz="2200" dirty="0"/>
              <a:t>Java is an object-oriented programming language. Everything in Java is an object. Object-oriented means we organize our software as a combination of different types of objects that incorporates both data and behavior.</a:t>
            </a:r>
          </a:p>
          <a:p>
            <a:pPr lvl="1" algn="just"/>
            <a:r>
              <a:rPr lang="en-US" sz="2200" dirty="0"/>
              <a:t>Object-oriented programming (OOPs) is a methodology that simplifies software development and maintenance by providing some rules.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3591306-41CF-4237-B2B4-5C605DD45071}" type="slidenum">
              <a:rPr lang="en-US" smtClean="0"/>
              <a:pPr/>
              <a:t>39</a:t>
            </a:fld>
            <a:endParaRPr lang="en-US"/>
          </a:p>
        </p:txBody>
      </p:sp>
      <p:sp>
        <p:nvSpPr>
          <p:cNvPr id="4" name="Content Placeholder 3"/>
          <p:cNvSpPr>
            <a:spLocks noGrp="1"/>
          </p:cNvSpPr>
          <p:nvPr>
            <p:ph sz="quarter" idx="1"/>
          </p:nvPr>
        </p:nvSpPr>
        <p:spPr>
          <a:xfrm>
            <a:off x="522514" y="555171"/>
            <a:ext cx="9054080" cy="6231737"/>
          </a:xfrm>
        </p:spPr>
        <p:txBody>
          <a:bodyPr>
            <a:normAutofit fontScale="92500" lnSpcReduction="10000"/>
          </a:bodyPr>
          <a:lstStyle/>
          <a:p>
            <a:r>
              <a:rPr lang="en-US" b="1" dirty="0"/>
              <a:t>Platform Independent</a:t>
            </a:r>
          </a:p>
          <a:p>
            <a:pPr lvl="1" algn="just"/>
            <a:r>
              <a:rPr lang="en-US" dirty="0"/>
              <a:t>Java is platform independent because it is different from other languages like C, C++, etc. which are compiled into platform specific machines while Java is a write once, run anywhere language. A platform is the hardware or software environment in which a program runs.</a:t>
            </a:r>
          </a:p>
          <a:p>
            <a:pPr lvl="1" algn="just"/>
            <a:r>
              <a:rPr lang="en-US" dirty="0"/>
              <a:t>There are two types of platforms software-based and hardware-based. Java provides a software-based platform.</a:t>
            </a:r>
          </a:p>
          <a:p>
            <a:pPr lvl="1" algn="just"/>
            <a:r>
              <a:rPr lang="en-US" dirty="0"/>
              <a:t>The Java platform differs from most other platforms in the sense that it is a software-based platform that runs on the top of other hardware-based platforms. It has two components:</a:t>
            </a:r>
          </a:p>
          <a:p>
            <a:pPr lvl="2" algn="just"/>
            <a:r>
              <a:rPr lang="en-US" dirty="0"/>
              <a:t>Runtime Environment</a:t>
            </a:r>
          </a:p>
          <a:p>
            <a:pPr lvl="2" algn="just"/>
            <a:r>
              <a:rPr lang="en-US" dirty="0"/>
              <a:t>API(Application Programming Interface)</a:t>
            </a:r>
          </a:p>
          <a:p>
            <a:pPr lvl="1" algn="just"/>
            <a:r>
              <a:rPr lang="en-US" dirty="0"/>
              <a:t>Java code can be run on multiple platforms, for example, Windows, Linux, Sun Solaris, Mac/OS, etc. Java code is compiled by the compiler and converted into </a:t>
            </a:r>
            <a:r>
              <a:rPr lang="en-US" dirty="0" err="1"/>
              <a:t>bytecode</a:t>
            </a:r>
            <a:r>
              <a:rPr lang="en-US" dirty="0"/>
              <a:t>. This </a:t>
            </a:r>
            <a:r>
              <a:rPr lang="en-US" dirty="0" err="1"/>
              <a:t>bytecode</a:t>
            </a:r>
            <a:r>
              <a:rPr lang="en-US" dirty="0"/>
              <a:t> is a platform-independent code because it can be run on multiple platforms, i.e., Write Once and Run Anywhere(WORA).</a:t>
            </a:r>
          </a:p>
          <a:p>
            <a:pPr algn="just"/>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40</a:t>
            </a:fld>
            <a:endParaRPr lang="en-US"/>
          </a:p>
        </p:txBody>
      </p:sp>
      <p:sp>
        <p:nvSpPr>
          <p:cNvPr id="4" name="Content Placeholder 3"/>
          <p:cNvSpPr>
            <a:spLocks noGrp="1"/>
          </p:cNvSpPr>
          <p:nvPr>
            <p:ph sz="quarter" idx="1"/>
          </p:nvPr>
        </p:nvSpPr>
        <p:spPr>
          <a:xfrm>
            <a:off x="504031" y="376163"/>
            <a:ext cx="9072563" cy="6618915"/>
          </a:xfrm>
        </p:spPr>
        <p:txBody>
          <a:bodyPr>
            <a:normAutofit fontScale="55000" lnSpcReduction="20000"/>
          </a:bodyPr>
          <a:lstStyle/>
          <a:p>
            <a:r>
              <a:rPr lang="en-US" sz="5000" b="1" dirty="0"/>
              <a:t>Secured</a:t>
            </a:r>
          </a:p>
          <a:p>
            <a:pPr lvl="1" algn="just">
              <a:lnSpc>
                <a:spcPct val="120000"/>
              </a:lnSpc>
            </a:pPr>
            <a:r>
              <a:rPr lang="en-US" sz="4100" dirty="0"/>
              <a:t>Java is best known for its security. With Java, we can develop virus-free systems. Java is secured because:</a:t>
            </a:r>
          </a:p>
          <a:p>
            <a:pPr lvl="1" algn="just">
              <a:lnSpc>
                <a:spcPct val="120000"/>
              </a:lnSpc>
            </a:pPr>
            <a:r>
              <a:rPr lang="en-US" sz="4100" b="1" dirty="0"/>
              <a:t>No explicit pointer</a:t>
            </a:r>
            <a:endParaRPr lang="en-US" sz="4100" dirty="0"/>
          </a:p>
          <a:p>
            <a:pPr lvl="1" algn="just">
              <a:lnSpc>
                <a:spcPct val="120000"/>
              </a:lnSpc>
            </a:pPr>
            <a:r>
              <a:rPr lang="en-US" sz="4100" b="1" dirty="0"/>
              <a:t>Java Programs run inside a virtual machine sandbox</a:t>
            </a:r>
            <a:endParaRPr lang="en-US" sz="4100" dirty="0"/>
          </a:p>
          <a:p>
            <a:pPr lvl="1" algn="just">
              <a:lnSpc>
                <a:spcPct val="120000"/>
              </a:lnSpc>
            </a:pPr>
            <a:r>
              <a:rPr lang="en-US" sz="4100" b="1" dirty="0" err="1"/>
              <a:t>Classloader</a:t>
            </a:r>
            <a:r>
              <a:rPr lang="en-US" sz="4100" b="1" dirty="0"/>
              <a:t>:</a:t>
            </a:r>
            <a:r>
              <a:rPr lang="en-US" sz="4100" dirty="0"/>
              <a:t> </a:t>
            </a:r>
            <a:r>
              <a:rPr lang="en-US" sz="4100" dirty="0" err="1"/>
              <a:t>Classloader</a:t>
            </a:r>
            <a:r>
              <a:rPr lang="en-US" sz="4100" dirty="0"/>
              <a:t> in Java is a part of the Java Runtime Environment(JRE) which is used to load Java classes into the Java Virtual Machine dynamically. It adds security by separating the package for the classes of the local file system from those that are imported from network sources.</a:t>
            </a:r>
          </a:p>
          <a:p>
            <a:pPr lvl="1" algn="just">
              <a:lnSpc>
                <a:spcPct val="120000"/>
              </a:lnSpc>
            </a:pPr>
            <a:r>
              <a:rPr lang="en-US" sz="4100" b="1" dirty="0" err="1"/>
              <a:t>Bytecode</a:t>
            </a:r>
            <a:r>
              <a:rPr lang="en-US" sz="4100" b="1" dirty="0"/>
              <a:t> Verifier:</a:t>
            </a:r>
            <a:r>
              <a:rPr lang="en-US" sz="4100" dirty="0"/>
              <a:t> It checks the code fragments for illegal code that can violate access right to objects.</a:t>
            </a:r>
          </a:p>
          <a:p>
            <a:pPr lvl="1" algn="just">
              <a:lnSpc>
                <a:spcPct val="120000"/>
              </a:lnSpc>
            </a:pPr>
            <a:r>
              <a:rPr lang="en-US" sz="4100" b="1" dirty="0"/>
              <a:t>Security Manager:</a:t>
            </a:r>
            <a:r>
              <a:rPr lang="en-US" sz="4100" dirty="0"/>
              <a:t> It determines what resources a class can access such as reading and writing to the local disk.</a:t>
            </a:r>
          </a:p>
          <a:p>
            <a:pPr lvl="1" algn="just">
              <a:lnSpc>
                <a:spcPct val="120000"/>
              </a:lnSpc>
            </a:pPr>
            <a:r>
              <a:rPr lang="en-US" sz="4100" dirty="0"/>
              <a:t>Java language provides these securities by default. Some security can also be provided by an application developer explicitly through SSL, JAAS, Cryptography, etc.</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41</a:t>
            </a:fld>
            <a:endParaRPr lang="en-US"/>
          </a:p>
        </p:txBody>
      </p:sp>
      <p:sp>
        <p:nvSpPr>
          <p:cNvPr id="4" name="Content Placeholder 3"/>
          <p:cNvSpPr>
            <a:spLocks noGrp="1"/>
          </p:cNvSpPr>
          <p:nvPr>
            <p:ph sz="quarter" idx="1"/>
          </p:nvPr>
        </p:nvSpPr>
        <p:spPr>
          <a:xfrm>
            <a:off x="504031" y="506186"/>
            <a:ext cx="9072563" cy="6280722"/>
          </a:xfrm>
        </p:spPr>
        <p:txBody>
          <a:bodyPr>
            <a:normAutofit fontScale="92500" lnSpcReduction="10000"/>
          </a:bodyPr>
          <a:lstStyle/>
          <a:p>
            <a:r>
              <a:rPr lang="en-US" sz="2800" b="1" dirty="0"/>
              <a:t>Robust</a:t>
            </a:r>
          </a:p>
          <a:p>
            <a:pPr lvl="1">
              <a:lnSpc>
                <a:spcPct val="120000"/>
              </a:lnSpc>
            </a:pPr>
            <a:r>
              <a:rPr lang="en-US" sz="2400" dirty="0"/>
              <a:t>Robust simply means strong. Java is robust because:</a:t>
            </a:r>
          </a:p>
          <a:p>
            <a:pPr lvl="1">
              <a:lnSpc>
                <a:spcPct val="120000"/>
              </a:lnSpc>
            </a:pPr>
            <a:r>
              <a:rPr lang="en-US" sz="2400" dirty="0"/>
              <a:t>It uses strong memory management.</a:t>
            </a:r>
          </a:p>
          <a:p>
            <a:pPr lvl="1">
              <a:lnSpc>
                <a:spcPct val="120000"/>
              </a:lnSpc>
            </a:pPr>
            <a:r>
              <a:rPr lang="en-US" sz="2400" dirty="0"/>
              <a:t>There is a lack of pointers that avoids security problems.</a:t>
            </a:r>
          </a:p>
          <a:p>
            <a:pPr lvl="1">
              <a:lnSpc>
                <a:spcPct val="120000"/>
              </a:lnSpc>
            </a:pPr>
            <a:r>
              <a:rPr lang="en-US" sz="2400" dirty="0"/>
              <a:t>There is automatic garbage collection in java which runs on the Java Virtual Machine to get rid of objects which are not being used by a Java application anymore.</a:t>
            </a:r>
          </a:p>
          <a:p>
            <a:pPr lvl="1">
              <a:lnSpc>
                <a:spcPct val="120000"/>
              </a:lnSpc>
            </a:pPr>
            <a:r>
              <a:rPr lang="en-US" sz="2400" dirty="0"/>
              <a:t>There are exception handling and the type checking mechanism in Java. All these points make Java robust.</a:t>
            </a:r>
          </a:p>
          <a:p>
            <a:r>
              <a:rPr lang="en-US" sz="2800" b="1" dirty="0"/>
              <a:t>Architecture-neutral</a:t>
            </a:r>
          </a:p>
          <a:p>
            <a:pPr lvl="1">
              <a:lnSpc>
                <a:spcPct val="120000"/>
              </a:lnSpc>
            </a:pPr>
            <a:r>
              <a:rPr lang="en-US" sz="2400" dirty="0"/>
              <a:t>Java is architecture neutral because there are no implementation dependent features, for example, the size of primitive types is fixed.</a:t>
            </a:r>
          </a:p>
          <a:p>
            <a:pPr lvl="1">
              <a:lnSpc>
                <a:spcPct val="120000"/>
              </a:lnSpc>
            </a:pPr>
            <a:r>
              <a:rPr lang="en-US" sz="2400" dirty="0"/>
              <a:t>In C programming, int data type occupies 2 bytes of memory for 32-bit architecture and 4 bytes of memory for 64-bit architecture. However, it occupies 4 bytes of memory for both 32 and 64-bit architectures in Java.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42</a:t>
            </a:fld>
            <a:endParaRPr lang="en-US"/>
          </a:p>
        </p:txBody>
      </p:sp>
      <p:sp>
        <p:nvSpPr>
          <p:cNvPr id="4" name="Content Placeholder 3"/>
          <p:cNvSpPr>
            <a:spLocks noGrp="1"/>
          </p:cNvSpPr>
          <p:nvPr>
            <p:ph sz="quarter" idx="1"/>
          </p:nvPr>
        </p:nvSpPr>
        <p:spPr/>
        <p:txBody>
          <a:bodyPr>
            <a:normAutofit fontScale="92500" lnSpcReduction="10000"/>
          </a:bodyPr>
          <a:lstStyle/>
          <a:p>
            <a:pPr algn="just"/>
            <a:r>
              <a:rPr lang="en-US" b="1" dirty="0"/>
              <a:t>Portable</a:t>
            </a:r>
          </a:p>
          <a:p>
            <a:pPr lvl="1" algn="just"/>
            <a:r>
              <a:rPr lang="en-US" dirty="0"/>
              <a:t>Java is portable because it facilitates you to carry the Java </a:t>
            </a:r>
            <a:r>
              <a:rPr lang="en-US" dirty="0" err="1"/>
              <a:t>bytecode</a:t>
            </a:r>
            <a:r>
              <a:rPr lang="en-US" dirty="0"/>
              <a:t> to any platform. It doesn't require any implementation.</a:t>
            </a:r>
          </a:p>
          <a:p>
            <a:pPr algn="just"/>
            <a:r>
              <a:rPr lang="en-US" b="1" dirty="0"/>
              <a:t>High-performance</a:t>
            </a:r>
          </a:p>
          <a:p>
            <a:pPr lvl="1" algn="just"/>
            <a:r>
              <a:rPr lang="en-US" dirty="0"/>
              <a:t>Java is faster than other traditional interpreted programming languages because Java </a:t>
            </a:r>
            <a:r>
              <a:rPr lang="en-US" dirty="0" err="1"/>
              <a:t>bytecode</a:t>
            </a:r>
            <a:r>
              <a:rPr lang="en-US" dirty="0"/>
              <a:t> is "close" to native code. It is still a little bit slower than a compiled language (e.g., C++). Java is an interpreted language that is why it is slower than compiled languages, e.g., C, C++, etc.</a:t>
            </a:r>
          </a:p>
          <a:p>
            <a:pPr algn="just"/>
            <a:r>
              <a:rPr lang="en-US" b="1" dirty="0"/>
              <a:t>Distributed</a:t>
            </a:r>
          </a:p>
          <a:p>
            <a:pPr lvl="1" algn="just"/>
            <a:r>
              <a:rPr lang="en-US" dirty="0"/>
              <a:t>Java is distributed because it facilitates users to create distributed applications in Java. RMI and EJB are used for creating distributed applications. This feature of Java makes us able to access files by calling the methods from any machine on the internet.</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43</a:t>
            </a:fld>
            <a:endParaRPr lang="en-US"/>
          </a:p>
        </p:txBody>
      </p:sp>
      <p:sp>
        <p:nvSpPr>
          <p:cNvPr id="4" name="Content Placeholder 3"/>
          <p:cNvSpPr>
            <a:spLocks noGrp="1"/>
          </p:cNvSpPr>
          <p:nvPr>
            <p:ph sz="quarter" idx="1"/>
          </p:nvPr>
        </p:nvSpPr>
        <p:spPr/>
        <p:txBody>
          <a:bodyPr>
            <a:normAutofit lnSpcReduction="10000"/>
          </a:bodyPr>
          <a:lstStyle/>
          <a:p>
            <a:pPr algn="just"/>
            <a:r>
              <a:rPr lang="en-US" b="1" dirty="0"/>
              <a:t>Multi-threaded</a:t>
            </a:r>
          </a:p>
          <a:p>
            <a:pPr lvl="1" algn="just"/>
            <a:r>
              <a:rPr lang="en-US" dirty="0"/>
              <a:t>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a:t>
            </a:r>
          </a:p>
          <a:p>
            <a:pPr algn="just"/>
            <a:r>
              <a:rPr lang="en-US" b="1" dirty="0"/>
              <a:t>Dynamic</a:t>
            </a:r>
          </a:p>
          <a:p>
            <a:pPr lvl="1" algn="just"/>
            <a:r>
              <a:rPr lang="en-US" dirty="0"/>
              <a:t>Java is a dynamic language. It supports dynamic loading of classes. It means classes are loaded on demand. It also supports functions from its native languages, i.e., C and C++.</a:t>
            </a:r>
          </a:p>
          <a:p>
            <a:pPr lvl="1" algn="just"/>
            <a:r>
              <a:rPr lang="en-US" dirty="0"/>
              <a:t>Java supports dynamic compilation and automatic memory management (garbage collection).</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C00000"/>
                </a:solidFill>
              </a:rPr>
              <a:t>Overall Execution Process of Java Program</a:t>
            </a:r>
          </a:p>
        </p:txBody>
      </p:sp>
      <p:sp>
        <p:nvSpPr>
          <p:cNvPr id="3" name="Slide Number Placeholder 2"/>
          <p:cNvSpPr>
            <a:spLocks noGrp="1"/>
          </p:cNvSpPr>
          <p:nvPr>
            <p:ph type="sldNum" sz="quarter" idx="12"/>
          </p:nvPr>
        </p:nvSpPr>
        <p:spPr/>
        <p:txBody>
          <a:bodyPr/>
          <a:lstStyle/>
          <a:p>
            <a:fld id="{E3591306-41CF-4237-B2B4-5C605DD45071}" type="slidenum">
              <a:rPr lang="en-US" smtClean="0"/>
              <a:pPr/>
              <a:t>44</a:t>
            </a:fld>
            <a:endParaRPr lang="en-US"/>
          </a:p>
        </p:txBody>
      </p:sp>
      <p:sp>
        <p:nvSpPr>
          <p:cNvPr id="4" name="Content Placeholder 3"/>
          <p:cNvSpPr>
            <a:spLocks noGrp="1"/>
          </p:cNvSpPr>
          <p:nvPr>
            <p:ph sz="quarter" idx="1"/>
          </p:nvPr>
        </p:nvSpPr>
        <p:spPr/>
        <p:txBody>
          <a:bodyPr/>
          <a:lstStyle/>
          <a:p>
            <a:endParaRPr lang="en-US" dirty="0"/>
          </a:p>
        </p:txBody>
      </p:sp>
      <p:pic>
        <p:nvPicPr>
          <p:cNvPr id="69634" name="Picture 2" descr="Execution Process of Java Program in Detail | Working of JUST-IT-TIME  Compiler (JIT) in Detail - Simple Snippets"/>
          <p:cNvPicPr>
            <a:picLocks noChangeAspect="1" noChangeArrowheads="1"/>
          </p:cNvPicPr>
          <p:nvPr/>
        </p:nvPicPr>
        <p:blipFill>
          <a:blip r:embed="rId2"/>
          <a:srcRect/>
          <a:stretch>
            <a:fillRect/>
          </a:stretch>
        </p:blipFill>
        <p:spPr bwMode="auto">
          <a:xfrm>
            <a:off x="607752" y="2019718"/>
            <a:ext cx="5482382" cy="3426489"/>
          </a:xfrm>
          <a:prstGeom prst="rect">
            <a:avLst/>
          </a:prstGeom>
          <a:noFill/>
        </p:spPr>
      </p:pic>
      <p:pic>
        <p:nvPicPr>
          <p:cNvPr id="69636" name="Picture 4" descr="Execution Process of Java Program in Detail | Working of JUST-IT-TIME  Compiler (JIT) in Detail - Simple Snippets"/>
          <p:cNvPicPr>
            <a:picLocks noChangeAspect="1" noChangeArrowheads="1"/>
          </p:cNvPicPr>
          <p:nvPr/>
        </p:nvPicPr>
        <p:blipFill>
          <a:blip r:embed="rId3"/>
          <a:srcRect/>
          <a:stretch>
            <a:fillRect/>
          </a:stretch>
        </p:blipFill>
        <p:spPr bwMode="auto">
          <a:xfrm>
            <a:off x="6249076" y="2049863"/>
            <a:ext cx="3291514" cy="3396343"/>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C00000"/>
                </a:solidFill>
              </a:rPr>
              <a:t>Compilation and execution of Java Program</a:t>
            </a:r>
          </a:p>
        </p:txBody>
      </p:sp>
      <p:sp>
        <p:nvSpPr>
          <p:cNvPr id="3" name="Slide Number Placeholder 2"/>
          <p:cNvSpPr>
            <a:spLocks noGrp="1"/>
          </p:cNvSpPr>
          <p:nvPr>
            <p:ph type="sldNum" sz="quarter" idx="12"/>
          </p:nvPr>
        </p:nvSpPr>
        <p:spPr/>
        <p:txBody>
          <a:bodyPr/>
          <a:lstStyle/>
          <a:p>
            <a:fld id="{E3591306-41CF-4237-B2B4-5C605DD45071}" type="slidenum">
              <a:rPr lang="en-US" smtClean="0"/>
              <a:pPr/>
              <a:t>45</a:t>
            </a:fld>
            <a:endParaRPr lang="en-US"/>
          </a:p>
        </p:txBody>
      </p:sp>
      <p:sp>
        <p:nvSpPr>
          <p:cNvPr id="4" name="Content Placeholder 3"/>
          <p:cNvSpPr>
            <a:spLocks noGrp="1"/>
          </p:cNvSpPr>
          <p:nvPr>
            <p:ph sz="quarter" idx="1"/>
          </p:nvPr>
        </p:nvSpPr>
        <p:spPr/>
        <p:txBody>
          <a:bodyPr>
            <a:normAutofit fontScale="92500" lnSpcReduction="10000"/>
          </a:bodyPr>
          <a:lstStyle/>
          <a:p>
            <a:r>
              <a:rPr lang="en-US" b="1" dirty="0"/>
              <a:t>Example</a:t>
            </a:r>
          </a:p>
          <a:p>
            <a:r>
              <a:rPr lang="en-US" dirty="0"/>
              <a:t>public class </a:t>
            </a:r>
            <a:r>
              <a:rPr lang="en-US" dirty="0" err="1"/>
              <a:t>MyFirstJavaProgram</a:t>
            </a:r>
            <a:r>
              <a:rPr lang="en-US" dirty="0"/>
              <a:t> </a:t>
            </a:r>
          </a:p>
          <a:p>
            <a:r>
              <a:rPr lang="en-US" dirty="0"/>
              <a:t>{   </a:t>
            </a:r>
          </a:p>
          <a:p>
            <a:r>
              <a:rPr lang="en-US" dirty="0"/>
              <a:t> /* This is my first java program.       </a:t>
            </a:r>
          </a:p>
          <a:p>
            <a:r>
              <a:rPr lang="en-US" dirty="0"/>
              <a:t> * This will print 'Hello World' as the output        </a:t>
            </a:r>
          </a:p>
          <a:p>
            <a:r>
              <a:rPr lang="en-US" dirty="0"/>
              <a:t>*/    </a:t>
            </a:r>
          </a:p>
          <a:p>
            <a:r>
              <a:rPr lang="en-US" dirty="0"/>
              <a:t>public static void main(String []</a:t>
            </a:r>
            <a:r>
              <a:rPr lang="en-US" dirty="0" err="1"/>
              <a:t>args</a:t>
            </a:r>
            <a:r>
              <a:rPr lang="en-US" dirty="0"/>
              <a:t>) </a:t>
            </a:r>
          </a:p>
          <a:p>
            <a:r>
              <a:rPr lang="en-US" dirty="0"/>
              <a:t>{       </a:t>
            </a:r>
          </a:p>
          <a:p>
            <a:r>
              <a:rPr lang="en-US" dirty="0" err="1"/>
              <a:t>System.out.println</a:t>
            </a:r>
            <a:r>
              <a:rPr lang="en-US" dirty="0"/>
              <a:t>("Hello World"); // prints Hello World    </a:t>
            </a:r>
          </a:p>
          <a:p>
            <a:r>
              <a:rPr lang="en-US" dirty="0"/>
              <a:t>} </a:t>
            </a:r>
          </a:p>
          <a:p>
            <a:r>
              <a:rPr lang="en-US" dirty="0"/>
              <a:t>}</a:t>
            </a:r>
          </a:p>
          <a:p>
            <a:endParaRPr lang="en-US" dirty="0"/>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46</a:t>
            </a:fld>
            <a:endParaRPr lang="en-US"/>
          </a:p>
        </p:txBody>
      </p:sp>
      <p:sp>
        <p:nvSpPr>
          <p:cNvPr id="4" name="Content Placeholder 3"/>
          <p:cNvSpPr>
            <a:spLocks noGrp="1"/>
          </p:cNvSpPr>
          <p:nvPr>
            <p:ph sz="quarter" idx="1"/>
          </p:nvPr>
        </p:nvSpPr>
        <p:spPr/>
        <p:txBody>
          <a:bodyPr>
            <a:normAutofit/>
          </a:bodyPr>
          <a:lstStyle/>
          <a:p>
            <a:pPr algn="just"/>
            <a:r>
              <a:rPr lang="en-US" sz="2400" dirty="0"/>
              <a:t>Let's look at how to save the file, compile, and run the program. Please follow the subsequent steps −</a:t>
            </a:r>
          </a:p>
          <a:p>
            <a:pPr lvl="1" algn="just"/>
            <a:r>
              <a:rPr lang="en-US" sz="2400" dirty="0">
                <a:solidFill>
                  <a:schemeClr val="tx1"/>
                </a:solidFill>
              </a:rPr>
              <a:t>Open notepad and add the code as above.</a:t>
            </a:r>
          </a:p>
          <a:p>
            <a:pPr lvl="1" algn="just"/>
            <a:r>
              <a:rPr lang="en-US" sz="2400" dirty="0">
                <a:solidFill>
                  <a:schemeClr val="tx1"/>
                </a:solidFill>
              </a:rPr>
              <a:t>Save the file as: MyFirstJavaProgram.java.</a:t>
            </a:r>
          </a:p>
          <a:p>
            <a:pPr lvl="1" algn="just"/>
            <a:r>
              <a:rPr lang="en-US" sz="2400" dirty="0">
                <a:solidFill>
                  <a:schemeClr val="tx1"/>
                </a:solidFill>
              </a:rPr>
              <a:t>Open a command prompt window and go to the directory where you saved the class. Assume it's C:\.</a:t>
            </a:r>
          </a:p>
          <a:p>
            <a:pPr lvl="1" algn="just"/>
            <a:r>
              <a:rPr lang="en-US" sz="2400" dirty="0">
                <a:solidFill>
                  <a:schemeClr val="tx1"/>
                </a:solidFill>
              </a:rPr>
              <a:t>Type '</a:t>
            </a:r>
            <a:r>
              <a:rPr lang="en-US" sz="2400" dirty="0" err="1">
                <a:solidFill>
                  <a:schemeClr val="tx1"/>
                </a:solidFill>
              </a:rPr>
              <a:t>javac</a:t>
            </a:r>
            <a:r>
              <a:rPr lang="en-US" sz="2400" dirty="0">
                <a:solidFill>
                  <a:schemeClr val="tx1"/>
                </a:solidFill>
              </a:rPr>
              <a:t> MyFirstJavaProgram.java' and press enter to compile your code. If there are no errors in your code, the command prompt will take you to the next line (Assumption: The path variable is set).</a:t>
            </a:r>
          </a:p>
          <a:p>
            <a:pPr lvl="1" algn="just"/>
            <a:r>
              <a:rPr lang="en-US" sz="2400" dirty="0">
                <a:solidFill>
                  <a:schemeClr val="tx1"/>
                </a:solidFill>
              </a:rPr>
              <a:t>Now, type ' java </a:t>
            </a:r>
            <a:r>
              <a:rPr lang="en-US" sz="2400" dirty="0" err="1">
                <a:solidFill>
                  <a:schemeClr val="tx1"/>
                </a:solidFill>
              </a:rPr>
              <a:t>MyFirstJavaProgram</a:t>
            </a:r>
            <a:r>
              <a:rPr lang="en-US" sz="2400" dirty="0">
                <a:solidFill>
                  <a:schemeClr val="tx1"/>
                </a:solidFill>
              </a:rPr>
              <a:t> ' to run your program.</a:t>
            </a:r>
          </a:p>
          <a:p>
            <a:pPr lvl="1" algn="just"/>
            <a:r>
              <a:rPr lang="en-US" sz="2400" dirty="0">
                <a:solidFill>
                  <a:schemeClr val="tx1"/>
                </a:solidFill>
              </a:rPr>
              <a:t>You will be able to see ' Hello World ' printed on the window.</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Basic Syntax</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47</a:t>
            </a:fld>
            <a:endParaRPr lang="en-US"/>
          </a:p>
        </p:txBody>
      </p:sp>
      <p:sp>
        <p:nvSpPr>
          <p:cNvPr id="4" name="Content Placeholder 3"/>
          <p:cNvSpPr>
            <a:spLocks noGrp="1"/>
          </p:cNvSpPr>
          <p:nvPr>
            <p:ph sz="quarter" idx="1"/>
          </p:nvPr>
        </p:nvSpPr>
        <p:spPr/>
        <p:txBody>
          <a:bodyPr>
            <a:normAutofit fontScale="62500" lnSpcReduction="20000"/>
          </a:bodyPr>
          <a:lstStyle/>
          <a:p>
            <a:r>
              <a:rPr lang="en-US" dirty="0"/>
              <a:t>About Java programs, it is very important to keep in mind the following points.</a:t>
            </a:r>
          </a:p>
          <a:p>
            <a:pPr algn="just"/>
            <a:r>
              <a:rPr lang="en-US" b="1" dirty="0"/>
              <a:t>Case Sensitivity</a:t>
            </a:r>
            <a:r>
              <a:rPr lang="en-US" dirty="0"/>
              <a:t> − Java is case sensitive, which means identifier </a:t>
            </a:r>
            <a:r>
              <a:rPr lang="en-US" b="1" dirty="0"/>
              <a:t>Hello</a:t>
            </a:r>
            <a:r>
              <a:rPr lang="en-US" dirty="0"/>
              <a:t> and</a:t>
            </a:r>
            <a:r>
              <a:rPr lang="en-US" b="1" dirty="0"/>
              <a:t> hello</a:t>
            </a:r>
            <a:r>
              <a:rPr lang="en-US" dirty="0"/>
              <a:t> would have a different meaning in Java.</a:t>
            </a:r>
          </a:p>
          <a:p>
            <a:pPr algn="just"/>
            <a:r>
              <a:rPr lang="en-US" b="1" dirty="0"/>
              <a:t>Class Names </a:t>
            </a:r>
            <a:r>
              <a:rPr lang="en-US" dirty="0"/>
              <a:t>− For all class names, the first letter should be in Upper Case. If several words are used to form a name of the class, each inner word's first letter should be in Upper Case.</a:t>
            </a:r>
          </a:p>
          <a:p>
            <a:pPr algn="just"/>
            <a:r>
              <a:rPr lang="en-US" b="1" dirty="0"/>
              <a:t>Example</a:t>
            </a:r>
            <a:r>
              <a:rPr lang="en-US" dirty="0"/>
              <a:t>: </a:t>
            </a:r>
            <a:r>
              <a:rPr lang="en-US" i="1" dirty="0"/>
              <a:t>class </a:t>
            </a:r>
            <a:r>
              <a:rPr lang="en-US" i="1" dirty="0" err="1"/>
              <a:t>MyFirstJavaClass</a:t>
            </a:r>
            <a:endParaRPr lang="en-US" dirty="0"/>
          </a:p>
          <a:p>
            <a:pPr algn="just"/>
            <a:r>
              <a:rPr lang="en-US" b="1" dirty="0"/>
              <a:t>Method Names</a:t>
            </a:r>
            <a:r>
              <a:rPr lang="en-US" dirty="0"/>
              <a:t> − All method names should start with a Lower Case letter. If several words are used to form the name of the method, then each inner word's first letter should be in Upper Case.</a:t>
            </a:r>
          </a:p>
          <a:p>
            <a:pPr algn="just"/>
            <a:r>
              <a:rPr lang="en-US" b="1" dirty="0"/>
              <a:t>Example</a:t>
            </a:r>
            <a:r>
              <a:rPr lang="en-US" dirty="0"/>
              <a:t>: </a:t>
            </a:r>
            <a:r>
              <a:rPr lang="en-US" i="1" dirty="0"/>
              <a:t>public void </a:t>
            </a:r>
            <a:r>
              <a:rPr lang="en-US" i="1" dirty="0" err="1"/>
              <a:t>myMethodName</a:t>
            </a:r>
            <a:r>
              <a:rPr lang="en-US" i="1" dirty="0"/>
              <a:t>()</a:t>
            </a:r>
            <a:endParaRPr lang="en-US" dirty="0"/>
          </a:p>
          <a:p>
            <a:pPr algn="just"/>
            <a:r>
              <a:rPr lang="en-US" b="1" dirty="0"/>
              <a:t>Program File Name</a:t>
            </a:r>
            <a:r>
              <a:rPr lang="en-US" dirty="0"/>
              <a:t> − Name of the program file should exactly match the class name.</a:t>
            </a:r>
          </a:p>
          <a:p>
            <a:pPr algn="just"/>
            <a:r>
              <a:rPr lang="en-US" dirty="0"/>
              <a:t>When saving the file, you should save it using the class name (Remember Java is case sensitive) and append '.java' to the end of the name (if the file name and the class name do not match, your program will not compile).</a:t>
            </a:r>
          </a:p>
          <a:p>
            <a:pPr algn="just"/>
            <a:r>
              <a:rPr lang="en-US" b="1" dirty="0"/>
              <a:t>Example</a:t>
            </a:r>
            <a:r>
              <a:rPr lang="en-US" dirty="0"/>
              <a:t>: Assume '</a:t>
            </a:r>
            <a:r>
              <a:rPr lang="en-US" dirty="0" err="1"/>
              <a:t>MyFirstJavaProgram</a:t>
            </a:r>
            <a:r>
              <a:rPr lang="en-US" dirty="0"/>
              <a:t>' is the class name. Then the file should be saved as </a:t>
            </a:r>
            <a:r>
              <a:rPr lang="en-US" i="1" dirty="0"/>
              <a:t>'MyFirstJavaProgram.java'</a:t>
            </a:r>
            <a:endParaRPr lang="en-US" dirty="0"/>
          </a:p>
          <a:p>
            <a:pPr algn="just"/>
            <a:r>
              <a:rPr lang="en-US" b="1" dirty="0"/>
              <a:t>public static void main(String </a:t>
            </a:r>
            <a:r>
              <a:rPr lang="en-US" b="1" dirty="0" err="1"/>
              <a:t>args</a:t>
            </a:r>
            <a:r>
              <a:rPr lang="en-US" b="1" dirty="0"/>
              <a:t>[])</a:t>
            </a:r>
            <a:r>
              <a:rPr lang="en-US" dirty="0"/>
              <a:t> − Java program processing starts from the main() method which is a mandatory part of every Java program.</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Structure of Java Program</a:t>
            </a:r>
          </a:p>
        </p:txBody>
      </p:sp>
      <p:sp>
        <p:nvSpPr>
          <p:cNvPr id="3" name="Slide Number Placeholder 2"/>
          <p:cNvSpPr>
            <a:spLocks noGrp="1"/>
          </p:cNvSpPr>
          <p:nvPr>
            <p:ph type="sldNum" sz="quarter" idx="12"/>
          </p:nvPr>
        </p:nvSpPr>
        <p:spPr/>
        <p:txBody>
          <a:bodyPr/>
          <a:lstStyle/>
          <a:p>
            <a:fld id="{E3591306-41CF-4237-B2B4-5C605DD45071}" type="slidenum">
              <a:rPr lang="en-US" smtClean="0"/>
              <a:pPr/>
              <a:t>48</a:t>
            </a:fld>
            <a:endParaRPr lang="en-US"/>
          </a:p>
        </p:txBody>
      </p:sp>
      <p:sp>
        <p:nvSpPr>
          <p:cNvPr id="4" name="Content Placeholder 3"/>
          <p:cNvSpPr>
            <a:spLocks noGrp="1"/>
          </p:cNvSpPr>
          <p:nvPr>
            <p:ph sz="quarter" idx="1"/>
          </p:nvPr>
        </p:nvSpPr>
        <p:spPr/>
        <p:txBody>
          <a:bodyPr/>
          <a:lstStyle/>
          <a:p>
            <a:pPr algn="just"/>
            <a:r>
              <a:rPr lang="en-US" sz="2400" dirty="0"/>
              <a:t>Java is an object-oriented programming, </a:t>
            </a:r>
            <a:r>
              <a:rPr lang="en-US" sz="2400" b="1" dirty="0"/>
              <a:t>platform-independent,</a:t>
            </a:r>
            <a:r>
              <a:rPr lang="en-US" sz="2400" dirty="0"/>
              <a:t> and </a:t>
            </a:r>
            <a:r>
              <a:rPr lang="en-US" sz="2400" b="1" dirty="0"/>
              <a:t>secure</a:t>
            </a:r>
            <a:r>
              <a:rPr lang="en-US" sz="2400" dirty="0"/>
              <a:t> programming language that makes it popular. Using the Java programming language, we can develop a wide variety of applications. </a:t>
            </a:r>
          </a:p>
          <a:p>
            <a:pPr algn="just"/>
            <a:endParaRPr lang="en-US" sz="2400" dirty="0"/>
          </a:p>
          <a:p>
            <a:endParaRPr lang="en-US" dirty="0"/>
          </a:p>
        </p:txBody>
      </p:sp>
      <p:pic>
        <p:nvPicPr>
          <p:cNvPr id="75778" name="Picture 2" descr="Structure of Java Program"/>
          <p:cNvPicPr>
            <a:picLocks noChangeAspect="1" noChangeArrowheads="1"/>
          </p:cNvPicPr>
          <p:nvPr/>
        </p:nvPicPr>
        <p:blipFill>
          <a:blip r:embed="rId2"/>
          <a:srcRect/>
          <a:stretch>
            <a:fillRect/>
          </a:stretch>
        </p:blipFill>
        <p:spPr bwMode="auto">
          <a:xfrm>
            <a:off x="4496463" y="2605035"/>
            <a:ext cx="3133725" cy="4286250"/>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C00000"/>
                </a:solidFill>
              </a:rPr>
              <a:t>Writing a “HELLO WORLD” Program in Java</a:t>
            </a:r>
            <a:endParaRPr lang="en-US" sz="2800"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49</a:t>
            </a:fld>
            <a:endParaRPr lang="en-US"/>
          </a:p>
        </p:txBody>
      </p:sp>
      <p:sp>
        <p:nvSpPr>
          <p:cNvPr id="4" name="Content Placeholder 3"/>
          <p:cNvSpPr>
            <a:spLocks noGrp="1"/>
          </p:cNvSpPr>
          <p:nvPr>
            <p:ph sz="quarter" idx="1"/>
          </p:nvPr>
        </p:nvSpPr>
        <p:spPr/>
        <p:txBody>
          <a:bodyPr>
            <a:normAutofit fontScale="77500" lnSpcReduction="20000"/>
          </a:bodyPr>
          <a:lstStyle/>
          <a:p>
            <a:pPr fontAlgn="base"/>
            <a:r>
              <a:rPr lang="en-US" dirty="0"/>
              <a:t>// Basic java program</a:t>
            </a:r>
          </a:p>
          <a:p>
            <a:pPr fontAlgn="base"/>
            <a:r>
              <a:rPr lang="en-US" dirty="0"/>
              <a:t>// to print "Hello World"</a:t>
            </a:r>
          </a:p>
          <a:p>
            <a:pPr fontAlgn="base"/>
            <a:r>
              <a:rPr lang="en-US" dirty="0"/>
              <a:t>  </a:t>
            </a:r>
          </a:p>
          <a:p>
            <a:pPr fontAlgn="base"/>
            <a:r>
              <a:rPr lang="en-US" dirty="0"/>
              <a:t>import java.io.*;</a:t>
            </a:r>
          </a:p>
          <a:p>
            <a:pPr fontAlgn="base"/>
            <a:r>
              <a:rPr lang="en-US" dirty="0"/>
              <a:t>  </a:t>
            </a:r>
          </a:p>
          <a:p>
            <a:pPr fontAlgn="base"/>
            <a:r>
              <a:rPr lang="en-US" dirty="0"/>
              <a:t>class GFG </a:t>
            </a:r>
          </a:p>
          <a:p>
            <a:pPr fontAlgn="base"/>
            <a:r>
              <a:rPr lang="en-US" dirty="0"/>
              <a:t>{</a:t>
            </a:r>
          </a:p>
          <a:p>
            <a:pPr fontAlgn="base"/>
            <a:r>
              <a:rPr lang="en-US" dirty="0"/>
              <a:t>    public static void main(String[] </a:t>
            </a:r>
            <a:r>
              <a:rPr lang="en-US" dirty="0" err="1"/>
              <a:t>args</a:t>
            </a:r>
            <a:r>
              <a:rPr lang="en-US" dirty="0"/>
              <a:t>)</a:t>
            </a:r>
          </a:p>
          <a:p>
            <a:pPr fontAlgn="base"/>
            <a:r>
              <a:rPr lang="en-US" dirty="0"/>
              <a:t>    {</a:t>
            </a:r>
          </a:p>
          <a:p>
            <a:pPr fontAlgn="base"/>
            <a:r>
              <a:rPr lang="en-US" dirty="0"/>
              <a:t>        // prints Hello World</a:t>
            </a:r>
          </a:p>
          <a:p>
            <a:pPr fontAlgn="base"/>
            <a:r>
              <a:rPr lang="en-US" dirty="0"/>
              <a:t>        </a:t>
            </a:r>
            <a:r>
              <a:rPr lang="en-US" dirty="0" err="1"/>
              <a:t>System.out.println</a:t>
            </a:r>
            <a:r>
              <a:rPr lang="en-US" dirty="0"/>
              <a:t>("Hello World");</a:t>
            </a:r>
          </a:p>
          <a:p>
            <a:pPr fontAlgn="base"/>
            <a:r>
              <a:rPr lang="en-US" dirty="0"/>
              <a:t>    }</a:t>
            </a:r>
          </a:p>
          <a:p>
            <a:pPr fontAlgn="base"/>
            <a:r>
              <a:rPr lang="en-US" dirty="0"/>
              <a:t>}</a:t>
            </a:r>
          </a:p>
          <a:p>
            <a:pPr fontAlgn="base"/>
            <a:r>
              <a:rPr lang="en-US" b="1" dirty="0"/>
              <a:t>Output</a:t>
            </a:r>
          </a:p>
          <a:p>
            <a:pPr fontAlgn="base"/>
            <a:r>
              <a:rPr lang="en-US" dirty="0"/>
              <a:t>Hello World</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Explanation:</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50</a:t>
            </a:fld>
            <a:endParaRPr lang="en-US"/>
          </a:p>
        </p:txBody>
      </p:sp>
      <p:sp>
        <p:nvSpPr>
          <p:cNvPr id="4" name="Content Placeholder 3"/>
          <p:cNvSpPr>
            <a:spLocks noGrp="1"/>
          </p:cNvSpPr>
          <p:nvPr>
            <p:ph sz="quarter" idx="1"/>
          </p:nvPr>
        </p:nvSpPr>
        <p:spPr/>
        <p:txBody>
          <a:bodyPr>
            <a:normAutofit fontScale="55000" lnSpcReduction="20000"/>
          </a:bodyPr>
          <a:lstStyle/>
          <a:p>
            <a:pPr fontAlgn="base"/>
            <a:r>
              <a:rPr lang="en-US" b="1" dirty="0"/>
              <a:t>1.  Comments: </a:t>
            </a:r>
            <a:r>
              <a:rPr lang="en-US" dirty="0"/>
              <a:t>Comments are used for explaining code and are used in a similar manner in Java or C or C++. Compilers ignore the comment entries and do not execute them. Comments can be of a single line or multiple lines.</a:t>
            </a:r>
          </a:p>
          <a:p>
            <a:pPr fontAlgn="base"/>
            <a:r>
              <a:rPr lang="en-US" b="1" dirty="0"/>
              <a:t>Single line Comments:</a:t>
            </a:r>
            <a:br>
              <a:rPr lang="en-US" dirty="0"/>
            </a:br>
            <a:r>
              <a:rPr lang="en-US" b="1" dirty="0"/>
              <a:t>Syntax:</a:t>
            </a:r>
            <a:endParaRPr lang="en-US" dirty="0"/>
          </a:p>
          <a:p>
            <a:pPr fontAlgn="base"/>
            <a:r>
              <a:rPr lang="en-US" dirty="0"/>
              <a:t>// Single line </a:t>
            </a:r>
            <a:r>
              <a:rPr lang="en-US" dirty="0" err="1"/>
              <a:t>commentMulti</a:t>
            </a:r>
            <a:r>
              <a:rPr lang="en-US" dirty="0"/>
              <a:t>-line</a:t>
            </a:r>
            <a:r>
              <a:rPr lang="en-US" b="1" dirty="0"/>
              <a:t> comments:</a:t>
            </a:r>
            <a:br>
              <a:rPr lang="en-US" dirty="0"/>
            </a:br>
            <a:r>
              <a:rPr lang="en-US" b="1" dirty="0"/>
              <a:t>Syntax:</a:t>
            </a:r>
            <a:endParaRPr lang="en-US" dirty="0"/>
          </a:p>
          <a:p>
            <a:pPr fontAlgn="base"/>
            <a:r>
              <a:rPr lang="en-US" dirty="0"/>
              <a:t>/* Multi line comments*/</a:t>
            </a:r>
            <a:r>
              <a:rPr lang="en-US" b="1" dirty="0"/>
              <a:t>2.  import java.io.*: </a:t>
            </a:r>
            <a:r>
              <a:rPr lang="en-US" dirty="0"/>
              <a:t>Means all the classes of </a:t>
            </a:r>
            <a:r>
              <a:rPr lang="en-US" dirty="0" err="1"/>
              <a:t>io</a:t>
            </a:r>
            <a:r>
              <a:rPr lang="en-US" dirty="0"/>
              <a:t> package can be imported. Java </a:t>
            </a:r>
            <a:r>
              <a:rPr lang="en-US" dirty="0" err="1"/>
              <a:t>io</a:t>
            </a:r>
            <a:r>
              <a:rPr lang="en-US" dirty="0"/>
              <a:t> package provides a set of input and output streams for reading and writing data to files or other input or output sources.</a:t>
            </a:r>
          </a:p>
          <a:p>
            <a:pPr fontAlgn="base"/>
            <a:r>
              <a:rPr lang="en-US" b="1" dirty="0"/>
              <a:t>3.  class: </a:t>
            </a:r>
            <a:r>
              <a:rPr lang="en-US" dirty="0"/>
              <a:t>The class contains the data and methods to be used in the program. Methods define the </a:t>
            </a:r>
            <a:r>
              <a:rPr lang="en-US" dirty="0" err="1"/>
              <a:t>behaviour</a:t>
            </a:r>
            <a:r>
              <a:rPr lang="en-US" dirty="0"/>
              <a:t> of the class. Class </a:t>
            </a:r>
            <a:r>
              <a:rPr lang="en-US" b="1" dirty="0"/>
              <a:t>GFG</a:t>
            </a:r>
            <a:r>
              <a:rPr lang="en-US" dirty="0"/>
              <a:t> has only one method Main in JAVA.</a:t>
            </a:r>
          </a:p>
          <a:p>
            <a:pPr fontAlgn="base"/>
            <a:r>
              <a:rPr lang="en-US" b="1" dirty="0"/>
              <a:t>4.  static void Main():</a:t>
            </a:r>
            <a:r>
              <a:rPr lang="en-US" dirty="0"/>
              <a:t> </a:t>
            </a:r>
            <a:r>
              <a:rPr lang="en-US" b="1" dirty="0"/>
              <a:t>static</a:t>
            </a:r>
            <a:r>
              <a:rPr lang="en-US" dirty="0"/>
              <a:t> keyword tells us that this method is accessible without instantiating the class. </a:t>
            </a:r>
          </a:p>
          <a:p>
            <a:pPr fontAlgn="base"/>
            <a:r>
              <a:rPr lang="en-US" b="1" dirty="0"/>
              <a:t>5.  void: </a:t>
            </a:r>
            <a:r>
              <a:rPr lang="en-US" dirty="0"/>
              <a:t>keywords tells that this method will not return anything. The main</a:t>
            </a:r>
            <a:r>
              <a:rPr lang="en-US" b="1" dirty="0"/>
              <a:t>()</a:t>
            </a:r>
            <a:r>
              <a:rPr lang="en-US" dirty="0"/>
              <a:t> method is the entry point of our application.</a:t>
            </a:r>
          </a:p>
          <a:p>
            <a:pPr fontAlgn="base"/>
            <a:r>
              <a:rPr lang="en-US" b="1" dirty="0"/>
              <a:t>6.  </a:t>
            </a:r>
            <a:r>
              <a:rPr lang="en-US" b="1" dirty="0" err="1"/>
              <a:t>System.in</a:t>
            </a:r>
            <a:r>
              <a:rPr lang="en-US" b="1" dirty="0"/>
              <a:t>:</a:t>
            </a:r>
            <a:r>
              <a:rPr lang="en-US" dirty="0"/>
              <a:t> This is the </a:t>
            </a:r>
            <a:r>
              <a:rPr lang="en-US" b="1" dirty="0"/>
              <a:t>standard input stream</a:t>
            </a:r>
            <a:r>
              <a:rPr lang="en-US" dirty="0"/>
              <a:t> that is used to read characters from the keyboard or any other standard input device.</a:t>
            </a:r>
          </a:p>
          <a:p>
            <a:pPr fontAlgn="base"/>
            <a:r>
              <a:rPr lang="en-US" b="1" dirty="0"/>
              <a:t>7.  </a:t>
            </a:r>
            <a:r>
              <a:rPr lang="en-US" b="1" dirty="0" err="1"/>
              <a:t>System.out</a:t>
            </a:r>
            <a:r>
              <a:rPr lang="en-US" b="1" dirty="0"/>
              <a:t>: </a:t>
            </a:r>
            <a:r>
              <a:rPr lang="en-US" dirty="0"/>
              <a:t>This is the </a:t>
            </a:r>
            <a:r>
              <a:rPr lang="en-US" b="1" dirty="0"/>
              <a:t>standard output stream</a:t>
            </a:r>
            <a:r>
              <a:rPr lang="en-US" dirty="0"/>
              <a:t> that is used to produce the result of a program on an output device like the computer screen.</a:t>
            </a:r>
          </a:p>
          <a:p>
            <a:pPr fontAlgn="base"/>
            <a:r>
              <a:rPr lang="en-US" b="1" dirty="0"/>
              <a:t>8.  </a:t>
            </a:r>
            <a:r>
              <a:rPr lang="en-US" b="1" dirty="0" err="1"/>
              <a:t>println</a:t>
            </a:r>
            <a:r>
              <a:rPr lang="en-US" b="1" dirty="0"/>
              <a:t>(): </a:t>
            </a:r>
            <a:r>
              <a:rPr lang="en-US" dirty="0"/>
              <a:t>This method in Java is also used to display a text on the console. It prints the text on the console and the cursor moves to the start of the next line at the console. The next printing takes place from the next line.</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Data Types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51</a:t>
            </a:fld>
            <a:endParaRPr lang="en-US"/>
          </a:p>
        </p:txBody>
      </p:sp>
      <p:sp>
        <p:nvSpPr>
          <p:cNvPr id="4" name="Content Placeholder 3"/>
          <p:cNvSpPr>
            <a:spLocks noGrp="1"/>
          </p:cNvSpPr>
          <p:nvPr>
            <p:ph sz="quarter" idx="1"/>
          </p:nvPr>
        </p:nvSpPr>
        <p:spPr/>
        <p:txBody>
          <a:bodyPr/>
          <a:lstStyle/>
          <a:p>
            <a:pPr algn="just"/>
            <a:r>
              <a:rPr lang="en-US" sz="1800" dirty="0"/>
              <a:t>Data types specify the different sizes and values that can be stored in the variable. There are two types of data types in Java:</a:t>
            </a:r>
          </a:p>
          <a:p>
            <a:pPr algn="just"/>
            <a:r>
              <a:rPr lang="en-US" sz="1800" b="1" dirty="0"/>
              <a:t>Primitive data types:</a:t>
            </a:r>
            <a:r>
              <a:rPr lang="en-US" sz="1800" dirty="0"/>
              <a:t> The primitive data types include </a:t>
            </a:r>
            <a:r>
              <a:rPr lang="en-US" sz="1800" dirty="0" err="1"/>
              <a:t>boolean</a:t>
            </a:r>
            <a:r>
              <a:rPr lang="en-US" sz="1800" dirty="0"/>
              <a:t>, char, byte, short, </a:t>
            </a:r>
            <a:r>
              <a:rPr lang="en-US" sz="1800" dirty="0" err="1"/>
              <a:t>int</a:t>
            </a:r>
            <a:r>
              <a:rPr lang="en-US" sz="1800" dirty="0"/>
              <a:t>, long, float and double.</a:t>
            </a:r>
          </a:p>
          <a:p>
            <a:pPr algn="just"/>
            <a:r>
              <a:rPr lang="en-US" sz="1800" b="1" dirty="0"/>
              <a:t>Non-primitive data types:</a:t>
            </a:r>
            <a:r>
              <a:rPr lang="en-US" sz="1800" dirty="0"/>
              <a:t> The non-primitive data types include Classes, Interfaces, and Arrays.</a:t>
            </a:r>
          </a:p>
          <a:p>
            <a:endParaRPr lang="en-US" dirty="0"/>
          </a:p>
        </p:txBody>
      </p:sp>
      <p:pic>
        <p:nvPicPr>
          <p:cNvPr id="82946" name="Picture 2" descr="Java Data Types"/>
          <p:cNvPicPr>
            <a:picLocks noChangeAspect="1" noChangeArrowheads="1"/>
          </p:cNvPicPr>
          <p:nvPr/>
        </p:nvPicPr>
        <p:blipFill>
          <a:blip r:embed="rId2"/>
          <a:srcRect/>
          <a:stretch>
            <a:fillRect/>
          </a:stretch>
        </p:blipFill>
        <p:spPr bwMode="auto">
          <a:xfrm>
            <a:off x="2446598" y="3183251"/>
            <a:ext cx="6667500" cy="3667126"/>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52</a:t>
            </a:fld>
            <a:endParaRPr lang="en-US"/>
          </a:p>
        </p:txBody>
      </p:sp>
      <p:graphicFrame>
        <p:nvGraphicFramePr>
          <p:cNvPr id="5" name="Content Placeholder 4"/>
          <p:cNvGraphicFramePr>
            <a:graphicFrameLocks noGrp="1"/>
          </p:cNvGraphicFramePr>
          <p:nvPr>
            <p:ph sz="quarter" idx="1"/>
          </p:nvPr>
        </p:nvGraphicFramePr>
        <p:xfrm>
          <a:off x="503238" y="1688125"/>
          <a:ext cx="9074150" cy="5293505"/>
        </p:xfrm>
        <a:graphic>
          <a:graphicData uri="http://schemas.openxmlformats.org/drawingml/2006/table">
            <a:tbl>
              <a:tblPr/>
              <a:tblGrid>
                <a:gridCol w="1817704">
                  <a:extLst>
                    <a:ext uri="{9D8B030D-6E8A-4147-A177-3AD203B41FA5}">
                      <a16:colId xmlns:a16="http://schemas.microsoft.com/office/drawing/2014/main" val="20000"/>
                    </a:ext>
                  </a:extLst>
                </a:gridCol>
                <a:gridCol w="1544689">
                  <a:extLst>
                    <a:ext uri="{9D8B030D-6E8A-4147-A177-3AD203B41FA5}">
                      <a16:colId xmlns:a16="http://schemas.microsoft.com/office/drawing/2014/main" val="20001"/>
                    </a:ext>
                  </a:extLst>
                </a:gridCol>
                <a:gridCol w="5711757">
                  <a:extLst>
                    <a:ext uri="{9D8B030D-6E8A-4147-A177-3AD203B41FA5}">
                      <a16:colId xmlns:a16="http://schemas.microsoft.com/office/drawing/2014/main" val="20002"/>
                    </a:ext>
                  </a:extLst>
                </a:gridCol>
              </a:tblGrid>
              <a:tr h="496688">
                <a:tc>
                  <a:txBody>
                    <a:bodyPr/>
                    <a:lstStyle/>
                    <a:p>
                      <a:pPr algn="l" fontAlgn="t"/>
                      <a:r>
                        <a:rPr lang="en-US" sz="1800" b="1" dirty="0">
                          <a:solidFill>
                            <a:srgbClr val="C00000"/>
                          </a:solidFill>
                        </a:rPr>
                        <a:t>Data Type</a:t>
                      </a:r>
                    </a:p>
                  </a:txBody>
                  <a:tcPr marL="114863"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b="1" dirty="0">
                          <a:solidFill>
                            <a:srgbClr val="C00000"/>
                          </a:solidFill>
                        </a:rPr>
                        <a:t>Size</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b="1" dirty="0">
                          <a:solidFill>
                            <a:srgbClr val="C00000"/>
                          </a:solidFill>
                        </a:rPr>
                        <a:t>Description</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96688">
                <a:tc>
                  <a:txBody>
                    <a:bodyPr/>
                    <a:lstStyle/>
                    <a:p>
                      <a:pPr algn="l" fontAlgn="t"/>
                      <a:r>
                        <a:rPr lang="en-US" sz="1800"/>
                        <a:t>byte</a:t>
                      </a:r>
                    </a:p>
                  </a:txBody>
                  <a:tcPr marL="114863"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dirty="0"/>
                        <a:t>1 byte</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dirty="0"/>
                        <a:t>Stores whole numbers from -128 to 127</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96688">
                <a:tc>
                  <a:txBody>
                    <a:bodyPr/>
                    <a:lstStyle/>
                    <a:p>
                      <a:pPr algn="l" fontAlgn="t"/>
                      <a:r>
                        <a:rPr lang="en-US" sz="1800"/>
                        <a:t>short</a:t>
                      </a:r>
                    </a:p>
                  </a:txBody>
                  <a:tcPr marL="114863"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t>2 bytes</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t>Stores whole numbers from -32,768 to 32,767</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6688">
                <a:tc>
                  <a:txBody>
                    <a:bodyPr/>
                    <a:lstStyle/>
                    <a:p>
                      <a:pPr algn="l" fontAlgn="t"/>
                      <a:r>
                        <a:rPr lang="en-US" sz="1800"/>
                        <a:t>int</a:t>
                      </a:r>
                    </a:p>
                  </a:txBody>
                  <a:tcPr marL="114863"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t>4 bytes</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dirty="0"/>
                        <a:t>Stores whole numbers from -2,147,483,648 to 2,147,483,647</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819559">
                <a:tc>
                  <a:txBody>
                    <a:bodyPr/>
                    <a:lstStyle/>
                    <a:p>
                      <a:pPr algn="l" fontAlgn="t"/>
                      <a:r>
                        <a:rPr lang="en-US" sz="1800"/>
                        <a:t>long</a:t>
                      </a:r>
                    </a:p>
                  </a:txBody>
                  <a:tcPr marL="114863"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t>8 bytes</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t>Stores whole numbers from -9,223,372,036,854,775,808 to 9,223,372,036,854,775,807</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6688">
                <a:tc>
                  <a:txBody>
                    <a:bodyPr/>
                    <a:lstStyle/>
                    <a:p>
                      <a:pPr algn="l" fontAlgn="t"/>
                      <a:r>
                        <a:rPr lang="en-US" sz="1800"/>
                        <a:t>float</a:t>
                      </a:r>
                    </a:p>
                  </a:txBody>
                  <a:tcPr marL="114863"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t>4 bytes</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dirty="0"/>
                        <a:t>Stores fractional numbers. Sufficient for storing 6 to 7 decimal digits</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496688">
                <a:tc>
                  <a:txBody>
                    <a:bodyPr/>
                    <a:lstStyle/>
                    <a:p>
                      <a:pPr algn="l" fontAlgn="t"/>
                      <a:r>
                        <a:rPr lang="en-US" sz="1800"/>
                        <a:t>double</a:t>
                      </a:r>
                    </a:p>
                  </a:txBody>
                  <a:tcPr marL="114863"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t>8 bytes</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t>Stores fractional numbers. Sufficient for storing 15 decimal digits</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6688">
                <a:tc>
                  <a:txBody>
                    <a:bodyPr/>
                    <a:lstStyle/>
                    <a:p>
                      <a:pPr algn="l" fontAlgn="t"/>
                      <a:r>
                        <a:rPr lang="en-US" sz="1800"/>
                        <a:t>boolean</a:t>
                      </a:r>
                    </a:p>
                  </a:txBody>
                  <a:tcPr marL="114863"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t>1 bit</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dirty="0"/>
                        <a:t>Stores true or false values</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007"/>
                  </a:ext>
                </a:extLst>
              </a:tr>
              <a:tr h="496688">
                <a:tc>
                  <a:txBody>
                    <a:bodyPr/>
                    <a:lstStyle/>
                    <a:p>
                      <a:pPr algn="l" fontAlgn="t"/>
                      <a:r>
                        <a:rPr lang="en-US" sz="1800"/>
                        <a:t>char</a:t>
                      </a:r>
                    </a:p>
                  </a:txBody>
                  <a:tcPr marL="114863"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800"/>
                        <a:t>2 bytes</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800" dirty="0"/>
                        <a:t>Stores a single character/letter or ASCII values</a:t>
                      </a:r>
                    </a:p>
                  </a:txBody>
                  <a:tcPr marL="57431" marR="57431" marT="57431" marB="574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53</a:t>
            </a:fld>
            <a:endParaRPr lang="en-US"/>
          </a:p>
        </p:txBody>
      </p:sp>
      <p:sp>
        <p:nvSpPr>
          <p:cNvPr id="4" name="Content Placeholder 3"/>
          <p:cNvSpPr>
            <a:spLocks noGrp="1"/>
          </p:cNvSpPr>
          <p:nvPr>
            <p:ph sz="quarter" idx="1"/>
          </p:nvPr>
        </p:nvSpPr>
        <p:spPr/>
        <p:txBody>
          <a:bodyPr/>
          <a:lstStyle/>
          <a:p>
            <a:r>
              <a:rPr lang="en-US" b="1" dirty="0">
                <a:solidFill>
                  <a:srgbClr val="C00000"/>
                </a:solidFill>
              </a:rPr>
              <a:t>Example</a:t>
            </a:r>
          </a:p>
          <a:p>
            <a:r>
              <a:rPr lang="en-US" dirty="0">
                <a:solidFill>
                  <a:srgbClr val="6600FF"/>
                </a:solidFill>
              </a:rPr>
              <a:t>byte</a:t>
            </a:r>
            <a:r>
              <a:rPr lang="en-US" dirty="0"/>
              <a:t> </a:t>
            </a:r>
            <a:r>
              <a:rPr lang="en-US" dirty="0" err="1"/>
              <a:t>myNum</a:t>
            </a:r>
            <a:r>
              <a:rPr lang="en-US" dirty="0"/>
              <a:t> = 100;</a:t>
            </a:r>
          </a:p>
          <a:p>
            <a:r>
              <a:rPr lang="en-US" dirty="0">
                <a:solidFill>
                  <a:srgbClr val="6600FF"/>
                </a:solidFill>
              </a:rPr>
              <a:t>short</a:t>
            </a:r>
            <a:r>
              <a:rPr lang="en-US" dirty="0"/>
              <a:t> </a:t>
            </a:r>
            <a:r>
              <a:rPr lang="en-US" dirty="0" err="1"/>
              <a:t>myNum</a:t>
            </a:r>
            <a:r>
              <a:rPr lang="en-US" dirty="0"/>
              <a:t> = 5000;</a:t>
            </a:r>
            <a:endParaRPr lang="en-US" dirty="0">
              <a:solidFill>
                <a:srgbClr val="6600FF"/>
              </a:solidFill>
            </a:endParaRPr>
          </a:p>
          <a:p>
            <a:r>
              <a:rPr lang="en-US" dirty="0" err="1">
                <a:solidFill>
                  <a:srgbClr val="6600FF"/>
                </a:solidFill>
              </a:rPr>
              <a:t>int</a:t>
            </a:r>
            <a:r>
              <a:rPr lang="en-US" dirty="0"/>
              <a:t> </a:t>
            </a:r>
            <a:r>
              <a:rPr lang="en-US" dirty="0" err="1"/>
              <a:t>myNum</a:t>
            </a:r>
            <a:r>
              <a:rPr lang="en-US" dirty="0"/>
              <a:t> = 5; 			</a:t>
            </a:r>
            <a:r>
              <a:rPr lang="en-US" dirty="0">
                <a:solidFill>
                  <a:srgbClr val="FF0000"/>
                </a:solidFill>
              </a:rPr>
              <a:t>// Integer (whole number) </a:t>
            </a:r>
          </a:p>
          <a:p>
            <a:r>
              <a:rPr lang="en-US" dirty="0">
                <a:solidFill>
                  <a:srgbClr val="6600FF"/>
                </a:solidFill>
              </a:rPr>
              <a:t>long</a:t>
            </a:r>
            <a:r>
              <a:rPr lang="en-US" dirty="0"/>
              <a:t> </a:t>
            </a:r>
            <a:r>
              <a:rPr lang="en-US" dirty="0" err="1"/>
              <a:t>myNum</a:t>
            </a:r>
            <a:r>
              <a:rPr lang="en-US" dirty="0"/>
              <a:t> = 15000000000L;</a:t>
            </a:r>
            <a:endParaRPr lang="en-US" dirty="0">
              <a:solidFill>
                <a:srgbClr val="FF0000"/>
              </a:solidFill>
            </a:endParaRPr>
          </a:p>
          <a:p>
            <a:r>
              <a:rPr lang="en-US" dirty="0">
                <a:solidFill>
                  <a:srgbClr val="6600FF"/>
                </a:solidFill>
              </a:rPr>
              <a:t>float</a:t>
            </a:r>
            <a:r>
              <a:rPr lang="en-US" dirty="0"/>
              <a:t> </a:t>
            </a:r>
            <a:r>
              <a:rPr lang="en-US" dirty="0" err="1"/>
              <a:t>myFloatNum</a:t>
            </a:r>
            <a:r>
              <a:rPr lang="en-US" dirty="0"/>
              <a:t> = 5.99f; 	</a:t>
            </a:r>
            <a:r>
              <a:rPr lang="en-US" dirty="0">
                <a:solidFill>
                  <a:srgbClr val="FF0000"/>
                </a:solidFill>
              </a:rPr>
              <a:t>// Floating point number </a:t>
            </a:r>
          </a:p>
          <a:p>
            <a:r>
              <a:rPr lang="en-US" dirty="0">
                <a:solidFill>
                  <a:srgbClr val="6600FF"/>
                </a:solidFill>
              </a:rPr>
              <a:t>double</a:t>
            </a:r>
            <a:r>
              <a:rPr lang="en-US" dirty="0"/>
              <a:t> </a:t>
            </a:r>
            <a:r>
              <a:rPr lang="en-US" dirty="0" err="1"/>
              <a:t>myNum</a:t>
            </a:r>
            <a:r>
              <a:rPr lang="en-US" dirty="0"/>
              <a:t> = 19.99d;</a:t>
            </a:r>
            <a:endParaRPr lang="en-US" dirty="0">
              <a:solidFill>
                <a:srgbClr val="FF0000"/>
              </a:solidFill>
            </a:endParaRPr>
          </a:p>
          <a:p>
            <a:r>
              <a:rPr lang="en-US" dirty="0">
                <a:solidFill>
                  <a:srgbClr val="6600FF"/>
                </a:solidFill>
              </a:rPr>
              <a:t>char</a:t>
            </a:r>
            <a:r>
              <a:rPr lang="en-US" dirty="0"/>
              <a:t> </a:t>
            </a:r>
            <a:r>
              <a:rPr lang="en-US" dirty="0" err="1"/>
              <a:t>myLetter</a:t>
            </a:r>
            <a:r>
              <a:rPr lang="en-US" dirty="0"/>
              <a:t> = 'D'; 		</a:t>
            </a:r>
            <a:r>
              <a:rPr lang="en-US" dirty="0">
                <a:solidFill>
                  <a:srgbClr val="FF0000"/>
                </a:solidFill>
              </a:rPr>
              <a:t>// Character </a:t>
            </a:r>
          </a:p>
          <a:p>
            <a:r>
              <a:rPr lang="en-US" dirty="0" err="1">
                <a:solidFill>
                  <a:srgbClr val="6600FF"/>
                </a:solidFill>
              </a:rPr>
              <a:t>boolean</a:t>
            </a:r>
            <a:r>
              <a:rPr lang="en-US" dirty="0"/>
              <a:t> </a:t>
            </a:r>
            <a:r>
              <a:rPr lang="en-US" dirty="0" err="1"/>
              <a:t>myBool</a:t>
            </a:r>
            <a:r>
              <a:rPr lang="en-US" dirty="0"/>
              <a:t> = true; 	</a:t>
            </a:r>
            <a:r>
              <a:rPr lang="en-US" dirty="0">
                <a:solidFill>
                  <a:srgbClr val="FF0000"/>
                </a:solidFill>
              </a:rPr>
              <a:t>// Boolean </a:t>
            </a:r>
          </a:p>
          <a:p>
            <a:r>
              <a:rPr lang="en-US" dirty="0">
                <a:solidFill>
                  <a:srgbClr val="6600FF"/>
                </a:solidFill>
              </a:rPr>
              <a:t>String</a:t>
            </a:r>
            <a:r>
              <a:rPr lang="en-US" dirty="0"/>
              <a:t> </a:t>
            </a:r>
            <a:r>
              <a:rPr lang="en-US" dirty="0" err="1"/>
              <a:t>myText</a:t>
            </a:r>
            <a:r>
              <a:rPr lang="en-US" dirty="0"/>
              <a:t> = "Hello"; 	</a:t>
            </a:r>
            <a:r>
              <a:rPr lang="en-US" dirty="0">
                <a:solidFill>
                  <a:srgbClr val="FF0000"/>
                </a:solidFill>
              </a:rPr>
              <a:t>// String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Non-Primitive Data Types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54</a:t>
            </a:fld>
            <a:endParaRPr lang="en-US"/>
          </a:p>
        </p:txBody>
      </p:sp>
      <p:sp>
        <p:nvSpPr>
          <p:cNvPr id="4" name="Content Placeholder 3"/>
          <p:cNvSpPr>
            <a:spLocks noGrp="1"/>
          </p:cNvSpPr>
          <p:nvPr>
            <p:ph sz="quarter" idx="1"/>
          </p:nvPr>
        </p:nvSpPr>
        <p:spPr/>
        <p:txBody>
          <a:bodyPr>
            <a:normAutofit fontScale="85000" lnSpcReduction="20000"/>
          </a:bodyPr>
          <a:lstStyle/>
          <a:p>
            <a:pPr algn="just"/>
            <a:r>
              <a:rPr lang="en-US" dirty="0"/>
              <a:t>Non-primitive data types are called </a:t>
            </a:r>
            <a:r>
              <a:rPr lang="en-US" b="1" dirty="0"/>
              <a:t>reference types</a:t>
            </a:r>
            <a:r>
              <a:rPr lang="en-US" dirty="0"/>
              <a:t> because they refer to objects.</a:t>
            </a:r>
          </a:p>
          <a:p>
            <a:pPr algn="just"/>
            <a:r>
              <a:rPr lang="en-US" dirty="0"/>
              <a:t>The main difference between </a:t>
            </a:r>
            <a:r>
              <a:rPr lang="en-US" b="1" dirty="0"/>
              <a:t>primitive</a:t>
            </a:r>
            <a:r>
              <a:rPr lang="en-US" dirty="0"/>
              <a:t> and </a:t>
            </a:r>
            <a:r>
              <a:rPr lang="en-US" b="1" dirty="0"/>
              <a:t>non-primitive</a:t>
            </a:r>
            <a:r>
              <a:rPr lang="en-US" dirty="0"/>
              <a:t> data types are:</a:t>
            </a:r>
          </a:p>
          <a:p>
            <a:pPr algn="just"/>
            <a:r>
              <a:rPr lang="en-US" dirty="0"/>
              <a:t>Primitive types are predefined (already defined) in Java. Non-primitive types are created by the programmer and is not defined by Java (except for String).</a:t>
            </a:r>
          </a:p>
          <a:p>
            <a:pPr algn="just"/>
            <a:r>
              <a:rPr lang="en-US" dirty="0"/>
              <a:t>Non-primitive types can be used to call methods to perform certain operations, while primitive types cannot.</a:t>
            </a:r>
          </a:p>
          <a:p>
            <a:pPr algn="just"/>
            <a:r>
              <a:rPr lang="en-US" dirty="0"/>
              <a:t>A primitive type has always a value, while non-primitive types can be null.</a:t>
            </a:r>
          </a:p>
          <a:p>
            <a:pPr algn="just"/>
            <a:r>
              <a:rPr lang="en-US" dirty="0"/>
              <a:t>A primitive type starts with a lowercase letter, while non-primitive types starts with an uppercase letter.</a:t>
            </a:r>
          </a:p>
          <a:p>
            <a:pPr algn="just"/>
            <a:r>
              <a:rPr lang="en-US" dirty="0"/>
              <a:t>The size of a primitive type depends on the data type, while non-primitive types have all the same size.</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Java Variables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55</a:t>
            </a:fld>
            <a:endParaRPr lang="en-US"/>
          </a:p>
        </p:txBody>
      </p:sp>
      <p:sp>
        <p:nvSpPr>
          <p:cNvPr id="4" name="Content Placeholder 3"/>
          <p:cNvSpPr>
            <a:spLocks noGrp="1"/>
          </p:cNvSpPr>
          <p:nvPr>
            <p:ph sz="quarter" idx="1"/>
          </p:nvPr>
        </p:nvSpPr>
        <p:spPr/>
        <p:txBody>
          <a:bodyPr/>
          <a:lstStyle/>
          <a:p>
            <a:pPr algn="just"/>
            <a:r>
              <a:rPr lang="en-US" sz="2400" dirty="0"/>
              <a:t>A variable is a container which holds the value while the Java program is executed. A variable is assigned with a data type.</a:t>
            </a:r>
          </a:p>
          <a:p>
            <a:pPr algn="just"/>
            <a:r>
              <a:rPr lang="en-US" sz="2400" dirty="0"/>
              <a:t>Variable is a name of memory location. There are three types of variables in java: </a:t>
            </a:r>
            <a:r>
              <a:rPr lang="en-US" sz="2400" dirty="0">
                <a:solidFill>
                  <a:srgbClr val="C00000"/>
                </a:solidFill>
              </a:rPr>
              <a:t>local, instance and static.</a:t>
            </a:r>
          </a:p>
          <a:p>
            <a:r>
              <a:rPr lang="en-US" sz="2400" b="1" dirty="0"/>
              <a:t>Variable </a:t>
            </a:r>
            <a:r>
              <a:rPr lang="en-US" sz="2400" dirty="0"/>
              <a:t>is name of reserved area allocated in memory. In other words, it is a name of memory location. It is a combination of "vary + able" that means its value can be changed.</a:t>
            </a:r>
          </a:p>
          <a:p>
            <a:br>
              <a:rPr lang="en-US" dirty="0"/>
            </a:br>
            <a:endParaRPr lang="en-US" dirty="0"/>
          </a:p>
        </p:txBody>
      </p:sp>
      <p:pic>
        <p:nvPicPr>
          <p:cNvPr id="84994" name="Picture 2" descr="variables in java"/>
          <p:cNvPicPr>
            <a:picLocks noChangeAspect="1" noChangeArrowheads="1"/>
          </p:cNvPicPr>
          <p:nvPr/>
        </p:nvPicPr>
        <p:blipFill>
          <a:blip r:embed="rId2"/>
          <a:srcRect/>
          <a:stretch>
            <a:fillRect/>
          </a:stretch>
        </p:blipFill>
        <p:spPr bwMode="auto">
          <a:xfrm>
            <a:off x="2607373" y="4268283"/>
            <a:ext cx="4074781" cy="2471318"/>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56</a:t>
            </a:fld>
            <a:endParaRPr lang="en-US"/>
          </a:p>
        </p:txBody>
      </p:sp>
      <p:sp>
        <p:nvSpPr>
          <p:cNvPr id="4" name="Content Placeholder 3"/>
          <p:cNvSpPr>
            <a:spLocks noGrp="1"/>
          </p:cNvSpPr>
          <p:nvPr>
            <p:ph sz="quarter" idx="1"/>
          </p:nvPr>
        </p:nvSpPr>
        <p:spPr/>
        <p:txBody>
          <a:bodyPr>
            <a:normAutofit/>
          </a:bodyPr>
          <a:lstStyle/>
          <a:p>
            <a:pPr algn="just"/>
            <a:r>
              <a:rPr lang="en-US" sz="2400" dirty="0"/>
              <a:t>All Java </a:t>
            </a:r>
            <a:r>
              <a:rPr lang="en-US" sz="2400" b="1" dirty="0"/>
              <a:t>variables</a:t>
            </a:r>
            <a:r>
              <a:rPr lang="en-US" sz="2400" dirty="0"/>
              <a:t> must be </a:t>
            </a:r>
            <a:r>
              <a:rPr lang="en-US" sz="2400" b="1" dirty="0"/>
              <a:t>identified</a:t>
            </a:r>
            <a:r>
              <a:rPr lang="en-US" sz="2400" dirty="0"/>
              <a:t> with </a:t>
            </a:r>
            <a:r>
              <a:rPr lang="en-US" sz="2400" b="1" dirty="0"/>
              <a:t>unique names</a:t>
            </a:r>
            <a:r>
              <a:rPr lang="en-US" sz="2400" dirty="0"/>
              <a:t>.</a:t>
            </a:r>
          </a:p>
          <a:p>
            <a:pPr algn="just"/>
            <a:r>
              <a:rPr lang="en-US" sz="2400" dirty="0"/>
              <a:t>These unique names are called </a:t>
            </a:r>
            <a:r>
              <a:rPr lang="en-US" sz="2400" b="1" dirty="0"/>
              <a:t>identifiers</a:t>
            </a:r>
            <a:r>
              <a:rPr lang="en-US" sz="2400" dirty="0"/>
              <a:t>.</a:t>
            </a:r>
          </a:p>
          <a:p>
            <a:pPr algn="just"/>
            <a:r>
              <a:rPr lang="en-US" sz="2400" dirty="0"/>
              <a:t>Identifiers can be short names (like x and y) or more descriptive names (age, sum, </a:t>
            </a:r>
            <a:r>
              <a:rPr lang="en-US" sz="2400" dirty="0" err="1"/>
              <a:t>totalVolume</a:t>
            </a:r>
            <a:r>
              <a:rPr lang="en-US" sz="2400" dirty="0"/>
              <a:t>).</a:t>
            </a:r>
          </a:p>
          <a:p>
            <a:pPr algn="just"/>
            <a:r>
              <a:rPr lang="en-US" sz="2400" dirty="0">
                <a:solidFill>
                  <a:srgbClr val="C00000"/>
                </a:solidFill>
              </a:rPr>
              <a:t>The general rules for constructing names for variables (unique identifiers) are:</a:t>
            </a:r>
          </a:p>
          <a:p>
            <a:pPr lvl="1" algn="just"/>
            <a:r>
              <a:rPr lang="en-US" sz="2000" dirty="0">
                <a:solidFill>
                  <a:schemeClr val="tx1"/>
                </a:solidFill>
              </a:rPr>
              <a:t>Names can contain letters, digits, underscores, and dollar signs</a:t>
            </a:r>
          </a:p>
          <a:p>
            <a:pPr lvl="1" algn="just"/>
            <a:r>
              <a:rPr lang="en-US" sz="2000" dirty="0">
                <a:solidFill>
                  <a:schemeClr val="tx1"/>
                </a:solidFill>
              </a:rPr>
              <a:t>Names must begin with a letter</a:t>
            </a:r>
          </a:p>
          <a:p>
            <a:pPr lvl="1" algn="just"/>
            <a:r>
              <a:rPr lang="en-US" sz="2000" dirty="0">
                <a:solidFill>
                  <a:schemeClr val="tx1"/>
                </a:solidFill>
              </a:rPr>
              <a:t>Names should start with a lowercase letter and it cannot contain whitespace</a:t>
            </a:r>
          </a:p>
          <a:p>
            <a:pPr lvl="1" algn="just"/>
            <a:r>
              <a:rPr lang="en-US" sz="2000" dirty="0">
                <a:solidFill>
                  <a:schemeClr val="tx1"/>
                </a:solidFill>
              </a:rPr>
              <a:t>Names can also begin with $ and _ (but we will not use it in this tutorial)</a:t>
            </a:r>
          </a:p>
          <a:p>
            <a:pPr lvl="1" algn="just"/>
            <a:r>
              <a:rPr lang="en-US" sz="2000" dirty="0">
                <a:solidFill>
                  <a:schemeClr val="tx1"/>
                </a:solidFill>
              </a:rPr>
              <a:t>Names are case sensitive ("</a:t>
            </a:r>
            <a:r>
              <a:rPr lang="en-US" sz="2000" dirty="0" err="1">
                <a:solidFill>
                  <a:schemeClr val="tx1"/>
                </a:solidFill>
              </a:rPr>
              <a:t>myVar</a:t>
            </a:r>
            <a:r>
              <a:rPr lang="en-US" sz="2000" dirty="0">
                <a:solidFill>
                  <a:schemeClr val="tx1"/>
                </a:solidFill>
              </a:rPr>
              <a:t>" and "</a:t>
            </a:r>
            <a:r>
              <a:rPr lang="en-US" sz="2000" dirty="0" err="1">
                <a:solidFill>
                  <a:schemeClr val="tx1"/>
                </a:solidFill>
              </a:rPr>
              <a:t>myvar</a:t>
            </a:r>
            <a:r>
              <a:rPr lang="en-US" sz="2000" dirty="0">
                <a:solidFill>
                  <a:schemeClr val="tx1"/>
                </a:solidFill>
              </a:rPr>
              <a:t>" are different variables)</a:t>
            </a:r>
          </a:p>
          <a:p>
            <a:pPr lvl="1" algn="just"/>
            <a:r>
              <a:rPr lang="en-US" sz="2000" dirty="0">
                <a:solidFill>
                  <a:schemeClr val="tx1"/>
                </a:solidFill>
              </a:rPr>
              <a:t>Reserved words (like Java keywords, such as </a:t>
            </a:r>
            <a:r>
              <a:rPr lang="en-US" sz="2000" dirty="0" err="1">
                <a:solidFill>
                  <a:schemeClr val="tx1"/>
                </a:solidFill>
              </a:rPr>
              <a:t>int</a:t>
            </a:r>
            <a:r>
              <a:rPr lang="en-US" sz="2000" dirty="0">
                <a:solidFill>
                  <a:schemeClr val="tx1"/>
                </a:solidFill>
              </a:rPr>
              <a:t> or </a:t>
            </a:r>
            <a:r>
              <a:rPr lang="en-US" sz="2000" dirty="0" err="1">
                <a:solidFill>
                  <a:schemeClr val="tx1"/>
                </a:solidFill>
              </a:rPr>
              <a:t>boolean</a:t>
            </a:r>
            <a:r>
              <a:rPr lang="en-US" sz="2000" dirty="0">
                <a:solidFill>
                  <a:schemeClr val="tx1"/>
                </a:solidFill>
              </a:rPr>
              <a:t>) cannot be used as names</a:t>
            </a:r>
          </a:p>
          <a:p>
            <a:endParaRPr lang="en-US" sz="2400" dirty="0"/>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Declaring (Creating) Variables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57</a:t>
            </a:fld>
            <a:endParaRPr lang="en-US"/>
          </a:p>
        </p:txBody>
      </p:sp>
      <p:sp>
        <p:nvSpPr>
          <p:cNvPr id="4" name="Content Placeholder 3"/>
          <p:cNvSpPr>
            <a:spLocks noGrp="1"/>
          </p:cNvSpPr>
          <p:nvPr>
            <p:ph sz="quarter" idx="1"/>
          </p:nvPr>
        </p:nvSpPr>
        <p:spPr/>
        <p:txBody>
          <a:bodyPr/>
          <a:lstStyle/>
          <a:p>
            <a:r>
              <a:rPr lang="en-US" dirty="0"/>
              <a:t>To create a variable, you must specify the type and assign it a value:</a:t>
            </a:r>
          </a:p>
          <a:p>
            <a:r>
              <a:rPr lang="en-US" b="1" dirty="0"/>
              <a:t>Syntax</a:t>
            </a:r>
          </a:p>
          <a:p>
            <a:pPr lvl="1"/>
            <a:r>
              <a:rPr lang="en-US" dirty="0">
                <a:solidFill>
                  <a:srgbClr val="6600FF"/>
                </a:solidFill>
              </a:rPr>
              <a:t>type variable = value; </a:t>
            </a:r>
          </a:p>
          <a:p>
            <a:pPr algn="just"/>
            <a:r>
              <a:rPr lang="en-US" sz="2400" dirty="0"/>
              <a:t>Where </a:t>
            </a:r>
            <a:r>
              <a:rPr lang="en-US" sz="2400" i="1" dirty="0"/>
              <a:t>type</a:t>
            </a:r>
            <a:r>
              <a:rPr lang="en-US" sz="2400" dirty="0"/>
              <a:t> is one of Java's types (such as </a:t>
            </a:r>
            <a:r>
              <a:rPr lang="en-US" sz="2400" dirty="0" err="1"/>
              <a:t>int</a:t>
            </a:r>
            <a:r>
              <a:rPr lang="en-US" sz="2400" dirty="0"/>
              <a:t> or String), and</a:t>
            </a:r>
          </a:p>
          <a:p>
            <a:pPr algn="just"/>
            <a:r>
              <a:rPr lang="en-US" sz="2400" i="1" dirty="0"/>
              <a:t>variable</a:t>
            </a:r>
            <a:r>
              <a:rPr lang="en-US" sz="2400" dirty="0"/>
              <a:t> is the name of the variable (such as </a:t>
            </a:r>
            <a:r>
              <a:rPr lang="en-US" sz="2400" b="1" dirty="0"/>
              <a:t>x</a:t>
            </a:r>
            <a:r>
              <a:rPr lang="en-US" sz="2400" dirty="0"/>
              <a:t> or </a:t>
            </a:r>
            <a:r>
              <a:rPr lang="en-US" sz="2400" b="1" dirty="0"/>
              <a:t>name</a:t>
            </a:r>
            <a:r>
              <a:rPr lang="en-US" sz="2400" dirty="0"/>
              <a:t>). The </a:t>
            </a:r>
            <a:r>
              <a:rPr lang="en-US" sz="2400" b="1" dirty="0"/>
              <a:t>equal sign</a:t>
            </a:r>
            <a:r>
              <a:rPr lang="en-US" sz="2400" dirty="0"/>
              <a:t> is used to assign values to the variable.</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Types of Variables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58</a:t>
            </a:fld>
            <a:endParaRPr lang="en-US"/>
          </a:p>
        </p:txBody>
      </p:sp>
      <p:sp>
        <p:nvSpPr>
          <p:cNvPr id="4" name="Content Placeholder 3"/>
          <p:cNvSpPr>
            <a:spLocks noGrp="1"/>
          </p:cNvSpPr>
          <p:nvPr>
            <p:ph sz="quarter" idx="1"/>
          </p:nvPr>
        </p:nvSpPr>
        <p:spPr/>
        <p:txBody>
          <a:bodyPr>
            <a:normAutofit fontScale="70000" lnSpcReduction="20000"/>
          </a:bodyPr>
          <a:lstStyle/>
          <a:p>
            <a:r>
              <a:rPr lang="en-US" dirty="0"/>
              <a:t>There are three types of variables in Java:</a:t>
            </a:r>
          </a:p>
          <a:p>
            <a:pPr lvl="1"/>
            <a:r>
              <a:rPr lang="en-US" dirty="0"/>
              <a:t>local variable</a:t>
            </a:r>
          </a:p>
          <a:p>
            <a:pPr lvl="1"/>
            <a:r>
              <a:rPr lang="en-US" dirty="0"/>
              <a:t>instance variable</a:t>
            </a:r>
          </a:p>
          <a:p>
            <a:pPr lvl="1"/>
            <a:r>
              <a:rPr lang="en-US" dirty="0"/>
              <a:t>static variable</a:t>
            </a:r>
            <a:endParaRPr lang="en-US" dirty="0">
              <a:solidFill>
                <a:srgbClr val="6600FF"/>
              </a:solidFill>
            </a:endParaRPr>
          </a:p>
          <a:p>
            <a:r>
              <a:rPr lang="en-US" dirty="0">
                <a:solidFill>
                  <a:srgbClr val="6600FF"/>
                </a:solidFill>
              </a:rPr>
              <a:t>1) Local Variable</a:t>
            </a:r>
          </a:p>
          <a:p>
            <a:pPr lvl="1" algn="just"/>
            <a:r>
              <a:rPr lang="en-US" dirty="0">
                <a:solidFill>
                  <a:schemeClr val="tx1"/>
                </a:solidFill>
              </a:rPr>
              <a:t>A variable declared inside the body of the method is called local variable. You can use this variable only within that method and the other methods in the class aren't even aware that the variable exists.</a:t>
            </a:r>
          </a:p>
          <a:p>
            <a:pPr lvl="1" algn="just"/>
            <a:r>
              <a:rPr lang="en-US" dirty="0">
                <a:solidFill>
                  <a:schemeClr val="tx1"/>
                </a:solidFill>
              </a:rPr>
              <a:t>A local variable cannot be defined with "static" keyword.</a:t>
            </a:r>
          </a:p>
          <a:p>
            <a:r>
              <a:rPr lang="en-US" dirty="0">
                <a:solidFill>
                  <a:srgbClr val="6600FF"/>
                </a:solidFill>
              </a:rPr>
              <a:t>2) Instance Variable</a:t>
            </a:r>
          </a:p>
          <a:p>
            <a:pPr lvl="1" algn="just"/>
            <a:r>
              <a:rPr lang="en-US" dirty="0">
                <a:solidFill>
                  <a:schemeClr val="tx1"/>
                </a:solidFill>
              </a:rPr>
              <a:t>A variable declared inside the class but outside the body of the method, is called instance variable. It is not declared as static.</a:t>
            </a:r>
          </a:p>
          <a:p>
            <a:pPr lvl="1" algn="just"/>
            <a:r>
              <a:rPr lang="en-US" dirty="0">
                <a:solidFill>
                  <a:schemeClr val="tx1"/>
                </a:solidFill>
              </a:rPr>
              <a:t>It is called instance variable because its value is instance specific and is not shared among instances.</a:t>
            </a:r>
          </a:p>
          <a:p>
            <a:r>
              <a:rPr lang="en-US" dirty="0">
                <a:solidFill>
                  <a:srgbClr val="6600FF"/>
                </a:solidFill>
              </a:rPr>
              <a:t>3) Static variable</a:t>
            </a:r>
          </a:p>
          <a:p>
            <a:pPr lvl="1" algn="just"/>
            <a:r>
              <a:rPr lang="en-US" dirty="0">
                <a:solidFill>
                  <a:schemeClr val="tx1"/>
                </a:solidFill>
              </a:rPr>
              <a:t>A variable which is declared as static is called static variable. It cannot be local. You can create a single copy of static variable and share among all the instances of the class. Memory allocation for static variable happens only once when the class is loaded in the memory.</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Example to understand the types of variables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59</a:t>
            </a:fld>
            <a:endParaRPr lang="en-US"/>
          </a:p>
        </p:txBody>
      </p:sp>
      <p:sp>
        <p:nvSpPr>
          <p:cNvPr id="4" name="Content Placeholder 3"/>
          <p:cNvSpPr>
            <a:spLocks noGrp="1"/>
          </p:cNvSpPr>
          <p:nvPr>
            <p:ph sz="quarter" idx="1"/>
          </p:nvPr>
        </p:nvSpPr>
        <p:spPr/>
        <p:txBody>
          <a:bodyPr/>
          <a:lstStyle/>
          <a:p>
            <a:r>
              <a:rPr lang="en-US" b="1" dirty="0"/>
              <a:t>class</a:t>
            </a:r>
            <a:r>
              <a:rPr lang="en-US" dirty="0"/>
              <a:t> A</a:t>
            </a:r>
          </a:p>
          <a:p>
            <a:r>
              <a:rPr lang="en-US" dirty="0"/>
              <a:t>{  </a:t>
            </a:r>
          </a:p>
          <a:p>
            <a:r>
              <a:rPr lang="en-US" b="1" dirty="0" err="1"/>
              <a:t>int</a:t>
            </a:r>
            <a:r>
              <a:rPr lang="en-US" dirty="0"/>
              <a:t> data=50; </a:t>
            </a:r>
            <a:r>
              <a:rPr lang="en-US" dirty="0">
                <a:solidFill>
                  <a:srgbClr val="6600FF"/>
                </a:solidFill>
              </a:rPr>
              <a:t>//instance variable  </a:t>
            </a:r>
          </a:p>
          <a:p>
            <a:r>
              <a:rPr lang="en-US" b="1" dirty="0"/>
              <a:t>static</a:t>
            </a:r>
            <a:r>
              <a:rPr lang="en-US" dirty="0"/>
              <a:t> </a:t>
            </a:r>
            <a:r>
              <a:rPr lang="en-US" b="1" dirty="0" err="1"/>
              <a:t>int</a:t>
            </a:r>
            <a:r>
              <a:rPr lang="en-US" dirty="0"/>
              <a:t> m=100</a:t>
            </a:r>
            <a:r>
              <a:rPr lang="en-US" dirty="0">
                <a:solidFill>
                  <a:srgbClr val="6600FF"/>
                </a:solidFill>
              </a:rPr>
              <a:t>;   //static variable  </a:t>
            </a:r>
          </a:p>
          <a:p>
            <a:r>
              <a:rPr lang="en-US" b="1" dirty="0"/>
              <a:t>void</a:t>
            </a:r>
            <a:r>
              <a:rPr lang="en-US" dirty="0"/>
              <a:t> method(){  </a:t>
            </a:r>
          </a:p>
          <a:p>
            <a:r>
              <a:rPr lang="en-US" b="1" dirty="0" err="1"/>
              <a:t>int</a:t>
            </a:r>
            <a:r>
              <a:rPr lang="en-US" dirty="0"/>
              <a:t> n=90;    </a:t>
            </a:r>
            <a:r>
              <a:rPr lang="en-US" dirty="0">
                <a:solidFill>
                  <a:srgbClr val="6600FF"/>
                </a:solidFill>
              </a:rPr>
              <a:t>//local variable</a:t>
            </a:r>
            <a:r>
              <a:rPr lang="en-US" dirty="0"/>
              <a:t>  </a:t>
            </a:r>
          </a:p>
          <a:p>
            <a:r>
              <a:rPr lang="en-US" dirty="0"/>
              <a:t>}  </a:t>
            </a:r>
          </a:p>
          <a:p>
            <a:r>
              <a:rPr lang="en-US" dirty="0"/>
              <a:t>}  //end of class  </a:t>
            </a:r>
          </a:p>
          <a:p>
            <a:br>
              <a:rPr lang="en-US" dirty="0"/>
            </a:b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Operators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60</a:t>
            </a:fld>
            <a:endParaRPr lang="en-US"/>
          </a:p>
        </p:txBody>
      </p:sp>
      <p:sp>
        <p:nvSpPr>
          <p:cNvPr id="4" name="Content Placeholder 3"/>
          <p:cNvSpPr>
            <a:spLocks noGrp="1"/>
          </p:cNvSpPr>
          <p:nvPr>
            <p:ph sz="quarter" idx="1"/>
          </p:nvPr>
        </p:nvSpPr>
        <p:spPr/>
        <p:txBody>
          <a:bodyPr/>
          <a:lstStyle/>
          <a:p>
            <a:pPr algn="just"/>
            <a:r>
              <a:rPr lang="en-US" sz="2000" b="1" dirty="0"/>
              <a:t>Operator</a:t>
            </a:r>
            <a:r>
              <a:rPr lang="en-US" sz="2000" dirty="0"/>
              <a:t> in Java is a symbol which is used to perform operations. For example: +, -, *, / etc.</a:t>
            </a:r>
          </a:p>
          <a:p>
            <a:pPr algn="just"/>
            <a:r>
              <a:rPr lang="en-US" sz="2000" dirty="0"/>
              <a:t>There are many types of operators in Java which are given below:</a:t>
            </a:r>
          </a:p>
          <a:p>
            <a:r>
              <a:rPr lang="en-US" sz="2000" dirty="0">
                <a:solidFill>
                  <a:srgbClr val="C00000"/>
                </a:solidFill>
              </a:rPr>
              <a:t>Unary Operator,</a:t>
            </a:r>
          </a:p>
          <a:p>
            <a:r>
              <a:rPr lang="en-US" sz="2000" dirty="0">
                <a:solidFill>
                  <a:srgbClr val="C00000"/>
                </a:solidFill>
              </a:rPr>
              <a:t>Arithmetic Operator,</a:t>
            </a:r>
          </a:p>
          <a:p>
            <a:r>
              <a:rPr lang="en-US" sz="2000" dirty="0">
                <a:solidFill>
                  <a:srgbClr val="C00000"/>
                </a:solidFill>
              </a:rPr>
              <a:t>Shift Operator,</a:t>
            </a:r>
          </a:p>
          <a:p>
            <a:r>
              <a:rPr lang="en-US" sz="2000" dirty="0">
                <a:solidFill>
                  <a:srgbClr val="C00000"/>
                </a:solidFill>
              </a:rPr>
              <a:t>Relational Operator,</a:t>
            </a:r>
          </a:p>
          <a:p>
            <a:r>
              <a:rPr lang="en-US" sz="2000" dirty="0">
                <a:solidFill>
                  <a:srgbClr val="C00000"/>
                </a:solidFill>
              </a:rPr>
              <a:t>Bitwise Operator,</a:t>
            </a:r>
          </a:p>
          <a:p>
            <a:r>
              <a:rPr lang="en-US" sz="2000" dirty="0">
                <a:solidFill>
                  <a:srgbClr val="C00000"/>
                </a:solidFill>
              </a:rPr>
              <a:t>Logical Operator,</a:t>
            </a:r>
          </a:p>
          <a:p>
            <a:r>
              <a:rPr lang="en-US" sz="2000" dirty="0">
                <a:solidFill>
                  <a:srgbClr val="C00000"/>
                </a:solidFill>
              </a:rPr>
              <a:t>Ternary Operator and</a:t>
            </a:r>
          </a:p>
          <a:p>
            <a:r>
              <a:rPr lang="en-US" sz="2000" dirty="0">
                <a:solidFill>
                  <a:srgbClr val="C00000"/>
                </a:solidFill>
              </a:rPr>
              <a:t>Assignment Operator</a:t>
            </a:r>
          </a:p>
          <a:p>
            <a:pPr algn="just"/>
            <a:endParaRPr lang="en-US" sz="2000" dirty="0"/>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3600" b="1" dirty="0">
                <a:solidFill>
                  <a:srgbClr val="610B38"/>
                </a:solidFill>
                <a:latin typeface="erdana"/>
                <a:cs typeface="Arial" pitchFamily="34" charset="0"/>
              </a:rPr>
              <a:t>Java Operator Precedence</a:t>
            </a:r>
            <a:endParaRPr lang="en-US" b="1" dirty="0"/>
          </a:p>
        </p:txBody>
      </p:sp>
      <p:sp>
        <p:nvSpPr>
          <p:cNvPr id="3" name="Slide Number Placeholder 2"/>
          <p:cNvSpPr>
            <a:spLocks noGrp="1"/>
          </p:cNvSpPr>
          <p:nvPr>
            <p:ph type="sldNum" sz="quarter" idx="12"/>
          </p:nvPr>
        </p:nvSpPr>
        <p:spPr/>
        <p:txBody>
          <a:bodyPr/>
          <a:lstStyle/>
          <a:p>
            <a:fld id="{E3591306-41CF-4237-B2B4-5C605DD45071}" type="slidenum">
              <a:rPr lang="en-US" smtClean="0"/>
              <a:pPr/>
              <a:t>61</a:t>
            </a:fld>
            <a:endParaRPr lang="en-US"/>
          </a:p>
        </p:txBody>
      </p:sp>
      <p:graphicFrame>
        <p:nvGraphicFramePr>
          <p:cNvPr id="5" name="Content Placeholder 4"/>
          <p:cNvGraphicFramePr>
            <a:graphicFrameLocks noGrp="1"/>
          </p:cNvGraphicFramePr>
          <p:nvPr>
            <p:ph sz="quarter" idx="1"/>
          </p:nvPr>
        </p:nvGraphicFramePr>
        <p:xfrm>
          <a:off x="503238" y="1443914"/>
          <a:ext cx="9074151" cy="5243348"/>
        </p:xfrm>
        <a:graphic>
          <a:graphicData uri="http://schemas.openxmlformats.org/drawingml/2006/table">
            <a:tbl>
              <a:tblPr/>
              <a:tblGrid>
                <a:gridCol w="3024717">
                  <a:extLst>
                    <a:ext uri="{9D8B030D-6E8A-4147-A177-3AD203B41FA5}">
                      <a16:colId xmlns:a16="http://schemas.microsoft.com/office/drawing/2014/main" val="20000"/>
                    </a:ext>
                  </a:extLst>
                </a:gridCol>
                <a:gridCol w="3024717">
                  <a:extLst>
                    <a:ext uri="{9D8B030D-6E8A-4147-A177-3AD203B41FA5}">
                      <a16:colId xmlns:a16="http://schemas.microsoft.com/office/drawing/2014/main" val="20001"/>
                    </a:ext>
                  </a:extLst>
                </a:gridCol>
                <a:gridCol w="3024717">
                  <a:extLst>
                    <a:ext uri="{9D8B030D-6E8A-4147-A177-3AD203B41FA5}">
                      <a16:colId xmlns:a16="http://schemas.microsoft.com/office/drawing/2014/main" val="20002"/>
                    </a:ext>
                  </a:extLst>
                </a:gridCol>
              </a:tblGrid>
              <a:tr h="389524">
                <a:tc>
                  <a:txBody>
                    <a:bodyPr/>
                    <a:lstStyle/>
                    <a:p>
                      <a:pPr algn="l" fontAlgn="t"/>
                      <a:r>
                        <a:rPr lang="en-US" sz="1400">
                          <a:solidFill>
                            <a:srgbClr val="000000"/>
                          </a:solidFill>
                          <a:latin typeface="times new roman"/>
                        </a:rPr>
                        <a:t>Operator Type</a:t>
                      </a:r>
                    </a:p>
                  </a:txBody>
                  <a:tcPr marL="88528" marR="88528" marT="88528" marB="88528">
                    <a:lnL w="9525" cap="flat" cmpd="sng" algn="ctr">
                      <a:solidFill>
                        <a:srgbClr val="C090C2"/>
                      </a:solidFill>
                      <a:prstDash val="solid"/>
                      <a:round/>
                      <a:headEnd type="none" w="med" len="med"/>
                      <a:tailEnd type="none" w="med" len="med"/>
                    </a:lnL>
                    <a:lnR w="9525" cap="flat" cmpd="sng" algn="ctr">
                      <a:solidFill>
                        <a:srgbClr val="C090C2"/>
                      </a:solidFill>
                      <a:prstDash val="solid"/>
                      <a:round/>
                      <a:headEnd type="none" w="med" len="med"/>
                      <a:tailEnd type="none" w="med" len="med"/>
                    </a:lnR>
                    <a:lnT w="9525" cap="flat" cmpd="sng" algn="ctr">
                      <a:solidFill>
                        <a:srgbClr val="C090C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400">
                          <a:solidFill>
                            <a:srgbClr val="000000"/>
                          </a:solidFill>
                          <a:latin typeface="times new roman"/>
                        </a:rPr>
                        <a:t>Category</a:t>
                      </a:r>
                    </a:p>
                  </a:txBody>
                  <a:tcPr marL="88528" marR="88528" marT="88528" marB="88528">
                    <a:lnL w="9525" cap="flat" cmpd="sng" algn="ctr">
                      <a:solidFill>
                        <a:srgbClr val="C090C2"/>
                      </a:solidFill>
                      <a:prstDash val="solid"/>
                      <a:round/>
                      <a:headEnd type="none" w="med" len="med"/>
                      <a:tailEnd type="none" w="med" len="med"/>
                    </a:lnL>
                    <a:lnR w="9525" cap="flat" cmpd="sng" algn="ctr">
                      <a:solidFill>
                        <a:srgbClr val="C090C2"/>
                      </a:solidFill>
                      <a:prstDash val="solid"/>
                      <a:round/>
                      <a:headEnd type="none" w="med" len="med"/>
                      <a:tailEnd type="none" w="med" len="med"/>
                    </a:lnR>
                    <a:lnT w="9525" cap="flat" cmpd="sng" algn="ctr">
                      <a:solidFill>
                        <a:srgbClr val="C090C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400">
                          <a:solidFill>
                            <a:srgbClr val="000000"/>
                          </a:solidFill>
                          <a:latin typeface="times new roman"/>
                        </a:rPr>
                        <a:t>Precedence</a:t>
                      </a:r>
                    </a:p>
                  </a:txBody>
                  <a:tcPr marL="88528" marR="88528" marT="88528" marB="88528">
                    <a:lnL w="9525" cap="flat" cmpd="sng" algn="ctr">
                      <a:solidFill>
                        <a:srgbClr val="C090C2"/>
                      </a:solidFill>
                      <a:prstDash val="solid"/>
                      <a:round/>
                      <a:headEnd type="none" w="med" len="med"/>
                      <a:tailEnd type="none" w="med" len="med"/>
                    </a:lnL>
                    <a:lnR w="9525" cap="flat" cmpd="sng" algn="ctr">
                      <a:solidFill>
                        <a:srgbClr val="C090C2"/>
                      </a:solidFill>
                      <a:prstDash val="solid"/>
                      <a:round/>
                      <a:headEnd type="none" w="med" len="med"/>
                      <a:tailEnd type="none" w="med" len="med"/>
                    </a:lnR>
                    <a:lnT w="9525" cap="flat" cmpd="sng" algn="ctr">
                      <a:solidFill>
                        <a:srgbClr val="C090C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330506">
                <a:tc rowSpan="2">
                  <a:txBody>
                    <a:bodyPr/>
                    <a:lstStyle/>
                    <a:p>
                      <a:pPr algn="l" fontAlgn="t"/>
                      <a:r>
                        <a:rPr lang="en-US" sz="1400">
                          <a:solidFill>
                            <a:srgbClr val="000000"/>
                          </a:solidFill>
                          <a:latin typeface="verdana"/>
                        </a:rPr>
                        <a:t>Unary</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postfix</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i="1">
                          <a:solidFill>
                            <a:srgbClr val="000000"/>
                          </a:solidFill>
                          <a:latin typeface="verdana"/>
                        </a:rPr>
                        <a:t>expr</a:t>
                      </a:r>
                      <a:r>
                        <a:rPr lang="en-US" sz="1400">
                          <a:solidFill>
                            <a:srgbClr val="000000"/>
                          </a:solidFill>
                          <a:latin typeface="verdana"/>
                        </a:rPr>
                        <a:t>++ </a:t>
                      </a:r>
                      <a:r>
                        <a:rPr lang="en-US" sz="1400" i="1">
                          <a:solidFill>
                            <a:srgbClr val="000000"/>
                          </a:solidFill>
                          <a:latin typeface="verdana"/>
                        </a:rPr>
                        <a:t>expr</a:t>
                      </a:r>
                      <a:r>
                        <a:rPr lang="en-US" sz="1400">
                          <a:solidFill>
                            <a:srgbClr val="000000"/>
                          </a:solidFill>
                          <a:latin typeface="verdana"/>
                        </a:rPr>
                        <a: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506">
                <a:tc vMerge="1">
                  <a:txBody>
                    <a:bodyPr/>
                    <a:lstStyle/>
                    <a:p>
                      <a:endParaRPr lang="en-US"/>
                    </a:p>
                  </a:txBody>
                  <a:tcPr/>
                </a:tc>
                <a:tc>
                  <a:txBody>
                    <a:bodyPr/>
                    <a:lstStyle/>
                    <a:p>
                      <a:pPr algn="l" fontAlgn="t"/>
                      <a:r>
                        <a:rPr lang="en-US" sz="1400">
                          <a:solidFill>
                            <a:srgbClr val="000000"/>
                          </a:solidFill>
                          <a:latin typeface="verdana"/>
                        </a:rPr>
                        <a:t>prefix</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a:solidFill>
                            <a:srgbClr val="000000"/>
                          </a:solidFill>
                          <a:latin typeface="verdana"/>
                        </a:rPr>
                        <a:t>++</a:t>
                      </a:r>
                      <a:r>
                        <a:rPr lang="en-US" sz="1400" i="1">
                          <a:solidFill>
                            <a:srgbClr val="000000"/>
                          </a:solidFill>
                          <a:latin typeface="verdana"/>
                        </a:rPr>
                        <a:t>expr</a:t>
                      </a:r>
                      <a:r>
                        <a:rPr lang="en-US" sz="1400">
                          <a:solidFill>
                            <a:srgbClr val="000000"/>
                          </a:solidFill>
                          <a:latin typeface="verdana"/>
                        </a:rPr>
                        <a:t> --</a:t>
                      </a:r>
                      <a:r>
                        <a:rPr lang="en-US" sz="1400" i="1">
                          <a:solidFill>
                            <a:srgbClr val="000000"/>
                          </a:solidFill>
                          <a:latin typeface="verdana"/>
                        </a:rPr>
                        <a:t>expr</a:t>
                      </a:r>
                      <a:r>
                        <a:rPr lang="en-US" sz="1400">
                          <a:solidFill>
                            <a:srgbClr val="000000"/>
                          </a:solidFill>
                          <a:latin typeface="verdana"/>
                        </a:rPr>
                        <a:t> +</a:t>
                      </a:r>
                      <a:r>
                        <a:rPr lang="en-US" sz="1400" i="1">
                          <a:solidFill>
                            <a:srgbClr val="000000"/>
                          </a:solidFill>
                          <a:latin typeface="verdana"/>
                        </a:rPr>
                        <a:t>expr</a:t>
                      </a:r>
                      <a:r>
                        <a:rPr lang="en-US" sz="1400">
                          <a:solidFill>
                            <a:srgbClr val="000000"/>
                          </a:solidFill>
                          <a:latin typeface="verdana"/>
                        </a:rPr>
                        <a:t> -</a:t>
                      </a:r>
                      <a:r>
                        <a:rPr lang="en-US" sz="1400" i="1">
                          <a:solidFill>
                            <a:srgbClr val="000000"/>
                          </a:solidFill>
                          <a:latin typeface="verdana"/>
                        </a:rPr>
                        <a:t>expr</a:t>
                      </a:r>
                      <a:r>
                        <a:rPr lang="en-US" sz="1400">
                          <a:solidFill>
                            <a:srgbClr val="000000"/>
                          </a:solidFill>
                          <a:latin typeface="verdana"/>
                        </a:rPr>
                        <a:t> ~ !</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330506">
                <a:tc rowSpan="2">
                  <a:txBody>
                    <a:bodyPr/>
                    <a:lstStyle/>
                    <a:p>
                      <a:pPr algn="l" fontAlgn="t"/>
                      <a:r>
                        <a:rPr lang="en-US" sz="1400">
                          <a:solidFill>
                            <a:srgbClr val="000000"/>
                          </a:solidFill>
                          <a:latin typeface="verdana"/>
                        </a:rPr>
                        <a:t>Arithmetic</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multiplicative</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 / %</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506">
                <a:tc vMerge="1">
                  <a:txBody>
                    <a:bodyPr/>
                    <a:lstStyle/>
                    <a:p>
                      <a:endParaRPr lang="en-US"/>
                    </a:p>
                  </a:txBody>
                  <a:tcPr/>
                </a:tc>
                <a:tc>
                  <a:txBody>
                    <a:bodyPr/>
                    <a:lstStyle/>
                    <a:p>
                      <a:pPr algn="l" fontAlgn="t"/>
                      <a:r>
                        <a:rPr lang="en-US" sz="1400">
                          <a:solidFill>
                            <a:srgbClr val="000000"/>
                          </a:solidFill>
                          <a:latin typeface="verdana"/>
                        </a:rPr>
                        <a:t>additive</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a:solidFill>
                            <a:srgbClr val="000000"/>
                          </a:solidFill>
                          <a:latin typeface="verdana"/>
                        </a:rPr>
                        <a:t>+ -</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330506">
                <a:tc>
                  <a:txBody>
                    <a:bodyPr/>
                    <a:lstStyle/>
                    <a:p>
                      <a:pPr algn="l" fontAlgn="t"/>
                      <a:r>
                        <a:rPr lang="en-US" sz="1400">
                          <a:solidFill>
                            <a:srgbClr val="000000"/>
                          </a:solidFill>
                          <a:latin typeface="verdana"/>
                        </a:rPr>
                        <a:t>Shift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shift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&lt;&lt; &gt;&gt; &gt;&gt;&gt;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0506">
                <a:tc rowSpan="2">
                  <a:txBody>
                    <a:bodyPr/>
                    <a:lstStyle/>
                    <a:p>
                      <a:pPr algn="l" fontAlgn="t"/>
                      <a:r>
                        <a:rPr lang="en-US" sz="1400">
                          <a:solidFill>
                            <a:srgbClr val="000000"/>
                          </a:solidFill>
                          <a:latin typeface="verdana"/>
                        </a:rPr>
                        <a:t>Relational</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a:solidFill>
                            <a:srgbClr val="000000"/>
                          </a:solidFill>
                          <a:latin typeface="verdana"/>
                        </a:rPr>
                        <a:t>comparison</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a:solidFill>
                            <a:srgbClr val="000000"/>
                          </a:solidFill>
                          <a:latin typeface="verdana"/>
                        </a:rPr>
                        <a:t>&lt; &gt; &lt;= &gt;= instanceof</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6"/>
                  </a:ext>
                </a:extLst>
              </a:tr>
              <a:tr h="330506">
                <a:tc vMerge="1">
                  <a:txBody>
                    <a:bodyPr/>
                    <a:lstStyle/>
                    <a:p>
                      <a:endParaRPr lang="en-US"/>
                    </a:p>
                  </a:txBody>
                  <a:tcPr/>
                </a:tc>
                <a:tc>
                  <a:txBody>
                    <a:bodyPr/>
                    <a:lstStyle/>
                    <a:p>
                      <a:pPr algn="l" fontAlgn="t"/>
                      <a:r>
                        <a:rPr lang="en-US" sz="1400">
                          <a:solidFill>
                            <a:srgbClr val="000000"/>
                          </a:solidFill>
                          <a:latin typeface="verdana"/>
                        </a:rPr>
                        <a:t>equality</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 !=</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0506">
                <a:tc rowSpan="3">
                  <a:txBody>
                    <a:bodyPr/>
                    <a:lstStyle/>
                    <a:p>
                      <a:pPr algn="l" fontAlgn="t"/>
                      <a:r>
                        <a:rPr lang="en-US" sz="1400">
                          <a:solidFill>
                            <a:srgbClr val="000000"/>
                          </a:solidFill>
                          <a:latin typeface="verdana"/>
                        </a:rPr>
                        <a:t>Bitwise</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a:solidFill>
                            <a:srgbClr val="000000"/>
                          </a:solidFill>
                          <a:latin typeface="verdana"/>
                        </a:rPr>
                        <a:t>bitwise AND</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a:solidFill>
                            <a:srgbClr val="000000"/>
                          </a:solidFill>
                          <a:latin typeface="verdana"/>
                        </a:rPr>
                        <a:t>&amp;</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8"/>
                  </a:ext>
                </a:extLst>
              </a:tr>
              <a:tr h="330506">
                <a:tc vMerge="1">
                  <a:txBody>
                    <a:bodyPr/>
                    <a:lstStyle/>
                    <a:p>
                      <a:endParaRPr lang="en-US"/>
                    </a:p>
                  </a:txBody>
                  <a:tcPr/>
                </a:tc>
                <a:tc>
                  <a:txBody>
                    <a:bodyPr/>
                    <a:lstStyle/>
                    <a:p>
                      <a:pPr algn="l" fontAlgn="t"/>
                      <a:r>
                        <a:rPr lang="en-US" sz="1400">
                          <a:solidFill>
                            <a:srgbClr val="000000"/>
                          </a:solidFill>
                          <a:latin typeface="verdana"/>
                        </a:rPr>
                        <a:t>bitwise exclusive OR</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0506">
                <a:tc vMerge="1">
                  <a:txBody>
                    <a:bodyPr/>
                    <a:lstStyle/>
                    <a:p>
                      <a:endParaRPr lang="en-US"/>
                    </a:p>
                  </a:txBody>
                  <a:tcPr/>
                </a:tc>
                <a:tc>
                  <a:txBody>
                    <a:bodyPr/>
                    <a:lstStyle/>
                    <a:p>
                      <a:pPr algn="l" fontAlgn="t"/>
                      <a:r>
                        <a:rPr lang="en-US" sz="1400">
                          <a:solidFill>
                            <a:srgbClr val="000000"/>
                          </a:solidFill>
                          <a:latin typeface="verdana"/>
                        </a:rPr>
                        <a:t>bitwise inclusive OR</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a:solidFill>
                            <a:srgbClr val="000000"/>
                          </a:solidFill>
                          <a:latin typeface="verdana"/>
                        </a:rPr>
                        <a: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0"/>
                  </a:ext>
                </a:extLst>
              </a:tr>
              <a:tr h="330506">
                <a:tc rowSpan="2">
                  <a:txBody>
                    <a:bodyPr/>
                    <a:lstStyle/>
                    <a:p>
                      <a:pPr algn="l" fontAlgn="t"/>
                      <a:r>
                        <a:rPr lang="en-US" sz="1400">
                          <a:solidFill>
                            <a:srgbClr val="000000"/>
                          </a:solidFill>
                          <a:latin typeface="verdana"/>
                        </a:rPr>
                        <a:t>Logical</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logical AND</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&amp;&amp;</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30506">
                <a:tc vMerge="1">
                  <a:txBody>
                    <a:bodyPr/>
                    <a:lstStyle/>
                    <a:p>
                      <a:endParaRPr lang="en-US"/>
                    </a:p>
                  </a:txBody>
                  <a:tcPr/>
                </a:tc>
                <a:tc>
                  <a:txBody>
                    <a:bodyPr/>
                    <a:lstStyle/>
                    <a:p>
                      <a:pPr algn="l" fontAlgn="t"/>
                      <a:r>
                        <a:rPr lang="en-US" sz="1400">
                          <a:solidFill>
                            <a:srgbClr val="000000"/>
                          </a:solidFill>
                          <a:latin typeface="verdana"/>
                        </a:rPr>
                        <a:t>logical OR</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a:solidFill>
                            <a:srgbClr val="000000"/>
                          </a:solidFill>
                          <a:latin typeface="verdana"/>
                        </a:rPr>
                        <a: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2"/>
                  </a:ext>
                </a:extLst>
              </a:tr>
              <a:tr h="330506">
                <a:tc>
                  <a:txBody>
                    <a:bodyPr/>
                    <a:lstStyle/>
                    <a:p>
                      <a:pPr algn="l" fontAlgn="t"/>
                      <a:r>
                        <a:rPr lang="en-US" sz="1400">
                          <a:solidFill>
                            <a:srgbClr val="000000"/>
                          </a:solidFill>
                          <a:latin typeface="verdana"/>
                        </a:rPr>
                        <a:t>Ternary</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ternary</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latin typeface="verdana"/>
                        </a:rPr>
                        <a:t>? :</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542974">
                <a:tc>
                  <a:txBody>
                    <a:bodyPr/>
                    <a:lstStyle/>
                    <a:p>
                      <a:pPr algn="l" fontAlgn="t"/>
                      <a:r>
                        <a:rPr lang="en-US" sz="1400">
                          <a:solidFill>
                            <a:srgbClr val="000000"/>
                          </a:solidFill>
                          <a:latin typeface="verdana"/>
                        </a:rPr>
                        <a:t>Assignment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a:solidFill>
                            <a:srgbClr val="000000"/>
                          </a:solidFill>
                          <a:latin typeface="verdana"/>
                        </a:rPr>
                        <a:t>assignment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dirty="0">
                          <a:solidFill>
                            <a:srgbClr val="000000"/>
                          </a:solidFill>
                          <a:latin typeface="verdana"/>
                        </a:rPr>
                        <a:t>= += -= *= /= %= &amp;= ^= |= &lt;&lt;= &gt;&gt;= &gt;&gt;&gt;=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4"/>
                  </a:ext>
                </a:extLst>
              </a:tr>
            </a:tbl>
          </a:graphicData>
        </a:graphic>
      </p:graphicFrame>
      <p:sp>
        <p:nvSpPr>
          <p:cNvPr id="96257" name="Rectangle 1"/>
          <p:cNvSpPr>
            <a:spLocks noChangeArrowheads="1"/>
          </p:cNvSpPr>
          <p:nvPr/>
        </p:nvSpPr>
        <p:spPr bwMode="auto">
          <a:xfrm>
            <a:off x="0" y="0"/>
            <a:ext cx="184731" cy="369332"/>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Unary Operator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62</a:t>
            </a:fld>
            <a:endParaRPr lang="en-US"/>
          </a:p>
        </p:txBody>
      </p:sp>
      <p:sp>
        <p:nvSpPr>
          <p:cNvPr id="4" name="Content Placeholder 3"/>
          <p:cNvSpPr>
            <a:spLocks noGrp="1"/>
          </p:cNvSpPr>
          <p:nvPr>
            <p:ph sz="quarter" idx="1"/>
          </p:nvPr>
        </p:nvSpPr>
        <p:spPr/>
        <p:txBody>
          <a:bodyPr>
            <a:normAutofit fontScale="85000" lnSpcReduction="20000"/>
          </a:bodyPr>
          <a:lstStyle/>
          <a:p>
            <a:pPr algn="just"/>
            <a:r>
              <a:rPr lang="en-US" dirty="0"/>
              <a:t>The Java unary operators require only one operand. Unary operators are used to perform various operations i.e.:</a:t>
            </a:r>
          </a:p>
          <a:p>
            <a:pPr lvl="1" algn="just"/>
            <a:r>
              <a:rPr lang="en-US" dirty="0"/>
              <a:t>incrementing/decrementing a value by one</a:t>
            </a:r>
          </a:p>
          <a:p>
            <a:pPr lvl="1" algn="just"/>
            <a:r>
              <a:rPr lang="en-US" dirty="0"/>
              <a:t>negating an expression</a:t>
            </a:r>
          </a:p>
          <a:p>
            <a:pPr lvl="1" algn="just"/>
            <a:r>
              <a:rPr lang="en-US" dirty="0"/>
              <a:t>inverting the value of a </a:t>
            </a:r>
            <a:r>
              <a:rPr lang="en-US" dirty="0" err="1"/>
              <a:t>boolean</a:t>
            </a:r>
            <a:endParaRPr lang="en-US" dirty="0"/>
          </a:p>
          <a:p>
            <a:pPr algn="just"/>
            <a:r>
              <a:rPr lang="en-US" b="1" dirty="0"/>
              <a:t>Java Unary Operator Example: ++ and --</a:t>
            </a:r>
          </a:p>
          <a:p>
            <a:pPr algn="just"/>
            <a:r>
              <a:rPr lang="en-US" b="1" dirty="0"/>
              <a:t>class</a:t>
            </a:r>
            <a:r>
              <a:rPr lang="en-US" dirty="0"/>
              <a:t> </a:t>
            </a:r>
            <a:r>
              <a:rPr lang="en-US" dirty="0" err="1"/>
              <a:t>OperatorExample</a:t>
            </a:r>
            <a:r>
              <a:rPr lang="en-US" dirty="0"/>
              <a:t>{  </a:t>
            </a:r>
          </a:p>
          <a:p>
            <a:pPr algn="just"/>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algn="just"/>
            <a:r>
              <a:rPr lang="en-US" b="1" dirty="0" err="1"/>
              <a:t>int</a:t>
            </a:r>
            <a:r>
              <a:rPr lang="en-US" dirty="0"/>
              <a:t> x=10;  </a:t>
            </a:r>
          </a:p>
          <a:p>
            <a:pPr algn="just"/>
            <a:r>
              <a:rPr lang="en-US" dirty="0" err="1"/>
              <a:t>System.out.println</a:t>
            </a:r>
            <a:r>
              <a:rPr lang="en-US" dirty="0"/>
              <a:t>(x++);//10 (11)  </a:t>
            </a:r>
          </a:p>
          <a:p>
            <a:pPr algn="just"/>
            <a:r>
              <a:rPr lang="en-US" dirty="0" err="1"/>
              <a:t>System.out.println</a:t>
            </a:r>
            <a:r>
              <a:rPr lang="en-US" dirty="0"/>
              <a:t>(++x);//12  </a:t>
            </a:r>
          </a:p>
          <a:p>
            <a:pPr algn="just"/>
            <a:r>
              <a:rPr lang="en-US" dirty="0" err="1"/>
              <a:t>System.out.println</a:t>
            </a:r>
            <a:r>
              <a:rPr lang="en-US" dirty="0"/>
              <a:t>(x--);//12 (11)  </a:t>
            </a:r>
          </a:p>
          <a:p>
            <a:pPr algn="just"/>
            <a:r>
              <a:rPr lang="en-US" dirty="0" err="1"/>
              <a:t>System.out.println</a:t>
            </a:r>
            <a:r>
              <a:rPr lang="en-US" dirty="0"/>
              <a:t>(--x);//10  </a:t>
            </a:r>
          </a:p>
          <a:p>
            <a:pPr algn="just"/>
            <a:r>
              <a:rPr lang="en-US" dirty="0"/>
              <a:t>}}  </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Unary Operator Example: ~ and !</a:t>
            </a:r>
          </a:p>
        </p:txBody>
      </p:sp>
      <p:sp>
        <p:nvSpPr>
          <p:cNvPr id="3" name="Slide Number Placeholder 2"/>
          <p:cNvSpPr>
            <a:spLocks noGrp="1"/>
          </p:cNvSpPr>
          <p:nvPr>
            <p:ph type="sldNum" sz="quarter" idx="12"/>
          </p:nvPr>
        </p:nvSpPr>
        <p:spPr/>
        <p:txBody>
          <a:bodyPr/>
          <a:lstStyle/>
          <a:p>
            <a:fld id="{E3591306-41CF-4237-B2B4-5C605DD45071}" type="slidenum">
              <a:rPr lang="en-US" smtClean="0"/>
              <a:pPr/>
              <a:t>63</a:t>
            </a:fld>
            <a:endParaRPr lang="en-US"/>
          </a:p>
        </p:txBody>
      </p:sp>
      <p:sp>
        <p:nvSpPr>
          <p:cNvPr id="4" name="Content Placeholder 3"/>
          <p:cNvSpPr>
            <a:spLocks noGrp="1"/>
          </p:cNvSpPr>
          <p:nvPr>
            <p:ph sz="quarter" idx="1"/>
          </p:nvPr>
        </p:nvSpPr>
        <p:spPr/>
        <p:txBody>
          <a:bodyPr>
            <a:normAutofit fontScale="92500" lnSpcReduction="20000"/>
          </a:bodyPr>
          <a:lstStyle/>
          <a:p>
            <a:r>
              <a:rPr lang="en-US" b="1" dirty="0"/>
              <a:t>class</a:t>
            </a:r>
            <a:r>
              <a:rPr lang="en-US" dirty="0"/>
              <a:t> </a:t>
            </a:r>
            <a:r>
              <a:rPr lang="en-US" dirty="0" err="1"/>
              <a:t>OperatorExample</a:t>
            </a:r>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b="1" dirty="0" err="1"/>
              <a:t>int</a:t>
            </a:r>
            <a:r>
              <a:rPr lang="en-US" dirty="0"/>
              <a:t> a=10;  </a:t>
            </a:r>
          </a:p>
          <a:p>
            <a:r>
              <a:rPr lang="en-US" b="1" dirty="0" err="1"/>
              <a:t>int</a:t>
            </a:r>
            <a:r>
              <a:rPr lang="en-US" dirty="0"/>
              <a:t> b=-10;  </a:t>
            </a:r>
          </a:p>
          <a:p>
            <a:r>
              <a:rPr lang="en-US" b="1" dirty="0" err="1"/>
              <a:t>boolean</a:t>
            </a:r>
            <a:r>
              <a:rPr lang="en-US" dirty="0"/>
              <a:t> c=</a:t>
            </a:r>
            <a:r>
              <a:rPr lang="en-US" b="1" dirty="0"/>
              <a:t>true</a:t>
            </a:r>
            <a:r>
              <a:rPr lang="en-US" dirty="0"/>
              <a:t>;  </a:t>
            </a:r>
          </a:p>
          <a:p>
            <a:r>
              <a:rPr lang="en-US" b="1" dirty="0" err="1"/>
              <a:t>boolean</a:t>
            </a:r>
            <a:r>
              <a:rPr lang="en-US" dirty="0"/>
              <a:t> d=</a:t>
            </a:r>
            <a:r>
              <a:rPr lang="en-US" b="1" dirty="0"/>
              <a:t>false</a:t>
            </a:r>
            <a:r>
              <a:rPr lang="en-US" dirty="0"/>
              <a:t>;  </a:t>
            </a:r>
          </a:p>
          <a:p>
            <a:r>
              <a:rPr lang="en-US" dirty="0" err="1"/>
              <a:t>System.out.println</a:t>
            </a:r>
            <a:r>
              <a:rPr lang="en-US" dirty="0"/>
              <a:t>(~a);//-11 (minus of total positive value which starts from 0)  </a:t>
            </a:r>
          </a:p>
          <a:p>
            <a:r>
              <a:rPr lang="en-US" dirty="0" err="1"/>
              <a:t>System.out.println</a:t>
            </a:r>
            <a:r>
              <a:rPr lang="en-US" dirty="0"/>
              <a:t>(~b);//9 (positive of total minus, positive starts from 0)  </a:t>
            </a:r>
          </a:p>
          <a:p>
            <a:r>
              <a:rPr lang="en-US" dirty="0" err="1"/>
              <a:t>System.out.println</a:t>
            </a:r>
            <a:r>
              <a:rPr lang="en-US" dirty="0"/>
              <a:t>(!c);//false (opposite of </a:t>
            </a:r>
            <a:r>
              <a:rPr lang="en-US" dirty="0" err="1"/>
              <a:t>boolean</a:t>
            </a:r>
            <a:r>
              <a:rPr lang="en-US" dirty="0"/>
              <a:t> value)  </a:t>
            </a:r>
          </a:p>
          <a:p>
            <a:r>
              <a:rPr lang="en-US" dirty="0" err="1"/>
              <a:t>System.out.println</a:t>
            </a:r>
            <a:r>
              <a:rPr lang="en-US" dirty="0"/>
              <a:t>(!d);//true  </a:t>
            </a:r>
          </a:p>
          <a:p>
            <a:r>
              <a:rPr lang="en-US" dirty="0"/>
              <a:t>}}  </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Arithmetic Operators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64</a:t>
            </a:fld>
            <a:endParaRPr lang="en-US"/>
          </a:p>
        </p:txBody>
      </p:sp>
      <p:sp>
        <p:nvSpPr>
          <p:cNvPr id="4" name="Content Placeholder 3"/>
          <p:cNvSpPr>
            <a:spLocks noGrp="1"/>
          </p:cNvSpPr>
          <p:nvPr>
            <p:ph sz="quarter" idx="1"/>
          </p:nvPr>
        </p:nvSpPr>
        <p:spPr/>
        <p:txBody>
          <a:bodyPr>
            <a:normAutofit fontScale="85000" lnSpcReduction="20000"/>
          </a:bodyPr>
          <a:lstStyle/>
          <a:p>
            <a:pPr algn="just"/>
            <a:r>
              <a:rPr lang="en-US" dirty="0"/>
              <a:t>Java </a:t>
            </a:r>
            <a:r>
              <a:rPr lang="en-US" dirty="0" err="1"/>
              <a:t>arithmatic</a:t>
            </a:r>
            <a:r>
              <a:rPr lang="en-US" dirty="0"/>
              <a:t> operators are used to perform addition, subtraction, multiplication, and division. They act as basic mathematical operations.</a:t>
            </a:r>
          </a:p>
          <a:p>
            <a:r>
              <a:rPr lang="en-US" dirty="0"/>
              <a:t>Java Arithmetic Operator Example</a:t>
            </a:r>
          </a:p>
          <a:p>
            <a:r>
              <a:rPr lang="en-US" b="1" dirty="0"/>
              <a:t>class</a:t>
            </a:r>
            <a:r>
              <a:rPr lang="en-US" dirty="0"/>
              <a:t> </a:t>
            </a:r>
            <a:r>
              <a:rPr lang="en-US" dirty="0" err="1"/>
              <a:t>OperatorExample</a:t>
            </a:r>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b="1" dirty="0" err="1"/>
              <a:t>int</a:t>
            </a:r>
            <a:r>
              <a:rPr lang="en-US" dirty="0"/>
              <a:t> a=10;  </a:t>
            </a:r>
          </a:p>
          <a:p>
            <a:r>
              <a:rPr lang="en-US" b="1" dirty="0" err="1"/>
              <a:t>int</a:t>
            </a:r>
            <a:r>
              <a:rPr lang="en-US" dirty="0"/>
              <a:t> b=5;  </a:t>
            </a:r>
          </a:p>
          <a:p>
            <a:r>
              <a:rPr lang="en-US" dirty="0" err="1"/>
              <a:t>System.out.println</a:t>
            </a:r>
            <a:r>
              <a:rPr lang="en-US" dirty="0"/>
              <a:t>(</a:t>
            </a:r>
            <a:r>
              <a:rPr lang="en-US" dirty="0" err="1"/>
              <a:t>a+b</a:t>
            </a:r>
            <a:r>
              <a:rPr lang="en-US" dirty="0"/>
              <a:t>);//15  </a:t>
            </a:r>
          </a:p>
          <a:p>
            <a:r>
              <a:rPr lang="en-US" dirty="0" err="1"/>
              <a:t>System.out.println</a:t>
            </a:r>
            <a:r>
              <a:rPr lang="en-US" dirty="0"/>
              <a:t>(a-b);//5  </a:t>
            </a:r>
          </a:p>
          <a:p>
            <a:r>
              <a:rPr lang="en-US" dirty="0" err="1"/>
              <a:t>System.out.println</a:t>
            </a:r>
            <a:r>
              <a:rPr lang="en-US" dirty="0"/>
              <a:t>(a*b);//50  </a:t>
            </a:r>
          </a:p>
          <a:p>
            <a:r>
              <a:rPr lang="en-US" dirty="0" err="1"/>
              <a:t>System.out.println</a:t>
            </a:r>
            <a:r>
              <a:rPr lang="en-US" dirty="0"/>
              <a:t>(a/b);//2  </a:t>
            </a:r>
          </a:p>
          <a:p>
            <a:r>
              <a:rPr lang="en-US" dirty="0" err="1"/>
              <a:t>System.out.println</a:t>
            </a:r>
            <a:r>
              <a:rPr lang="en-US" dirty="0"/>
              <a:t>(</a:t>
            </a:r>
            <a:r>
              <a:rPr lang="en-US" dirty="0" err="1"/>
              <a:t>a%b</a:t>
            </a:r>
            <a:r>
              <a:rPr lang="en-US" dirty="0"/>
              <a:t>);//0  </a:t>
            </a:r>
          </a:p>
          <a:p>
            <a:r>
              <a:rPr lang="en-US" dirty="0"/>
              <a:t>}}  </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Left Shift Operator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65</a:t>
            </a:fld>
            <a:endParaRPr lang="en-US"/>
          </a:p>
        </p:txBody>
      </p:sp>
      <p:sp>
        <p:nvSpPr>
          <p:cNvPr id="4" name="Content Placeholder 3"/>
          <p:cNvSpPr>
            <a:spLocks noGrp="1"/>
          </p:cNvSpPr>
          <p:nvPr>
            <p:ph sz="quarter" idx="1"/>
          </p:nvPr>
        </p:nvSpPr>
        <p:spPr/>
        <p:txBody>
          <a:bodyPr>
            <a:normAutofit lnSpcReduction="10000"/>
          </a:bodyPr>
          <a:lstStyle/>
          <a:p>
            <a:r>
              <a:rPr lang="en-US" dirty="0"/>
              <a:t>The Java left shift operator &lt;&lt; is used to shift all of the bits in a value to the left side of a specified number of times.</a:t>
            </a:r>
          </a:p>
          <a:p>
            <a:r>
              <a:rPr lang="en-US" dirty="0"/>
              <a:t>Java Left Shift Operator Example</a:t>
            </a:r>
          </a:p>
          <a:p>
            <a:r>
              <a:rPr lang="en-US" b="1" dirty="0"/>
              <a:t>class</a:t>
            </a:r>
            <a:r>
              <a:rPr lang="en-US" dirty="0"/>
              <a:t> </a:t>
            </a:r>
            <a:r>
              <a:rPr lang="en-US" dirty="0" err="1"/>
              <a:t>OperatorExample</a:t>
            </a:r>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err="1"/>
              <a:t>System.out.println</a:t>
            </a:r>
            <a:r>
              <a:rPr lang="en-US" dirty="0"/>
              <a:t>(10&lt;&lt;2);//10*2^2=10*4=40  </a:t>
            </a:r>
          </a:p>
          <a:p>
            <a:r>
              <a:rPr lang="en-US" dirty="0" err="1"/>
              <a:t>System.out.println</a:t>
            </a:r>
            <a:r>
              <a:rPr lang="en-US" dirty="0"/>
              <a:t>(10&lt;&lt;3);//10*2^3=10*8=80  </a:t>
            </a:r>
          </a:p>
          <a:p>
            <a:r>
              <a:rPr lang="en-US" dirty="0" err="1"/>
              <a:t>System.out.println</a:t>
            </a:r>
            <a:r>
              <a:rPr lang="en-US" dirty="0"/>
              <a:t>(20&lt;&lt;2);//20*2^2=20*4=80  </a:t>
            </a:r>
          </a:p>
          <a:p>
            <a:r>
              <a:rPr lang="en-US" dirty="0" err="1"/>
              <a:t>System.out.println</a:t>
            </a:r>
            <a:r>
              <a:rPr lang="en-US" dirty="0"/>
              <a:t>(15&lt;&lt;4);//15*2^4=15*16=240  </a:t>
            </a:r>
          </a:p>
          <a:p>
            <a:r>
              <a:rPr lang="en-US" dirty="0"/>
              <a:t>}}  </a:t>
            </a:r>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Right Shift Operator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66</a:t>
            </a:fld>
            <a:endParaRPr lang="en-US"/>
          </a:p>
        </p:txBody>
      </p:sp>
      <p:sp>
        <p:nvSpPr>
          <p:cNvPr id="4" name="Content Placeholder 3"/>
          <p:cNvSpPr>
            <a:spLocks noGrp="1"/>
          </p:cNvSpPr>
          <p:nvPr>
            <p:ph sz="quarter" idx="1"/>
          </p:nvPr>
        </p:nvSpPr>
        <p:spPr/>
        <p:txBody>
          <a:bodyPr>
            <a:normAutofit/>
          </a:bodyPr>
          <a:lstStyle/>
          <a:p>
            <a:r>
              <a:rPr lang="en-US" dirty="0"/>
              <a:t>The Java right shift operator &gt;&gt; is used to move left operands value to right by the number of bits specified by the right operand.</a:t>
            </a:r>
          </a:p>
          <a:p>
            <a:r>
              <a:rPr lang="en-US" dirty="0"/>
              <a:t>Java Right Shift Operator Example</a:t>
            </a:r>
          </a:p>
          <a:p>
            <a:r>
              <a:rPr lang="en-US" b="1" dirty="0"/>
              <a:t>class</a:t>
            </a:r>
            <a:r>
              <a:rPr lang="en-US" dirty="0"/>
              <a:t> </a:t>
            </a:r>
            <a:r>
              <a:rPr lang="en-US" dirty="0" err="1"/>
              <a:t>OperatorExample</a:t>
            </a:r>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err="1"/>
              <a:t>System.out.println</a:t>
            </a:r>
            <a:r>
              <a:rPr lang="en-US" dirty="0"/>
              <a:t>(10&gt;&gt;2);//10/2^2=10/4=2  </a:t>
            </a:r>
          </a:p>
          <a:p>
            <a:r>
              <a:rPr lang="en-US" dirty="0" err="1"/>
              <a:t>System.out.println</a:t>
            </a:r>
            <a:r>
              <a:rPr lang="en-US" dirty="0"/>
              <a:t>(20&gt;&gt;2);//20/2^2=20/4=5  </a:t>
            </a:r>
          </a:p>
          <a:p>
            <a:r>
              <a:rPr lang="en-US" dirty="0" err="1"/>
              <a:t>System.out.println</a:t>
            </a:r>
            <a:r>
              <a:rPr lang="en-US" dirty="0"/>
              <a:t>(20&gt;&gt;3);//20/2^3=20/8=2  </a:t>
            </a:r>
          </a:p>
          <a:p>
            <a:r>
              <a:rPr lang="en-US" dirty="0"/>
              <a:t>}}  </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Java Shift Operator Example: &gt;&gt; </a:t>
            </a:r>
            <a:r>
              <a:rPr lang="en-US" b="1" dirty="0" err="1">
                <a:solidFill>
                  <a:srgbClr val="C00000"/>
                </a:solidFill>
              </a:rPr>
              <a:t>vs</a:t>
            </a:r>
            <a:r>
              <a:rPr lang="en-US" b="1" dirty="0">
                <a:solidFill>
                  <a:srgbClr val="C00000"/>
                </a:solidFill>
              </a:rPr>
              <a:t> &gt;&gt;&gt;</a:t>
            </a:r>
          </a:p>
        </p:txBody>
      </p:sp>
      <p:sp>
        <p:nvSpPr>
          <p:cNvPr id="3" name="Slide Number Placeholder 2"/>
          <p:cNvSpPr>
            <a:spLocks noGrp="1"/>
          </p:cNvSpPr>
          <p:nvPr>
            <p:ph type="sldNum" sz="quarter" idx="12"/>
          </p:nvPr>
        </p:nvSpPr>
        <p:spPr/>
        <p:txBody>
          <a:bodyPr/>
          <a:lstStyle/>
          <a:p>
            <a:fld id="{E3591306-41CF-4237-B2B4-5C605DD45071}" type="slidenum">
              <a:rPr lang="en-US" smtClean="0"/>
              <a:pPr/>
              <a:t>67</a:t>
            </a:fld>
            <a:endParaRPr lang="en-US"/>
          </a:p>
        </p:txBody>
      </p:sp>
      <p:sp>
        <p:nvSpPr>
          <p:cNvPr id="4" name="Content Placeholder 3"/>
          <p:cNvSpPr>
            <a:spLocks noGrp="1"/>
          </p:cNvSpPr>
          <p:nvPr>
            <p:ph sz="quarter" idx="1"/>
          </p:nvPr>
        </p:nvSpPr>
        <p:spPr/>
        <p:txBody>
          <a:bodyPr>
            <a:normAutofit/>
          </a:bodyPr>
          <a:lstStyle/>
          <a:p>
            <a:r>
              <a:rPr lang="en-US" b="1" dirty="0"/>
              <a:t>class</a:t>
            </a:r>
            <a:r>
              <a:rPr lang="en-US" dirty="0"/>
              <a:t> </a:t>
            </a:r>
            <a:r>
              <a:rPr lang="en-US" dirty="0" err="1"/>
              <a:t>OperatorExample</a:t>
            </a:r>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//For positive number, &gt;&gt; and &gt;&gt;&gt; works same  </a:t>
            </a:r>
          </a:p>
          <a:p>
            <a:r>
              <a:rPr lang="en-US" dirty="0"/>
              <a:t>    </a:t>
            </a:r>
            <a:r>
              <a:rPr lang="en-US" dirty="0" err="1"/>
              <a:t>System.out.println</a:t>
            </a:r>
            <a:r>
              <a:rPr lang="en-US" dirty="0"/>
              <a:t>(20&gt;&gt;2);  </a:t>
            </a:r>
          </a:p>
          <a:p>
            <a:r>
              <a:rPr lang="en-US" dirty="0"/>
              <a:t>    </a:t>
            </a:r>
            <a:r>
              <a:rPr lang="en-US" dirty="0" err="1"/>
              <a:t>System.out.println</a:t>
            </a:r>
            <a:r>
              <a:rPr lang="en-US" dirty="0"/>
              <a:t>(20&gt;&gt;&gt;2);  </a:t>
            </a:r>
          </a:p>
          <a:p>
            <a:r>
              <a:rPr lang="en-US" dirty="0"/>
              <a:t>    //For negative number, &gt;&gt;&gt; changes parity bit (MSB) to 0  </a:t>
            </a:r>
          </a:p>
          <a:p>
            <a:r>
              <a:rPr lang="en-US" dirty="0"/>
              <a:t>    </a:t>
            </a:r>
            <a:r>
              <a:rPr lang="en-US" dirty="0" err="1"/>
              <a:t>System.out.println</a:t>
            </a:r>
            <a:r>
              <a:rPr lang="en-US" dirty="0"/>
              <a:t>(-20&gt;&gt;2);  </a:t>
            </a:r>
          </a:p>
          <a:p>
            <a:r>
              <a:rPr lang="en-US" dirty="0"/>
              <a:t>    </a:t>
            </a:r>
            <a:r>
              <a:rPr lang="en-US" dirty="0" err="1"/>
              <a:t>System.out.println</a:t>
            </a:r>
            <a:r>
              <a:rPr lang="en-US" dirty="0"/>
              <a:t>(-20&gt;&gt;&gt;2);  </a:t>
            </a:r>
          </a:p>
          <a:p>
            <a:r>
              <a:rPr lang="en-US" dirty="0"/>
              <a:t>}}  </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Ternary Operator</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68</a:t>
            </a:fld>
            <a:endParaRPr lang="en-US"/>
          </a:p>
        </p:txBody>
      </p:sp>
      <p:sp>
        <p:nvSpPr>
          <p:cNvPr id="4" name="Content Placeholder 3"/>
          <p:cNvSpPr>
            <a:spLocks noGrp="1"/>
          </p:cNvSpPr>
          <p:nvPr>
            <p:ph sz="quarter" idx="1"/>
          </p:nvPr>
        </p:nvSpPr>
        <p:spPr/>
        <p:txBody>
          <a:bodyPr>
            <a:normAutofit fontScale="92500"/>
          </a:bodyPr>
          <a:lstStyle/>
          <a:p>
            <a:r>
              <a:rPr lang="en-US" dirty="0"/>
              <a:t>Java Ternary operator is used as one liner replacement for if-then-else statement and used a lot in Java programming. it is the only conditional operator which takes three operands.</a:t>
            </a:r>
          </a:p>
          <a:p>
            <a:r>
              <a:rPr lang="en-US" dirty="0"/>
              <a:t>Java Ternary Operator Example</a:t>
            </a:r>
          </a:p>
          <a:p>
            <a:r>
              <a:rPr lang="en-US" b="1" dirty="0"/>
              <a:t>class</a:t>
            </a:r>
            <a:r>
              <a:rPr lang="en-US" dirty="0"/>
              <a:t> </a:t>
            </a:r>
            <a:r>
              <a:rPr lang="en-US" dirty="0" err="1"/>
              <a:t>OperatorExample</a:t>
            </a:r>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b="1" dirty="0" err="1"/>
              <a:t>int</a:t>
            </a:r>
            <a:r>
              <a:rPr lang="en-US" dirty="0"/>
              <a:t> a=2;  </a:t>
            </a:r>
          </a:p>
          <a:p>
            <a:r>
              <a:rPr lang="en-US" b="1" dirty="0" err="1"/>
              <a:t>int</a:t>
            </a:r>
            <a:r>
              <a:rPr lang="en-US" dirty="0"/>
              <a:t> b=5;  </a:t>
            </a:r>
          </a:p>
          <a:p>
            <a:r>
              <a:rPr lang="en-US" b="1" dirty="0" err="1"/>
              <a:t>int</a:t>
            </a:r>
            <a:r>
              <a:rPr lang="en-US" dirty="0"/>
              <a:t> min=(a&lt;b)?a:b;  </a:t>
            </a:r>
          </a:p>
          <a:p>
            <a:r>
              <a:rPr lang="en-US" dirty="0" err="1"/>
              <a:t>System.out.println</a:t>
            </a:r>
            <a:r>
              <a:rPr lang="en-US" dirty="0"/>
              <a:t>(min);  </a:t>
            </a:r>
          </a:p>
          <a:p>
            <a:r>
              <a:rPr lang="en-US" dirty="0"/>
              <a:t>}}  </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Assignment Operator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69</a:t>
            </a:fld>
            <a:endParaRPr lang="en-US"/>
          </a:p>
        </p:txBody>
      </p:sp>
      <p:sp>
        <p:nvSpPr>
          <p:cNvPr id="4" name="Content Placeholder 3"/>
          <p:cNvSpPr>
            <a:spLocks noGrp="1"/>
          </p:cNvSpPr>
          <p:nvPr>
            <p:ph sz="quarter" idx="1"/>
          </p:nvPr>
        </p:nvSpPr>
        <p:spPr/>
        <p:txBody>
          <a:bodyPr>
            <a:normAutofit fontScale="92500" lnSpcReduction="20000"/>
          </a:bodyPr>
          <a:lstStyle/>
          <a:p>
            <a:r>
              <a:rPr lang="en-US" dirty="0"/>
              <a:t>Java assignment operator is one of the most common operator. It is used to assign the value on its right to the operand on its left.</a:t>
            </a:r>
          </a:p>
          <a:p>
            <a:r>
              <a:rPr lang="en-US" dirty="0"/>
              <a:t>Java Assignment Operator Example</a:t>
            </a:r>
          </a:p>
          <a:p>
            <a:r>
              <a:rPr lang="en-US" b="1" dirty="0"/>
              <a:t>class</a:t>
            </a:r>
            <a:r>
              <a:rPr lang="en-US" dirty="0"/>
              <a:t> </a:t>
            </a:r>
            <a:r>
              <a:rPr lang="en-US" dirty="0" err="1"/>
              <a:t>OperatorExample</a:t>
            </a:r>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b="1" dirty="0" err="1"/>
              <a:t>int</a:t>
            </a:r>
            <a:r>
              <a:rPr lang="en-US" dirty="0"/>
              <a:t> a=10;  </a:t>
            </a:r>
          </a:p>
          <a:p>
            <a:r>
              <a:rPr lang="en-US" b="1" dirty="0" err="1"/>
              <a:t>int</a:t>
            </a:r>
            <a:r>
              <a:rPr lang="en-US" dirty="0"/>
              <a:t> b=20;  </a:t>
            </a:r>
          </a:p>
          <a:p>
            <a:r>
              <a:rPr lang="en-US" dirty="0"/>
              <a:t>a+=4;//a=a+4 (a=10+4)  </a:t>
            </a:r>
          </a:p>
          <a:p>
            <a:r>
              <a:rPr lang="en-US" dirty="0"/>
              <a:t>b-=4;//b=b-4 (b=20-4)  </a:t>
            </a:r>
          </a:p>
          <a:p>
            <a:r>
              <a:rPr lang="en-US" dirty="0" err="1"/>
              <a:t>System.out.println</a:t>
            </a:r>
            <a:r>
              <a:rPr lang="en-US" dirty="0"/>
              <a:t>(a);  </a:t>
            </a:r>
          </a:p>
          <a:p>
            <a:r>
              <a:rPr lang="en-US" dirty="0" err="1"/>
              <a:t>System.out.println</a:t>
            </a:r>
            <a:r>
              <a:rPr lang="en-US" dirty="0"/>
              <a:t>(b);  </a:t>
            </a:r>
          </a:p>
          <a:p>
            <a:r>
              <a:rPr lang="en-US" dirty="0"/>
              <a:t>}}  </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Java AND Operator Example: Logical &amp;&amp; and Bitwise &amp;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70</a:t>
            </a:fld>
            <a:endParaRPr lang="en-US"/>
          </a:p>
        </p:txBody>
      </p:sp>
      <p:sp>
        <p:nvSpPr>
          <p:cNvPr id="4" name="Content Placeholder 3"/>
          <p:cNvSpPr>
            <a:spLocks noGrp="1"/>
          </p:cNvSpPr>
          <p:nvPr>
            <p:ph sz="quarter" idx="1"/>
          </p:nvPr>
        </p:nvSpPr>
        <p:spPr/>
        <p:txBody>
          <a:bodyPr>
            <a:normAutofit fontScale="92500" lnSpcReduction="20000"/>
          </a:bodyPr>
          <a:lstStyle/>
          <a:p>
            <a:r>
              <a:rPr lang="en-US" dirty="0"/>
              <a:t>The logical &amp;&amp; operator doesn't check second condition if first condition is false. It checks second condition only if first one is true.</a:t>
            </a:r>
          </a:p>
          <a:p>
            <a:r>
              <a:rPr lang="en-US" dirty="0"/>
              <a:t>The bitwise &amp; operator always checks both conditions whether first condition is true or false.</a:t>
            </a:r>
          </a:p>
          <a:p>
            <a:r>
              <a:rPr lang="en-US" b="1" dirty="0"/>
              <a:t>class</a:t>
            </a:r>
            <a:r>
              <a:rPr lang="en-US" dirty="0"/>
              <a:t> </a:t>
            </a:r>
            <a:r>
              <a:rPr lang="en-US" dirty="0" err="1"/>
              <a:t>OperatorExample</a:t>
            </a:r>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b="1" dirty="0" err="1"/>
              <a:t>int</a:t>
            </a:r>
            <a:r>
              <a:rPr lang="en-US" dirty="0"/>
              <a:t> a=10;  </a:t>
            </a:r>
          </a:p>
          <a:p>
            <a:r>
              <a:rPr lang="en-US" b="1" dirty="0" err="1"/>
              <a:t>int</a:t>
            </a:r>
            <a:r>
              <a:rPr lang="en-US" dirty="0"/>
              <a:t> b=5;  </a:t>
            </a:r>
          </a:p>
          <a:p>
            <a:r>
              <a:rPr lang="en-US" b="1" dirty="0" err="1"/>
              <a:t>int</a:t>
            </a:r>
            <a:r>
              <a:rPr lang="en-US" dirty="0"/>
              <a:t> c=20;  </a:t>
            </a:r>
          </a:p>
          <a:p>
            <a:r>
              <a:rPr lang="en-US" dirty="0" err="1"/>
              <a:t>System.out.println</a:t>
            </a:r>
            <a:r>
              <a:rPr lang="en-US" dirty="0"/>
              <a:t>(a&lt;b&amp;&amp;a&lt;c);//false &amp;&amp; true = false  </a:t>
            </a:r>
          </a:p>
          <a:p>
            <a:r>
              <a:rPr lang="en-US" dirty="0" err="1"/>
              <a:t>System.out.println</a:t>
            </a:r>
            <a:r>
              <a:rPr lang="en-US" dirty="0"/>
              <a:t>(a&lt;</a:t>
            </a:r>
            <a:r>
              <a:rPr lang="en-US" dirty="0" err="1"/>
              <a:t>b&amp;a</a:t>
            </a:r>
            <a:r>
              <a:rPr lang="en-US" dirty="0"/>
              <a:t>&lt;c);//false &amp; true = false  </a:t>
            </a:r>
          </a:p>
          <a:p>
            <a:r>
              <a:rPr lang="en-US" dirty="0"/>
              <a:t>}}  </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Java OR Operator Example: Logical || and Bitwise |</a:t>
            </a:r>
          </a:p>
        </p:txBody>
      </p:sp>
      <p:sp>
        <p:nvSpPr>
          <p:cNvPr id="3" name="Slide Number Placeholder 2"/>
          <p:cNvSpPr>
            <a:spLocks noGrp="1"/>
          </p:cNvSpPr>
          <p:nvPr>
            <p:ph type="sldNum" sz="quarter" idx="12"/>
          </p:nvPr>
        </p:nvSpPr>
        <p:spPr/>
        <p:txBody>
          <a:bodyPr/>
          <a:lstStyle/>
          <a:p>
            <a:fld id="{E3591306-41CF-4237-B2B4-5C605DD45071}" type="slidenum">
              <a:rPr lang="en-US" smtClean="0"/>
              <a:pPr/>
              <a:t>71</a:t>
            </a:fld>
            <a:endParaRPr lang="en-US"/>
          </a:p>
        </p:txBody>
      </p:sp>
      <p:sp>
        <p:nvSpPr>
          <p:cNvPr id="4" name="Content Placeholder 3"/>
          <p:cNvSpPr>
            <a:spLocks noGrp="1"/>
          </p:cNvSpPr>
          <p:nvPr>
            <p:ph sz="quarter" idx="1"/>
          </p:nvPr>
        </p:nvSpPr>
        <p:spPr/>
        <p:txBody>
          <a:bodyPr>
            <a:normAutofit fontScale="62500" lnSpcReduction="20000"/>
          </a:bodyPr>
          <a:lstStyle/>
          <a:p>
            <a:r>
              <a:rPr lang="en-US" sz="3000" dirty="0"/>
              <a:t>The logical || operator doesn't check second condition if first condition is true. It checks second condition only if first one is false.</a:t>
            </a:r>
          </a:p>
          <a:p>
            <a:r>
              <a:rPr lang="en-US" sz="3000" dirty="0"/>
              <a:t>The bitwise | operator always checks both conditions whether first condition is true or false.</a:t>
            </a:r>
          </a:p>
          <a:p>
            <a:r>
              <a:rPr lang="en-US" sz="3000" b="1" dirty="0"/>
              <a:t>class</a:t>
            </a:r>
            <a:r>
              <a:rPr lang="en-US" sz="3000" dirty="0"/>
              <a:t> </a:t>
            </a:r>
            <a:r>
              <a:rPr lang="en-US" sz="3000" dirty="0" err="1"/>
              <a:t>OperatorExample</a:t>
            </a:r>
            <a:r>
              <a:rPr lang="en-US" sz="3000" dirty="0"/>
              <a:t>{  </a:t>
            </a:r>
          </a:p>
          <a:p>
            <a:r>
              <a:rPr lang="en-US" sz="3000" b="1" dirty="0"/>
              <a:t>public</a:t>
            </a:r>
            <a:r>
              <a:rPr lang="en-US" sz="3000" dirty="0"/>
              <a:t> </a:t>
            </a:r>
            <a:r>
              <a:rPr lang="en-US" sz="3000" b="1" dirty="0"/>
              <a:t>static</a:t>
            </a:r>
            <a:r>
              <a:rPr lang="en-US" sz="3000" dirty="0"/>
              <a:t> </a:t>
            </a:r>
            <a:r>
              <a:rPr lang="en-US" sz="3000" b="1" dirty="0"/>
              <a:t>void</a:t>
            </a:r>
            <a:r>
              <a:rPr lang="en-US" sz="3000" dirty="0"/>
              <a:t> main(String </a:t>
            </a:r>
            <a:r>
              <a:rPr lang="en-US" sz="3000" dirty="0" err="1"/>
              <a:t>args</a:t>
            </a:r>
            <a:r>
              <a:rPr lang="en-US" sz="3000" dirty="0"/>
              <a:t>[]){  </a:t>
            </a:r>
          </a:p>
          <a:p>
            <a:r>
              <a:rPr lang="en-US" sz="3000" b="1" dirty="0" err="1"/>
              <a:t>int</a:t>
            </a:r>
            <a:r>
              <a:rPr lang="en-US" sz="3000" dirty="0"/>
              <a:t> a=10;  </a:t>
            </a:r>
          </a:p>
          <a:p>
            <a:r>
              <a:rPr lang="en-US" sz="3000" b="1" dirty="0" err="1"/>
              <a:t>int</a:t>
            </a:r>
            <a:r>
              <a:rPr lang="en-US" sz="3000" dirty="0"/>
              <a:t> b=5;  </a:t>
            </a:r>
          </a:p>
          <a:p>
            <a:r>
              <a:rPr lang="en-US" sz="3000" b="1" dirty="0" err="1"/>
              <a:t>int</a:t>
            </a:r>
            <a:r>
              <a:rPr lang="en-US" sz="3000" dirty="0"/>
              <a:t> c=20;  </a:t>
            </a:r>
          </a:p>
          <a:p>
            <a:r>
              <a:rPr lang="en-US" sz="3000" dirty="0" err="1"/>
              <a:t>System.out.println</a:t>
            </a:r>
            <a:r>
              <a:rPr lang="en-US" sz="3000" dirty="0"/>
              <a:t>(a&gt;b||a&lt;c);//true || true = true  </a:t>
            </a:r>
          </a:p>
          <a:p>
            <a:r>
              <a:rPr lang="en-US" sz="3000" dirty="0" err="1"/>
              <a:t>System.out.println</a:t>
            </a:r>
            <a:r>
              <a:rPr lang="en-US" sz="3000" dirty="0"/>
              <a:t>(a&gt;</a:t>
            </a:r>
            <a:r>
              <a:rPr lang="en-US" sz="3000" dirty="0" err="1"/>
              <a:t>b|a</a:t>
            </a:r>
            <a:r>
              <a:rPr lang="en-US" sz="3000" dirty="0"/>
              <a:t>&lt;c);//true | true = true  </a:t>
            </a:r>
          </a:p>
          <a:p>
            <a:r>
              <a:rPr lang="en-US" sz="3000" dirty="0"/>
              <a:t>//|| </a:t>
            </a:r>
            <a:r>
              <a:rPr lang="en-US" sz="3000" dirty="0" err="1"/>
              <a:t>vs</a:t>
            </a:r>
            <a:r>
              <a:rPr lang="en-US" sz="3000" dirty="0"/>
              <a:t> |  </a:t>
            </a:r>
          </a:p>
          <a:p>
            <a:r>
              <a:rPr lang="en-US" sz="3000" dirty="0" err="1"/>
              <a:t>System.out.println</a:t>
            </a:r>
            <a:r>
              <a:rPr lang="en-US" sz="3000" dirty="0"/>
              <a:t>(a&gt;b||a++&lt;c);//true || true = true  </a:t>
            </a:r>
          </a:p>
          <a:p>
            <a:r>
              <a:rPr lang="en-US" sz="3000" dirty="0" err="1"/>
              <a:t>System.out.println</a:t>
            </a:r>
            <a:r>
              <a:rPr lang="en-US" sz="3000" dirty="0"/>
              <a:t>(a);//10 because second condition is not checked  </a:t>
            </a:r>
          </a:p>
          <a:p>
            <a:r>
              <a:rPr lang="en-US" sz="3000" dirty="0" err="1"/>
              <a:t>System.out.println</a:t>
            </a:r>
            <a:r>
              <a:rPr lang="en-US" sz="3000" dirty="0"/>
              <a:t>(a&gt;</a:t>
            </a:r>
            <a:r>
              <a:rPr lang="en-US" sz="3000" dirty="0" err="1"/>
              <a:t>b|a</a:t>
            </a:r>
            <a:r>
              <a:rPr lang="en-US" sz="3000" dirty="0"/>
              <a:t>++&lt;c);//true | true = true  </a:t>
            </a:r>
          </a:p>
          <a:p>
            <a:r>
              <a:rPr lang="en-US" sz="3000" dirty="0" err="1"/>
              <a:t>System.out.println</a:t>
            </a:r>
            <a:r>
              <a:rPr lang="en-US" sz="3000" dirty="0"/>
              <a:t>(a);//11 because second condition is checked  </a:t>
            </a:r>
          </a:p>
          <a:p>
            <a:r>
              <a:rPr lang="en-US" sz="3000" dirty="0"/>
              <a:t>}}  </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Arrays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72</a:t>
            </a:fld>
            <a:endParaRPr lang="en-US"/>
          </a:p>
        </p:txBody>
      </p:sp>
      <p:sp>
        <p:nvSpPr>
          <p:cNvPr id="4" name="Content Placeholder 3"/>
          <p:cNvSpPr>
            <a:spLocks noGrp="1"/>
          </p:cNvSpPr>
          <p:nvPr>
            <p:ph sz="quarter" idx="1"/>
          </p:nvPr>
        </p:nvSpPr>
        <p:spPr/>
        <p:txBody>
          <a:bodyPr>
            <a:normAutofit/>
          </a:bodyPr>
          <a:lstStyle/>
          <a:p>
            <a:pPr algn="just"/>
            <a:r>
              <a:rPr lang="en-US" sz="1600" dirty="0"/>
              <a:t>An array is a collection of similar type of elements which has contiguous memory location.</a:t>
            </a:r>
          </a:p>
          <a:p>
            <a:pPr algn="just"/>
            <a:r>
              <a:rPr lang="en-US" sz="1600" b="1" dirty="0"/>
              <a:t>Java array</a:t>
            </a:r>
            <a:r>
              <a:rPr lang="en-US" sz="1600" dirty="0"/>
              <a:t> is an object which contains elements of a similar data type. Additionally, The elements of an array are stored in a contiguous memory location. </a:t>
            </a:r>
          </a:p>
          <a:p>
            <a:pPr algn="just"/>
            <a:r>
              <a:rPr lang="en-US" sz="1600" dirty="0"/>
              <a:t>It is a data structure where we store similar elements. We can store only a fixed set of elements in a Java array.</a:t>
            </a:r>
          </a:p>
          <a:p>
            <a:pPr algn="just"/>
            <a:r>
              <a:rPr lang="en-US" sz="1600" dirty="0"/>
              <a:t>Array in Java is index-based, the first element of the array is stored at the 0th index, 2nd element is stored on 1st index and so on.</a:t>
            </a:r>
          </a:p>
          <a:p>
            <a:endParaRPr lang="en-US" sz="1600" b="1" dirty="0"/>
          </a:p>
          <a:p>
            <a:endParaRPr lang="en-US" sz="1600" b="1" dirty="0"/>
          </a:p>
          <a:p>
            <a:endParaRPr lang="en-US" sz="1600" b="1" dirty="0"/>
          </a:p>
          <a:p>
            <a:r>
              <a:rPr lang="en-US" sz="2000" b="1" dirty="0"/>
              <a:t>Advantages</a:t>
            </a:r>
          </a:p>
          <a:p>
            <a:pPr lvl="1"/>
            <a:r>
              <a:rPr lang="en-US" sz="1600" b="1" dirty="0">
                <a:solidFill>
                  <a:schemeClr val="tx1"/>
                </a:solidFill>
              </a:rPr>
              <a:t>Code Optimization:</a:t>
            </a:r>
            <a:r>
              <a:rPr lang="en-US" sz="1600" dirty="0">
                <a:solidFill>
                  <a:schemeClr val="tx1"/>
                </a:solidFill>
              </a:rPr>
              <a:t> It makes the code optimized, we can retrieve or sort the data efficiently.</a:t>
            </a:r>
          </a:p>
          <a:p>
            <a:pPr lvl="1"/>
            <a:r>
              <a:rPr lang="en-US" sz="1600" b="1" dirty="0">
                <a:solidFill>
                  <a:schemeClr val="tx1"/>
                </a:solidFill>
              </a:rPr>
              <a:t>Random access:</a:t>
            </a:r>
            <a:r>
              <a:rPr lang="en-US" sz="1600" dirty="0">
                <a:solidFill>
                  <a:schemeClr val="tx1"/>
                </a:solidFill>
              </a:rPr>
              <a:t> We can get any data located at an index position.</a:t>
            </a:r>
          </a:p>
          <a:p>
            <a:r>
              <a:rPr lang="en-US" sz="2000" b="1" dirty="0"/>
              <a:t>Disadvantages</a:t>
            </a:r>
          </a:p>
          <a:p>
            <a:pPr lvl="1"/>
            <a:r>
              <a:rPr lang="en-US" sz="1600" b="1" dirty="0">
                <a:solidFill>
                  <a:schemeClr val="tx1"/>
                </a:solidFill>
              </a:rPr>
              <a:t>Size Limit:</a:t>
            </a:r>
            <a:r>
              <a:rPr lang="en-US" sz="1600" dirty="0">
                <a:solidFill>
                  <a:schemeClr val="tx1"/>
                </a:solidFill>
              </a:rPr>
              <a:t> We can store only the fixed size of elements in the array. It doesn't grow its size at runtime. To solve this problem, collection framework is used in Java which grows automatically.</a:t>
            </a:r>
          </a:p>
          <a:p>
            <a:pPr algn="just"/>
            <a:endParaRPr lang="en-US" sz="2400" dirty="0"/>
          </a:p>
          <a:p>
            <a:endParaRPr lang="en-US" sz="2400" dirty="0"/>
          </a:p>
        </p:txBody>
      </p:sp>
      <p:pic>
        <p:nvPicPr>
          <p:cNvPr id="93186" name="Picture 2" descr="Java array"/>
          <p:cNvPicPr>
            <a:picLocks noChangeAspect="1" noChangeArrowheads="1"/>
          </p:cNvPicPr>
          <p:nvPr/>
        </p:nvPicPr>
        <p:blipFill>
          <a:blip r:embed="rId2"/>
          <a:srcRect/>
          <a:stretch>
            <a:fillRect/>
          </a:stretch>
        </p:blipFill>
        <p:spPr bwMode="auto">
          <a:xfrm>
            <a:off x="2567178" y="3346101"/>
            <a:ext cx="5109762" cy="1247426"/>
          </a:xfrm>
          <a:prstGeom prst="rect">
            <a:avLst/>
          </a:prstGeo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Types of Array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73</a:t>
            </a:fld>
            <a:endParaRPr lang="en-US"/>
          </a:p>
        </p:txBody>
      </p:sp>
      <p:sp>
        <p:nvSpPr>
          <p:cNvPr id="4" name="Content Placeholder 3"/>
          <p:cNvSpPr>
            <a:spLocks noGrp="1"/>
          </p:cNvSpPr>
          <p:nvPr>
            <p:ph sz="quarter" idx="1"/>
          </p:nvPr>
        </p:nvSpPr>
        <p:spPr/>
        <p:txBody>
          <a:bodyPr>
            <a:normAutofit fontScale="77500" lnSpcReduction="20000"/>
          </a:bodyPr>
          <a:lstStyle/>
          <a:p>
            <a:r>
              <a:rPr lang="en-US" dirty="0"/>
              <a:t>There are two types of array.</a:t>
            </a:r>
          </a:p>
          <a:p>
            <a:pPr lvl="1"/>
            <a:r>
              <a:rPr lang="en-US" dirty="0">
                <a:solidFill>
                  <a:srgbClr val="C00000"/>
                </a:solidFill>
              </a:rPr>
              <a:t>Single Dimensional Array</a:t>
            </a:r>
          </a:p>
          <a:p>
            <a:pPr lvl="1"/>
            <a:r>
              <a:rPr lang="en-US" dirty="0">
                <a:solidFill>
                  <a:srgbClr val="C00000"/>
                </a:solidFill>
              </a:rPr>
              <a:t>Multidimensional Array</a:t>
            </a:r>
          </a:p>
          <a:p>
            <a:pPr>
              <a:buNone/>
            </a:pPr>
            <a:endParaRPr lang="en-US" dirty="0"/>
          </a:p>
          <a:p>
            <a:pPr>
              <a:buNone/>
            </a:pPr>
            <a:r>
              <a:rPr lang="en-US" sz="3800" b="1" dirty="0">
                <a:solidFill>
                  <a:srgbClr val="C00000"/>
                </a:solidFill>
              </a:rPr>
              <a:t>Single Dimensional Array in Java</a:t>
            </a:r>
          </a:p>
          <a:p>
            <a:r>
              <a:rPr lang="en-US" sz="3800" b="1" dirty="0"/>
              <a:t>Syntax to Declare an Array in Java</a:t>
            </a:r>
            <a:endParaRPr lang="en-US" sz="3800" dirty="0"/>
          </a:p>
          <a:p>
            <a:pPr lvl="1"/>
            <a:r>
              <a:rPr lang="en-US" sz="3300" dirty="0" err="1"/>
              <a:t>dataType</a:t>
            </a:r>
            <a:r>
              <a:rPr lang="en-US" sz="3300" dirty="0"/>
              <a:t>[] </a:t>
            </a:r>
            <a:r>
              <a:rPr lang="en-US" sz="3300" dirty="0" err="1"/>
              <a:t>arr</a:t>
            </a:r>
            <a:r>
              <a:rPr lang="en-US" sz="3300" dirty="0"/>
              <a:t>; (or)  </a:t>
            </a:r>
          </a:p>
          <a:p>
            <a:pPr lvl="1"/>
            <a:r>
              <a:rPr lang="en-US" sz="3300" dirty="0" err="1"/>
              <a:t>dataType</a:t>
            </a:r>
            <a:r>
              <a:rPr lang="en-US" sz="3300" dirty="0"/>
              <a:t> []</a:t>
            </a:r>
            <a:r>
              <a:rPr lang="en-US" sz="3300" dirty="0" err="1"/>
              <a:t>arr</a:t>
            </a:r>
            <a:r>
              <a:rPr lang="en-US" sz="3300" dirty="0"/>
              <a:t>; (or)  </a:t>
            </a:r>
          </a:p>
          <a:p>
            <a:pPr lvl="1"/>
            <a:r>
              <a:rPr lang="en-US" sz="3300" dirty="0" err="1"/>
              <a:t>dataType</a:t>
            </a:r>
            <a:r>
              <a:rPr lang="en-US" sz="3300" dirty="0"/>
              <a:t> </a:t>
            </a:r>
            <a:r>
              <a:rPr lang="en-US" sz="3300" dirty="0" err="1"/>
              <a:t>arr</a:t>
            </a:r>
            <a:r>
              <a:rPr lang="en-US" sz="3300" dirty="0"/>
              <a:t>[];  </a:t>
            </a:r>
          </a:p>
          <a:p>
            <a:r>
              <a:rPr lang="en-US" sz="3800" b="1" dirty="0"/>
              <a:t>Instantiation of an Array in Java</a:t>
            </a:r>
            <a:endParaRPr lang="en-US" sz="3800" dirty="0"/>
          </a:p>
          <a:p>
            <a:pPr lvl="1"/>
            <a:r>
              <a:rPr lang="en-US" sz="3300" dirty="0" err="1"/>
              <a:t>arrayRefVar</a:t>
            </a:r>
            <a:r>
              <a:rPr lang="en-US" sz="3300" dirty="0"/>
              <a:t>=</a:t>
            </a:r>
            <a:r>
              <a:rPr lang="en-US" sz="3300" b="1" dirty="0"/>
              <a:t>new</a:t>
            </a:r>
            <a:r>
              <a:rPr lang="en-US" sz="3300" dirty="0"/>
              <a:t> </a:t>
            </a:r>
            <a:r>
              <a:rPr lang="en-US" sz="3300" dirty="0" err="1"/>
              <a:t>datatype</a:t>
            </a:r>
            <a:r>
              <a:rPr lang="en-US" sz="3300" dirty="0"/>
              <a:t>[size];  </a:t>
            </a:r>
          </a:p>
          <a:p>
            <a:pPr lvl="1">
              <a:buNone/>
            </a:pPr>
            <a:endParaRPr lang="en-US" dirty="0">
              <a:solidFill>
                <a:srgbClr val="C00000"/>
              </a:solidFill>
            </a:endParaRPr>
          </a:p>
          <a:p>
            <a:pPr>
              <a:buNone/>
            </a:pPr>
            <a:br>
              <a:rPr lang="en-US" dirty="0"/>
            </a:b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Declaration, Instantiation and Initialization of Java Array</a:t>
            </a:r>
          </a:p>
        </p:txBody>
      </p:sp>
      <p:sp>
        <p:nvSpPr>
          <p:cNvPr id="3" name="Slide Number Placeholder 2"/>
          <p:cNvSpPr>
            <a:spLocks noGrp="1"/>
          </p:cNvSpPr>
          <p:nvPr>
            <p:ph type="sldNum" sz="quarter" idx="12"/>
          </p:nvPr>
        </p:nvSpPr>
        <p:spPr/>
        <p:txBody>
          <a:bodyPr/>
          <a:lstStyle/>
          <a:p>
            <a:fld id="{E3591306-41CF-4237-B2B4-5C605DD45071}" type="slidenum">
              <a:rPr lang="en-US" smtClean="0"/>
              <a:pPr/>
              <a:t>74</a:t>
            </a:fld>
            <a:endParaRPr lang="en-US"/>
          </a:p>
        </p:txBody>
      </p:sp>
      <p:sp>
        <p:nvSpPr>
          <p:cNvPr id="4" name="Content Placeholder 3"/>
          <p:cNvSpPr>
            <a:spLocks noGrp="1"/>
          </p:cNvSpPr>
          <p:nvPr>
            <p:ph sz="quarter" idx="1"/>
          </p:nvPr>
        </p:nvSpPr>
        <p:spPr/>
        <p:txBody>
          <a:bodyPr>
            <a:normAutofit fontScale="92500" lnSpcReduction="20000"/>
          </a:bodyPr>
          <a:lstStyle/>
          <a:p>
            <a:r>
              <a:rPr lang="en-US" dirty="0"/>
              <a:t>We can declare, instantiate and initialize the java array together by:</a:t>
            </a:r>
          </a:p>
          <a:p>
            <a:r>
              <a:rPr lang="en-US" b="1" dirty="0" err="1"/>
              <a:t>int</a:t>
            </a:r>
            <a:r>
              <a:rPr lang="en-US" dirty="0"/>
              <a:t> a[]={33,3,4,5};//declaration, instantiation and initialization  </a:t>
            </a:r>
          </a:p>
          <a:p>
            <a:r>
              <a:rPr lang="en-US" b="1" dirty="0"/>
              <a:t>Example</a:t>
            </a:r>
          </a:p>
          <a:p>
            <a:r>
              <a:rPr lang="en-US" b="1" dirty="0"/>
              <a:t>class</a:t>
            </a:r>
            <a:r>
              <a:rPr lang="en-US" dirty="0"/>
              <a:t> Testarray1{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b="1" dirty="0" err="1"/>
              <a:t>int</a:t>
            </a:r>
            <a:r>
              <a:rPr lang="en-US" dirty="0"/>
              <a:t> a[]={33,3,4,5};//declaration, instantiation and initialization  </a:t>
            </a:r>
          </a:p>
          <a:p>
            <a:r>
              <a:rPr lang="en-US" dirty="0"/>
              <a:t>//printing array  </a:t>
            </a:r>
          </a:p>
          <a:p>
            <a:r>
              <a:rPr lang="en-US" b="1" dirty="0"/>
              <a:t>for</a:t>
            </a:r>
            <a:r>
              <a:rPr lang="en-US" dirty="0"/>
              <a:t>(</a:t>
            </a:r>
            <a:r>
              <a:rPr lang="en-US" b="1" dirty="0" err="1"/>
              <a:t>int</a:t>
            </a:r>
            <a:r>
              <a:rPr lang="en-US" dirty="0"/>
              <a:t> </a:t>
            </a:r>
            <a:r>
              <a:rPr lang="en-US" dirty="0" err="1"/>
              <a:t>i</a:t>
            </a:r>
            <a:r>
              <a:rPr lang="en-US" dirty="0"/>
              <a:t>=0;i&lt;</a:t>
            </a:r>
            <a:r>
              <a:rPr lang="en-US" dirty="0" err="1"/>
              <a:t>a.length;i</a:t>
            </a:r>
            <a:r>
              <a:rPr lang="en-US" dirty="0"/>
              <a:t>++)//length is the property of array  </a:t>
            </a:r>
          </a:p>
          <a:p>
            <a:r>
              <a:rPr lang="en-US" dirty="0" err="1"/>
              <a:t>System.out.println</a:t>
            </a:r>
            <a:r>
              <a:rPr lang="en-US" dirty="0"/>
              <a:t>(a[</a:t>
            </a:r>
            <a:r>
              <a:rPr lang="en-US" dirty="0" err="1"/>
              <a:t>i</a:t>
            </a:r>
            <a:r>
              <a:rPr lang="en-US" dirty="0"/>
              <a:t>]);  </a:t>
            </a:r>
          </a:p>
          <a:p>
            <a:r>
              <a:rPr lang="en-US" dirty="0"/>
              <a:t>}}  </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75</a:t>
            </a:fld>
            <a:endParaRPr lang="en-US"/>
          </a:p>
        </p:txBody>
      </p:sp>
      <p:sp>
        <p:nvSpPr>
          <p:cNvPr id="4" name="Content Placeholder 3"/>
          <p:cNvSpPr>
            <a:spLocks noGrp="1"/>
          </p:cNvSpPr>
          <p:nvPr>
            <p:ph sz="quarter" idx="1"/>
          </p:nvPr>
        </p:nvSpPr>
        <p:spPr/>
        <p:txBody>
          <a:bodyPr>
            <a:normAutofit lnSpcReduction="10000"/>
          </a:bodyPr>
          <a:lstStyle/>
          <a:p>
            <a:pPr algn="just"/>
            <a:r>
              <a:rPr lang="en-US" sz="2000" b="1" dirty="0">
                <a:solidFill>
                  <a:srgbClr val="C00000"/>
                </a:solidFill>
              </a:rPr>
              <a:t>Access the Elements of an Array</a:t>
            </a:r>
          </a:p>
          <a:p>
            <a:pPr algn="just"/>
            <a:r>
              <a:rPr lang="en-US" sz="2000" dirty="0"/>
              <a:t>You access an array element by referring to the index number.</a:t>
            </a:r>
          </a:p>
          <a:p>
            <a:pPr algn="just"/>
            <a:r>
              <a:rPr lang="en-US" sz="2000" dirty="0"/>
              <a:t>This statement accesses the value of the first element in cars:</a:t>
            </a:r>
          </a:p>
          <a:p>
            <a:pPr algn="just"/>
            <a:r>
              <a:rPr lang="en-US" sz="2000" b="1" dirty="0"/>
              <a:t>Example</a:t>
            </a:r>
          </a:p>
          <a:p>
            <a:pPr algn="just"/>
            <a:r>
              <a:rPr lang="en-US" sz="2000" dirty="0"/>
              <a:t>String[] cars = {"Volvo", "BMW", "Ford", "Mazda"}; </a:t>
            </a:r>
            <a:r>
              <a:rPr lang="en-US" sz="2000" dirty="0" err="1"/>
              <a:t>System.out.println</a:t>
            </a:r>
            <a:r>
              <a:rPr lang="en-US" sz="2000" dirty="0"/>
              <a:t>(cars[0]); </a:t>
            </a:r>
          </a:p>
          <a:p>
            <a:pPr algn="just"/>
            <a:r>
              <a:rPr lang="en-US" sz="2000" dirty="0"/>
              <a:t>// Outputs Volvo</a:t>
            </a:r>
          </a:p>
          <a:p>
            <a:r>
              <a:rPr lang="en-US" sz="2000" b="1" dirty="0">
                <a:solidFill>
                  <a:srgbClr val="C00000"/>
                </a:solidFill>
              </a:rPr>
              <a:t>Change an Array Element</a:t>
            </a:r>
          </a:p>
          <a:p>
            <a:r>
              <a:rPr lang="en-US" sz="2000" dirty="0"/>
              <a:t>To change the value of a specific element, refer to the index number:</a:t>
            </a:r>
          </a:p>
          <a:p>
            <a:r>
              <a:rPr lang="en-US" sz="2000" b="1" dirty="0"/>
              <a:t>Example</a:t>
            </a:r>
          </a:p>
          <a:p>
            <a:r>
              <a:rPr lang="en-US" sz="2000" dirty="0"/>
              <a:t>cars[0] = "Opel";</a:t>
            </a:r>
          </a:p>
          <a:p>
            <a:r>
              <a:rPr lang="en-US" sz="2000" b="1" dirty="0">
                <a:solidFill>
                  <a:srgbClr val="C00000"/>
                </a:solidFill>
              </a:rPr>
              <a:t>Array Length</a:t>
            </a:r>
          </a:p>
          <a:p>
            <a:r>
              <a:rPr lang="en-US" sz="2000" dirty="0"/>
              <a:t>To find out how many elements an array has, use the length property:</a:t>
            </a:r>
          </a:p>
          <a:p>
            <a:r>
              <a:rPr lang="en-US" sz="2000" b="1" dirty="0"/>
              <a:t>Example</a:t>
            </a:r>
          </a:p>
          <a:p>
            <a:r>
              <a:rPr lang="en-US" sz="2000" dirty="0"/>
              <a:t>String[] cars = {"Volvo", "BMW", "Ford", "Mazda"}; </a:t>
            </a:r>
            <a:r>
              <a:rPr lang="en-US" sz="2000" dirty="0" err="1"/>
              <a:t>System.out.println</a:t>
            </a:r>
            <a:r>
              <a:rPr lang="en-US" sz="2000" dirty="0"/>
              <a:t>(</a:t>
            </a:r>
            <a:r>
              <a:rPr lang="en-US" sz="2000" dirty="0" err="1"/>
              <a:t>cars.length</a:t>
            </a:r>
            <a:r>
              <a:rPr lang="en-US" sz="2000" dirty="0"/>
              <a:t>); // Outputs 4</a:t>
            </a:r>
          </a:p>
          <a:p>
            <a:pPr algn="just"/>
            <a:endParaRPr lang="en-US"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76</a:t>
            </a:fld>
            <a:endParaRPr lang="en-US"/>
          </a:p>
        </p:txBody>
      </p:sp>
      <p:sp>
        <p:nvSpPr>
          <p:cNvPr id="4" name="Content Placeholder 3"/>
          <p:cNvSpPr>
            <a:spLocks noGrp="1"/>
          </p:cNvSpPr>
          <p:nvPr>
            <p:ph sz="quarter" idx="1"/>
          </p:nvPr>
        </p:nvSpPr>
        <p:spPr/>
        <p:txBody>
          <a:bodyPr/>
          <a:lstStyle/>
          <a:p>
            <a:pPr algn="just"/>
            <a:r>
              <a:rPr lang="en-US" sz="1800" b="1" dirty="0">
                <a:solidFill>
                  <a:srgbClr val="C00000"/>
                </a:solidFill>
              </a:rPr>
              <a:t>Loop Through an Array</a:t>
            </a:r>
          </a:p>
          <a:p>
            <a:pPr algn="just"/>
            <a:r>
              <a:rPr lang="en-US" sz="1800" dirty="0"/>
              <a:t>You can loop through the array elements with the for loop, and use the length property to specify how many times the loop should run.</a:t>
            </a:r>
          </a:p>
          <a:p>
            <a:pPr algn="just"/>
            <a:r>
              <a:rPr lang="en-US" sz="1800" dirty="0"/>
              <a:t>The following example outputs all elements in the </a:t>
            </a:r>
            <a:r>
              <a:rPr lang="en-US" sz="1800" b="1" dirty="0"/>
              <a:t>cars</a:t>
            </a:r>
            <a:r>
              <a:rPr lang="en-US" sz="1800" dirty="0"/>
              <a:t> array:</a:t>
            </a:r>
          </a:p>
          <a:p>
            <a:pPr algn="just"/>
            <a:r>
              <a:rPr lang="en-US" sz="1800" b="1" dirty="0"/>
              <a:t>Example</a:t>
            </a:r>
          </a:p>
          <a:p>
            <a:pPr algn="just"/>
            <a:r>
              <a:rPr lang="en-US" sz="1800" dirty="0"/>
              <a:t>String[] cars = {"Volvo", "BMW", "Ford", "Mazda"}; for (</a:t>
            </a:r>
            <a:r>
              <a:rPr lang="en-US" sz="1800" dirty="0" err="1"/>
              <a:t>int</a:t>
            </a:r>
            <a:r>
              <a:rPr lang="en-US" sz="1800" dirty="0"/>
              <a:t> </a:t>
            </a:r>
            <a:r>
              <a:rPr lang="en-US" sz="1800" dirty="0" err="1"/>
              <a:t>i</a:t>
            </a:r>
            <a:r>
              <a:rPr lang="en-US" sz="1800" dirty="0"/>
              <a:t> = 0; </a:t>
            </a:r>
            <a:r>
              <a:rPr lang="en-US" sz="1800" dirty="0" err="1"/>
              <a:t>i</a:t>
            </a:r>
            <a:r>
              <a:rPr lang="en-US" sz="1800" dirty="0"/>
              <a:t> &lt; </a:t>
            </a:r>
            <a:r>
              <a:rPr lang="en-US" sz="1800" dirty="0" err="1"/>
              <a:t>cars.length</a:t>
            </a:r>
            <a:r>
              <a:rPr lang="en-US" sz="1800" dirty="0"/>
              <a:t>; </a:t>
            </a:r>
            <a:r>
              <a:rPr lang="en-US" sz="1800" dirty="0" err="1"/>
              <a:t>i</a:t>
            </a:r>
            <a:r>
              <a:rPr lang="en-US" sz="1800" dirty="0"/>
              <a:t>++) { </a:t>
            </a:r>
            <a:r>
              <a:rPr lang="en-US" sz="1800" dirty="0" err="1"/>
              <a:t>System.out.println</a:t>
            </a:r>
            <a:r>
              <a:rPr lang="en-US" sz="1800" dirty="0"/>
              <a:t>(cars[</a:t>
            </a:r>
            <a:r>
              <a:rPr lang="en-US" sz="1800" dirty="0" err="1"/>
              <a:t>i</a:t>
            </a:r>
            <a:r>
              <a:rPr lang="en-US" sz="1800" dirty="0"/>
              <a:t>]); }</a:t>
            </a:r>
          </a:p>
          <a:p>
            <a:pPr algn="just"/>
            <a:r>
              <a:rPr lang="en-US" sz="1800" b="1" dirty="0">
                <a:solidFill>
                  <a:srgbClr val="C00000"/>
                </a:solidFill>
              </a:rPr>
              <a:t>Loop Through an Array with For-Each</a:t>
            </a:r>
          </a:p>
          <a:p>
            <a:pPr algn="just"/>
            <a:r>
              <a:rPr lang="en-US" sz="1800" dirty="0"/>
              <a:t>There is also a "for-each" loop, which is used exclusively to loop through elements in arrays:</a:t>
            </a:r>
          </a:p>
          <a:p>
            <a:pPr algn="just"/>
            <a:r>
              <a:rPr lang="en-US" sz="1800" dirty="0"/>
              <a:t>Syntax</a:t>
            </a:r>
          </a:p>
          <a:p>
            <a:pPr algn="just"/>
            <a:r>
              <a:rPr lang="en-US" sz="1800" dirty="0"/>
              <a:t>for (type variable : </a:t>
            </a:r>
            <a:r>
              <a:rPr lang="en-US" sz="1800" dirty="0" err="1"/>
              <a:t>arrayname</a:t>
            </a:r>
            <a:r>
              <a:rPr lang="en-US" sz="1800" dirty="0"/>
              <a:t>) { ... }</a:t>
            </a:r>
          </a:p>
          <a:p>
            <a:r>
              <a:rPr lang="en-US" sz="2000" b="1" dirty="0"/>
              <a:t>Example</a:t>
            </a:r>
          </a:p>
          <a:p>
            <a:r>
              <a:rPr lang="en-US" sz="2000" dirty="0"/>
              <a:t>String[] cars = {"Volvo", "BMW", "Ford", "Mazda"}; for (String </a:t>
            </a:r>
            <a:r>
              <a:rPr lang="en-US" sz="2000" dirty="0" err="1"/>
              <a:t>i</a:t>
            </a:r>
            <a:r>
              <a:rPr lang="en-US" sz="2000" dirty="0"/>
              <a:t> : cars) { </a:t>
            </a:r>
            <a:r>
              <a:rPr lang="en-US" sz="2000" dirty="0" err="1"/>
              <a:t>System.out.println</a:t>
            </a:r>
            <a:r>
              <a:rPr lang="en-US" sz="2000" dirty="0"/>
              <a:t>(</a:t>
            </a:r>
            <a:r>
              <a:rPr lang="en-US" sz="2000" dirty="0" err="1"/>
              <a:t>i</a:t>
            </a:r>
            <a:r>
              <a:rPr lang="en-US" sz="2000" dirty="0"/>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Example of Java Array</a:t>
            </a:r>
          </a:p>
        </p:txBody>
      </p:sp>
      <p:sp>
        <p:nvSpPr>
          <p:cNvPr id="3" name="Slide Number Placeholder 2"/>
          <p:cNvSpPr>
            <a:spLocks noGrp="1"/>
          </p:cNvSpPr>
          <p:nvPr>
            <p:ph type="sldNum" sz="quarter" idx="12"/>
          </p:nvPr>
        </p:nvSpPr>
        <p:spPr/>
        <p:txBody>
          <a:bodyPr/>
          <a:lstStyle/>
          <a:p>
            <a:fld id="{E3591306-41CF-4237-B2B4-5C605DD45071}" type="slidenum">
              <a:rPr lang="en-US" smtClean="0"/>
              <a:pPr/>
              <a:t>77</a:t>
            </a:fld>
            <a:endParaRPr lang="en-US" dirty="0"/>
          </a:p>
        </p:txBody>
      </p:sp>
      <p:sp>
        <p:nvSpPr>
          <p:cNvPr id="4" name="Content Placeholder 3"/>
          <p:cNvSpPr>
            <a:spLocks noGrp="1"/>
          </p:cNvSpPr>
          <p:nvPr>
            <p:ph sz="quarter" idx="1"/>
          </p:nvPr>
        </p:nvSpPr>
        <p:spPr/>
        <p:txBody>
          <a:bodyPr>
            <a:normAutofit fontScale="70000" lnSpcReduction="20000"/>
          </a:bodyPr>
          <a:lstStyle/>
          <a:p>
            <a:r>
              <a:rPr lang="en-US" dirty="0"/>
              <a:t>Let's see the simple example of java array, where we are going to declare, instantiate, initialize and traverse an array.</a:t>
            </a:r>
          </a:p>
          <a:p>
            <a:r>
              <a:rPr lang="en-US" dirty="0"/>
              <a:t>//Java Program to illustrate how to declare, instantiate, initialize  </a:t>
            </a:r>
          </a:p>
          <a:p>
            <a:r>
              <a:rPr lang="en-US" dirty="0"/>
              <a:t>//and traverse the Java array.  </a:t>
            </a:r>
          </a:p>
          <a:p>
            <a:r>
              <a:rPr lang="en-US" b="1" dirty="0"/>
              <a:t>class</a:t>
            </a:r>
            <a:r>
              <a:rPr lang="en-US" dirty="0"/>
              <a:t> </a:t>
            </a:r>
            <a:r>
              <a:rPr lang="en-US" dirty="0" err="1"/>
              <a:t>Testarray</a:t>
            </a:r>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b="1" dirty="0" err="1"/>
              <a:t>int</a:t>
            </a:r>
            <a:r>
              <a:rPr lang="en-US" dirty="0"/>
              <a:t> a[]=</a:t>
            </a:r>
            <a:r>
              <a:rPr lang="en-US" b="1" dirty="0"/>
              <a:t>new</a:t>
            </a:r>
            <a:r>
              <a:rPr lang="en-US" dirty="0"/>
              <a:t> </a:t>
            </a:r>
            <a:r>
              <a:rPr lang="en-US" b="1" dirty="0" err="1"/>
              <a:t>int</a:t>
            </a:r>
            <a:r>
              <a:rPr lang="en-US" dirty="0"/>
              <a:t>[5];//declaration and instantiation  </a:t>
            </a:r>
          </a:p>
          <a:p>
            <a:r>
              <a:rPr lang="en-US" dirty="0"/>
              <a:t>a[0]=10;//initialization  </a:t>
            </a:r>
          </a:p>
          <a:p>
            <a:r>
              <a:rPr lang="en-US" dirty="0"/>
              <a:t>a[1]=20;  </a:t>
            </a:r>
          </a:p>
          <a:p>
            <a:r>
              <a:rPr lang="en-US" dirty="0"/>
              <a:t>a[2]=70;  </a:t>
            </a:r>
          </a:p>
          <a:p>
            <a:r>
              <a:rPr lang="en-US" dirty="0"/>
              <a:t>a[3]=40;  </a:t>
            </a:r>
          </a:p>
          <a:p>
            <a:r>
              <a:rPr lang="en-US" dirty="0"/>
              <a:t>a[4]=50;  </a:t>
            </a:r>
          </a:p>
          <a:p>
            <a:r>
              <a:rPr lang="en-US" dirty="0"/>
              <a:t>//traversing array  </a:t>
            </a:r>
          </a:p>
          <a:p>
            <a:r>
              <a:rPr lang="en-US" b="1" dirty="0"/>
              <a:t>for</a:t>
            </a:r>
            <a:r>
              <a:rPr lang="en-US" dirty="0"/>
              <a:t>(</a:t>
            </a:r>
            <a:r>
              <a:rPr lang="en-US" b="1" dirty="0" err="1"/>
              <a:t>int</a:t>
            </a:r>
            <a:r>
              <a:rPr lang="en-US" dirty="0"/>
              <a:t> </a:t>
            </a:r>
            <a:r>
              <a:rPr lang="en-US" dirty="0" err="1"/>
              <a:t>i</a:t>
            </a:r>
            <a:r>
              <a:rPr lang="en-US" dirty="0"/>
              <a:t>=0;i&lt;</a:t>
            </a:r>
            <a:r>
              <a:rPr lang="en-US" dirty="0" err="1"/>
              <a:t>a.length;i</a:t>
            </a:r>
            <a:r>
              <a:rPr lang="en-US" dirty="0"/>
              <a:t>++)//length is the property of array  </a:t>
            </a:r>
          </a:p>
          <a:p>
            <a:r>
              <a:rPr lang="en-US" dirty="0" err="1"/>
              <a:t>System.out.println</a:t>
            </a:r>
            <a:r>
              <a:rPr lang="en-US" dirty="0"/>
              <a:t>(a[</a:t>
            </a:r>
            <a:r>
              <a:rPr lang="en-US" dirty="0" err="1"/>
              <a:t>i</a:t>
            </a:r>
            <a:r>
              <a:rPr lang="en-US" dirty="0"/>
              <a:t>]);  </a:t>
            </a:r>
          </a:p>
          <a:p>
            <a:r>
              <a:rPr lang="en-US" dirty="0"/>
              <a:t>}}  </a:t>
            </a:r>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Passing Array to a Method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78</a:t>
            </a:fld>
            <a:endParaRPr lang="en-US"/>
          </a:p>
        </p:txBody>
      </p:sp>
      <p:sp>
        <p:nvSpPr>
          <p:cNvPr id="4" name="Content Placeholder 3"/>
          <p:cNvSpPr>
            <a:spLocks noGrp="1"/>
          </p:cNvSpPr>
          <p:nvPr>
            <p:ph sz="quarter" idx="1"/>
          </p:nvPr>
        </p:nvSpPr>
        <p:spPr/>
        <p:txBody>
          <a:bodyPr>
            <a:normAutofit fontScale="47500" lnSpcReduction="20000"/>
          </a:bodyPr>
          <a:lstStyle/>
          <a:p>
            <a:r>
              <a:rPr lang="en-US" sz="3700" dirty="0"/>
              <a:t>We can pass the java array to method so that we can reuse the same logic on any array.</a:t>
            </a:r>
          </a:p>
          <a:p>
            <a:r>
              <a:rPr lang="en-US" sz="3700" dirty="0"/>
              <a:t>Let's see the simple example to get the minimum number of an array using a method.</a:t>
            </a:r>
          </a:p>
          <a:p>
            <a:r>
              <a:rPr lang="en-US" sz="3700" b="1" dirty="0"/>
              <a:t>class</a:t>
            </a:r>
            <a:r>
              <a:rPr lang="en-US" sz="3700" dirty="0"/>
              <a:t> Testarray2{  </a:t>
            </a:r>
          </a:p>
          <a:p>
            <a:r>
              <a:rPr lang="en-US" sz="3700" dirty="0"/>
              <a:t>//creating a method which receives an array as a parameter  </a:t>
            </a:r>
          </a:p>
          <a:p>
            <a:r>
              <a:rPr lang="en-US" sz="3700" b="1" dirty="0"/>
              <a:t>static</a:t>
            </a:r>
            <a:r>
              <a:rPr lang="en-US" sz="3700" dirty="0"/>
              <a:t> </a:t>
            </a:r>
            <a:r>
              <a:rPr lang="en-US" sz="3700" b="1" dirty="0"/>
              <a:t>void</a:t>
            </a:r>
            <a:r>
              <a:rPr lang="en-US" sz="3700" dirty="0"/>
              <a:t> min(</a:t>
            </a:r>
            <a:r>
              <a:rPr lang="en-US" sz="3700" b="1" dirty="0" err="1"/>
              <a:t>int</a:t>
            </a:r>
            <a:r>
              <a:rPr lang="en-US" sz="3700" dirty="0"/>
              <a:t> </a:t>
            </a:r>
            <a:r>
              <a:rPr lang="en-US" sz="3700" dirty="0" err="1"/>
              <a:t>arr</a:t>
            </a:r>
            <a:r>
              <a:rPr lang="en-US" sz="3700" dirty="0"/>
              <a:t>[]){  </a:t>
            </a:r>
          </a:p>
          <a:p>
            <a:r>
              <a:rPr lang="en-US" sz="3700" b="1" dirty="0" err="1"/>
              <a:t>int</a:t>
            </a:r>
            <a:r>
              <a:rPr lang="en-US" sz="3700" dirty="0"/>
              <a:t> min=</a:t>
            </a:r>
            <a:r>
              <a:rPr lang="en-US" sz="3700" dirty="0" err="1"/>
              <a:t>arr</a:t>
            </a:r>
            <a:r>
              <a:rPr lang="en-US" sz="3700" dirty="0"/>
              <a:t>[0];  </a:t>
            </a:r>
          </a:p>
          <a:p>
            <a:r>
              <a:rPr lang="en-US" sz="3700" b="1" dirty="0"/>
              <a:t>for</a:t>
            </a:r>
            <a:r>
              <a:rPr lang="en-US" sz="3700" dirty="0"/>
              <a:t>(</a:t>
            </a:r>
            <a:r>
              <a:rPr lang="en-US" sz="3700" b="1" dirty="0" err="1"/>
              <a:t>int</a:t>
            </a:r>
            <a:r>
              <a:rPr lang="en-US" sz="3700" dirty="0"/>
              <a:t> </a:t>
            </a:r>
            <a:r>
              <a:rPr lang="en-US" sz="3700" dirty="0" err="1"/>
              <a:t>i</a:t>
            </a:r>
            <a:r>
              <a:rPr lang="en-US" sz="3700" dirty="0"/>
              <a:t>=1;i&lt;</a:t>
            </a:r>
            <a:r>
              <a:rPr lang="en-US" sz="3700" dirty="0" err="1"/>
              <a:t>arr.length;i</a:t>
            </a:r>
            <a:r>
              <a:rPr lang="en-US" sz="3700" dirty="0"/>
              <a:t>++)  </a:t>
            </a:r>
          </a:p>
          <a:p>
            <a:r>
              <a:rPr lang="en-US" sz="3700" dirty="0"/>
              <a:t> </a:t>
            </a:r>
            <a:r>
              <a:rPr lang="en-US" sz="3700" b="1" dirty="0"/>
              <a:t>if</a:t>
            </a:r>
            <a:r>
              <a:rPr lang="en-US" sz="3700" dirty="0"/>
              <a:t>(min&gt;</a:t>
            </a:r>
            <a:r>
              <a:rPr lang="en-US" sz="3700" dirty="0" err="1"/>
              <a:t>arr</a:t>
            </a:r>
            <a:r>
              <a:rPr lang="en-US" sz="3700" dirty="0"/>
              <a:t>[</a:t>
            </a:r>
            <a:r>
              <a:rPr lang="en-US" sz="3700" dirty="0" err="1"/>
              <a:t>i</a:t>
            </a:r>
            <a:r>
              <a:rPr lang="en-US" sz="3700" dirty="0"/>
              <a:t>])  </a:t>
            </a:r>
          </a:p>
          <a:p>
            <a:r>
              <a:rPr lang="en-US" sz="3700" dirty="0"/>
              <a:t>  min=</a:t>
            </a:r>
            <a:r>
              <a:rPr lang="en-US" sz="3700" dirty="0" err="1"/>
              <a:t>arr</a:t>
            </a:r>
            <a:r>
              <a:rPr lang="en-US" sz="3700" dirty="0"/>
              <a:t>[</a:t>
            </a:r>
            <a:r>
              <a:rPr lang="en-US" sz="3700" dirty="0" err="1"/>
              <a:t>i</a:t>
            </a:r>
            <a:r>
              <a:rPr lang="en-US" sz="3700" dirty="0"/>
              <a:t>];    </a:t>
            </a:r>
          </a:p>
          <a:p>
            <a:r>
              <a:rPr lang="en-US" sz="3700" dirty="0" err="1"/>
              <a:t>System.out.println</a:t>
            </a:r>
            <a:r>
              <a:rPr lang="en-US" sz="3700" dirty="0"/>
              <a:t>(min);  </a:t>
            </a:r>
          </a:p>
          <a:p>
            <a:r>
              <a:rPr lang="en-US" sz="3700" dirty="0"/>
              <a:t>}  </a:t>
            </a:r>
          </a:p>
          <a:p>
            <a:r>
              <a:rPr lang="en-US" sz="3700" b="1" dirty="0"/>
              <a:t>public</a:t>
            </a:r>
            <a:r>
              <a:rPr lang="en-US" sz="3700" dirty="0"/>
              <a:t> </a:t>
            </a:r>
            <a:r>
              <a:rPr lang="en-US" sz="3700" b="1" dirty="0"/>
              <a:t>static</a:t>
            </a:r>
            <a:r>
              <a:rPr lang="en-US" sz="3700" dirty="0"/>
              <a:t> </a:t>
            </a:r>
            <a:r>
              <a:rPr lang="en-US" sz="3700" b="1" dirty="0"/>
              <a:t>void</a:t>
            </a:r>
            <a:r>
              <a:rPr lang="en-US" sz="3700" dirty="0"/>
              <a:t> main(String </a:t>
            </a:r>
            <a:r>
              <a:rPr lang="en-US" sz="3700" dirty="0" err="1"/>
              <a:t>args</a:t>
            </a:r>
            <a:r>
              <a:rPr lang="en-US" sz="3700" dirty="0"/>
              <a:t>[]){  </a:t>
            </a:r>
          </a:p>
          <a:p>
            <a:r>
              <a:rPr lang="en-US" sz="3700" b="1" dirty="0" err="1"/>
              <a:t>int</a:t>
            </a:r>
            <a:r>
              <a:rPr lang="en-US" sz="3700" dirty="0"/>
              <a:t> a[]={33,3,4,5};//declaring and initializing an array  </a:t>
            </a:r>
          </a:p>
          <a:p>
            <a:r>
              <a:rPr lang="en-US" sz="3700" dirty="0"/>
              <a:t>min(a);//passing array to method  </a:t>
            </a:r>
          </a:p>
          <a:p>
            <a:r>
              <a:rPr lang="en-US" sz="3700" dirty="0"/>
              <a:t>}}  </a:t>
            </a:r>
          </a:p>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C00000"/>
                </a:solidFill>
              </a:rPr>
              <a:t>Multidimensional Arrays</a:t>
            </a:r>
            <a:endParaRPr lang="en-US" dirty="0"/>
          </a:p>
        </p:txBody>
      </p:sp>
      <p:sp>
        <p:nvSpPr>
          <p:cNvPr id="3" name="Slide Number Placeholder 2"/>
          <p:cNvSpPr>
            <a:spLocks noGrp="1"/>
          </p:cNvSpPr>
          <p:nvPr>
            <p:ph type="sldNum" sz="quarter" idx="12"/>
          </p:nvPr>
        </p:nvSpPr>
        <p:spPr/>
        <p:txBody>
          <a:bodyPr/>
          <a:lstStyle/>
          <a:p>
            <a:fld id="{E3591306-41CF-4237-B2B4-5C605DD45071}" type="slidenum">
              <a:rPr lang="en-US" smtClean="0"/>
              <a:pPr/>
              <a:t>79</a:t>
            </a:fld>
            <a:endParaRPr lang="en-US"/>
          </a:p>
        </p:txBody>
      </p:sp>
      <p:sp>
        <p:nvSpPr>
          <p:cNvPr id="4" name="Content Placeholder 3"/>
          <p:cNvSpPr>
            <a:spLocks noGrp="1"/>
          </p:cNvSpPr>
          <p:nvPr>
            <p:ph sz="quarter" idx="1"/>
          </p:nvPr>
        </p:nvSpPr>
        <p:spPr/>
        <p:txBody>
          <a:bodyPr>
            <a:noAutofit/>
          </a:bodyPr>
          <a:lstStyle/>
          <a:p>
            <a:r>
              <a:rPr lang="en-US" sz="2000" dirty="0"/>
              <a:t>A multidimensional array is an array containing one or more arrays.</a:t>
            </a:r>
          </a:p>
          <a:p>
            <a:r>
              <a:rPr lang="en-US" sz="1800" b="1" dirty="0"/>
              <a:t>Syntax to Declare Multidimensional Array in Java</a:t>
            </a:r>
            <a:endParaRPr lang="en-US" sz="1800" dirty="0"/>
          </a:p>
          <a:p>
            <a:r>
              <a:rPr lang="en-US" sz="1800" dirty="0" err="1"/>
              <a:t>dataType</a:t>
            </a:r>
            <a:r>
              <a:rPr lang="en-US" sz="1800" dirty="0"/>
              <a:t>[][] </a:t>
            </a:r>
            <a:r>
              <a:rPr lang="en-US" sz="1800" dirty="0" err="1"/>
              <a:t>arrayRefVar</a:t>
            </a:r>
            <a:r>
              <a:rPr lang="en-US" sz="1800" dirty="0"/>
              <a:t>; (or)  </a:t>
            </a:r>
          </a:p>
          <a:p>
            <a:r>
              <a:rPr lang="en-US" sz="1800" dirty="0" err="1"/>
              <a:t>dataType</a:t>
            </a:r>
            <a:r>
              <a:rPr lang="en-US" sz="1800" dirty="0"/>
              <a:t> [][]</a:t>
            </a:r>
            <a:r>
              <a:rPr lang="en-US" sz="1800" dirty="0" err="1"/>
              <a:t>arrayRefVar</a:t>
            </a:r>
            <a:r>
              <a:rPr lang="en-US" sz="1800" dirty="0"/>
              <a:t>; (or)  </a:t>
            </a:r>
          </a:p>
          <a:p>
            <a:r>
              <a:rPr lang="en-US" sz="1800" dirty="0" err="1"/>
              <a:t>dataType</a:t>
            </a:r>
            <a:r>
              <a:rPr lang="en-US" sz="1800" dirty="0"/>
              <a:t> </a:t>
            </a:r>
            <a:r>
              <a:rPr lang="en-US" sz="1800" dirty="0" err="1"/>
              <a:t>arrayRefVar</a:t>
            </a:r>
            <a:r>
              <a:rPr lang="en-US" sz="1800" dirty="0"/>
              <a:t>[][]; (or)  </a:t>
            </a:r>
          </a:p>
          <a:p>
            <a:r>
              <a:rPr lang="en-US" sz="1800" dirty="0" err="1"/>
              <a:t>dataType</a:t>
            </a:r>
            <a:r>
              <a:rPr lang="en-US" sz="1800" dirty="0"/>
              <a:t> []</a:t>
            </a:r>
            <a:r>
              <a:rPr lang="en-US" sz="1800" dirty="0" err="1"/>
              <a:t>arrayRefVar</a:t>
            </a:r>
            <a:r>
              <a:rPr lang="en-US" sz="1800" dirty="0"/>
              <a:t>[];   </a:t>
            </a:r>
          </a:p>
          <a:p>
            <a:r>
              <a:rPr lang="en-US" sz="1800" b="1" dirty="0"/>
              <a:t>Example to instantiate Multidimensional Array in Java</a:t>
            </a:r>
            <a:endParaRPr lang="en-US" sz="1800" dirty="0"/>
          </a:p>
          <a:p>
            <a:r>
              <a:rPr lang="en-US" sz="1800" b="1" dirty="0" err="1"/>
              <a:t>int</a:t>
            </a:r>
            <a:r>
              <a:rPr lang="en-US" sz="1800" dirty="0"/>
              <a:t>[][] </a:t>
            </a:r>
            <a:r>
              <a:rPr lang="en-US" sz="1800" dirty="0" err="1"/>
              <a:t>arr</a:t>
            </a:r>
            <a:r>
              <a:rPr lang="en-US" sz="1800" dirty="0"/>
              <a:t>=</a:t>
            </a:r>
            <a:r>
              <a:rPr lang="en-US" sz="1800" b="1" dirty="0"/>
              <a:t>new</a:t>
            </a:r>
            <a:r>
              <a:rPr lang="en-US" sz="1800" dirty="0"/>
              <a:t> </a:t>
            </a:r>
            <a:r>
              <a:rPr lang="en-US" sz="1800" b="1" dirty="0" err="1"/>
              <a:t>int</a:t>
            </a:r>
            <a:r>
              <a:rPr lang="en-US" sz="1800" dirty="0"/>
              <a:t>[2][2];//2 row and 2 column  </a:t>
            </a:r>
          </a:p>
          <a:p>
            <a:r>
              <a:rPr lang="en-US" sz="1800" b="1" dirty="0"/>
              <a:t>Example to initialize Multidimensional Array in Java</a:t>
            </a:r>
            <a:endParaRPr lang="en-US" sz="1800" dirty="0"/>
          </a:p>
          <a:p>
            <a:r>
              <a:rPr lang="en-US" sz="1800" dirty="0" err="1"/>
              <a:t>arr</a:t>
            </a:r>
            <a:r>
              <a:rPr lang="en-US" sz="1800" dirty="0"/>
              <a:t>[0][0]=1;  </a:t>
            </a:r>
          </a:p>
          <a:p>
            <a:r>
              <a:rPr lang="en-US" sz="1800" dirty="0" err="1"/>
              <a:t>arr</a:t>
            </a:r>
            <a:r>
              <a:rPr lang="en-US" sz="1800" dirty="0"/>
              <a:t>[0][1]=2;  </a:t>
            </a:r>
          </a:p>
          <a:p>
            <a:r>
              <a:rPr lang="en-US" sz="1800" dirty="0" err="1"/>
              <a:t>arr</a:t>
            </a:r>
            <a:r>
              <a:rPr lang="en-US" sz="1800" dirty="0"/>
              <a:t>[1][0]=4;  </a:t>
            </a:r>
          </a:p>
          <a:p>
            <a:r>
              <a:rPr lang="en-US" sz="1800" dirty="0" err="1"/>
              <a:t>arr</a:t>
            </a:r>
            <a:r>
              <a:rPr lang="en-US" sz="1800" dirty="0"/>
              <a:t>[1][1]=5;  </a:t>
            </a:r>
          </a:p>
          <a:p>
            <a:endParaRPr lang="en-US" sz="1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C00000"/>
                </a:solidFill>
              </a:rPr>
              <a:t>Example of Multidimensional Java Array</a:t>
            </a:r>
          </a:p>
        </p:txBody>
      </p:sp>
      <p:sp>
        <p:nvSpPr>
          <p:cNvPr id="3" name="Slide Number Placeholder 2"/>
          <p:cNvSpPr>
            <a:spLocks noGrp="1"/>
          </p:cNvSpPr>
          <p:nvPr>
            <p:ph type="sldNum" sz="quarter" idx="12"/>
          </p:nvPr>
        </p:nvSpPr>
        <p:spPr/>
        <p:txBody>
          <a:bodyPr/>
          <a:lstStyle/>
          <a:p>
            <a:fld id="{E3591306-41CF-4237-B2B4-5C605DD45071}" type="slidenum">
              <a:rPr lang="en-US" smtClean="0"/>
              <a:pPr/>
              <a:t>80</a:t>
            </a:fld>
            <a:endParaRPr lang="en-US"/>
          </a:p>
        </p:txBody>
      </p:sp>
      <p:sp>
        <p:nvSpPr>
          <p:cNvPr id="4" name="Content Placeholder 3"/>
          <p:cNvSpPr>
            <a:spLocks noGrp="1"/>
          </p:cNvSpPr>
          <p:nvPr>
            <p:ph sz="quarter" idx="1"/>
          </p:nvPr>
        </p:nvSpPr>
        <p:spPr/>
        <p:txBody>
          <a:bodyPr>
            <a:normAutofit fontScale="62500" lnSpcReduction="20000"/>
          </a:bodyPr>
          <a:lstStyle/>
          <a:p>
            <a:r>
              <a:rPr lang="en-US" dirty="0"/>
              <a:t>//Java Program to demonstrate the addition of two matrices in Java  </a:t>
            </a:r>
          </a:p>
          <a:p>
            <a:r>
              <a:rPr lang="en-US" b="1" dirty="0"/>
              <a:t>class</a:t>
            </a:r>
            <a:r>
              <a:rPr lang="en-US" dirty="0"/>
              <a:t> Testarray5{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//creating two matrices  </a:t>
            </a:r>
          </a:p>
          <a:p>
            <a:r>
              <a:rPr lang="en-US" b="1" dirty="0" err="1"/>
              <a:t>int</a:t>
            </a:r>
            <a:r>
              <a:rPr lang="en-US" dirty="0"/>
              <a:t> a[][]={{1,3,4},{3,4,5}};  </a:t>
            </a:r>
          </a:p>
          <a:p>
            <a:r>
              <a:rPr lang="en-US" b="1" dirty="0" err="1"/>
              <a:t>int</a:t>
            </a:r>
            <a:r>
              <a:rPr lang="en-US" dirty="0"/>
              <a:t> b[][]={{1,3,4},{3,4,5}};  </a:t>
            </a:r>
          </a:p>
          <a:p>
            <a:r>
              <a:rPr lang="en-US" dirty="0"/>
              <a:t>//creating another matrix to store the sum of two matrices  </a:t>
            </a:r>
          </a:p>
          <a:p>
            <a:r>
              <a:rPr lang="en-US" b="1" dirty="0" err="1"/>
              <a:t>int</a:t>
            </a:r>
            <a:r>
              <a:rPr lang="en-US" dirty="0"/>
              <a:t> c[][]=</a:t>
            </a:r>
            <a:r>
              <a:rPr lang="en-US" b="1" dirty="0"/>
              <a:t>new</a:t>
            </a:r>
            <a:r>
              <a:rPr lang="en-US" dirty="0"/>
              <a:t> </a:t>
            </a:r>
            <a:r>
              <a:rPr lang="en-US" b="1" dirty="0" err="1"/>
              <a:t>int</a:t>
            </a:r>
            <a:r>
              <a:rPr lang="en-US" dirty="0"/>
              <a:t>[2][3];  </a:t>
            </a:r>
          </a:p>
          <a:p>
            <a:r>
              <a:rPr lang="en-US" dirty="0"/>
              <a:t>//adding and printing addition of 2 matrices  </a:t>
            </a:r>
          </a:p>
          <a:p>
            <a:r>
              <a:rPr lang="en-US" b="1" dirty="0"/>
              <a:t>for</a:t>
            </a:r>
            <a:r>
              <a:rPr lang="en-US" dirty="0"/>
              <a:t>(</a:t>
            </a:r>
            <a:r>
              <a:rPr lang="en-US" b="1" dirty="0" err="1"/>
              <a:t>int</a:t>
            </a:r>
            <a:r>
              <a:rPr lang="en-US" dirty="0"/>
              <a:t> </a:t>
            </a:r>
            <a:r>
              <a:rPr lang="en-US" dirty="0" err="1"/>
              <a:t>i</a:t>
            </a:r>
            <a:r>
              <a:rPr lang="en-US" dirty="0"/>
              <a:t>=0;i&lt;2;i++){  </a:t>
            </a:r>
          </a:p>
          <a:p>
            <a:r>
              <a:rPr lang="en-US" b="1" dirty="0"/>
              <a:t>for</a:t>
            </a:r>
            <a:r>
              <a:rPr lang="en-US" dirty="0"/>
              <a:t>(</a:t>
            </a:r>
            <a:r>
              <a:rPr lang="en-US" b="1" dirty="0" err="1"/>
              <a:t>int</a:t>
            </a:r>
            <a:r>
              <a:rPr lang="en-US" dirty="0"/>
              <a:t> j=0;j&lt;3;j++){  </a:t>
            </a:r>
          </a:p>
          <a:p>
            <a:r>
              <a:rPr lang="en-US" dirty="0"/>
              <a:t>c[</a:t>
            </a:r>
            <a:r>
              <a:rPr lang="en-US" dirty="0" err="1"/>
              <a:t>i</a:t>
            </a:r>
            <a:r>
              <a:rPr lang="en-US" dirty="0"/>
              <a:t>][j]=a[</a:t>
            </a:r>
            <a:r>
              <a:rPr lang="en-US" dirty="0" err="1"/>
              <a:t>i</a:t>
            </a:r>
            <a:r>
              <a:rPr lang="en-US" dirty="0"/>
              <a:t>][j]+b[</a:t>
            </a:r>
            <a:r>
              <a:rPr lang="en-US" dirty="0" err="1"/>
              <a:t>i</a:t>
            </a:r>
            <a:r>
              <a:rPr lang="en-US" dirty="0"/>
              <a:t>][j];  </a:t>
            </a:r>
          </a:p>
          <a:p>
            <a:r>
              <a:rPr lang="en-US" dirty="0" err="1"/>
              <a:t>System.out.print</a:t>
            </a:r>
            <a:r>
              <a:rPr lang="en-US" dirty="0"/>
              <a:t>(c[</a:t>
            </a:r>
            <a:r>
              <a:rPr lang="en-US" dirty="0" err="1"/>
              <a:t>i</a:t>
            </a:r>
            <a:r>
              <a:rPr lang="en-US" dirty="0"/>
              <a:t>][j]+" ");  </a:t>
            </a:r>
          </a:p>
          <a:p>
            <a:r>
              <a:rPr lang="en-US" dirty="0"/>
              <a:t>}  </a:t>
            </a:r>
          </a:p>
          <a:p>
            <a:r>
              <a:rPr lang="en-US" dirty="0" err="1"/>
              <a:t>System.out.println</a:t>
            </a:r>
            <a:r>
              <a:rPr lang="en-US" dirty="0"/>
              <a:t>();//new line  </a:t>
            </a:r>
          </a:p>
          <a:p>
            <a:r>
              <a:rPr lang="en-US" dirty="0"/>
              <a:t>}  </a:t>
            </a:r>
          </a:p>
          <a:p>
            <a:r>
              <a:rPr lang="en-US" dirty="0"/>
              <a:t>}}  </a:t>
            </a:r>
          </a:p>
          <a:p>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E5CB9-86ED-2699-19C1-DA618731E0CE}"/>
              </a:ext>
            </a:extLst>
          </p:cNvPr>
          <p:cNvSpPr>
            <a:spLocks noGrp="1"/>
          </p:cNvSpPr>
          <p:nvPr>
            <p:ph type="title"/>
          </p:nvPr>
        </p:nvSpPr>
        <p:spPr/>
        <p:txBody>
          <a:bodyPr/>
          <a:lstStyle/>
          <a:p>
            <a:r>
              <a:rPr lang="en-US" b="1" dirty="0">
                <a:solidFill>
                  <a:srgbClr val="C00000"/>
                </a:solidFill>
              </a:rPr>
              <a:t>Control statements</a:t>
            </a:r>
            <a:endParaRPr lang="en-IN" dirty="0"/>
          </a:p>
        </p:txBody>
      </p:sp>
      <p:sp>
        <p:nvSpPr>
          <p:cNvPr id="3" name="Slide Number Placeholder 2">
            <a:extLst>
              <a:ext uri="{FF2B5EF4-FFF2-40B4-BE49-F238E27FC236}">
                <a16:creationId xmlns:a16="http://schemas.microsoft.com/office/drawing/2014/main" id="{C58D40AC-B62C-D1C0-6EEA-CD0B5E506151}"/>
              </a:ext>
            </a:extLst>
          </p:cNvPr>
          <p:cNvSpPr>
            <a:spLocks noGrp="1"/>
          </p:cNvSpPr>
          <p:nvPr>
            <p:ph type="sldNum" sz="quarter" idx="12"/>
          </p:nvPr>
        </p:nvSpPr>
        <p:spPr/>
        <p:txBody>
          <a:bodyPr/>
          <a:lstStyle/>
          <a:p>
            <a:fld id="{E3591306-41CF-4237-B2B4-5C605DD45071}" type="slidenum">
              <a:rPr lang="en-US" smtClean="0"/>
              <a:pPr/>
              <a:t>81</a:t>
            </a:fld>
            <a:endParaRPr lang="en-US"/>
          </a:p>
        </p:txBody>
      </p:sp>
      <p:sp>
        <p:nvSpPr>
          <p:cNvPr id="4" name="Content Placeholder 3">
            <a:extLst>
              <a:ext uri="{FF2B5EF4-FFF2-40B4-BE49-F238E27FC236}">
                <a16:creationId xmlns:a16="http://schemas.microsoft.com/office/drawing/2014/main" id="{835D0668-9B2A-03EE-A1E0-B757AF2DE353}"/>
              </a:ext>
            </a:extLst>
          </p:cNvPr>
          <p:cNvSpPr>
            <a:spLocks noGrp="1"/>
          </p:cNvSpPr>
          <p:nvPr>
            <p:ph sz="quarter" idx="1"/>
          </p:nvPr>
        </p:nvSpPr>
        <p:spPr>
          <a:xfrm>
            <a:off x="504031" y="1343942"/>
            <a:ext cx="9072563" cy="2610838"/>
          </a:xfrm>
        </p:spPr>
        <p:txBody>
          <a:bodyPr/>
          <a:lstStyle/>
          <a:p>
            <a:pPr lvl="0" algn="just"/>
            <a:r>
              <a:rPr lang="en-IN" b="1" dirty="0"/>
              <a:t>If-else:</a:t>
            </a:r>
            <a:r>
              <a:rPr lang="en-IN" dirty="0"/>
              <a:t> Executes code based on a true/false condition.</a:t>
            </a:r>
          </a:p>
          <a:p>
            <a:pPr lvl="0" algn="just"/>
            <a:r>
              <a:rPr lang="en-IN" b="1" dirty="0"/>
              <a:t>Switch</a:t>
            </a:r>
            <a:r>
              <a:rPr lang="en-IN" dirty="0"/>
              <a:t>: Selects one of many code blocks based on a value (often int, char, String).</a:t>
            </a:r>
          </a:p>
          <a:p>
            <a:pPr lvl="0" algn="just"/>
            <a:r>
              <a:rPr lang="en-IN" b="1" dirty="0"/>
              <a:t>Loops:</a:t>
            </a:r>
            <a:r>
              <a:rPr lang="en-IN" dirty="0"/>
              <a:t> for, while, and do-while are used to repeat a block of code multiple times until a condition is met.</a:t>
            </a:r>
          </a:p>
        </p:txBody>
      </p:sp>
    </p:spTree>
    <p:extLst>
      <p:ext uri="{BB962C8B-B14F-4D97-AF65-F5344CB8AC3E}">
        <p14:creationId xmlns:p14="http://schemas.microsoft.com/office/powerpoint/2010/main" val="38411634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Selection or Decision-Making Statements</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82</a:t>
            </a:fld>
            <a:endParaRPr lang="en-US"/>
          </a:p>
        </p:txBody>
      </p:sp>
      <p:sp>
        <p:nvSpPr>
          <p:cNvPr id="4" name="Content Placeholder 3"/>
          <p:cNvSpPr>
            <a:spLocks noGrp="1"/>
          </p:cNvSpPr>
          <p:nvPr>
            <p:ph sz="quarter" idx="1"/>
          </p:nvPr>
        </p:nvSpPr>
        <p:spPr/>
        <p:txBody>
          <a:bodyPr>
            <a:normAutofit/>
          </a:bodyPr>
          <a:lstStyle/>
          <a:p>
            <a:pPr algn="just"/>
            <a:r>
              <a:rPr lang="en-US" sz="3000" dirty="0"/>
              <a:t>Statements that determine which statement to execute and when are known as decision-making statements. The flow of the execution of the program is controlled by the control flow statement.</a:t>
            </a:r>
          </a:p>
          <a:p>
            <a:pPr algn="just"/>
            <a:r>
              <a:rPr lang="en-US" sz="3000" dirty="0"/>
              <a:t>There are four decision-making statements available in java.</a:t>
            </a:r>
          </a:p>
          <a:p>
            <a:pPr lvl="1"/>
            <a:r>
              <a:rPr lang="en-US" sz="2900" dirty="0">
                <a:solidFill>
                  <a:srgbClr val="C00000"/>
                </a:solidFill>
              </a:rPr>
              <a:t>Simple if statement</a:t>
            </a:r>
          </a:p>
          <a:p>
            <a:pPr lvl="1"/>
            <a:r>
              <a:rPr lang="en-US" sz="2900" dirty="0">
                <a:solidFill>
                  <a:srgbClr val="C00000"/>
                </a:solidFill>
              </a:rPr>
              <a:t>if-else statement</a:t>
            </a:r>
          </a:p>
          <a:p>
            <a:pPr lvl="1"/>
            <a:r>
              <a:rPr lang="en-US" sz="2900" dirty="0">
                <a:solidFill>
                  <a:srgbClr val="C00000"/>
                </a:solidFill>
              </a:rPr>
              <a:t>Nested if statement</a:t>
            </a:r>
          </a:p>
          <a:p>
            <a:pPr lvl="1"/>
            <a:r>
              <a:rPr lang="en-US" sz="2900" dirty="0">
                <a:solidFill>
                  <a:srgbClr val="C00000"/>
                </a:solidFill>
              </a:rPr>
              <a:t>Switch statement</a:t>
            </a:r>
            <a:endParaRPr lang="en-US" sz="5100" dirty="0">
              <a:solidFill>
                <a:srgbClr val="C00000"/>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Control statements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83</a:t>
            </a:fld>
            <a:endParaRPr lang="en-US"/>
          </a:p>
        </p:txBody>
      </p:sp>
      <p:sp>
        <p:nvSpPr>
          <p:cNvPr id="4" name="Content Placeholder 3"/>
          <p:cNvSpPr>
            <a:spLocks noGrp="1"/>
          </p:cNvSpPr>
          <p:nvPr>
            <p:ph sz="quarter" idx="1"/>
          </p:nvPr>
        </p:nvSpPr>
        <p:spPr/>
        <p:txBody>
          <a:bodyPr>
            <a:normAutofit/>
          </a:bodyPr>
          <a:lstStyle/>
          <a:p>
            <a:pPr algn="just"/>
            <a:r>
              <a:rPr lang="en-US" sz="2400" dirty="0"/>
              <a:t>A control statement in java is a statement that determines whether the other statements will be executed or not. It controls the flow of a program. An ‘if’ statement in java determines the sequence of execution between a set of two statements.</a:t>
            </a:r>
          </a:p>
          <a:p>
            <a:r>
              <a:rPr lang="en-US" sz="2400" dirty="0"/>
              <a:t>Control Statements can be divided into three categories, namely</a:t>
            </a:r>
          </a:p>
          <a:p>
            <a:pPr lvl="1"/>
            <a:r>
              <a:rPr lang="en-US" sz="2800" b="1" dirty="0">
                <a:solidFill>
                  <a:srgbClr val="C00000"/>
                </a:solidFill>
              </a:rPr>
              <a:t>Selection statements</a:t>
            </a:r>
          </a:p>
          <a:p>
            <a:pPr lvl="1"/>
            <a:r>
              <a:rPr lang="en-US" sz="2800" b="1" dirty="0">
                <a:solidFill>
                  <a:srgbClr val="C00000"/>
                </a:solidFill>
              </a:rPr>
              <a:t>Iteration statements</a:t>
            </a:r>
          </a:p>
          <a:p>
            <a:pPr lvl="1"/>
            <a:r>
              <a:rPr lang="en-US" sz="2800" b="1" dirty="0">
                <a:solidFill>
                  <a:srgbClr val="C00000"/>
                </a:solidFill>
              </a:rPr>
              <a:t>Jump statements</a:t>
            </a:r>
          </a:p>
          <a:p>
            <a:pPr algn="just"/>
            <a:endParaRPr lang="en-US" sz="2400" dirty="0"/>
          </a:p>
        </p:txBody>
      </p:sp>
      <p:pic>
        <p:nvPicPr>
          <p:cNvPr id="97282" name="Picture 2" descr="Control Statements in Java"/>
          <p:cNvPicPr>
            <a:picLocks noChangeAspect="1" noChangeArrowheads="1"/>
          </p:cNvPicPr>
          <p:nvPr/>
        </p:nvPicPr>
        <p:blipFill>
          <a:blip r:embed="rId2"/>
          <a:srcRect/>
          <a:stretch>
            <a:fillRect/>
          </a:stretch>
        </p:blipFill>
        <p:spPr bwMode="auto">
          <a:xfrm>
            <a:off x="5430960" y="3501850"/>
            <a:ext cx="2305050" cy="2857500"/>
          </a:xfrm>
          <a:prstGeom prst="rect">
            <a:avLst/>
          </a:prstGeom>
          <a:noFill/>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C00000"/>
                </a:solidFill>
              </a:rPr>
              <a:t>Simple if statement</a:t>
            </a:r>
            <a:endParaRPr lang="en-US" b="1"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84</a:t>
            </a:fld>
            <a:endParaRPr lang="en-US"/>
          </a:p>
        </p:txBody>
      </p:sp>
      <p:sp>
        <p:nvSpPr>
          <p:cNvPr id="4" name="Content Placeholder 3"/>
          <p:cNvSpPr>
            <a:spLocks noGrp="1"/>
          </p:cNvSpPr>
          <p:nvPr>
            <p:ph sz="quarter" idx="1"/>
          </p:nvPr>
        </p:nvSpPr>
        <p:spPr/>
        <p:txBody>
          <a:bodyPr>
            <a:normAutofit fontScale="62500" lnSpcReduction="20000"/>
          </a:bodyPr>
          <a:lstStyle/>
          <a:p>
            <a:pPr algn="just"/>
            <a:r>
              <a:rPr lang="en-US" sz="3200" dirty="0"/>
              <a:t>if statement is the most simple decision making statement. It is used to decide whether a certain statement or block of statements will be executed or not </a:t>
            </a:r>
            <a:r>
              <a:rPr lang="en-US" sz="3200" dirty="0" err="1"/>
              <a:t>i.e</a:t>
            </a:r>
            <a:r>
              <a:rPr lang="en-US" sz="3200" dirty="0"/>
              <a:t> if a certain condition is true then a block of statement is executed otherwise not. </a:t>
            </a:r>
          </a:p>
          <a:p>
            <a:pPr algn="just"/>
            <a:r>
              <a:rPr lang="en-US" sz="3200" b="1" dirty="0"/>
              <a:t>Syntax</a:t>
            </a:r>
            <a:r>
              <a:rPr lang="en-US" sz="3200" dirty="0"/>
              <a:t>:</a:t>
            </a:r>
          </a:p>
          <a:p>
            <a:pPr algn="just"/>
            <a:r>
              <a:rPr lang="en-US" sz="3200" dirty="0"/>
              <a:t>if(condition) </a:t>
            </a:r>
          </a:p>
          <a:p>
            <a:pPr algn="just"/>
            <a:r>
              <a:rPr lang="en-US" sz="3200" dirty="0"/>
              <a:t>{ </a:t>
            </a:r>
          </a:p>
          <a:p>
            <a:pPr algn="just"/>
            <a:r>
              <a:rPr lang="en-US" sz="3200" dirty="0"/>
              <a:t>// Statements to execute if condition is true</a:t>
            </a:r>
          </a:p>
          <a:p>
            <a:pPr algn="just"/>
            <a:r>
              <a:rPr lang="en-US" sz="3200" dirty="0"/>
              <a:t> }</a:t>
            </a:r>
            <a:endParaRPr lang="en-US" dirty="0"/>
          </a:p>
          <a:p>
            <a:pPr fontAlgn="base"/>
            <a:r>
              <a:rPr lang="en-US" dirty="0"/>
              <a:t>Here, </a:t>
            </a:r>
            <a:r>
              <a:rPr lang="en-US" b="1" dirty="0"/>
              <a:t>condition</a:t>
            </a:r>
            <a:r>
              <a:rPr lang="en-US" dirty="0"/>
              <a:t> after evaluation will be either true or false. if statement accepts </a:t>
            </a:r>
            <a:r>
              <a:rPr lang="en-US" dirty="0" err="1"/>
              <a:t>boolean</a:t>
            </a:r>
            <a:r>
              <a:rPr lang="en-US" dirty="0"/>
              <a:t> values – if the value is true then it will execute the block of statements under it.</a:t>
            </a:r>
            <a:br>
              <a:rPr lang="en-US" dirty="0"/>
            </a:br>
            <a:r>
              <a:rPr lang="en-US" dirty="0"/>
              <a:t>If we do not provide the curly braces ‘{‘ and ‘}’ after </a:t>
            </a:r>
            <a:r>
              <a:rPr lang="en-US" b="1" dirty="0"/>
              <a:t>if( condition )</a:t>
            </a:r>
            <a:r>
              <a:rPr lang="en-US" dirty="0"/>
              <a:t> then by default if statement will consider the immediate one statement to be inside its block. For example,</a:t>
            </a:r>
          </a:p>
          <a:p>
            <a:r>
              <a:rPr lang="en-US" dirty="0"/>
              <a:t>if(condition) </a:t>
            </a:r>
          </a:p>
          <a:p>
            <a:r>
              <a:rPr lang="en-US" dirty="0"/>
              <a:t>statement1; </a:t>
            </a:r>
          </a:p>
          <a:p>
            <a:r>
              <a:rPr lang="en-US" dirty="0"/>
              <a:t>statement2; </a:t>
            </a:r>
          </a:p>
          <a:p>
            <a:r>
              <a:rPr lang="en-US" dirty="0"/>
              <a:t>// Here if the condition is true, if block will consider only statement1 to be inside its block.</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C00000"/>
                </a:solidFill>
              </a:rPr>
              <a:t>Example:</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85</a:t>
            </a:fld>
            <a:endParaRPr lang="en-US"/>
          </a:p>
        </p:txBody>
      </p:sp>
      <p:sp>
        <p:nvSpPr>
          <p:cNvPr id="4" name="Content Placeholder 3"/>
          <p:cNvSpPr>
            <a:spLocks noGrp="1"/>
          </p:cNvSpPr>
          <p:nvPr>
            <p:ph sz="quarter" idx="1"/>
          </p:nvPr>
        </p:nvSpPr>
        <p:spPr/>
        <p:txBody>
          <a:bodyPr numCol="2">
            <a:normAutofit/>
          </a:bodyPr>
          <a:lstStyle/>
          <a:p>
            <a:pPr fontAlgn="base"/>
            <a:r>
              <a:rPr lang="en-US" sz="1800" dirty="0"/>
              <a:t>// Java program to illustrate If statement</a:t>
            </a:r>
          </a:p>
          <a:p>
            <a:pPr fontAlgn="base"/>
            <a:r>
              <a:rPr lang="en-US" sz="1800" dirty="0"/>
              <a:t>class </a:t>
            </a:r>
            <a:r>
              <a:rPr lang="en-US" sz="1800" dirty="0" err="1"/>
              <a:t>IfDemo</a:t>
            </a:r>
            <a:endParaRPr lang="en-US" sz="1800" dirty="0"/>
          </a:p>
          <a:p>
            <a:pPr fontAlgn="base"/>
            <a:r>
              <a:rPr lang="en-US" sz="1800" dirty="0"/>
              <a:t>{</a:t>
            </a:r>
          </a:p>
          <a:p>
            <a:pPr fontAlgn="base"/>
            <a:r>
              <a:rPr lang="en-US" sz="1800" dirty="0"/>
              <a:t>    public static void main(String </a:t>
            </a:r>
            <a:r>
              <a:rPr lang="en-US" sz="1800" dirty="0" err="1"/>
              <a:t>args</a:t>
            </a:r>
            <a:r>
              <a:rPr lang="en-US" sz="1800" dirty="0"/>
              <a:t>[])</a:t>
            </a:r>
          </a:p>
          <a:p>
            <a:pPr fontAlgn="base"/>
            <a:r>
              <a:rPr lang="en-US" sz="1800" dirty="0"/>
              <a:t>    {</a:t>
            </a:r>
          </a:p>
          <a:p>
            <a:pPr fontAlgn="base"/>
            <a:r>
              <a:rPr lang="en-US" sz="1800" dirty="0"/>
              <a:t>        </a:t>
            </a:r>
            <a:r>
              <a:rPr lang="en-US" sz="1800" dirty="0" err="1"/>
              <a:t>int</a:t>
            </a:r>
            <a:r>
              <a:rPr lang="en-US" sz="1800" dirty="0"/>
              <a:t> </a:t>
            </a:r>
            <a:r>
              <a:rPr lang="en-US" sz="1800" dirty="0" err="1"/>
              <a:t>i</a:t>
            </a:r>
            <a:r>
              <a:rPr lang="en-US" sz="1800" dirty="0"/>
              <a:t> = 10;</a:t>
            </a:r>
          </a:p>
          <a:p>
            <a:pPr fontAlgn="base"/>
            <a:r>
              <a:rPr lang="en-US" sz="1800" dirty="0"/>
              <a:t>        if (</a:t>
            </a:r>
            <a:r>
              <a:rPr lang="en-US" sz="1800" dirty="0" err="1"/>
              <a:t>i</a:t>
            </a:r>
            <a:r>
              <a:rPr lang="en-US" sz="1800" dirty="0"/>
              <a:t> &gt; 15)</a:t>
            </a:r>
          </a:p>
          <a:p>
            <a:pPr fontAlgn="base"/>
            <a:r>
              <a:rPr lang="en-US" sz="1800" dirty="0"/>
              <a:t>       </a:t>
            </a:r>
            <a:r>
              <a:rPr lang="en-US" sz="1800" dirty="0" err="1"/>
              <a:t>System.out.println</a:t>
            </a:r>
            <a:r>
              <a:rPr lang="en-US" sz="1800" dirty="0"/>
              <a:t>("10 is less than 15");</a:t>
            </a:r>
          </a:p>
          <a:p>
            <a:pPr fontAlgn="base"/>
            <a:r>
              <a:rPr lang="en-US" sz="1800" dirty="0"/>
              <a:t>  // This statement will be executed</a:t>
            </a:r>
          </a:p>
          <a:p>
            <a:pPr fontAlgn="base"/>
            <a:r>
              <a:rPr lang="en-US" sz="1800" dirty="0"/>
              <a:t>   // as if considers one statement by default</a:t>
            </a:r>
          </a:p>
          <a:p>
            <a:pPr fontAlgn="base"/>
            <a:r>
              <a:rPr lang="en-US" sz="1800" dirty="0"/>
              <a:t>        </a:t>
            </a:r>
            <a:r>
              <a:rPr lang="en-US" sz="1800" dirty="0" err="1"/>
              <a:t>System.out.println</a:t>
            </a:r>
            <a:r>
              <a:rPr lang="en-US" sz="1800" dirty="0"/>
              <a:t>("I am Not in if");</a:t>
            </a:r>
          </a:p>
          <a:p>
            <a:pPr fontAlgn="base"/>
            <a:r>
              <a:rPr lang="en-US" sz="1800" dirty="0"/>
              <a:t>    }</a:t>
            </a:r>
          </a:p>
          <a:p>
            <a:pPr fontAlgn="base"/>
            <a:r>
              <a:rPr lang="en-US" sz="1800" dirty="0"/>
              <a:t>}</a:t>
            </a:r>
            <a:endParaRPr lang="en-US" sz="3200" dirty="0"/>
          </a:p>
          <a:p>
            <a:endParaRPr lang="en-US" dirty="0"/>
          </a:p>
        </p:txBody>
      </p:sp>
      <p:pic>
        <p:nvPicPr>
          <p:cNvPr id="116738" name="Picture 2" descr="if-statement-in-java"/>
          <p:cNvPicPr>
            <a:picLocks noChangeAspect="1" noChangeArrowheads="1"/>
          </p:cNvPicPr>
          <p:nvPr/>
        </p:nvPicPr>
        <p:blipFill>
          <a:blip r:embed="rId2"/>
          <a:srcRect/>
          <a:stretch>
            <a:fillRect/>
          </a:stretch>
        </p:blipFill>
        <p:spPr bwMode="auto">
          <a:xfrm>
            <a:off x="5777802" y="1774771"/>
            <a:ext cx="3019356" cy="4124326"/>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if-else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86</a:t>
            </a:fld>
            <a:endParaRPr lang="en-US"/>
          </a:p>
        </p:txBody>
      </p:sp>
      <p:sp>
        <p:nvSpPr>
          <p:cNvPr id="4" name="Content Placeholder 3"/>
          <p:cNvSpPr>
            <a:spLocks noGrp="1"/>
          </p:cNvSpPr>
          <p:nvPr>
            <p:ph sz="quarter" idx="1"/>
          </p:nvPr>
        </p:nvSpPr>
        <p:spPr/>
        <p:txBody>
          <a:bodyPr>
            <a:normAutofit/>
          </a:bodyPr>
          <a:lstStyle/>
          <a:p>
            <a:pPr algn="just"/>
            <a:r>
              <a:rPr lang="en-US" sz="2000" dirty="0"/>
              <a:t>The if statement alone tells us that if a condition is true it will execute a block of statements and if the condition is false it won’t. But what if we want to do something else if the condition is false. Here comes the else statement. We can use the else statement with if statement to execute a block of code when the condition is false.</a:t>
            </a:r>
          </a:p>
          <a:p>
            <a:pPr algn="just"/>
            <a:r>
              <a:rPr lang="en-US" sz="2000" b="1" dirty="0"/>
              <a:t>Syntax</a:t>
            </a:r>
            <a:r>
              <a:rPr lang="en-US" sz="2000" dirty="0"/>
              <a:t>:</a:t>
            </a:r>
          </a:p>
          <a:p>
            <a:pPr algn="just"/>
            <a:r>
              <a:rPr lang="en-US" sz="2000" dirty="0"/>
              <a:t>if (condition) </a:t>
            </a:r>
          </a:p>
          <a:p>
            <a:pPr algn="just"/>
            <a:r>
              <a:rPr lang="en-US" sz="2000" dirty="0"/>
              <a:t>{ // Executes this block if // condition is true } </a:t>
            </a:r>
          </a:p>
          <a:p>
            <a:pPr algn="just"/>
            <a:r>
              <a:rPr lang="en-US" sz="2000" dirty="0"/>
              <a:t>else </a:t>
            </a:r>
          </a:p>
          <a:p>
            <a:pPr algn="just"/>
            <a:r>
              <a:rPr lang="en-US" sz="2000" dirty="0"/>
              <a:t>{ // Executes this block if // condition is false }</a:t>
            </a:r>
          </a:p>
        </p:txBody>
      </p:sp>
      <p:pic>
        <p:nvPicPr>
          <p:cNvPr id="120834" name="Picture 2" descr="if-else-statement"/>
          <p:cNvPicPr>
            <a:picLocks noChangeAspect="1" noChangeArrowheads="1"/>
          </p:cNvPicPr>
          <p:nvPr/>
        </p:nvPicPr>
        <p:blipFill>
          <a:blip r:embed="rId2"/>
          <a:srcRect/>
          <a:stretch>
            <a:fillRect/>
          </a:stretch>
        </p:blipFill>
        <p:spPr bwMode="auto">
          <a:xfrm>
            <a:off x="5948737" y="3024553"/>
            <a:ext cx="3147150" cy="3097195"/>
          </a:xfrm>
          <a:prstGeom prst="rect">
            <a:avLst/>
          </a:prstGeo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87</a:t>
            </a:fld>
            <a:endParaRPr lang="en-US"/>
          </a:p>
        </p:txBody>
      </p:sp>
      <p:sp>
        <p:nvSpPr>
          <p:cNvPr id="4" name="Content Placeholder 3"/>
          <p:cNvSpPr>
            <a:spLocks noGrp="1"/>
          </p:cNvSpPr>
          <p:nvPr>
            <p:ph sz="quarter" idx="1"/>
          </p:nvPr>
        </p:nvSpPr>
        <p:spPr/>
        <p:txBody>
          <a:bodyPr>
            <a:normAutofit fontScale="77500" lnSpcReduction="20000"/>
          </a:bodyPr>
          <a:lstStyle/>
          <a:p>
            <a:pPr fontAlgn="base"/>
            <a:r>
              <a:rPr lang="en-US" dirty="0"/>
              <a:t>// Java program to illustrate if-else statement</a:t>
            </a:r>
          </a:p>
          <a:p>
            <a:pPr fontAlgn="base"/>
            <a:r>
              <a:rPr lang="en-US" dirty="0"/>
              <a:t>class </a:t>
            </a:r>
            <a:r>
              <a:rPr lang="en-US" dirty="0" err="1"/>
              <a:t>IfElseDemo</a:t>
            </a:r>
            <a:endParaRPr lang="en-US" dirty="0"/>
          </a:p>
          <a:p>
            <a:pPr fontAlgn="base"/>
            <a:r>
              <a:rPr lang="en-US" dirty="0"/>
              <a:t>{</a:t>
            </a:r>
          </a:p>
          <a:p>
            <a:pPr fontAlgn="base"/>
            <a:r>
              <a:rPr lang="en-US" dirty="0"/>
              <a:t>    public static void main(String </a:t>
            </a:r>
            <a:r>
              <a:rPr lang="en-US" dirty="0" err="1"/>
              <a:t>args</a:t>
            </a:r>
            <a:r>
              <a:rPr lang="en-US" dirty="0"/>
              <a:t>[])</a:t>
            </a:r>
          </a:p>
          <a:p>
            <a:pPr fontAlgn="base"/>
            <a:r>
              <a:rPr lang="en-US" dirty="0"/>
              <a:t>    {</a:t>
            </a:r>
          </a:p>
          <a:p>
            <a:pPr fontAlgn="base"/>
            <a:r>
              <a:rPr lang="en-US" dirty="0"/>
              <a:t>        </a:t>
            </a:r>
            <a:r>
              <a:rPr lang="en-US" dirty="0" err="1"/>
              <a:t>int</a:t>
            </a:r>
            <a:r>
              <a:rPr lang="en-US" dirty="0"/>
              <a:t> </a:t>
            </a:r>
            <a:r>
              <a:rPr lang="en-US" dirty="0" err="1"/>
              <a:t>i</a:t>
            </a:r>
            <a:r>
              <a:rPr lang="en-US" dirty="0"/>
              <a:t> = 10;</a:t>
            </a:r>
          </a:p>
          <a:p>
            <a:pPr fontAlgn="base"/>
            <a:r>
              <a:rPr lang="en-US" dirty="0"/>
              <a:t>  </a:t>
            </a:r>
          </a:p>
          <a:p>
            <a:pPr fontAlgn="base"/>
            <a:r>
              <a:rPr lang="en-US" dirty="0"/>
              <a:t>        if (</a:t>
            </a:r>
            <a:r>
              <a:rPr lang="en-US" dirty="0" err="1"/>
              <a:t>i</a:t>
            </a:r>
            <a:r>
              <a:rPr lang="en-US" dirty="0"/>
              <a:t> &lt; 15)</a:t>
            </a:r>
          </a:p>
          <a:p>
            <a:pPr fontAlgn="base"/>
            <a:r>
              <a:rPr lang="en-US" dirty="0"/>
              <a:t>            </a:t>
            </a:r>
            <a:r>
              <a:rPr lang="en-US" dirty="0" err="1"/>
              <a:t>System.out.println</a:t>
            </a:r>
            <a:r>
              <a:rPr lang="en-US" dirty="0"/>
              <a:t>("</a:t>
            </a:r>
            <a:r>
              <a:rPr lang="en-US" dirty="0" err="1"/>
              <a:t>i</a:t>
            </a:r>
            <a:r>
              <a:rPr lang="en-US" dirty="0"/>
              <a:t> is smaller than 15");</a:t>
            </a:r>
          </a:p>
          <a:p>
            <a:pPr fontAlgn="base"/>
            <a:r>
              <a:rPr lang="en-US" dirty="0"/>
              <a:t>        else</a:t>
            </a:r>
          </a:p>
          <a:p>
            <a:pPr fontAlgn="base"/>
            <a:r>
              <a:rPr lang="en-US" dirty="0"/>
              <a:t>            </a:t>
            </a:r>
            <a:r>
              <a:rPr lang="en-US" dirty="0" err="1"/>
              <a:t>System.out.println</a:t>
            </a:r>
            <a:r>
              <a:rPr lang="en-US" dirty="0"/>
              <a:t>("</a:t>
            </a:r>
            <a:r>
              <a:rPr lang="en-US" dirty="0" err="1"/>
              <a:t>i</a:t>
            </a:r>
            <a:r>
              <a:rPr lang="en-US" dirty="0"/>
              <a:t> is greater than 15");</a:t>
            </a:r>
          </a:p>
          <a:p>
            <a:pPr fontAlgn="base"/>
            <a:r>
              <a:rPr lang="en-US" dirty="0"/>
              <a:t>    }</a:t>
            </a:r>
          </a:p>
          <a:p>
            <a:pPr fontAlgn="base"/>
            <a:r>
              <a:rPr lang="en-US" dirty="0"/>
              <a:t>}</a:t>
            </a:r>
          </a:p>
          <a:p>
            <a:pPr fontAlgn="base"/>
            <a:r>
              <a:rPr lang="en-US" b="1" dirty="0"/>
              <a:t>Output:</a:t>
            </a:r>
          </a:p>
          <a:p>
            <a:r>
              <a:rPr lang="en-US" dirty="0" err="1"/>
              <a:t>i</a:t>
            </a:r>
            <a:r>
              <a:rPr lang="en-US" dirty="0"/>
              <a:t> is smaller than 15</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nested-if:</a:t>
            </a:r>
            <a:r>
              <a:rPr lang="en-US" dirty="0"/>
              <a:t> </a:t>
            </a:r>
          </a:p>
        </p:txBody>
      </p:sp>
      <p:sp>
        <p:nvSpPr>
          <p:cNvPr id="3" name="Slide Number Placeholder 2"/>
          <p:cNvSpPr>
            <a:spLocks noGrp="1"/>
          </p:cNvSpPr>
          <p:nvPr>
            <p:ph type="sldNum" sz="quarter" idx="12"/>
          </p:nvPr>
        </p:nvSpPr>
        <p:spPr/>
        <p:txBody>
          <a:bodyPr/>
          <a:lstStyle/>
          <a:p>
            <a:fld id="{E3591306-41CF-4237-B2B4-5C605DD45071}" type="slidenum">
              <a:rPr lang="en-US" smtClean="0"/>
              <a:pPr/>
              <a:t>88</a:t>
            </a:fld>
            <a:endParaRPr lang="en-US"/>
          </a:p>
        </p:txBody>
      </p:sp>
      <p:sp>
        <p:nvSpPr>
          <p:cNvPr id="4" name="Content Placeholder 3"/>
          <p:cNvSpPr>
            <a:spLocks noGrp="1"/>
          </p:cNvSpPr>
          <p:nvPr>
            <p:ph sz="quarter" idx="1"/>
          </p:nvPr>
        </p:nvSpPr>
        <p:spPr/>
        <p:txBody>
          <a:bodyPr>
            <a:normAutofit/>
          </a:bodyPr>
          <a:lstStyle/>
          <a:p>
            <a:pPr algn="just"/>
            <a:r>
              <a:rPr lang="en-US" sz="1800" dirty="0"/>
              <a:t>A nested if is an if statement that is the target of another if or else. Nested if statements means an if statement inside an if statement. Yes, java allows us to nest if statements within if statements. </a:t>
            </a:r>
            <a:r>
              <a:rPr lang="en-US" sz="1800" dirty="0" err="1"/>
              <a:t>i.e</a:t>
            </a:r>
            <a:r>
              <a:rPr lang="en-US" sz="1800" dirty="0"/>
              <a:t>, we can place an if statement inside another if statement.</a:t>
            </a:r>
          </a:p>
          <a:p>
            <a:pPr algn="just"/>
            <a:r>
              <a:rPr lang="en-US" sz="1800" b="1" dirty="0"/>
              <a:t>Syntax:</a:t>
            </a:r>
          </a:p>
          <a:p>
            <a:pPr algn="just"/>
            <a:r>
              <a:rPr lang="en-US" sz="1800" dirty="0"/>
              <a:t>if (condition1)</a:t>
            </a:r>
          </a:p>
          <a:p>
            <a:pPr algn="just"/>
            <a:r>
              <a:rPr lang="en-US" sz="1800" dirty="0"/>
              <a:t> { </a:t>
            </a:r>
          </a:p>
          <a:p>
            <a:pPr algn="just"/>
            <a:r>
              <a:rPr lang="en-US" sz="1800" dirty="0"/>
              <a:t>// Executes when condition1 is true </a:t>
            </a:r>
          </a:p>
          <a:p>
            <a:pPr algn="just"/>
            <a:r>
              <a:rPr lang="en-US" sz="1800" dirty="0"/>
              <a:t>if (condition2) </a:t>
            </a:r>
          </a:p>
          <a:p>
            <a:pPr algn="just"/>
            <a:r>
              <a:rPr lang="en-US" sz="1800" dirty="0"/>
              <a:t>{ </a:t>
            </a:r>
          </a:p>
          <a:p>
            <a:pPr algn="just"/>
            <a:r>
              <a:rPr lang="en-US" sz="1800" dirty="0"/>
              <a:t>// Executes when condition2 is true </a:t>
            </a:r>
          </a:p>
          <a:p>
            <a:pPr algn="just"/>
            <a:r>
              <a:rPr lang="en-US" sz="1800" dirty="0"/>
              <a:t>} </a:t>
            </a:r>
          </a:p>
          <a:p>
            <a:pPr algn="just"/>
            <a:r>
              <a:rPr lang="en-US" sz="1800" dirty="0"/>
              <a:t>}</a:t>
            </a:r>
          </a:p>
        </p:txBody>
      </p:sp>
      <p:pic>
        <p:nvPicPr>
          <p:cNvPr id="121858" name="Picture 2" descr="nested-if"/>
          <p:cNvPicPr>
            <a:picLocks noChangeAspect="1" noChangeArrowheads="1"/>
          </p:cNvPicPr>
          <p:nvPr/>
        </p:nvPicPr>
        <p:blipFill>
          <a:blip r:embed="rId2"/>
          <a:srcRect/>
          <a:stretch>
            <a:fillRect/>
          </a:stretch>
        </p:blipFill>
        <p:spPr bwMode="auto">
          <a:xfrm>
            <a:off x="5256174" y="2481941"/>
            <a:ext cx="4472967" cy="3888714"/>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89</a:t>
            </a:fld>
            <a:endParaRPr lang="en-US" dirty="0"/>
          </a:p>
        </p:txBody>
      </p:sp>
      <p:sp>
        <p:nvSpPr>
          <p:cNvPr id="4" name="Content Placeholder 3"/>
          <p:cNvSpPr>
            <a:spLocks noGrp="1"/>
          </p:cNvSpPr>
          <p:nvPr>
            <p:ph sz="quarter" idx="1"/>
          </p:nvPr>
        </p:nvSpPr>
        <p:spPr/>
        <p:txBody>
          <a:bodyPr>
            <a:normAutofit fontScale="70000" lnSpcReduction="20000"/>
          </a:bodyPr>
          <a:lstStyle/>
          <a:p>
            <a:pPr fontAlgn="base"/>
            <a:r>
              <a:rPr lang="en-US" dirty="0"/>
              <a:t>// Java program to illustrate nested-if statement</a:t>
            </a:r>
          </a:p>
          <a:p>
            <a:pPr fontAlgn="base"/>
            <a:r>
              <a:rPr lang="en-US" dirty="0"/>
              <a:t>class </a:t>
            </a:r>
            <a:r>
              <a:rPr lang="en-US" dirty="0" err="1"/>
              <a:t>NestedIfDemo</a:t>
            </a:r>
            <a:endParaRPr lang="en-US" dirty="0"/>
          </a:p>
          <a:p>
            <a:pPr fontAlgn="base"/>
            <a:r>
              <a:rPr lang="en-US" dirty="0"/>
              <a:t>{</a:t>
            </a:r>
          </a:p>
          <a:p>
            <a:pPr fontAlgn="base"/>
            <a:r>
              <a:rPr lang="en-US" dirty="0"/>
              <a:t>    public static void main(String </a:t>
            </a:r>
            <a:r>
              <a:rPr lang="en-US" dirty="0" err="1"/>
              <a:t>args</a:t>
            </a:r>
            <a:r>
              <a:rPr lang="en-US" dirty="0"/>
              <a:t>[])  {</a:t>
            </a:r>
          </a:p>
          <a:p>
            <a:pPr fontAlgn="base"/>
            <a:r>
              <a:rPr lang="en-US" dirty="0"/>
              <a:t>        </a:t>
            </a:r>
            <a:r>
              <a:rPr lang="en-US" dirty="0" err="1"/>
              <a:t>int</a:t>
            </a:r>
            <a:r>
              <a:rPr lang="en-US" dirty="0"/>
              <a:t> </a:t>
            </a:r>
            <a:r>
              <a:rPr lang="en-US" dirty="0" err="1"/>
              <a:t>i</a:t>
            </a:r>
            <a:r>
              <a:rPr lang="en-US" dirty="0"/>
              <a:t> = 10;</a:t>
            </a:r>
          </a:p>
          <a:p>
            <a:pPr fontAlgn="base"/>
            <a:r>
              <a:rPr lang="en-US" dirty="0"/>
              <a:t>          if (</a:t>
            </a:r>
            <a:r>
              <a:rPr lang="en-US" dirty="0" err="1"/>
              <a:t>i</a:t>
            </a:r>
            <a:r>
              <a:rPr lang="en-US" dirty="0"/>
              <a:t> == 10)</a:t>
            </a:r>
          </a:p>
          <a:p>
            <a:pPr fontAlgn="base"/>
            <a:r>
              <a:rPr lang="en-US" dirty="0"/>
              <a:t>        {</a:t>
            </a:r>
          </a:p>
          <a:p>
            <a:pPr fontAlgn="base"/>
            <a:r>
              <a:rPr lang="en-US" dirty="0"/>
              <a:t>                      if (</a:t>
            </a:r>
            <a:r>
              <a:rPr lang="en-US" dirty="0" err="1"/>
              <a:t>i</a:t>
            </a:r>
            <a:r>
              <a:rPr lang="en-US" dirty="0"/>
              <a:t> &lt; 15)</a:t>
            </a:r>
          </a:p>
          <a:p>
            <a:pPr fontAlgn="base"/>
            <a:r>
              <a:rPr lang="en-US" dirty="0"/>
              <a:t>                </a:t>
            </a:r>
            <a:r>
              <a:rPr lang="en-US" dirty="0" err="1"/>
              <a:t>System.out.println</a:t>
            </a:r>
            <a:r>
              <a:rPr lang="en-US" dirty="0"/>
              <a:t>("</a:t>
            </a:r>
            <a:r>
              <a:rPr lang="en-US" dirty="0" err="1"/>
              <a:t>i</a:t>
            </a:r>
            <a:r>
              <a:rPr lang="en-US" dirty="0"/>
              <a:t> is smaller than 15");</a:t>
            </a:r>
          </a:p>
          <a:p>
            <a:pPr fontAlgn="base"/>
            <a:r>
              <a:rPr lang="en-US" dirty="0"/>
              <a:t>                                    if (</a:t>
            </a:r>
            <a:r>
              <a:rPr lang="en-US" dirty="0" err="1"/>
              <a:t>i</a:t>
            </a:r>
            <a:r>
              <a:rPr lang="en-US" dirty="0"/>
              <a:t> &lt; 12)</a:t>
            </a:r>
          </a:p>
          <a:p>
            <a:pPr fontAlgn="base"/>
            <a:r>
              <a:rPr lang="en-US" dirty="0"/>
              <a:t>                </a:t>
            </a:r>
            <a:r>
              <a:rPr lang="en-US" dirty="0" err="1"/>
              <a:t>System.out.println</a:t>
            </a:r>
            <a:r>
              <a:rPr lang="en-US" dirty="0"/>
              <a:t>("</a:t>
            </a:r>
            <a:r>
              <a:rPr lang="en-US" dirty="0" err="1"/>
              <a:t>i</a:t>
            </a:r>
            <a:r>
              <a:rPr lang="en-US" dirty="0"/>
              <a:t> is smaller than 12 too");</a:t>
            </a:r>
          </a:p>
          <a:p>
            <a:pPr fontAlgn="base"/>
            <a:r>
              <a:rPr lang="en-US" dirty="0"/>
              <a:t>            else</a:t>
            </a:r>
          </a:p>
          <a:p>
            <a:pPr fontAlgn="base"/>
            <a:r>
              <a:rPr lang="en-US" dirty="0"/>
              <a:t>                </a:t>
            </a:r>
            <a:r>
              <a:rPr lang="en-US" dirty="0" err="1"/>
              <a:t>System.out.println</a:t>
            </a:r>
            <a:r>
              <a:rPr lang="en-US" dirty="0"/>
              <a:t>("</a:t>
            </a:r>
            <a:r>
              <a:rPr lang="en-US" dirty="0" err="1"/>
              <a:t>i</a:t>
            </a:r>
            <a:r>
              <a:rPr lang="en-US" dirty="0"/>
              <a:t> is greater than 15");</a:t>
            </a:r>
          </a:p>
          <a:p>
            <a:pPr fontAlgn="base"/>
            <a:r>
              <a:rPr lang="en-US" dirty="0"/>
              <a:t>        }</a:t>
            </a:r>
          </a:p>
          <a:p>
            <a:pPr fontAlgn="base"/>
            <a:r>
              <a:rPr lang="en-US" dirty="0"/>
              <a:t>    }</a:t>
            </a:r>
          </a:p>
          <a:p>
            <a:pPr fontAlgn="base"/>
            <a:r>
              <a:rPr lang="en-US" dirty="0"/>
              <a:t>}</a:t>
            </a:r>
          </a:p>
          <a:p>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if-else-if ladder: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90</a:t>
            </a:fld>
            <a:endParaRPr lang="en-US"/>
          </a:p>
        </p:txBody>
      </p:sp>
      <p:sp>
        <p:nvSpPr>
          <p:cNvPr id="4" name="Content Placeholder 3"/>
          <p:cNvSpPr>
            <a:spLocks noGrp="1"/>
          </p:cNvSpPr>
          <p:nvPr>
            <p:ph sz="quarter" idx="1"/>
          </p:nvPr>
        </p:nvSpPr>
        <p:spPr/>
        <p:txBody>
          <a:bodyPr/>
          <a:lstStyle/>
          <a:p>
            <a:pPr algn="just"/>
            <a:r>
              <a:rPr lang="en-US" sz="2000" dirty="0"/>
              <a:t>Here, a user can decide among multiple </a:t>
            </a:r>
            <a:r>
              <a:rPr lang="en-US" sz="2000" dirty="0" err="1"/>
              <a:t>options.The</a:t>
            </a:r>
            <a:r>
              <a:rPr lang="en-US" sz="2000" dirty="0"/>
              <a:t> if statements are executed from the top down. As soon as one of the conditions controlling the if is true, the statement associated with that if is executed, and the rest of the ladder is bypassed. If none of the conditions is true, then the final else statement will be executed.</a:t>
            </a:r>
          </a:p>
          <a:p>
            <a:pPr algn="just"/>
            <a:r>
              <a:rPr lang="en-US" sz="2000" b="1" dirty="0" err="1"/>
              <a:t>Synatax</a:t>
            </a:r>
            <a:r>
              <a:rPr lang="en-US" sz="2000" b="1" dirty="0"/>
              <a:t>:</a:t>
            </a:r>
          </a:p>
          <a:p>
            <a:pPr algn="just"/>
            <a:r>
              <a:rPr lang="en-US" sz="2000" dirty="0"/>
              <a:t>if (condition) </a:t>
            </a:r>
          </a:p>
          <a:p>
            <a:pPr algn="just"/>
            <a:r>
              <a:rPr lang="en-US" sz="2000" dirty="0"/>
              <a:t>statement; </a:t>
            </a:r>
          </a:p>
          <a:p>
            <a:pPr algn="just"/>
            <a:r>
              <a:rPr lang="en-US" sz="2000" dirty="0"/>
              <a:t>else if (condition) </a:t>
            </a:r>
          </a:p>
          <a:p>
            <a:pPr algn="just"/>
            <a:r>
              <a:rPr lang="en-US" sz="2000" dirty="0"/>
              <a:t>statement; </a:t>
            </a:r>
          </a:p>
          <a:p>
            <a:pPr algn="just"/>
            <a:r>
              <a:rPr lang="en-US" sz="2000" dirty="0"/>
              <a:t>. </a:t>
            </a:r>
          </a:p>
          <a:p>
            <a:pPr algn="just"/>
            <a:r>
              <a:rPr lang="en-US" sz="2000" dirty="0"/>
              <a:t>. </a:t>
            </a:r>
          </a:p>
          <a:p>
            <a:pPr algn="just"/>
            <a:r>
              <a:rPr lang="en-US" sz="2000" dirty="0"/>
              <a:t>else statement;</a:t>
            </a:r>
          </a:p>
        </p:txBody>
      </p:sp>
      <p:pic>
        <p:nvPicPr>
          <p:cNvPr id="123906" name="Picture 2" descr="if-else-if-ladder"/>
          <p:cNvPicPr>
            <a:picLocks noChangeAspect="1" noChangeArrowheads="1"/>
          </p:cNvPicPr>
          <p:nvPr/>
        </p:nvPicPr>
        <p:blipFill>
          <a:blip r:embed="rId2"/>
          <a:srcRect/>
          <a:stretch>
            <a:fillRect/>
          </a:stretch>
        </p:blipFill>
        <p:spPr bwMode="auto">
          <a:xfrm>
            <a:off x="4767768" y="2672863"/>
            <a:ext cx="4828407" cy="4230356"/>
          </a:xfrm>
          <a:prstGeom prst="rect">
            <a:avLst/>
          </a:prstGeom>
          <a:noFill/>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91</a:t>
            </a:fld>
            <a:endParaRPr lang="en-US"/>
          </a:p>
        </p:txBody>
      </p:sp>
      <p:sp>
        <p:nvSpPr>
          <p:cNvPr id="4" name="Content Placeholder 3"/>
          <p:cNvSpPr>
            <a:spLocks noGrp="1"/>
          </p:cNvSpPr>
          <p:nvPr>
            <p:ph sz="quarter" idx="1"/>
          </p:nvPr>
        </p:nvSpPr>
        <p:spPr/>
        <p:txBody>
          <a:bodyPr>
            <a:normAutofit fontScale="70000" lnSpcReduction="20000"/>
          </a:bodyPr>
          <a:lstStyle/>
          <a:p>
            <a:pPr fontAlgn="base"/>
            <a:r>
              <a:rPr lang="en-US" dirty="0"/>
              <a:t>// Java program to illustrate if-else-if ladder</a:t>
            </a:r>
          </a:p>
          <a:p>
            <a:pPr fontAlgn="base"/>
            <a:r>
              <a:rPr lang="en-US" dirty="0"/>
              <a:t>class </a:t>
            </a:r>
            <a:r>
              <a:rPr lang="en-US" dirty="0" err="1"/>
              <a:t>ifelseifDemo</a:t>
            </a:r>
            <a:endParaRPr lang="en-US" dirty="0"/>
          </a:p>
          <a:p>
            <a:pPr fontAlgn="base"/>
            <a:r>
              <a:rPr lang="en-US" dirty="0"/>
              <a:t>{</a:t>
            </a:r>
          </a:p>
          <a:p>
            <a:pPr fontAlgn="base"/>
            <a:r>
              <a:rPr lang="en-US" dirty="0"/>
              <a:t>    public static void main(String </a:t>
            </a:r>
            <a:r>
              <a:rPr lang="en-US" dirty="0" err="1"/>
              <a:t>args</a:t>
            </a:r>
            <a:r>
              <a:rPr lang="en-US" dirty="0"/>
              <a:t>[])</a:t>
            </a:r>
          </a:p>
          <a:p>
            <a:pPr fontAlgn="base"/>
            <a:r>
              <a:rPr lang="en-US" dirty="0"/>
              <a:t>    {</a:t>
            </a:r>
          </a:p>
          <a:p>
            <a:pPr fontAlgn="base"/>
            <a:r>
              <a:rPr lang="en-US" dirty="0"/>
              <a:t>        </a:t>
            </a:r>
            <a:r>
              <a:rPr lang="en-US" dirty="0" err="1"/>
              <a:t>int</a:t>
            </a:r>
            <a:r>
              <a:rPr lang="en-US" dirty="0"/>
              <a:t> </a:t>
            </a:r>
            <a:r>
              <a:rPr lang="en-US" dirty="0" err="1"/>
              <a:t>i</a:t>
            </a:r>
            <a:r>
              <a:rPr lang="en-US" dirty="0"/>
              <a:t> = 20;</a:t>
            </a:r>
          </a:p>
          <a:p>
            <a:pPr fontAlgn="base"/>
            <a:r>
              <a:rPr lang="en-US" dirty="0"/>
              <a:t>          if (</a:t>
            </a:r>
            <a:r>
              <a:rPr lang="en-US" dirty="0" err="1"/>
              <a:t>i</a:t>
            </a:r>
            <a:r>
              <a:rPr lang="en-US" dirty="0"/>
              <a:t> == 10)</a:t>
            </a:r>
          </a:p>
          <a:p>
            <a:pPr fontAlgn="base"/>
            <a:r>
              <a:rPr lang="en-US" dirty="0"/>
              <a:t>            </a:t>
            </a:r>
            <a:r>
              <a:rPr lang="en-US" dirty="0" err="1"/>
              <a:t>System.out.println</a:t>
            </a:r>
            <a:r>
              <a:rPr lang="en-US" dirty="0"/>
              <a:t>("</a:t>
            </a:r>
            <a:r>
              <a:rPr lang="en-US" dirty="0" err="1"/>
              <a:t>i</a:t>
            </a:r>
            <a:r>
              <a:rPr lang="en-US" dirty="0"/>
              <a:t> is 10");</a:t>
            </a:r>
          </a:p>
          <a:p>
            <a:pPr fontAlgn="base"/>
            <a:r>
              <a:rPr lang="en-US" dirty="0"/>
              <a:t>        else if (</a:t>
            </a:r>
            <a:r>
              <a:rPr lang="en-US" dirty="0" err="1"/>
              <a:t>i</a:t>
            </a:r>
            <a:r>
              <a:rPr lang="en-US" dirty="0"/>
              <a:t> == 15)</a:t>
            </a:r>
          </a:p>
          <a:p>
            <a:pPr fontAlgn="base"/>
            <a:r>
              <a:rPr lang="en-US" dirty="0"/>
              <a:t>            </a:t>
            </a:r>
            <a:r>
              <a:rPr lang="en-US" dirty="0" err="1"/>
              <a:t>System.out.println</a:t>
            </a:r>
            <a:r>
              <a:rPr lang="en-US" dirty="0"/>
              <a:t>("</a:t>
            </a:r>
            <a:r>
              <a:rPr lang="en-US" dirty="0" err="1"/>
              <a:t>i</a:t>
            </a:r>
            <a:r>
              <a:rPr lang="en-US" dirty="0"/>
              <a:t> is 15");</a:t>
            </a:r>
          </a:p>
          <a:p>
            <a:pPr fontAlgn="base"/>
            <a:r>
              <a:rPr lang="en-US" dirty="0"/>
              <a:t>        else if (</a:t>
            </a:r>
            <a:r>
              <a:rPr lang="en-US" dirty="0" err="1"/>
              <a:t>i</a:t>
            </a:r>
            <a:r>
              <a:rPr lang="en-US" dirty="0"/>
              <a:t> == 20)</a:t>
            </a:r>
          </a:p>
          <a:p>
            <a:pPr fontAlgn="base"/>
            <a:r>
              <a:rPr lang="en-US" dirty="0"/>
              <a:t>            </a:t>
            </a:r>
            <a:r>
              <a:rPr lang="en-US" dirty="0" err="1"/>
              <a:t>System.out.println</a:t>
            </a:r>
            <a:r>
              <a:rPr lang="en-US" dirty="0"/>
              <a:t>("</a:t>
            </a:r>
            <a:r>
              <a:rPr lang="en-US" dirty="0" err="1"/>
              <a:t>i</a:t>
            </a:r>
            <a:r>
              <a:rPr lang="en-US" dirty="0"/>
              <a:t> is 20");</a:t>
            </a:r>
          </a:p>
          <a:p>
            <a:pPr fontAlgn="base"/>
            <a:r>
              <a:rPr lang="en-US" dirty="0"/>
              <a:t>        else</a:t>
            </a:r>
          </a:p>
          <a:p>
            <a:pPr fontAlgn="base"/>
            <a:r>
              <a:rPr lang="en-US" dirty="0"/>
              <a:t>            </a:t>
            </a:r>
            <a:r>
              <a:rPr lang="en-US" dirty="0" err="1"/>
              <a:t>System.out.println</a:t>
            </a:r>
            <a:r>
              <a:rPr lang="en-US" dirty="0"/>
              <a:t>("</a:t>
            </a:r>
            <a:r>
              <a:rPr lang="en-US" dirty="0" err="1"/>
              <a:t>i</a:t>
            </a:r>
            <a:r>
              <a:rPr lang="en-US" dirty="0"/>
              <a:t> is not present");</a:t>
            </a:r>
          </a:p>
          <a:p>
            <a:pPr fontAlgn="base"/>
            <a:r>
              <a:rPr lang="en-US" dirty="0"/>
              <a:t>    }</a:t>
            </a:r>
          </a:p>
          <a:p>
            <a:pPr fontAlgn="base"/>
            <a:r>
              <a:rPr lang="en-US" dirty="0"/>
              <a:t>}</a:t>
            </a:r>
          </a:p>
          <a:p>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switch-case </a:t>
            </a:r>
          </a:p>
        </p:txBody>
      </p:sp>
      <p:sp>
        <p:nvSpPr>
          <p:cNvPr id="3" name="Slide Number Placeholder 2"/>
          <p:cNvSpPr>
            <a:spLocks noGrp="1"/>
          </p:cNvSpPr>
          <p:nvPr>
            <p:ph type="sldNum" sz="quarter" idx="12"/>
          </p:nvPr>
        </p:nvSpPr>
        <p:spPr/>
        <p:txBody>
          <a:bodyPr/>
          <a:lstStyle/>
          <a:p>
            <a:fld id="{E3591306-41CF-4237-B2B4-5C605DD45071}" type="slidenum">
              <a:rPr lang="en-US" smtClean="0"/>
              <a:pPr/>
              <a:t>92</a:t>
            </a:fld>
            <a:endParaRPr lang="en-US" dirty="0"/>
          </a:p>
        </p:txBody>
      </p:sp>
      <p:sp>
        <p:nvSpPr>
          <p:cNvPr id="4" name="Content Placeholder 3"/>
          <p:cNvSpPr>
            <a:spLocks noGrp="1"/>
          </p:cNvSpPr>
          <p:nvPr>
            <p:ph sz="quarter" idx="1"/>
          </p:nvPr>
        </p:nvSpPr>
        <p:spPr/>
        <p:txBody>
          <a:bodyPr>
            <a:normAutofit fontScale="85000" lnSpcReduction="20000"/>
          </a:bodyPr>
          <a:lstStyle/>
          <a:p>
            <a:pPr algn="just"/>
            <a:r>
              <a:rPr lang="en-US" sz="2000" dirty="0"/>
              <a:t>The switch statement is a </a:t>
            </a:r>
            <a:r>
              <a:rPr lang="en-US" sz="2000" dirty="0" err="1"/>
              <a:t>multiway</a:t>
            </a:r>
            <a:r>
              <a:rPr lang="en-US" sz="2000" dirty="0"/>
              <a:t> branch statement. It provides an easy way to dispatch execution to different parts of code based on the value of the expression.</a:t>
            </a:r>
          </a:p>
          <a:p>
            <a:pPr algn="just"/>
            <a:r>
              <a:rPr lang="en-US" sz="2000" dirty="0"/>
              <a:t>Syntax:</a:t>
            </a:r>
          </a:p>
          <a:p>
            <a:pPr algn="just"/>
            <a:r>
              <a:rPr lang="en-US" sz="2000" dirty="0"/>
              <a:t>switch (expression) </a:t>
            </a:r>
          </a:p>
          <a:p>
            <a:pPr algn="just"/>
            <a:r>
              <a:rPr lang="en-US" sz="2000" dirty="0"/>
              <a:t>{ </a:t>
            </a:r>
          </a:p>
          <a:p>
            <a:pPr algn="just"/>
            <a:r>
              <a:rPr lang="en-US" sz="2000" dirty="0"/>
              <a:t>case value1: </a:t>
            </a:r>
          </a:p>
          <a:p>
            <a:pPr algn="just"/>
            <a:r>
              <a:rPr lang="en-US" sz="2000" dirty="0"/>
              <a:t>statement1; </a:t>
            </a:r>
          </a:p>
          <a:p>
            <a:pPr algn="just"/>
            <a:r>
              <a:rPr lang="en-US" sz="2000" dirty="0"/>
              <a:t>break; </a:t>
            </a:r>
          </a:p>
          <a:p>
            <a:pPr algn="just"/>
            <a:r>
              <a:rPr lang="en-US" sz="2000" dirty="0"/>
              <a:t>case value2: </a:t>
            </a:r>
          </a:p>
          <a:p>
            <a:pPr algn="just"/>
            <a:r>
              <a:rPr lang="en-US" sz="2000" dirty="0"/>
              <a:t>statement2; </a:t>
            </a:r>
          </a:p>
          <a:p>
            <a:pPr algn="just"/>
            <a:r>
              <a:rPr lang="en-US" sz="2000" dirty="0"/>
              <a:t>break; </a:t>
            </a:r>
          </a:p>
          <a:p>
            <a:pPr algn="just"/>
            <a:r>
              <a:rPr lang="en-US" sz="2000" dirty="0"/>
              <a:t>. . </a:t>
            </a:r>
          </a:p>
          <a:p>
            <a:pPr algn="just"/>
            <a:r>
              <a:rPr lang="en-US" sz="2000" dirty="0"/>
              <a:t>case </a:t>
            </a:r>
            <a:r>
              <a:rPr lang="en-US" sz="2000" dirty="0" err="1"/>
              <a:t>valueN</a:t>
            </a:r>
            <a:r>
              <a:rPr lang="en-US" sz="2000" dirty="0"/>
              <a:t>: </a:t>
            </a:r>
          </a:p>
          <a:p>
            <a:pPr algn="just"/>
            <a:r>
              <a:rPr lang="en-US" sz="2000" dirty="0" err="1"/>
              <a:t>statementN</a:t>
            </a:r>
            <a:r>
              <a:rPr lang="en-US" sz="2000" dirty="0"/>
              <a:t>; </a:t>
            </a:r>
          </a:p>
          <a:p>
            <a:pPr algn="just"/>
            <a:r>
              <a:rPr lang="en-US" sz="2000" dirty="0"/>
              <a:t>break; </a:t>
            </a:r>
          </a:p>
          <a:p>
            <a:pPr algn="just"/>
            <a:r>
              <a:rPr lang="en-US" sz="2000" dirty="0"/>
              <a:t>default: </a:t>
            </a:r>
          </a:p>
          <a:p>
            <a:pPr algn="just"/>
            <a:r>
              <a:rPr lang="en-US" sz="2000" dirty="0" err="1"/>
              <a:t>statementDefault</a:t>
            </a:r>
            <a:r>
              <a:rPr lang="en-US" sz="2000" dirty="0"/>
              <a:t>;</a:t>
            </a:r>
          </a:p>
          <a:p>
            <a:pPr algn="just"/>
            <a:r>
              <a:rPr lang="en-US" sz="2000" dirty="0"/>
              <a:t> }</a:t>
            </a:r>
          </a:p>
        </p:txBody>
      </p:sp>
      <p:pic>
        <p:nvPicPr>
          <p:cNvPr id="125954" name="Picture 2" descr="switch-case-in-java"/>
          <p:cNvPicPr>
            <a:picLocks noChangeAspect="1" noChangeArrowheads="1"/>
          </p:cNvPicPr>
          <p:nvPr/>
        </p:nvPicPr>
        <p:blipFill>
          <a:blip r:embed="rId2"/>
          <a:srcRect/>
          <a:stretch>
            <a:fillRect/>
          </a:stretch>
        </p:blipFill>
        <p:spPr bwMode="auto">
          <a:xfrm>
            <a:off x="3778180" y="1901214"/>
            <a:ext cx="4994031" cy="4925875"/>
          </a:xfrm>
          <a:prstGeom prst="rect">
            <a:avLst/>
          </a:prstGeom>
          <a:noFill/>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93</a:t>
            </a:fld>
            <a:endParaRPr lang="en-US"/>
          </a:p>
        </p:txBody>
      </p:sp>
      <p:sp>
        <p:nvSpPr>
          <p:cNvPr id="4" name="Content Placeholder 3"/>
          <p:cNvSpPr>
            <a:spLocks noGrp="1"/>
          </p:cNvSpPr>
          <p:nvPr>
            <p:ph sz="quarter" idx="1"/>
          </p:nvPr>
        </p:nvSpPr>
        <p:spPr/>
        <p:txBody>
          <a:bodyPr/>
          <a:lstStyle/>
          <a:p>
            <a:pPr algn="just" fontAlgn="base">
              <a:lnSpc>
                <a:spcPct val="150000"/>
              </a:lnSpc>
            </a:pPr>
            <a:r>
              <a:rPr lang="en-US" sz="2400" dirty="0"/>
              <a:t>Expression can be of type byte, short, </a:t>
            </a:r>
            <a:r>
              <a:rPr lang="en-US" sz="2400" dirty="0" err="1"/>
              <a:t>int</a:t>
            </a:r>
            <a:r>
              <a:rPr lang="en-US" sz="2400" dirty="0"/>
              <a:t> char or an enumeration. Beginning with JDK7, </a:t>
            </a:r>
            <a:r>
              <a:rPr lang="en-US" sz="2400" i="1" dirty="0"/>
              <a:t>expression</a:t>
            </a:r>
            <a:r>
              <a:rPr lang="en-US" sz="2400" dirty="0"/>
              <a:t> can also be of type String.</a:t>
            </a:r>
          </a:p>
          <a:p>
            <a:pPr algn="just" fontAlgn="base">
              <a:lnSpc>
                <a:spcPct val="150000"/>
              </a:lnSpc>
            </a:pPr>
            <a:r>
              <a:rPr lang="en-US" sz="2400" dirty="0"/>
              <a:t>Duplicate case values are not allowed.</a:t>
            </a:r>
          </a:p>
          <a:p>
            <a:pPr algn="just" fontAlgn="base">
              <a:lnSpc>
                <a:spcPct val="150000"/>
              </a:lnSpc>
            </a:pPr>
            <a:r>
              <a:rPr lang="en-US" sz="2400" dirty="0"/>
              <a:t>The default statement is optional.</a:t>
            </a:r>
          </a:p>
          <a:p>
            <a:pPr algn="just" fontAlgn="base">
              <a:lnSpc>
                <a:spcPct val="150000"/>
              </a:lnSpc>
            </a:pPr>
            <a:r>
              <a:rPr lang="en-US" sz="2400" dirty="0"/>
              <a:t>The break statement is used inside the switch to terminate a statement sequence.</a:t>
            </a:r>
          </a:p>
          <a:p>
            <a:pPr algn="just" fontAlgn="base">
              <a:lnSpc>
                <a:spcPct val="150000"/>
              </a:lnSpc>
            </a:pPr>
            <a:r>
              <a:rPr lang="en-US" sz="2400" dirty="0"/>
              <a:t>The break statement is optional. If omitted, execution will continue on into the next case.</a:t>
            </a:r>
          </a:p>
          <a:p>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94</a:t>
            </a:fld>
            <a:endParaRPr lang="en-US"/>
          </a:p>
        </p:txBody>
      </p:sp>
      <p:sp>
        <p:nvSpPr>
          <p:cNvPr id="4" name="Content Placeholder 3"/>
          <p:cNvSpPr>
            <a:spLocks noGrp="1"/>
          </p:cNvSpPr>
          <p:nvPr>
            <p:ph sz="quarter" idx="1"/>
          </p:nvPr>
        </p:nvSpPr>
        <p:spPr/>
        <p:txBody>
          <a:bodyPr>
            <a:normAutofit fontScale="55000" lnSpcReduction="20000"/>
          </a:bodyPr>
          <a:lstStyle/>
          <a:p>
            <a:pPr fontAlgn="base"/>
            <a:r>
              <a:rPr lang="en-US" dirty="0"/>
              <a:t>// Java program to illustrate switch-case</a:t>
            </a:r>
          </a:p>
          <a:p>
            <a:pPr fontAlgn="base"/>
            <a:r>
              <a:rPr lang="en-US" dirty="0"/>
              <a:t>class </a:t>
            </a:r>
            <a:r>
              <a:rPr lang="en-US" dirty="0" err="1"/>
              <a:t>SwitchCaseDemo</a:t>
            </a:r>
            <a:endParaRPr lang="en-US" dirty="0"/>
          </a:p>
          <a:p>
            <a:pPr fontAlgn="base"/>
            <a:r>
              <a:rPr lang="en-US" dirty="0"/>
              <a:t>{</a:t>
            </a:r>
          </a:p>
          <a:p>
            <a:pPr fontAlgn="base"/>
            <a:r>
              <a:rPr lang="en-US" dirty="0"/>
              <a:t>    public static void main(String </a:t>
            </a:r>
            <a:r>
              <a:rPr lang="en-US" dirty="0" err="1"/>
              <a:t>args</a:t>
            </a:r>
            <a:r>
              <a:rPr lang="en-US" dirty="0"/>
              <a:t>[])</a:t>
            </a:r>
          </a:p>
          <a:p>
            <a:pPr fontAlgn="base"/>
            <a:r>
              <a:rPr lang="en-US" dirty="0"/>
              <a:t>    {</a:t>
            </a:r>
          </a:p>
          <a:p>
            <a:pPr fontAlgn="base"/>
            <a:r>
              <a:rPr lang="en-US" dirty="0"/>
              <a:t>        </a:t>
            </a:r>
            <a:r>
              <a:rPr lang="en-US" dirty="0" err="1"/>
              <a:t>int</a:t>
            </a:r>
            <a:r>
              <a:rPr lang="en-US" dirty="0"/>
              <a:t> </a:t>
            </a:r>
            <a:r>
              <a:rPr lang="en-US" dirty="0" err="1"/>
              <a:t>i</a:t>
            </a:r>
            <a:r>
              <a:rPr lang="en-US" dirty="0"/>
              <a:t> = 9;</a:t>
            </a:r>
          </a:p>
          <a:p>
            <a:pPr fontAlgn="base"/>
            <a:r>
              <a:rPr lang="en-US" dirty="0"/>
              <a:t>        switch (</a:t>
            </a:r>
            <a:r>
              <a:rPr lang="en-US" dirty="0" err="1"/>
              <a:t>i</a:t>
            </a:r>
            <a:r>
              <a:rPr lang="en-US" dirty="0"/>
              <a:t>)</a:t>
            </a:r>
          </a:p>
          <a:p>
            <a:pPr fontAlgn="base"/>
            <a:r>
              <a:rPr lang="en-US" dirty="0"/>
              <a:t>        {</a:t>
            </a:r>
          </a:p>
          <a:p>
            <a:pPr fontAlgn="base"/>
            <a:r>
              <a:rPr lang="en-US" dirty="0"/>
              <a:t>        case 0:</a:t>
            </a:r>
          </a:p>
          <a:p>
            <a:pPr fontAlgn="base"/>
            <a:r>
              <a:rPr lang="en-US" dirty="0"/>
              <a:t>            </a:t>
            </a:r>
            <a:r>
              <a:rPr lang="en-US" dirty="0" err="1"/>
              <a:t>System.out.println</a:t>
            </a:r>
            <a:r>
              <a:rPr lang="en-US" dirty="0"/>
              <a:t>("</a:t>
            </a:r>
            <a:r>
              <a:rPr lang="en-US" dirty="0" err="1"/>
              <a:t>i</a:t>
            </a:r>
            <a:r>
              <a:rPr lang="en-US" dirty="0"/>
              <a:t> is zero.");</a:t>
            </a:r>
          </a:p>
          <a:p>
            <a:pPr fontAlgn="base"/>
            <a:r>
              <a:rPr lang="en-US" dirty="0"/>
              <a:t>            break;</a:t>
            </a:r>
          </a:p>
          <a:p>
            <a:pPr fontAlgn="base"/>
            <a:r>
              <a:rPr lang="en-US" dirty="0"/>
              <a:t>        case 1:</a:t>
            </a:r>
          </a:p>
          <a:p>
            <a:pPr fontAlgn="base"/>
            <a:r>
              <a:rPr lang="en-US" dirty="0"/>
              <a:t>            </a:t>
            </a:r>
            <a:r>
              <a:rPr lang="en-US" dirty="0" err="1"/>
              <a:t>System.out.println</a:t>
            </a:r>
            <a:r>
              <a:rPr lang="en-US" dirty="0"/>
              <a:t>("</a:t>
            </a:r>
            <a:r>
              <a:rPr lang="en-US" dirty="0" err="1"/>
              <a:t>i</a:t>
            </a:r>
            <a:r>
              <a:rPr lang="en-US" dirty="0"/>
              <a:t> is one.");</a:t>
            </a:r>
          </a:p>
          <a:p>
            <a:pPr fontAlgn="base"/>
            <a:r>
              <a:rPr lang="en-US" dirty="0"/>
              <a:t>            break;</a:t>
            </a:r>
          </a:p>
          <a:p>
            <a:pPr fontAlgn="base"/>
            <a:r>
              <a:rPr lang="en-US" dirty="0"/>
              <a:t>                default:</a:t>
            </a:r>
          </a:p>
          <a:p>
            <a:pPr fontAlgn="base"/>
            <a:r>
              <a:rPr lang="en-US" dirty="0"/>
              <a:t>            </a:t>
            </a:r>
            <a:r>
              <a:rPr lang="en-US" dirty="0" err="1"/>
              <a:t>System.out.println</a:t>
            </a:r>
            <a:r>
              <a:rPr lang="en-US" dirty="0"/>
              <a:t>("</a:t>
            </a:r>
            <a:r>
              <a:rPr lang="en-US" dirty="0" err="1"/>
              <a:t>i</a:t>
            </a:r>
            <a:r>
              <a:rPr lang="en-US" dirty="0"/>
              <a:t> is greater than 2.");</a:t>
            </a:r>
          </a:p>
          <a:p>
            <a:pPr fontAlgn="base"/>
            <a:r>
              <a:rPr lang="en-US" dirty="0"/>
              <a:t>        }</a:t>
            </a:r>
          </a:p>
          <a:p>
            <a:pPr fontAlgn="base"/>
            <a:r>
              <a:rPr lang="en-US" dirty="0"/>
              <a:t>    }</a:t>
            </a:r>
          </a:p>
          <a:p>
            <a:pPr fontAlgn="base"/>
            <a:r>
              <a:rPr lang="en-US" dirty="0"/>
              <a:t>}</a:t>
            </a:r>
          </a:p>
          <a:p>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Jump Statements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95</a:t>
            </a:fld>
            <a:endParaRPr lang="en-US"/>
          </a:p>
        </p:txBody>
      </p:sp>
      <p:sp>
        <p:nvSpPr>
          <p:cNvPr id="4" name="Content Placeholder 3"/>
          <p:cNvSpPr>
            <a:spLocks noGrp="1"/>
          </p:cNvSpPr>
          <p:nvPr>
            <p:ph sz="quarter" idx="1"/>
          </p:nvPr>
        </p:nvSpPr>
        <p:spPr/>
        <p:txBody>
          <a:bodyPr>
            <a:normAutofit/>
          </a:bodyPr>
          <a:lstStyle/>
          <a:p>
            <a:pPr algn="just" fontAlgn="base"/>
            <a:r>
              <a:rPr lang="en-US" sz="2400" dirty="0"/>
              <a:t>Java supports three jump statement: </a:t>
            </a:r>
            <a:r>
              <a:rPr lang="en-US" sz="2400" b="1" dirty="0"/>
              <a:t>break, continue</a:t>
            </a:r>
            <a:r>
              <a:rPr lang="en-US" sz="2400" dirty="0"/>
              <a:t> and </a:t>
            </a:r>
            <a:r>
              <a:rPr lang="en-US" sz="2400" b="1" dirty="0"/>
              <a:t>return</a:t>
            </a:r>
            <a:r>
              <a:rPr lang="en-US" sz="2400" dirty="0"/>
              <a:t>. </a:t>
            </a:r>
          </a:p>
          <a:p>
            <a:pPr algn="just" fontAlgn="base"/>
            <a:r>
              <a:rPr lang="en-US" sz="2400" dirty="0"/>
              <a:t>These three statements transfer control to other part of the program. </a:t>
            </a:r>
          </a:p>
          <a:p>
            <a:pPr algn="just" fontAlgn="base"/>
            <a:r>
              <a:rPr lang="en-US" sz="2400" b="1" dirty="0">
                <a:solidFill>
                  <a:srgbClr val="C00000"/>
                </a:solidFill>
              </a:rPr>
              <a:t>Break:</a:t>
            </a:r>
            <a:r>
              <a:rPr lang="en-US" sz="2400" dirty="0"/>
              <a:t> In Java, break is majorly used for:</a:t>
            </a:r>
          </a:p>
          <a:p>
            <a:pPr lvl="1" algn="just" fontAlgn="base"/>
            <a:r>
              <a:rPr lang="en-US" sz="2000" dirty="0"/>
              <a:t>Terminate a sequence in a switch statement </a:t>
            </a:r>
          </a:p>
          <a:p>
            <a:pPr lvl="1" algn="just" fontAlgn="base"/>
            <a:r>
              <a:rPr lang="en-US" sz="2000" dirty="0"/>
              <a:t>To exit a loop.</a:t>
            </a:r>
          </a:p>
          <a:p>
            <a:pPr lvl="1" algn="just" fontAlgn="base"/>
            <a:r>
              <a:rPr lang="en-US" sz="2000" dirty="0"/>
              <a:t>Used as a “civilized” form of </a:t>
            </a:r>
            <a:r>
              <a:rPr lang="en-US" sz="2000" dirty="0" err="1"/>
              <a:t>goto</a:t>
            </a:r>
            <a:r>
              <a:rPr lang="en-US" sz="2000" dirty="0"/>
              <a:t>.</a:t>
            </a:r>
          </a:p>
          <a:p>
            <a:pPr algn="just" fontAlgn="base"/>
            <a:endParaRPr lang="en-US" sz="2000" b="1" dirty="0">
              <a:solidFill>
                <a:srgbClr val="C00000"/>
              </a:solidFill>
            </a:endParaRPr>
          </a:p>
          <a:p>
            <a:pPr algn="just" fontAlgn="base"/>
            <a:endParaRPr lang="en-US" sz="2000" b="1" dirty="0">
              <a:solidFill>
                <a:srgbClr val="C00000"/>
              </a:solidFill>
            </a:endParaRPr>
          </a:p>
          <a:p>
            <a:pPr algn="just" fontAlgn="base"/>
            <a:r>
              <a:rPr lang="en-US" sz="2000" b="1" dirty="0">
                <a:solidFill>
                  <a:srgbClr val="C00000"/>
                </a:solidFill>
              </a:rPr>
              <a:t>Using break to exit a Loop</a:t>
            </a:r>
          </a:p>
          <a:p>
            <a:pPr algn="just" fontAlgn="base"/>
            <a:r>
              <a:rPr lang="en-US" sz="2000" dirty="0"/>
              <a:t>Using break, we can force immediate termination of a loop, bypassing the conditional expression and any remaining code in the body of the loop.</a:t>
            </a:r>
            <a:br>
              <a:rPr lang="en-US" sz="2000" dirty="0"/>
            </a:br>
            <a:r>
              <a:rPr lang="en-US" sz="2000" dirty="0"/>
              <a:t>Note: Break, when used inside a set of nested loops, will only break out of the innermost loop.</a:t>
            </a:r>
          </a:p>
          <a:p>
            <a:endParaRPr lang="en-US" dirty="0"/>
          </a:p>
        </p:txBody>
      </p:sp>
      <p:pic>
        <p:nvPicPr>
          <p:cNvPr id="128002" name="Picture 2" descr="using-break-to-exit-a-loop-in-java"/>
          <p:cNvPicPr>
            <a:picLocks noChangeAspect="1" noChangeArrowheads="1"/>
          </p:cNvPicPr>
          <p:nvPr/>
        </p:nvPicPr>
        <p:blipFill>
          <a:blip r:embed="rId2"/>
          <a:srcRect/>
          <a:stretch>
            <a:fillRect/>
          </a:stretch>
        </p:blipFill>
        <p:spPr bwMode="auto">
          <a:xfrm>
            <a:off x="6136893" y="2411604"/>
            <a:ext cx="3710492" cy="2994409"/>
          </a:xfrm>
          <a:prstGeom prst="rect">
            <a:avLst/>
          </a:prstGeom>
          <a:noFill/>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96</a:t>
            </a:fld>
            <a:endParaRPr lang="en-US"/>
          </a:p>
        </p:txBody>
      </p:sp>
      <p:sp>
        <p:nvSpPr>
          <p:cNvPr id="4" name="Content Placeholder 3"/>
          <p:cNvSpPr>
            <a:spLocks noGrp="1"/>
          </p:cNvSpPr>
          <p:nvPr>
            <p:ph sz="quarter" idx="1"/>
          </p:nvPr>
        </p:nvSpPr>
        <p:spPr/>
        <p:txBody>
          <a:bodyPr>
            <a:normAutofit fontScale="62500" lnSpcReduction="20000"/>
          </a:bodyPr>
          <a:lstStyle/>
          <a:p>
            <a:pPr fontAlgn="base"/>
            <a:r>
              <a:rPr lang="en-US" dirty="0"/>
              <a:t>// Java program to illustrate using</a:t>
            </a:r>
          </a:p>
          <a:p>
            <a:pPr fontAlgn="base"/>
            <a:r>
              <a:rPr lang="en-US" dirty="0"/>
              <a:t>// break to exit a loop</a:t>
            </a:r>
          </a:p>
          <a:p>
            <a:pPr fontAlgn="base"/>
            <a:r>
              <a:rPr lang="en-US" dirty="0"/>
              <a:t>class </a:t>
            </a:r>
            <a:r>
              <a:rPr lang="en-US" dirty="0" err="1"/>
              <a:t>BreakLoopDemo</a:t>
            </a:r>
            <a:endParaRPr lang="en-US" dirty="0"/>
          </a:p>
          <a:p>
            <a:pPr fontAlgn="base"/>
            <a:r>
              <a:rPr lang="en-US" dirty="0"/>
              <a:t>{</a:t>
            </a:r>
          </a:p>
          <a:p>
            <a:pPr fontAlgn="base"/>
            <a:r>
              <a:rPr lang="en-US" dirty="0"/>
              <a:t>    public static void main(String </a:t>
            </a:r>
            <a:r>
              <a:rPr lang="en-US" dirty="0" err="1"/>
              <a:t>args</a:t>
            </a:r>
            <a:r>
              <a:rPr lang="en-US" dirty="0"/>
              <a:t>[])</a:t>
            </a:r>
          </a:p>
          <a:p>
            <a:pPr fontAlgn="base"/>
            <a:r>
              <a:rPr lang="en-US" dirty="0"/>
              <a:t>    {</a:t>
            </a:r>
          </a:p>
          <a:p>
            <a:pPr fontAlgn="base"/>
            <a:r>
              <a:rPr lang="en-US" dirty="0"/>
              <a:t>        // Initially loop is set to run from 0-9</a:t>
            </a:r>
          </a:p>
          <a:p>
            <a:pPr fontAlgn="base"/>
            <a:r>
              <a:rPr lang="en-US" dirty="0"/>
              <a:t>        for (</a:t>
            </a:r>
            <a:r>
              <a:rPr lang="en-US" dirty="0" err="1"/>
              <a:t>int</a:t>
            </a:r>
            <a:r>
              <a:rPr lang="en-US" dirty="0"/>
              <a:t> </a:t>
            </a:r>
            <a:r>
              <a:rPr lang="en-US" dirty="0" err="1"/>
              <a:t>i</a:t>
            </a:r>
            <a:r>
              <a:rPr lang="en-US" dirty="0"/>
              <a:t> = 0; </a:t>
            </a:r>
            <a:r>
              <a:rPr lang="en-US" dirty="0" err="1"/>
              <a:t>i</a:t>
            </a:r>
            <a:r>
              <a:rPr lang="en-US" dirty="0"/>
              <a:t> &lt; 10; </a:t>
            </a:r>
            <a:r>
              <a:rPr lang="en-US" dirty="0" err="1"/>
              <a:t>i</a:t>
            </a:r>
            <a:r>
              <a:rPr lang="en-US" dirty="0"/>
              <a:t>++)</a:t>
            </a:r>
          </a:p>
          <a:p>
            <a:pPr fontAlgn="base"/>
            <a:r>
              <a:rPr lang="en-US" dirty="0"/>
              <a:t>        {</a:t>
            </a:r>
          </a:p>
          <a:p>
            <a:pPr fontAlgn="base"/>
            <a:r>
              <a:rPr lang="en-US" dirty="0"/>
              <a:t>            // terminate loop when </a:t>
            </a:r>
            <a:r>
              <a:rPr lang="en-US" dirty="0" err="1"/>
              <a:t>i</a:t>
            </a:r>
            <a:r>
              <a:rPr lang="en-US" dirty="0"/>
              <a:t> is 5.</a:t>
            </a:r>
          </a:p>
          <a:p>
            <a:pPr fontAlgn="base"/>
            <a:r>
              <a:rPr lang="en-US" dirty="0"/>
              <a:t>            if (</a:t>
            </a:r>
            <a:r>
              <a:rPr lang="en-US" dirty="0" err="1"/>
              <a:t>i</a:t>
            </a:r>
            <a:r>
              <a:rPr lang="en-US" dirty="0"/>
              <a:t> == 5)</a:t>
            </a:r>
          </a:p>
          <a:p>
            <a:pPr fontAlgn="base"/>
            <a:r>
              <a:rPr lang="en-US" dirty="0"/>
              <a:t>                break;</a:t>
            </a:r>
          </a:p>
          <a:p>
            <a:pPr fontAlgn="base"/>
            <a:r>
              <a:rPr lang="en-US" dirty="0"/>
              <a:t>              </a:t>
            </a:r>
            <a:r>
              <a:rPr lang="en-US" dirty="0" err="1"/>
              <a:t>System.out.println</a:t>
            </a:r>
            <a:r>
              <a:rPr lang="en-US" dirty="0"/>
              <a:t>("</a:t>
            </a:r>
            <a:r>
              <a:rPr lang="en-US" dirty="0" err="1"/>
              <a:t>i</a:t>
            </a:r>
            <a:r>
              <a:rPr lang="en-US" dirty="0"/>
              <a:t>: " + </a:t>
            </a:r>
            <a:r>
              <a:rPr lang="en-US" dirty="0" err="1"/>
              <a:t>i</a:t>
            </a:r>
            <a:r>
              <a:rPr lang="en-US" dirty="0"/>
              <a:t>);</a:t>
            </a:r>
          </a:p>
          <a:p>
            <a:pPr fontAlgn="base"/>
            <a:r>
              <a:rPr lang="en-US" dirty="0"/>
              <a:t>        }</a:t>
            </a:r>
          </a:p>
          <a:p>
            <a:pPr fontAlgn="base"/>
            <a:r>
              <a:rPr lang="en-US" dirty="0"/>
              <a:t>        </a:t>
            </a:r>
            <a:r>
              <a:rPr lang="en-US" dirty="0" err="1"/>
              <a:t>System.out.println</a:t>
            </a:r>
            <a:r>
              <a:rPr lang="en-US" dirty="0"/>
              <a:t>("Loop complete.");</a:t>
            </a:r>
          </a:p>
          <a:p>
            <a:pPr fontAlgn="base"/>
            <a:r>
              <a:rPr lang="en-US" dirty="0"/>
              <a:t>    }</a:t>
            </a:r>
          </a:p>
          <a:p>
            <a:pPr fontAlgn="base"/>
            <a:r>
              <a:rPr lang="en-US" dirty="0"/>
              <a:t>}</a:t>
            </a:r>
          </a:p>
          <a:p>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Continue:</a:t>
            </a:r>
            <a:r>
              <a:rPr lang="en-US" dirty="0">
                <a:solidFill>
                  <a:srgbClr val="C00000"/>
                </a:solidFill>
              </a:rPr>
              <a:t> </a:t>
            </a:r>
          </a:p>
        </p:txBody>
      </p:sp>
      <p:sp>
        <p:nvSpPr>
          <p:cNvPr id="3" name="Slide Number Placeholder 2"/>
          <p:cNvSpPr>
            <a:spLocks noGrp="1"/>
          </p:cNvSpPr>
          <p:nvPr>
            <p:ph type="sldNum" sz="quarter" idx="12"/>
          </p:nvPr>
        </p:nvSpPr>
        <p:spPr/>
        <p:txBody>
          <a:bodyPr/>
          <a:lstStyle/>
          <a:p>
            <a:fld id="{E3591306-41CF-4237-B2B4-5C605DD45071}" type="slidenum">
              <a:rPr lang="en-US" smtClean="0"/>
              <a:pPr/>
              <a:t>97</a:t>
            </a:fld>
            <a:endParaRPr lang="en-US"/>
          </a:p>
        </p:txBody>
      </p:sp>
      <p:sp>
        <p:nvSpPr>
          <p:cNvPr id="4" name="Content Placeholder 3"/>
          <p:cNvSpPr>
            <a:spLocks noGrp="1"/>
          </p:cNvSpPr>
          <p:nvPr>
            <p:ph sz="quarter" idx="1"/>
          </p:nvPr>
        </p:nvSpPr>
        <p:spPr/>
        <p:txBody>
          <a:bodyPr>
            <a:normAutofit/>
          </a:bodyPr>
          <a:lstStyle/>
          <a:p>
            <a:pPr algn="just"/>
            <a:r>
              <a:rPr lang="en-US" sz="1800" dirty="0"/>
              <a:t>Sometimes it is useful to force an early iteration of a loop. That is, you might want to continue running the loop but stop processing the remainder of the code in its body for this particular iteration. </a:t>
            </a:r>
          </a:p>
          <a:p>
            <a:pPr algn="just"/>
            <a:r>
              <a:rPr lang="en-US" sz="1800" dirty="0"/>
              <a:t>This is, in effect, a </a:t>
            </a:r>
            <a:r>
              <a:rPr lang="en-US" sz="1800" dirty="0" err="1"/>
              <a:t>goto</a:t>
            </a:r>
            <a:r>
              <a:rPr lang="en-US" sz="1800" dirty="0"/>
              <a:t> just past the body of the loop, to the loop’s end. </a:t>
            </a:r>
          </a:p>
          <a:p>
            <a:pPr algn="just"/>
            <a:r>
              <a:rPr lang="en-US" sz="1800" dirty="0"/>
              <a:t>The continue statement performs such an action.</a:t>
            </a:r>
          </a:p>
        </p:txBody>
      </p:sp>
      <p:pic>
        <p:nvPicPr>
          <p:cNvPr id="131074" name="Picture 2" descr="continue-in-java"/>
          <p:cNvPicPr>
            <a:picLocks noChangeAspect="1" noChangeArrowheads="1"/>
          </p:cNvPicPr>
          <p:nvPr/>
        </p:nvPicPr>
        <p:blipFill>
          <a:blip r:embed="rId2"/>
          <a:srcRect/>
          <a:stretch>
            <a:fillRect/>
          </a:stretch>
        </p:blipFill>
        <p:spPr bwMode="auto">
          <a:xfrm>
            <a:off x="1532200" y="3175261"/>
            <a:ext cx="6667500" cy="3577231"/>
          </a:xfrm>
          <a:prstGeom prst="rect">
            <a:avLst/>
          </a:prstGeom>
          <a:noFill/>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98</a:t>
            </a:fld>
            <a:endParaRPr lang="en-US"/>
          </a:p>
        </p:txBody>
      </p:sp>
      <p:sp>
        <p:nvSpPr>
          <p:cNvPr id="4" name="Content Placeholder 3"/>
          <p:cNvSpPr>
            <a:spLocks noGrp="1"/>
          </p:cNvSpPr>
          <p:nvPr>
            <p:ph sz="quarter" idx="1"/>
          </p:nvPr>
        </p:nvSpPr>
        <p:spPr/>
        <p:txBody>
          <a:bodyPr>
            <a:normAutofit fontScale="77500" lnSpcReduction="20000"/>
          </a:bodyPr>
          <a:lstStyle/>
          <a:p>
            <a:pPr fontAlgn="base"/>
            <a:r>
              <a:rPr lang="en-US" dirty="0"/>
              <a:t>class </a:t>
            </a:r>
            <a:r>
              <a:rPr lang="en-US" dirty="0" err="1"/>
              <a:t>ContinueDemo</a:t>
            </a:r>
            <a:endParaRPr lang="en-US" dirty="0"/>
          </a:p>
          <a:p>
            <a:pPr fontAlgn="base"/>
            <a:r>
              <a:rPr lang="en-US" dirty="0"/>
              <a:t>{</a:t>
            </a:r>
          </a:p>
          <a:p>
            <a:pPr fontAlgn="base"/>
            <a:r>
              <a:rPr lang="en-US" dirty="0"/>
              <a:t>    public static void main(String </a:t>
            </a:r>
            <a:r>
              <a:rPr lang="en-US" dirty="0" err="1"/>
              <a:t>args</a:t>
            </a:r>
            <a:r>
              <a:rPr lang="en-US" dirty="0"/>
              <a:t>[])</a:t>
            </a:r>
          </a:p>
          <a:p>
            <a:pPr fontAlgn="base"/>
            <a:r>
              <a:rPr lang="en-US" dirty="0"/>
              <a:t>    {</a:t>
            </a:r>
          </a:p>
          <a:p>
            <a:pPr fontAlgn="base"/>
            <a:r>
              <a:rPr lang="en-US" dirty="0"/>
              <a:t>        for (</a:t>
            </a:r>
            <a:r>
              <a:rPr lang="en-US" dirty="0" err="1"/>
              <a:t>int</a:t>
            </a:r>
            <a:r>
              <a:rPr lang="en-US" dirty="0"/>
              <a:t> </a:t>
            </a:r>
            <a:r>
              <a:rPr lang="en-US" dirty="0" err="1"/>
              <a:t>i</a:t>
            </a:r>
            <a:r>
              <a:rPr lang="en-US" dirty="0"/>
              <a:t> = 0; </a:t>
            </a:r>
            <a:r>
              <a:rPr lang="en-US" dirty="0" err="1"/>
              <a:t>i</a:t>
            </a:r>
            <a:r>
              <a:rPr lang="en-US" dirty="0"/>
              <a:t> &lt; 10; </a:t>
            </a:r>
            <a:r>
              <a:rPr lang="en-US" dirty="0" err="1"/>
              <a:t>i</a:t>
            </a:r>
            <a:r>
              <a:rPr lang="en-US" dirty="0"/>
              <a:t>++)</a:t>
            </a:r>
          </a:p>
          <a:p>
            <a:pPr fontAlgn="base"/>
            <a:r>
              <a:rPr lang="en-US" dirty="0"/>
              <a:t>        {</a:t>
            </a:r>
          </a:p>
          <a:p>
            <a:pPr fontAlgn="base"/>
            <a:r>
              <a:rPr lang="en-US" dirty="0"/>
              <a:t>            // If the number is even</a:t>
            </a:r>
          </a:p>
          <a:p>
            <a:pPr fontAlgn="base"/>
            <a:r>
              <a:rPr lang="en-US" dirty="0"/>
              <a:t>            // skip and continue</a:t>
            </a:r>
          </a:p>
          <a:p>
            <a:pPr fontAlgn="base"/>
            <a:r>
              <a:rPr lang="en-US" dirty="0"/>
              <a:t>            if (i%2 == 0)</a:t>
            </a:r>
          </a:p>
          <a:p>
            <a:pPr fontAlgn="base"/>
            <a:r>
              <a:rPr lang="en-US" dirty="0"/>
              <a:t>                continue;</a:t>
            </a:r>
          </a:p>
          <a:p>
            <a:pPr fontAlgn="base"/>
            <a:r>
              <a:rPr lang="en-US" dirty="0"/>
              <a:t>            // If number is odd, print it</a:t>
            </a:r>
          </a:p>
          <a:p>
            <a:pPr fontAlgn="base"/>
            <a:r>
              <a:rPr lang="en-US" dirty="0"/>
              <a:t>            </a:t>
            </a:r>
            <a:r>
              <a:rPr lang="en-US" dirty="0" err="1"/>
              <a:t>System.out.print</a:t>
            </a:r>
            <a:r>
              <a:rPr lang="en-US" dirty="0"/>
              <a:t>(</a:t>
            </a:r>
            <a:r>
              <a:rPr lang="en-US" dirty="0" err="1"/>
              <a:t>i</a:t>
            </a:r>
            <a:r>
              <a:rPr lang="en-US" dirty="0"/>
              <a:t> + " ");</a:t>
            </a:r>
          </a:p>
          <a:p>
            <a:pPr fontAlgn="base"/>
            <a:r>
              <a:rPr lang="en-US" dirty="0"/>
              <a:t>        }</a:t>
            </a:r>
          </a:p>
          <a:p>
            <a:pPr fontAlgn="base"/>
            <a:r>
              <a:rPr lang="en-US" dirty="0"/>
              <a:t>    }</a:t>
            </a:r>
          </a:p>
          <a:p>
            <a:pPr fontAlgn="base"/>
            <a:r>
              <a:rPr lang="en-US" dirty="0"/>
              <a:t>}</a:t>
            </a:r>
          </a:p>
          <a:p>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Return</a:t>
            </a:r>
          </a:p>
        </p:txBody>
      </p:sp>
      <p:sp>
        <p:nvSpPr>
          <p:cNvPr id="3" name="Slide Number Placeholder 2"/>
          <p:cNvSpPr>
            <a:spLocks noGrp="1"/>
          </p:cNvSpPr>
          <p:nvPr>
            <p:ph type="sldNum" sz="quarter" idx="12"/>
          </p:nvPr>
        </p:nvSpPr>
        <p:spPr/>
        <p:txBody>
          <a:bodyPr/>
          <a:lstStyle/>
          <a:p>
            <a:fld id="{E3591306-41CF-4237-B2B4-5C605DD45071}" type="slidenum">
              <a:rPr lang="en-US" smtClean="0"/>
              <a:pPr/>
              <a:t>99</a:t>
            </a:fld>
            <a:endParaRPr lang="en-US"/>
          </a:p>
        </p:txBody>
      </p:sp>
      <p:sp>
        <p:nvSpPr>
          <p:cNvPr id="4" name="Content Placeholder 3"/>
          <p:cNvSpPr>
            <a:spLocks noGrp="1"/>
          </p:cNvSpPr>
          <p:nvPr>
            <p:ph sz="quarter" idx="1"/>
          </p:nvPr>
        </p:nvSpPr>
        <p:spPr/>
        <p:txBody>
          <a:bodyPr>
            <a:normAutofit fontScale="70000" lnSpcReduction="20000"/>
          </a:bodyPr>
          <a:lstStyle/>
          <a:p>
            <a:pPr algn="just" fontAlgn="base"/>
            <a:r>
              <a:rPr lang="en-US" dirty="0"/>
              <a:t>The return statement is used to explicitly return from a method. That is, it causes a program control to transfer back to the caller of the method.</a:t>
            </a:r>
          </a:p>
          <a:p>
            <a:pPr algn="just" fontAlgn="base"/>
            <a:r>
              <a:rPr lang="en-US" b="1" dirty="0"/>
              <a:t>Example:</a:t>
            </a:r>
          </a:p>
          <a:p>
            <a:pPr fontAlgn="base"/>
            <a:r>
              <a:rPr lang="en-US" dirty="0"/>
              <a:t>class Return</a:t>
            </a:r>
          </a:p>
          <a:p>
            <a:pPr fontAlgn="base"/>
            <a:r>
              <a:rPr lang="en-US" dirty="0"/>
              <a:t>{</a:t>
            </a:r>
          </a:p>
          <a:p>
            <a:pPr fontAlgn="base"/>
            <a:r>
              <a:rPr lang="en-US" dirty="0"/>
              <a:t>    public static void main(String </a:t>
            </a:r>
            <a:r>
              <a:rPr lang="en-US" dirty="0" err="1"/>
              <a:t>args</a:t>
            </a:r>
            <a:r>
              <a:rPr lang="en-US" dirty="0"/>
              <a:t>[])</a:t>
            </a:r>
          </a:p>
          <a:p>
            <a:pPr fontAlgn="base"/>
            <a:r>
              <a:rPr lang="en-US" dirty="0"/>
              <a:t>    {</a:t>
            </a:r>
          </a:p>
          <a:p>
            <a:pPr fontAlgn="base"/>
            <a:r>
              <a:rPr lang="en-US" dirty="0"/>
              <a:t>        </a:t>
            </a:r>
            <a:r>
              <a:rPr lang="en-US" dirty="0" err="1"/>
              <a:t>boolean</a:t>
            </a:r>
            <a:r>
              <a:rPr lang="en-US" dirty="0"/>
              <a:t> t = true;</a:t>
            </a:r>
          </a:p>
          <a:p>
            <a:pPr fontAlgn="base"/>
            <a:r>
              <a:rPr lang="en-US" dirty="0"/>
              <a:t>        </a:t>
            </a:r>
            <a:r>
              <a:rPr lang="en-US" dirty="0" err="1"/>
              <a:t>System.out.println</a:t>
            </a:r>
            <a:r>
              <a:rPr lang="en-US" dirty="0"/>
              <a:t>("Before the return.");</a:t>
            </a:r>
          </a:p>
          <a:p>
            <a:pPr fontAlgn="base"/>
            <a:r>
              <a:rPr lang="en-US" dirty="0"/>
              <a:t>              if (t)</a:t>
            </a:r>
          </a:p>
          <a:p>
            <a:pPr fontAlgn="base"/>
            <a:r>
              <a:rPr lang="en-US" dirty="0"/>
              <a:t>            return;</a:t>
            </a:r>
          </a:p>
          <a:p>
            <a:pPr fontAlgn="base"/>
            <a:r>
              <a:rPr lang="en-US" dirty="0"/>
              <a:t>          // Compiler will bypass every statement </a:t>
            </a:r>
          </a:p>
          <a:p>
            <a:pPr fontAlgn="base"/>
            <a:r>
              <a:rPr lang="en-US" dirty="0"/>
              <a:t>        // after return</a:t>
            </a:r>
          </a:p>
          <a:p>
            <a:pPr fontAlgn="base"/>
            <a:r>
              <a:rPr lang="en-US" dirty="0"/>
              <a:t>        </a:t>
            </a:r>
            <a:r>
              <a:rPr lang="en-US" dirty="0" err="1"/>
              <a:t>System.out.println</a:t>
            </a:r>
            <a:r>
              <a:rPr lang="en-US" dirty="0"/>
              <a:t>("This won't execute.");</a:t>
            </a:r>
          </a:p>
          <a:p>
            <a:pPr fontAlgn="base"/>
            <a:r>
              <a:rPr lang="en-US" dirty="0"/>
              <a:t>    }</a:t>
            </a:r>
          </a:p>
          <a:p>
            <a:pPr fontAlgn="base"/>
            <a:r>
              <a:rPr lang="en-US" dirty="0"/>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Loops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100</a:t>
            </a:fld>
            <a:endParaRPr lang="en-US"/>
          </a:p>
        </p:txBody>
      </p:sp>
      <p:sp>
        <p:nvSpPr>
          <p:cNvPr id="4" name="Content Placeholder 3"/>
          <p:cNvSpPr>
            <a:spLocks noGrp="1"/>
          </p:cNvSpPr>
          <p:nvPr>
            <p:ph sz="quarter" idx="1"/>
          </p:nvPr>
        </p:nvSpPr>
        <p:spPr/>
        <p:txBody>
          <a:bodyPr>
            <a:normAutofit/>
          </a:bodyPr>
          <a:lstStyle/>
          <a:p>
            <a:pPr algn="just"/>
            <a:r>
              <a:rPr lang="en-US" sz="2000" dirty="0"/>
              <a:t>In programming languages, loops are used to execute a set of instructions/functions repeatedly when some conditions become true. There are three types of loops in Java.</a:t>
            </a:r>
          </a:p>
          <a:p>
            <a:pPr algn="just"/>
            <a:r>
              <a:rPr lang="en-US" sz="2000" dirty="0"/>
              <a:t>for loop</a:t>
            </a:r>
          </a:p>
          <a:p>
            <a:pPr algn="just"/>
            <a:r>
              <a:rPr lang="en-US" sz="2000" dirty="0"/>
              <a:t>while loop</a:t>
            </a:r>
          </a:p>
          <a:p>
            <a:pPr algn="just"/>
            <a:r>
              <a:rPr lang="en-US" sz="2000" dirty="0"/>
              <a:t>do-while loop</a:t>
            </a:r>
          </a:p>
          <a:p>
            <a:pPr>
              <a:buNone/>
            </a:pPr>
            <a:br>
              <a:rPr lang="en-US" dirty="0"/>
            </a:br>
            <a:endParaRPr lang="en-US" dirty="0"/>
          </a:p>
        </p:txBody>
      </p:sp>
      <p:pic>
        <p:nvPicPr>
          <p:cNvPr id="133122" name="Picture 2" descr="Loops in Java"/>
          <p:cNvPicPr>
            <a:picLocks noChangeAspect="1" noChangeArrowheads="1"/>
          </p:cNvPicPr>
          <p:nvPr/>
        </p:nvPicPr>
        <p:blipFill>
          <a:blip r:embed="rId2"/>
          <a:srcRect/>
          <a:stretch>
            <a:fillRect/>
          </a:stretch>
        </p:blipFill>
        <p:spPr bwMode="auto">
          <a:xfrm>
            <a:off x="2727953" y="2077043"/>
            <a:ext cx="6324600" cy="4981575"/>
          </a:xfrm>
          <a:prstGeom prst="rect">
            <a:avLst/>
          </a:prstGeom>
          <a:noFill/>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C00000"/>
                </a:solidFill>
              </a:rPr>
              <a:t>Java For Loop </a:t>
            </a:r>
            <a:r>
              <a:rPr lang="en-US" sz="2800" b="1" dirty="0" err="1">
                <a:solidFill>
                  <a:srgbClr val="C00000"/>
                </a:solidFill>
              </a:rPr>
              <a:t>vs</a:t>
            </a:r>
            <a:r>
              <a:rPr lang="en-US" sz="2800" b="1" dirty="0">
                <a:solidFill>
                  <a:srgbClr val="C00000"/>
                </a:solidFill>
              </a:rPr>
              <a:t> While Loop </a:t>
            </a:r>
            <a:r>
              <a:rPr lang="en-US" sz="2800" b="1" dirty="0" err="1">
                <a:solidFill>
                  <a:srgbClr val="C00000"/>
                </a:solidFill>
              </a:rPr>
              <a:t>vs</a:t>
            </a:r>
            <a:r>
              <a:rPr lang="en-US" sz="2800" b="1" dirty="0">
                <a:solidFill>
                  <a:srgbClr val="C00000"/>
                </a:solidFill>
              </a:rPr>
              <a:t> Do While Loop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101</a:t>
            </a:fld>
            <a:endParaRPr lang="en-US"/>
          </a:p>
        </p:txBody>
      </p:sp>
      <p:graphicFrame>
        <p:nvGraphicFramePr>
          <p:cNvPr id="5" name="Content Placeholder 4"/>
          <p:cNvGraphicFramePr>
            <a:graphicFrameLocks noGrp="1"/>
          </p:cNvGraphicFramePr>
          <p:nvPr>
            <p:ph sz="quarter" idx="1"/>
          </p:nvPr>
        </p:nvGraphicFramePr>
        <p:xfrm>
          <a:off x="622995" y="1344613"/>
          <a:ext cx="9083712" cy="5471528"/>
        </p:xfrm>
        <a:graphic>
          <a:graphicData uri="http://schemas.openxmlformats.org/drawingml/2006/table">
            <a:tbl>
              <a:tblPr/>
              <a:tblGrid>
                <a:gridCol w="1346482">
                  <a:extLst>
                    <a:ext uri="{9D8B030D-6E8A-4147-A177-3AD203B41FA5}">
                      <a16:colId xmlns:a16="http://schemas.microsoft.com/office/drawing/2014/main" val="20000"/>
                    </a:ext>
                  </a:extLst>
                </a:gridCol>
                <a:gridCol w="2612571">
                  <a:extLst>
                    <a:ext uri="{9D8B030D-6E8A-4147-A177-3AD203B41FA5}">
                      <a16:colId xmlns:a16="http://schemas.microsoft.com/office/drawing/2014/main" val="20001"/>
                    </a:ext>
                  </a:extLst>
                </a:gridCol>
                <a:gridCol w="2461847">
                  <a:extLst>
                    <a:ext uri="{9D8B030D-6E8A-4147-A177-3AD203B41FA5}">
                      <a16:colId xmlns:a16="http://schemas.microsoft.com/office/drawing/2014/main" val="20002"/>
                    </a:ext>
                  </a:extLst>
                </a:gridCol>
                <a:gridCol w="2662812">
                  <a:extLst>
                    <a:ext uri="{9D8B030D-6E8A-4147-A177-3AD203B41FA5}">
                      <a16:colId xmlns:a16="http://schemas.microsoft.com/office/drawing/2014/main" val="20003"/>
                    </a:ext>
                  </a:extLst>
                </a:gridCol>
              </a:tblGrid>
              <a:tr h="336931">
                <a:tc>
                  <a:txBody>
                    <a:bodyPr/>
                    <a:lstStyle/>
                    <a:p>
                      <a:pPr algn="l" fontAlgn="t"/>
                      <a:r>
                        <a:rPr lang="en-US" sz="1400" b="1" dirty="0">
                          <a:solidFill>
                            <a:srgbClr val="000000"/>
                          </a:solidFill>
                          <a:latin typeface="times new roman"/>
                        </a:rPr>
                        <a:t>Comparison</a:t>
                      </a:r>
                    </a:p>
                  </a:txBody>
                  <a:tcPr marL="76575" marR="76575" marT="76575" marB="76575">
                    <a:lnL w="9525" cap="flat" cmpd="sng" algn="ctr">
                      <a:solidFill>
                        <a:srgbClr val="E0A4EF"/>
                      </a:solidFill>
                      <a:prstDash val="solid"/>
                      <a:round/>
                      <a:headEnd type="none" w="med" len="med"/>
                      <a:tailEnd type="none" w="med" len="med"/>
                    </a:lnL>
                    <a:lnR w="9525" cap="flat" cmpd="sng" algn="ctr">
                      <a:solidFill>
                        <a:srgbClr val="E0A4EF"/>
                      </a:solidFill>
                      <a:prstDash val="solid"/>
                      <a:round/>
                      <a:headEnd type="none" w="med" len="med"/>
                      <a:tailEnd type="none" w="med" len="med"/>
                    </a:lnR>
                    <a:lnT w="9525" cap="flat" cmpd="sng" algn="ctr">
                      <a:solidFill>
                        <a:srgbClr val="E0A4E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400" b="1" dirty="0">
                          <a:solidFill>
                            <a:srgbClr val="000000"/>
                          </a:solidFill>
                          <a:latin typeface="times new roman"/>
                        </a:rPr>
                        <a:t>for loop</a:t>
                      </a:r>
                    </a:p>
                  </a:txBody>
                  <a:tcPr marL="76575" marR="76575" marT="76575" marB="76575">
                    <a:lnL w="9525" cap="flat" cmpd="sng" algn="ctr">
                      <a:solidFill>
                        <a:srgbClr val="E0A4EF"/>
                      </a:solidFill>
                      <a:prstDash val="solid"/>
                      <a:round/>
                      <a:headEnd type="none" w="med" len="med"/>
                      <a:tailEnd type="none" w="med" len="med"/>
                    </a:lnL>
                    <a:lnR w="9525" cap="flat" cmpd="sng" algn="ctr">
                      <a:solidFill>
                        <a:srgbClr val="E0A4EF"/>
                      </a:solidFill>
                      <a:prstDash val="solid"/>
                      <a:round/>
                      <a:headEnd type="none" w="med" len="med"/>
                      <a:tailEnd type="none" w="med" len="med"/>
                    </a:lnR>
                    <a:lnT w="9525" cap="flat" cmpd="sng" algn="ctr">
                      <a:solidFill>
                        <a:srgbClr val="E0A4E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400" b="1" dirty="0">
                          <a:solidFill>
                            <a:srgbClr val="000000"/>
                          </a:solidFill>
                          <a:latin typeface="times new roman"/>
                        </a:rPr>
                        <a:t>while loop</a:t>
                      </a:r>
                    </a:p>
                  </a:txBody>
                  <a:tcPr marL="76575" marR="76575" marT="76575" marB="76575">
                    <a:lnL w="9525" cap="flat" cmpd="sng" algn="ctr">
                      <a:solidFill>
                        <a:srgbClr val="E0A4EF"/>
                      </a:solidFill>
                      <a:prstDash val="solid"/>
                      <a:round/>
                      <a:headEnd type="none" w="med" len="med"/>
                      <a:tailEnd type="none" w="med" len="med"/>
                    </a:lnL>
                    <a:lnR w="9525" cap="flat" cmpd="sng" algn="ctr">
                      <a:solidFill>
                        <a:srgbClr val="E0A4EF"/>
                      </a:solidFill>
                      <a:prstDash val="solid"/>
                      <a:round/>
                      <a:headEnd type="none" w="med" len="med"/>
                      <a:tailEnd type="none" w="med" len="med"/>
                    </a:lnR>
                    <a:lnT w="9525" cap="flat" cmpd="sng" algn="ctr">
                      <a:solidFill>
                        <a:srgbClr val="E0A4E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400" b="1" dirty="0">
                          <a:solidFill>
                            <a:srgbClr val="000000"/>
                          </a:solidFill>
                          <a:latin typeface="times new roman"/>
                        </a:rPr>
                        <a:t>do while loop</a:t>
                      </a:r>
                    </a:p>
                  </a:txBody>
                  <a:tcPr marL="76575" marR="76575" marT="76575" marB="76575">
                    <a:lnL w="9525" cap="flat" cmpd="sng" algn="ctr">
                      <a:solidFill>
                        <a:srgbClr val="E0A4EF"/>
                      </a:solidFill>
                      <a:prstDash val="solid"/>
                      <a:round/>
                      <a:headEnd type="none" w="med" len="med"/>
                      <a:tailEnd type="none" w="med" len="med"/>
                    </a:lnL>
                    <a:lnR w="9525" cap="flat" cmpd="sng" algn="ctr">
                      <a:solidFill>
                        <a:srgbClr val="E0A4EF"/>
                      </a:solidFill>
                      <a:prstDash val="solid"/>
                      <a:round/>
                      <a:headEnd type="none" w="med" len="med"/>
                      <a:tailEnd type="none" w="med" len="med"/>
                    </a:lnR>
                    <a:lnT w="9525" cap="flat" cmpd="sng" algn="ctr">
                      <a:solidFill>
                        <a:srgbClr val="E0A4E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1756126">
                <a:tc>
                  <a:txBody>
                    <a:bodyPr/>
                    <a:lstStyle/>
                    <a:p>
                      <a:pPr algn="l" fontAlgn="t"/>
                      <a:r>
                        <a:rPr lang="en-US" sz="1200" b="1" dirty="0">
                          <a:solidFill>
                            <a:srgbClr val="000000"/>
                          </a:solidFill>
                          <a:latin typeface="verdana"/>
                        </a:rPr>
                        <a:t>Introduction</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200" dirty="0">
                          <a:solidFill>
                            <a:srgbClr val="000000"/>
                          </a:solidFill>
                          <a:latin typeface="verdana"/>
                        </a:rPr>
                        <a:t>The Java for loop is a control flow statement that iterates a part of the </a:t>
                      </a:r>
                      <a:r>
                        <a:rPr lang="en-US" sz="1200" u="none" strike="noStrike" dirty="0">
                          <a:solidFill>
                            <a:srgbClr val="008000"/>
                          </a:solidFill>
                          <a:latin typeface="verdana"/>
                        </a:rPr>
                        <a:t>programs</a:t>
                      </a:r>
                      <a:r>
                        <a:rPr lang="en-US" sz="1200" dirty="0">
                          <a:solidFill>
                            <a:srgbClr val="000000"/>
                          </a:solidFill>
                          <a:latin typeface="verdana"/>
                        </a:rPr>
                        <a:t> multiple times.</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200" dirty="0">
                          <a:solidFill>
                            <a:srgbClr val="000000"/>
                          </a:solidFill>
                          <a:latin typeface="verdana"/>
                        </a:rPr>
                        <a:t>The Java while loop is a control flow statement that executes a part of the programs repeatedly on the basis of given </a:t>
                      </a:r>
                      <a:r>
                        <a:rPr lang="en-US" sz="1200" dirty="0" err="1">
                          <a:solidFill>
                            <a:srgbClr val="000000"/>
                          </a:solidFill>
                          <a:latin typeface="verdana"/>
                        </a:rPr>
                        <a:t>boolean</a:t>
                      </a:r>
                      <a:r>
                        <a:rPr lang="en-US" sz="1200" dirty="0">
                          <a:solidFill>
                            <a:srgbClr val="000000"/>
                          </a:solidFill>
                          <a:latin typeface="verdana"/>
                        </a:rPr>
                        <a:t> condition.</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200" dirty="0">
                          <a:solidFill>
                            <a:srgbClr val="000000"/>
                          </a:solidFill>
                          <a:latin typeface="verdana"/>
                        </a:rPr>
                        <a:t>The Java do while loop is a control flow statement that executes a part of the programs at least once and the further execution depends upon the given </a:t>
                      </a:r>
                      <a:r>
                        <a:rPr lang="en-US" sz="1200" dirty="0" err="1">
                          <a:solidFill>
                            <a:srgbClr val="000000"/>
                          </a:solidFill>
                          <a:latin typeface="verdana"/>
                        </a:rPr>
                        <a:t>boolean</a:t>
                      </a:r>
                      <a:r>
                        <a:rPr lang="en-US" sz="1200" dirty="0">
                          <a:solidFill>
                            <a:srgbClr val="000000"/>
                          </a:solidFill>
                          <a:latin typeface="verdana"/>
                        </a:rPr>
                        <a:t> condition.</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388565">
                <a:tc>
                  <a:txBody>
                    <a:bodyPr/>
                    <a:lstStyle/>
                    <a:p>
                      <a:pPr algn="l" fontAlgn="t"/>
                      <a:r>
                        <a:rPr lang="en-US" sz="1200" b="1" dirty="0">
                          <a:solidFill>
                            <a:srgbClr val="000000"/>
                          </a:solidFill>
                          <a:latin typeface="verdana"/>
                        </a:rPr>
                        <a:t>When to use</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200">
                          <a:solidFill>
                            <a:srgbClr val="000000"/>
                          </a:solidFill>
                          <a:latin typeface="verdana"/>
                        </a:rPr>
                        <a:t>If the number of iteration is fixed, it is recommended to use for loop.</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200">
                          <a:solidFill>
                            <a:srgbClr val="000000"/>
                          </a:solidFill>
                          <a:latin typeface="verdana"/>
                        </a:rPr>
                        <a:t>If the number of iteration is not fixed, it is recommended to use while loop.</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200">
                          <a:solidFill>
                            <a:srgbClr val="000000"/>
                          </a:solidFill>
                          <a:latin typeface="verdana"/>
                        </a:rPr>
                        <a:t>If the number of iteration is not fixed and you must have to execute the loop at least once, it is recommended to use the do-while loop.</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653442">
                <a:tc>
                  <a:txBody>
                    <a:bodyPr/>
                    <a:lstStyle/>
                    <a:p>
                      <a:pPr algn="l" fontAlgn="t"/>
                      <a:r>
                        <a:rPr lang="en-US" sz="1200" b="1" dirty="0">
                          <a:solidFill>
                            <a:srgbClr val="000000"/>
                          </a:solidFill>
                          <a:latin typeface="verdana"/>
                        </a:rPr>
                        <a:t>Syntax</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200">
                          <a:solidFill>
                            <a:srgbClr val="000000"/>
                          </a:solidFill>
                          <a:latin typeface="verdana"/>
                        </a:rPr>
                        <a:t>for(init;condition;incr/decr){ // code to be executed } </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200">
                          <a:solidFill>
                            <a:srgbClr val="000000"/>
                          </a:solidFill>
                          <a:latin typeface="verdana"/>
                        </a:rPr>
                        <a:t>while(condition){ //code to be executed } </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200">
                          <a:solidFill>
                            <a:srgbClr val="000000"/>
                          </a:solidFill>
                          <a:latin typeface="verdana"/>
                        </a:rPr>
                        <a:t>do{ //code to be executed }while(condition); </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37223">
                <a:tc>
                  <a:txBody>
                    <a:bodyPr/>
                    <a:lstStyle/>
                    <a:p>
                      <a:pPr algn="l" fontAlgn="t"/>
                      <a:r>
                        <a:rPr lang="en-US" sz="1200" b="1" dirty="0">
                          <a:solidFill>
                            <a:srgbClr val="000000"/>
                          </a:solidFill>
                          <a:latin typeface="verdana"/>
                        </a:rPr>
                        <a:t>Example</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200">
                          <a:solidFill>
                            <a:srgbClr val="000000"/>
                          </a:solidFill>
                          <a:latin typeface="verdana"/>
                        </a:rPr>
                        <a:t>//for loop for(int i=1;i&lt;=10;i++){ System.out.println(i); } </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200">
                          <a:solidFill>
                            <a:srgbClr val="000000"/>
                          </a:solidFill>
                          <a:latin typeface="verdana"/>
                        </a:rPr>
                        <a:t>//while loop int i=1; while(i&lt;=10){ System.out.println(i); i++; } </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200">
                          <a:solidFill>
                            <a:srgbClr val="000000"/>
                          </a:solidFill>
                          <a:latin typeface="verdana"/>
                        </a:rPr>
                        <a:t>//do-while loop int i=1; do{ System.out.println(i); i++; }while(i&lt;=10); </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469662">
                <a:tc>
                  <a:txBody>
                    <a:bodyPr/>
                    <a:lstStyle/>
                    <a:p>
                      <a:pPr algn="l" fontAlgn="t"/>
                      <a:r>
                        <a:rPr lang="en-US" sz="1200" b="1" dirty="0">
                          <a:solidFill>
                            <a:srgbClr val="000000"/>
                          </a:solidFill>
                          <a:latin typeface="verdana"/>
                        </a:rPr>
                        <a:t>Syntax for infinitive loop</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200">
                          <a:solidFill>
                            <a:srgbClr val="000000"/>
                          </a:solidFill>
                          <a:latin typeface="verdana"/>
                        </a:rPr>
                        <a:t>for(;;){ //code to be executed } </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200">
                          <a:solidFill>
                            <a:srgbClr val="000000"/>
                          </a:solidFill>
                          <a:latin typeface="verdana"/>
                        </a:rPr>
                        <a:t>while(true){ //code to be executed } </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200" dirty="0">
                          <a:solidFill>
                            <a:srgbClr val="000000"/>
                          </a:solidFill>
                          <a:latin typeface="verdana"/>
                        </a:rPr>
                        <a:t>do{ //code to be executed }while(true); </a:t>
                      </a:r>
                    </a:p>
                  </a:txBody>
                  <a:tcPr marL="51050" marR="51050" marT="51050" marB="5105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Java For Loop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102</a:t>
            </a:fld>
            <a:endParaRPr lang="en-US"/>
          </a:p>
        </p:txBody>
      </p:sp>
      <p:sp>
        <p:nvSpPr>
          <p:cNvPr id="4" name="Content Placeholder 3"/>
          <p:cNvSpPr>
            <a:spLocks noGrp="1"/>
          </p:cNvSpPr>
          <p:nvPr>
            <p:ph sz="quarter" idx="1"/>
          </p:nvPr>
        </p:nvSpPr>
        <p:spPr/>
        <p:txBody>
          <a:bodyPr>
            <a:noAutofit/>
          </a:bodyPr>
          <a:lstStyle/>
          <a:p>
            <a:pPr algn="just"/>
            <a:r>
              <a:rPr lang="en-US" sz="1600" dirty="0">
                <a:latin typeface="Times New Roman" pitchFamily="18" charset="0"/>
                <a:cs typeface="Times New Roman" pitchFamily="18" charset="0"/>
              </a:rPr>
              <a:t>The Java </a:t>
            </a:r>
            <a:r>
              <a:rPr lang="en-US" sz="1600" i="1" dirty="0">
                <a:latin typeface="Times New Roman" pitchFamily="18" charset="0"/>
                <a:cs typeface="Times New Roman" pitchFamily="18" charset="0"/>
              </a:rPr>
              <a:t>for loop</a:t>
            </a:r>
            <a:r>
              <a:rPr lang="en-US" sz="1600" dirty="0">
                <a:latin typeface="Times New Roman" pitchFamily="18" charset="0"/>
                <a:cs typeface="Times New Roman" pitchFamily="18" charset="0"/>
              </a:rPr>
              <a:t> is used to iterate a part of the program several times. If the number of iteration is fixed, it is recommended to use for loop.</a:t>
            </a:r>
          </a:p>
          <a:p>
            <a:pPr algn="just"/>
            <a:r>
              <a:rPr lang="en-US" sz="1600" dirty="0">
                <a:latin typeface="Times New Roman" pitchFamily="18" charset="0"/>
                <a:cs typeface="Times New Roman" pitchFamily="18" charset="0"/>
              </a:rPr>
              <a:t>There are three types of for loops in java.</a:t>
            </a:r>
          </a:p>
          <a:p>
            <a:pPr lvl="1" algn="just"/>
            <a:r>
              <a:rPr lang="en-US" sz="1600" b="1" dirty="0">
                <a:solidFill>
                  <a:srgbClr val="C00000"/>
                </a:solidFill>
                <a:latin typeface="Times New Roman" pitchFamily="18" charset="0"/>
                <a:cs typeface="Times New Roman" pitchFamily="18" charset="0"/>
              </a:rPr>
              <a:t>Simple For Loop</a:t>
            </a:r>
          </a:p>
          <a:p>
            <a:pPr lvl="1" algn="just"/>
            <a:r>
              <a:rPr lang="en-US" sz="1600" b="1" dirty="0">
                <a:solidFill>
                  <a:srgbClr val="C00000"/>
                </a:solidFill>
                <a:latin typeface="Times New Roman" pitchFamily="18" charset="0"/>
                <a:cs typeface="Times New Roman" pitchFamily="18" charset="0"/>
              </a:rPr>
              <a:t>For-each or Enhanced For Loop</a:t>
            </a:r>
          </a:p>
          <a:p>
            <a:pPr lvl="1" algn="just"/>
            <a:r>
              <a:rPr lang="en-US" sz="1600" b="1" dirty="0">
                <a:solidFill>
                  <a:srgbClr val="C00000"/>
                </a:solidFill>
                <a:latin typeface="Times New Roman" pitchFamily="18" charset="0"/>
                <a:cs typeface="Times New Roman" pitchFamily="18" charset="0"/>
              </a:rPr>
              <a:t>Labeled For Loop</a:t>
            </a:r>
          </a:p>
          <a:p>
            <a:pPr algn="just"/>
            <a:r>
              <a:rPr lang="en-US" sz="1600" b="1" dirty="0">
                <a:solidFill>
                  <a:srgbClr val="C00000"/>
                </a:solidFill>
                <a:latin typeface="Times New Roman" pitchFamily="18" charset="0"/>
                <a:cs typeface="Times New Roman" pitchFamily="18" charset="0"/>
              </a:rPr>
              <a:t>Java Simple For Loop</a:t>
            </a:r>
          </a:p>
          <a:p>
            <a:pPr algn="just"/>
            <a:r>
              <a:rPr lang="en-US" sz="1600" dirty="0">
                <a:latin typeface="Times New Roman" pitchFamily="18" charset="0"/>
                <a:cs typeface="Times New Roman" pitchFamily="18" charset="0"/>
              </a:rPr>
              <a:t>A simple for loop is the same as C/C++. We can initialize the variable, check condition and increment/decrement value. It consists of four parts:</a:t>
            </a:r>
          </a:p>
          <a:p>
            <a:pPr algn="just"/>
            <a:r>
              <a:rPr lang="en-US" sz="1600" b="1" dirty="0">
                <a:latin typeface="Times New Roman" pitchFamily="18" charset="0"/>
                <a:cs typeface="Times New Roman" pitchFamily="18" charset="0"/>
              </a:rPr>
              <a:t>Initialization</a:t>
            </a:r>
            <a:r>
              <a:rPr lang="en-US" sz="1600" dirty="0">
                <a:latin typeface="Times New Roman" pitchFamily="18" charset="0"/>
                <a:cs typeface="Times New Roman" pitchFamily="18" charset="0"/>
              </a:rPr>
              <a:t>: It is the initial condition which is executed once when the loop starts. Here, we can initialize the variable, or we can use an already initialized variable. It is an optional condition.</a:t>
            </a:r>
          </a:p>
          <a:p>
            <a:pPr algn="just"/>
            <a:r>
              <a:rPr lang="en-US" sz="1600" b="1" dirty="0">
                <a:latin typeface="Times New Roman" pitchFamily="18" charset="0"/>
                <a:cs typeface="Times New Roman" pitchFamily="18" charset="0"/>
              </a:rPr>
              <a:t>Condition</a:t>
            </a:r>
            <a:r>
              <a:rPr lang="en-US" sz="1600" dirty="0">
                <a:latin typeface="Times New Roman" pitchFamily="18" charset="0"/>
                <a:cs typeface="Times New Roman" pitchFamily="18" charset="0"/>
              </a:rPr>
              <a:t>: It is the second condition which is executed each time to test the condition of the loop. It continues execution until the condition is false. It must return </a:t>
            </a:r>
            <a:r>
              <a:rPr lang="en-US" sz="1600" dirty="0" err="1">
                <a:latin typeface="Times New Roman" pitchFamily="18" charset="0"/>
                <a:cs typeface="Times New Roman" pitchFamily="18" charset="0"/>
              </a:rPr>
              <a:t>boolean</a:t>
            </a:r>
            <a:r>
              <a:rPr lang="en-US" sz="1600" dirty="0">
                <a:latin typeface="Times New Roman" pitchFamily="18" charset="0"/>
                <a:cs typeface="Times New Roman" pitchFamily="18" charset="0"/>
              </a:rPr>
              <a:t> value either true or false. It is an optional condition.</a:t>
            </a:r>
          </a:p>
          <a:p>
            <a:pPr algn="just"/>
            <a:r>
              <a:rPr lang="en-US" sz="1600" b="1" dirty="0">
                <a:latin typeface="Times New Roman" pitchFamily="18" charset="0"/>
                <a:cs typeface="Times New Roman" pitchFamily="18" charset="0"/>
              </a:rPr>
              <a:t>Statement</a:t>
            </a:r>
            <a:r>
              <a:rPr lang="en-US" sz="1600" dirty="0">
                <a:latin typeface="Times New Roman" pitchFamily="18" charset="0"/>
                <a:cs typeface="Times New Roman" pitchFamily="18" charset="0"/>
              </a:rPr>
              <a:t>: The statement of the loop is executed each time until the second condition is false.</a:t>
            </a:r>
          </a:p>
          <a:p>
            <a:pPr algn="just"/>
            <a:r>
              <a:rPr lang="en-US" sz="1600" b="1" dirty="0">
                <a:latin typeface="Times New Roman" pitchFamily="18" charset="0"/>
                <a:cs typeface="Times New Roman" pitchFamily="18" charset="0"/>
              </a:rPr>
              <a:t>Increment/Decrement</a:t>
            </a:r>
            <a:r>
              <a:rPr lang="en-US" sz="1600" dirty="0">
                <a:latin typeface="Times New Roman" pitchFamily="18" charset="0"/>
                <a:cs typeface="Times New Roman" pitchFamily="18" charset="0"/>
              </a:rPr>
              <a:t>: It increments or decrements the variable value. It is an optional condition.</a:t>
            </a:r>
          </a:p>
          <a:p>
            <a:endParaRPr lang="en-US" sz="1800" dirty="0">
              <a:latin typeface="Times New Roman" pitchFamily="18" charset="0"/>
              <a:cs typeface="Times New Roman"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103</a:t>
            </a:fld>
            <a:endParaRPr lang="en-US"/>
          </a:p>
        </p:txBody>
      </p:sp>
      <p:sp>
        <p:nvSpPr>
          <p:cNvPr id="4" name="Content Placeholder 3"/>
          <p:cNvSpPr>
            <a:spLocks noGrp="1"/>
          </p:cNvSpPr>
          <p:nvPr>
            <p:ph sz="quarter" idx="1"/>
          </p:nvPr>
        </p:nvSpPr>
        <p:spPr/>
        <p:txBody>
          <a:bodyPr/>
          <a:lstStyle/>
          <a:p>
            <a:r>
              <a:rPr lang="en-US" sz="2000" b="1" dirty="0"/>
              <a:t>Syntax:</a:t>
            </a:r>
            <a:endParaRPr lang="en-US" sz="2000" dirty="0"/>
          </a:p>
          <a:p>
            <a:r>
              <a:rPr lang="en-US" sz="2000" b="1" dirty="0"/>
              <a:t>for</a:t>
            </a:r>
            <a:r>
              <a:rPr lang="en-US" sz="2000" dirty="0"/>
              <a:t>(initialization; condition; </a:t>
            </a:r>
            <a:r>
              <a:rPr lang="en-US" sz="2000" dirty="0" err="1"/>
              <a:t>incr</a:t>
            </a:r>
            <a:r>
              <a:rPr lang="en-US" sz="2000" dirty="0"/>
              <a:t>/</a:t>
            </a:r>
            <a:r>
              <a:rPr lang="en-US" sz="2000" dirty="0" err="1"/>
              <a:t>decr</a:t>
            </a:r>
            <a:r>
              <a:rPr lang="en-US" sz="2000" dirty="0"/>
              <a:t>)</a:t>
            </a:r>
          </a:p>
          <a:p>
            <a:r>
              <a:rPr lang="en-US" sz="2000" dirty="0"/>
              <a:t>{  </a:t>
            </a:r>
          </a:p>
          <a:p>
            <a:r>
              <a:rPr lang="en-US" sz="2000" dirty="0"/>
              <a:t>//statement or code to be executed  </a:t>
            </a:r>
          </a:p>
          <a:p>
            <a:r>
              <a:rPr lang="en-US" sz="2000" dirty="0"/>
              <a:t>}  </a:t>
            </a:r>
          </a:p>
          <a:p>
            <a:endParaRPr lang="en-US" dirty="0"/>
          </a:p>
        </p:txBody>
      </p:sp>
      <p:pic>
        <p:nvPicPr>
          <p:cNvPr id="137218" name="Picture 2" descr="for loop in java flowchart"/>
          <p:cNvPicPr>
            <a:picLocks noChangeAspect="1" noChangeArrowheads="1"/>
          </p:cNvPicPr>
          <p:nvPr/>
        </p:nvPicPr>
        <p:blipFill>
          <a:blip r:embed="rId2"/>
          <a:srcRect/>
          <a:stretch>
            <a:fillRect/>
          </a:stretch>
        </p:blipFill>
        <p:spPr bwMode="auto">
          <a:xfrm>
            <a:off x="4933741" y="1323870"/>
            <a:ext cx="4652386" cy="5587784"/>
          </a:xfrm>
          <a:prstGeom prst="rect">
            <a:avLst/>
          </a:prstGeo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104</a:t>
            </a:fld>
            <a:endParaRPr lang="en-US"/>
          </a:p>
        </p:txBody>
      </p:sp>
      <p:sp>
        <p:nvSpPr>
          <p:cNvPr id="4" name="Content Placeholder 3"/>
          <p:cNvSpPr>
            <a:spLocks noGrp="1"/>
          </p:cNvSpPr>
          <p:nvPr>
            <p:ph sz="quarter" idx="1"/>
          </p:nvPr>
        </p:nvSpPr>
        <p:spPr/>
        <p:txBody>
          <a:bodyPr>
            <a:normAutofit lnSpcReduction="10000"/>
          </a:bodyPr>
          <a:lstStyle/>
          <a:p>
            <a:r>
              <a:rPr lang="en-US" b="1" dirty="0"/>
              <a:t>Example:</a:t>
            </a:r>
            <a:endParaRPr lang="en-US" dirty="0"/>
          </a:p>
          <a:p>
            <a:r>
              <a:rPr lang="en-US" dirty="0"/>
              <a:t>//Java Program to demonstrate the example of for loop  </a:t>
            </a:r>
          </a:p>
          <a:p>
            <a:r>
              <a:rPr lang="en-US" dirty="0"/>
              <a:t>//which prints table of 1  </a:t>
            </a:r>
          </a:p>
          <a:p>
            <a:r>
              <a:rPr lang="en-US" b="1" dirty="0"/>
              <a:t>public</a:t>
            </a:r>
            <a:r>
              <a:rPr lang="en-US" dirty="0"/>
              <a:t> </a:t>
            </a:r>
            <a:r>
              <a:rPr lang="en-US" b="1" dirty="0"/>
              <a:t>class</a:t>
            </a:r>
            <a:r>
              <a:rPr lang="en-US" dirty="0"/>
              <a:t> </a:t>
            </a:r>
            <a:r>
              <a:rPr lang="en-US" dirty="0" err="1"/>
              <a:t>ForExample</a:t>
            </a:r>
            <a:r>
              <a:rPr lang="en-US" dirty="0"/>
              <a:t> {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//Code of Java for loop  </a:t>
            </a:r>
          </a:p>
          <a:p>
            <a:r>
              <a:rPr lang="en-US" dirty="0"/>
              <a:t>    </a:t>
            </a:r>
            <a:r>
              <a:rPr lang="en-US" b="1" dirty="0"/>
              <a:t>for</a:t>
            </a:r>
            <a:r>
              <a:rPr lang="en-US" dirty="0"/>
              <a:t>(</a:t>
            </a:r>
            <a:r>
              <a:rPr lang="en-US" b="1" dirty="0" err="1"/>
              <a:t>int</a:t>
            </a:r>
            <a:r>
              <a:rPr lang="en-US" dirty="0"/>
              <a:t> </a:t>
            </a:r>
            <a:r>
              <a:rPr lang="en-US" dirty="0" err="1"/>
              <a:t>i</a:t>
            </a:r>
            <a:r>
              <a:rPr lang="en-US" dirty="0"/>
              <a:t>=1;i&lt;=10;i++){  </a:t>
            </a:r>
          </a:p>
          <a:p>
            <a:r>
              <a:rPr lang="en-US" dirty="0"/>
              <a:t>        </a:t>
            </a:r>
            <a:r>
              <a:rPr lang="en-US" dirty="0" err="1"/>
              <a:t>System.out.println</a:t>
            </a:r>
            <a:r>
              <a:rPr lang="en-US" dirty="0"/>
              <a:t>(</a:t>
            </a:r>
            <a:r>
              <a:rPr lang="en-US" dirty="0" err="1"/>
              <a:t>i</a:t>
            </a:r>
            <a:r>
              <a:rPr lang="en-US" dirty="0"/>
              <a:t>);  </a:t>
            </a:r>
          </a:p>
          <a:p>
            <a:r>
              <a:rPr lang="en-US" dirty="0"/>
              <a:t>    }  </a:t>
            </a:r>
          </a:p>
          <a:p>
            <a:r>
              <a:rPr lang="en-US" dirty="0"/>
              <a:t>}  </a:t>
            </a:r>
          </a:p>
          <a:p>
            <a:r>
              <a:rPr lang="en-US" dirty="0"/>
              <a:t>}  </a:t>
            </a:r>
          </a:p>
          <a:p>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Nested For Loop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105</a:t>
            </a:fld>
            <a:endParaRPr lang="en-US"/>
          </a:p>
        </p:txBody>
      </p:sp>
      <p:sp>
        <p:nvSpPr>
          <p:cNvPr id="4" name="Content Placeholder 3"/>
          <p:cNvSpPr>
            <a:spLocks noGrp="1"/>
          </p:cNvSpPr>
          <p:nvPr>
            <p:ph sz="quarter" idx="1"/>
          </p:nvPr>
        </p:nvSpPr>
        <p:spPr/>
        <p:txBody>
          <a:bodyPr>
            <a:normAutofit fontScale="77500" lnSpcReduction="20000"/>
          </a:bodyPr>
          <a:lstStyle/>
          <a:p>
            <a:r>
              <a:rPr lang="en-US" dirty="0"/>
              <a:t>If we have a for loop inside the another loop, it is known as nested for loop. The inner loop executes completely whenever outer loop executes.</a:t>
            </a:r>
          </a:p>
          <a:p>
            <a:r>
              <a:rPr lang="en-US" b="1" dirty="0"/>
              <a:t>Example:</a:t>
            </a:r>
            <a:endParaRPr lang="en-US" dirty="0"/>
          </a:p>
          <a:p>
            <a:r>
              <a:rPr lang="en-US" b="1" dirty="0"/>
              <a:t>public</a:t>
            </a:r>
            <a:r>
              <a:rPr lang="en-US" dirty="0"/>
              <a:t> </a:t>
            </a:r>
            <a:r>
              <a:rPr lang="en-US" b="1" dirty="0"/>
              <a:t>class</a:t>
            </a:r>
            <a:r>
              <a:rPr lang="en-US" dirty="0"/>
              <a:t> </a:t>
            </a:r>
            <a:r>
              <a:rPr lang="en-US" dirty="0" err="1"/>
              <a:t>NestedForExample</a:t>
            </a:r>
            <a:r>
              <a:rPr lang="en-US" dirty="0"/>
              <a:t> {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//loop of </a:t>
            </a:r>
            <a:r>
              <a:rPr lang="en-US" dirty="0" err="1"/>
              <a:t>i</a:t>
            </a:r>
            <a:r>
              <a:rPr lang="en-US" dirty="0"/>
              <a:t>  </a:t>
            </a:r>
          </a:p>
          <a:p>
            <a:r>
              <a:rPr lang="en-US" b="1" dirty="0"/>
              <a:t>for</a:t>
            </a:r>
            <a:r>
              <a:rPr lang="en-US" dirty="0"/>
              <a:t>(</a:t>
            </a:r>
            <a:r>
              <a:rPr lang="en-US" b="1" dirty="0" err="1"/>
              <a:t>int</a:t>
            </a:r>
            <a:r>
              <a:rPr lang="en-US" dirty="0"/>
              <a:t> </a:t>
            </a:r>
            <a:r>
              <a:rPr lang="en-US" dirty="0" err="1"/>
              <a:t>i</a:t>
            </a:r>
            <a:r>
              <a:rPr lang="en-US" dirty="0"/>
              <a:t>=1;i&lt;=3;i++){  </a:t>
            </a:r>
          </a:p>
          <a:p>
            <a:r>
              <a:rPr lang="en-US" dirty="0"/>
              <a:t>//loop of j  </a:t>
            </a:r>
          </a:p>
          <a:p>
            <a:r>
              <a:rPr lang="en-US" b="1" dirty="0"/>
              <a:t>for</a:t>
            </a:r>
            <a:r>
              <a:rPr lang="en-US" dirty="0"/>
              <a:t>(</a:t>
            </a:r>
            <a:r>
              <a:rPr lang="en-US" b="1" dirty="0" err="1"/>
              <a:t>int</a:t>
            </a:r>
            <a:r>
              <a:rPr lang="en-US" dirty="0"/>
              <a:t> j=1;j&lt;=3;j++){  </a:t>
            </a:r>
          </a:p>
          <a:p>
            <a:r>
              <a:rPr lang="en-US" dirty="0"/>
              <a:t>        </a:t>
            </a:r>
            <a:r>
              <a:rPr lang="en-US" dirty="0" err="1"/>
              <a:t>System.out.println</a:t>
            </a:r>
            <a:r>
              <a:rPr lang="en-US" dirty="0"/>
              <a:t>(</a:t>
            </a:r>
            <a:r>
              <a:rPr lang="en-US" dirty="0" err="1"/>
              <a:t>i</a:t>
            </a:r>
            <a:r>
              <a:rPr lang="en-US" dirty="0"/>
              <a:t>+" "+j);  </a:t>
            </a:r>
          </a:p>
          <a:p>
            <a:r>
              <a:rPr lang="en-US" dirty="0"/>
              <a:t>}//end of </a:t>
            </a:r>
            <a:r>
              <a:rPr lang="en-US" dirty="0" err="1"/>
              <a:t>i</a:t>
            </a:r>
            <a:r>
              <a:rPr lang="en-US" dirty="0"/>
              <a:t>  </a:t>
            </a:r>
          </a:p>
          <a:p>
            <a:r>
              <a:rPr lang="en-US" dirty="0"/>
              <a:t>}//end of j  </a:t>
            </a:r>
          </a:p>
          <a:p>
            <a:r>
              <a:rPr lang="en-US" dirty="0"/>
              <a:t>}  </a:t>
            </a:r>
          </a:p>
          <a:p>
            <a:r>
              <a:rPr lang="en-US" dirty="0"/>
              <a:t>}  </a:t>
            </a:r>
          </a:p>
          <a:p>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for-each Loop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106</a:t>
            </a:fld>
            <a:endParaRPr lang="en-US"/>
          </a:p>
        </p:txBody>
      </p:sp>
      <p:sp>
        <p:nvSpPr>
          <p:cNvPr id="4" name="Content Placeholder 3"/>
          <p:cNvSpPr>
            <a:spLocks noGrp="1"/>
          </p:cNvSpPr>
          <p:nvPr>
            <p:ph sz="quarter" idx="1"/>
          </p:nvPr>
        </p:nvSpPr>
        <p:spPr/>
        <p:txBody>
          <a:bodyPr>
            <a:normAutofit/>
          </a:bodyPr>
          <a:lstStyle/>
          <a:p>
            <a:pPr algn="just"/>
            <a:r>
              <a:rPr lang="en-US" sz="2400" dirty="0"/>
              <a:t>The for-each loop is used to traverse array or collection in java. It is easier to use than simple for loop because we don't need to increment value and use subscript notation.</a:t>
            </a:r>
          </a:p>
          <a:p>
            <a:pPr algn="just"/>
            <a:r>
              <a:rPr lang="en-US" sz="2400" dirty="0"/>
              <a:t>It works on elements basis not index. It returns element one by one in the defined variable.</a:t>
            </a:r>
          </a:p>
          <a:p>
            <a:pPr algn="just"/>
            <a:r>
              <a:rPr lang="en-US" sz="2400" b="1" dirty="0"/>
              <a:t>Syntax:</a:t>
            </a:r>
            <a:endParaRPr lang="en-US" sz="2400" dirty="0"/>
          </a:p>
          <a:p>
            <a:pPr algn="just"/>
            <a:r>
              <a:rPr lang="en-US" sz="2400" b="1" dirty="0"/>
              <a:t>for</a:t>
            </a:r>
            <a:r>
              <a:rPr lang="en-US" sz="2400" dirty="0"/>
              <a:t>(Type </a:t>
            </a:r>
            <a:r>
              <a:rPr lang="en-US" sz="2400" dirty="0" err="1"/>
              <a:t>var:array</a:t>
            </a:r>
            <a:r>
              <a:rPr lang="en-US" sz="2400" dirty="0"/>
              <a:t>){  </a:t>
            </a:r>
          </a:p>
          <a:p>
            <a:pPr algn="just"/>
            <a:r>
              <a:rPr lang="en-US" sz="2400" dirty="0"/>
              <a:t>//code to be executed  </a:t>
            </a:r>
          </a:p>
          <a:p>
            <a:pPr algn="just"/>
            <a:r>
              <a:rPr lang="en-US" sz="2400" dirty="0"/>
              <a:t>}  </a:t>
            </a:r>
          </a:p>
          <a:p>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107</a:t>
            </a:fld>
            <a:endParaRPr lang="en-US"/>
          </a:p>
        </p:txBody>
      </p:sp>
      <p:sp>
        <p:nvSpPr>
          <p:cNvPr id="4" name="Content Placeholder 3"/>
          <p:cNvSpPr>
            <a:spLocks noGrp="1"/>
          </p:cNvSpPr>
          <p:nvPr>
            <p:ph sz="quarter" idx="1"/>
          </p:nvPr>
        </p:nvSpPr>
        <p:spPr/>
        <p:txBody>
          <a:bodyPr>
            <a:normAutofit fontScale="85000" lnSpcReduction="20000"/>
          </a:bodyPr>
          <a:lstStyle/>
          <a:p>
            <a:r>
              <a:rPr lang="en-US" b="1" dirty="0"/>
              <a:t>Example:</a:t>
            </a:r>
            <a:endParaRPr lang="en-US" dirty="0"/>
          </a:p>
          <a:p>
            <a:r>
              <a:rPr lang="en-US" dirty="0"/>
              <a:t>//Java For-each loop example which prints the  </a:t>
            </a:r>
          </a:p>
          <a:p>
            <a:r>
              <a:rPr lang="en-US" dirty="0"/>
              <a:t>//elements of the array  </a:t>
            </a:r>
          </a:p>
          <a:p>
            <a:r>
              <a:rPr lang="en-US" b="1" dirty="0"/>
              <a:t>public</a:t>
            </a:r>
            <a:r>
              <a:rPr lang="en-US" dirty="0"/>
              <a:t> </a:t>
            </a:r>
            <a:r>
              <a:rPr lang="en-US" b="1" dirty="0"/>
              <a:t>class</a:t>
            </a:r>
            <a:r>
              <a:rPr lang="en-US" dirty="0"/>
              <a:t> </a:t>
            </a:r>
            <a:r>
              <a:rPr lang="en-US" dirty="0" err="1"/>
              <a:t>ForEachExample</a:t>
            </a:r>
            <a:r>
              <a:rPr lang="en-US" dirty="0"/>
              <a:t> {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//Declaring an array  </a:t>
            </a:r>
          </a:p>
          <a:p>
            <a:r>
              <a:rPr lang="en-US" dirty="0"/>
              <a:t>    </a:t>
            </a:r>
            <a:r>
              <a:rPr lang="en-US" b="1" dirty="0" err="1"/>
              <a:t>int</a:t>
            </a:r>
            <a:r>
              <a:rPr lang="en-US" dirty="0"/>
              <a:t> </a:t>
            </a:r>
            <a:r>
              <a:rPr lang="en-US" dirty="0" err="1"/>
              <a:t>arr</a:t>
            </a:r>
            <a:r>
              <a:rPr lang="en-US" dirty="0"/>
              <a:t>[]={12,23,44,56,78};  </a:t>
            </a:r>
          </a:p>
          <a:p>
            <a:r>
              <a:rPr lang="en-US" dirty="0"/>
              <a:t>    //Printing array using for-each loop  </a:t>
            </a:r>
          </a:p>
          <a:p>
            <a:r>
              <a:rPr lang="en-US" dirty="0"/>
              <a:t>    </a:t>
            </a:r>
            <a:r>
              <a:rPr lang="en-US" b="1" dirty="0"/>
              <a:t>for</a:t>
            </a:r>
            <a:r>
              <a:rPr lang="en-US" dirty="0"/>
              <a:t>(</a:t>
            </a:r>
            <a:r>
              <a:rPr lang="en-US" b="1" dirty="0" err="1"/>
              <a:t>int</a:t>
            </a:r>
            <a:r>
              <a:rPr lang="en-US" dirty="0"/>
              <a:t> i:arr){  </a:t>
            </a:r>
          </a:p>
          <a:p>
            <a:r>
              <a:rPr lang="en-US" dirty="0"/>
              <a:t>        </a:t>
            </a:r>
            <a:r>
              <a:rPr lang="en-US" dirty="0" err="1"/>
              <a:t>System.out.println</a:t>
            </a:r>
            <a:r>
              <a:rPr lang="en-US" dirty="0"/>
              <a:t>(</a:t>
            </a:r>
            <a:r>
              <a:rPr lang="en-US" dirty="0" err="1"/>
              <a:t>i</a:t>
            </a:r>
            <a:r>
              <a:rPr lang="en-US" dirty="0"/>
              <a:t>);  </a:t>
            </a:r>
          </a:p>
          <a:p>
            <a:r>
              <a:rPr lang="en-US" dirty="0"/>
              <a:t>    }  </a:t>
            </a:r>
          </a:p>
          <a:p>
            <a:r>
              <a:rPr lang="en-US" dirty="0"/>
              <a:t>}  </a:t>
            </a:r>
          </a:p>
          <a:p>
            <a:r>
              <a:rPr lang="en-US" dirty="0"/>
              <a:t>}  </a:t>
            </a:r>
          </a:p>
          <a:p>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Labeled For Loop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108</a:t>
            </a:fld>
            <a:endParaRPr lang="en-US"/>
          </a:p>
        </p:txBody>
      </p:sp>
      <p:sp>
        <p:nvSpPr>
          <p:cNvPr id="4" name="Content Placeholder 3"/>
          <p:cNvSpPr>
            <a:spLocks noGrp="1"/>
          </p:cNvSpPr>
          <p:nvPr>
            <p:ph sz="quarter" idx="1"/>
          </p:nvPr>
        </p:nvSpPr>
        <p:spPr/>
        <p:txBody>
          <a:bodyPr>
            <a:normAutofit/>
          </a:bodyPr>
          <a:lstStyle/>
          <a:p>
            <a:pPr algn="just"/>
            <a:r>
              <a:rPr lang="en-US" sz="2400" dirty="0"/>
              <a:t>We can have a name of each Java for loop. To do so, we use label before the for loop. It is useful if we have nested for loop so that we can break/continue specific for loop.</a:t>
            </a:r>
          </a:p>
          <a:p>
            <a:pPr algn="just"/>
            <a:r>
              <a:rPr lang="en-US" sz="2400" dirty="0"/>
              <a:t>Usually, break and continue keywords breaks/continues the innermost for loop only.</a:t>
            </a:r>
          </a:p>
          <a:p>
            <a:pPr algn="just"/>
            <a:r>
              <a:rPr lang="en-US" sz="2400" b="1" dirty="0"/>
              <a:t>Syntax:</a:t>
            </a:r>
            <a:endParaRPr lang="en-US" sz="2400" dirty="0"/>
          </a:p>
          <a:p>
            <a:pPr algn="just"/>
            <a:r>
              <a:rPr lang="en-US" sz="2400" dirty="0" err="1"/>
              <a:t>labelname</a:t>
            </a:r>
            <a:r>
              <a:rPr lang="en-US" sz="2400" dirty="0"/>
              <a:t>:  </a:t>
            </a:r>
          </a:p>
          <a:p>
            <a:pPr algn="just"/>
            <a:r>
              <a:rPr lang="en-US" sz="2400" b="1" dirty="0"/>
              <a:t>for</a:t>
            </a:r>
            <a:r>
              <a:rPr lang="en-US" sz="2400" dirty="0"/>
              <a:t>(</a:t>
            </a:r>
            <a:r>
              <a:rPr lang="en-US" sz="2400" dirty="0" err="1"/>
              <a:t>initialization;condition;incr</a:t>
            </a:r>
            <a:r>
              <a:rPr lang="en-US" sz="2400" dirty="0"/>
              <a:t>/</a:t>
            </a:r>
            <a:r>
              <a:rPr lang="en-US" sz="2400" dirty="0" err="1"/>
              <a:t>decr</a:t>
            </a:r>
            <a:r>
              <a:rPr lang="en-US" sz="2400" dirty="0"/>
              <a:t>){  </a:t>
            </a:r>
          </a:p>
          <a:p>
            <a:pPr algn="just"/>
            <a:r>
              <a:rPr lang="en-US" sz="2400" dirty="0"/>
              <a:t>//code to be executed  </a:t>
            </a:r>
          </a:p>
          <a:p>
            <a:pPr algn="just"/>
            <a:r>
              <a:rPr lang="en-US" sz="2400" dirty="0"/>
              <a:t>}  </a:t>
            </a:r>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a:t>
            </a:r>
            <a:endParaRPr lang="en-US" dirty="0"/>
          </a:p>
        </p:txBody>
      </p:sp>
      <p:sp>
        <p:nvSpPr>
          <p:cNvPr id="3" name="Slide Number Placeholder 2"/>
          <p:cNvSpPr>
            <a:spLocks noGrp="1"/>
          </p:cNvSpPr>
          <p:nvPr>
            <p:ph type="sldNum" sz="quarter" idx="12"/>
          </p:nvPr>
        </p:nvSpPr>
        <p:spPr/>
        <p:txBody>
          <a:bodyPr/>
          <a:lstStyle/>
          <a:p>
            <a:fld id="{E3591306-41CF-4237-B2B4-5C605DD45071}" type="slidenum">
              <a:rPr lang="en-US" smtClean="0"/>
              <a:pPr/>
              <a:t>109</a:t>
            </a:fld>
            <a:endParaRPr lang="en-US"/>
          </a:p>
        </p:txBody>
      </p:sp>
      <p:sp>
        <p:nvSpPr>
          <p:cNvPr id="4" name="Content Placeholder 3"/>
          <p:cNvSpPr>
            <a:spLocks noGrp="1"/>
          </p:cNvSpPr>
          <p:nvPr>
            <p:ph sz="quarter" idx="1"/>
          </p:nvPr>
        </p:nvSpPr>
        <p:spPr/>
        <p:txBody>
          <a:bodyPr>
            <a:normAutofit fontScale="70000" lnSpcReduction="20000"/>
          </a:bodyPr>
          <a:lstStyle/>
          <a:p>
            <a:r>
              <a:rPr lang="en-US" dirty="0"/>
              <a:t>//A Java program to demonstrate the use of labeled for loop  </a:t>
            </a:r>
          </a:p>
          <a:p>
            <a:r>
              <a:rPr lang="en-US" b="1" dirty="0"/>
              <a:t>public</a:t>
            </a:r>
            <a:r>
              <a:rPr lang="en-US" dirty="0"/>
              <a:t> </a:t>
            </a:r>
            <a:r>
              <a:rPr lang="en-US" b="1" dirty="0"/>
              <a:t>class</a:t>
            </a:r>
            <a:r>
              <a:rPr lang="en-US" dirty="0"/>
              <a:t> </a:t>
            </a:r>
            <a:r>
              <a:rPr lang="en-US" dirty="0" err="1"/>
              <a:t>LabeledForExample</a:t>
            </a:r>
            <a:r>
              <a:rPr lang="en-US" dirty="0"/>
              <a:t> {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//Using Label for outer and for loop  </a:t>
            </a:r>
          </a:p>
          <a:p>
            <a:r>
              <a:rPr lang="en-US" dirty="0"/>
              <a:t>    </a:t>
            </a:r>
            <a:r>
              <a:rPr lang="en-US" dirty="0" err="1"/>
              <a:t>aa</a:t>
            </a:r>
            <a:r>
              <a:rPr lang="en-US" dirty="0"/>
              <a:t>:  </a:t>
            </a:r>
          </a:p>
          <a:p>
            <a:r>
              <a:rPr lang="en-US" dirty="0"/>
              <a:t>        </a:t>
            </a:r>
            <a:r>
              <a:rPr lang="en-US" b="1" dirty="0"/>
              <a:t>for</a:t>
            </a:r>
            <a:r>
              <a:rPr lang="en-US" dirty="0"/>
              <a:t>(</a:t>
            </a:r>
            <a:r>
              <a:rPr lang="en-US" b="1" dirty="0" err="1"/>
              <a:t>int</a:t>
            </a:r>
            <a:r>
              <a:rPr lang="en-US" dirty="0"/>
              <a:t> </a:t>
            </a:r>
            <a:r>
              <a:rPr lang="en-US" dirty="0" err="1"/>
              <a:t>i</a:t>
            </a:r>
            <a:r>
              <a:rPr lang="en-US" dirty="0"/>
              <a:t>=1;i&lt;=3;i++){  </a:t>
            </a:r>
          </a:p>
          <a:p>
            <a:r>
              <a:rPr lang="en-US" dirty="0"/>
              <a:t>            bb:  </a:t>
            </a:r>
          </a:p>
          <a:p>
            <a:r>
              <a:rPr lang="en-US" dirty="0"/>
              <a:t>                </a:t>
            </a:r>
            <a:r>
              <a:rPr lang="en-US" b="1" dirty="0"/>
              <a:t>for</a:t>
            </a:r>
            <a:r>
              <a:rPr lang="en-US" dirty="0"/>
              <a:t>(</a:t>
            </a:r>
            <a:r>
              <a:rPr lang="en-US" b="1" dirty="0" err="1"/>
              <a:t>int</a:t>
            </a:r>
            <a:r>
              <a:rPr lang="en-US" dirty="0"/>
              <a:t> j=1;j&lt;=3;j++){  </a:t>
            </a:r>
          </a:p>
          <a:p>
            <a:r>
              <a:rPr lang="en-US" dirty="0"/>
              <a:t>                    </a:t>
            </a:r>
            <a:r>
              <a:rPr lang="en-US" b="1" dirty="0"/>
              <a:t>if</a:t>
            </a:r>
            <a:r>
              <a:rPr lang="en-US" dirty="0"/>
              <a:t>(</a:t>
            </a:r>
            <a:r>
              <a:rPr lang="en-US" dirty="0" err="1"/>
              <a:t>i</a:t>
            </a:r>
            <a:r>
              <a:rPr lang="en-US" dirty="0"/>
              <a:t>==2&amp;&amp;j==2){  </a:t>
            </a:r>
          </a:p>
          <a:p>
            <a:r>
              <a:rPr lang="en-US" dirty="0"/>
              <a:t>                        </a:t>
            </a:r>
            <a:r>
              <a:rPr lang="en-US" b="1" dirty="0"/>
              <a:t>break</a:t>
            </a:r>
            <a:r>
              <a:rPr lang="en-US" dirty="0"/>
              <a:t> </a:t>
            </a:r>
            <a:r>
              <a:rPr lang="en-US" dirty="0" err="1"/>
              <a:t>aa</a:t>
            </a:r>
            <a:r>
              <a:rPr lang="en-US" dirty="0"/>
              <a:t>;  </a:t>
            </a:r>
          </a:p>
          <a:p>
            <a:r>
              <a:rPr lang="en-US" dirty="0"/>
              <a:t>                    }  </a:t>
            </a:r>
          </a:p>
          <a:p>
            <a:r>
              <a:rPr lang="en-US" dirty="0"/>
              <a:t>                    </a:t>
            </a:r>
            <a:r>
              <a:rPr lang="en-US" dirty="0" err="1"/>
              <a:t>System.out.println</a:t>
            </a:r>
            <a:r>
              <a:rPr lang="en-US" dirty="0"/>
              <a:t>(</a:t>
            </a:r>
            <a:r>
              <a:rPr lang="en-US" dirty="0" err="1"/>
              <a:t>i</a:t>
            </a:r>
            <a:r>
              <a:rPr lang="en-US" dirty="0"/>
              <a:t>+" "+j);  </a:t>
            </a:r>
          </a:p>
          <a:p>
            <a:r>
              <a:rPr lang="en-US" dirty="0"/>
              <a:t>                }  </a:t>
            </a:r>
          </a:p>
          <a:p>
            <a:r>
              <a:rPr lang="en-US" dirty="0"/>
              <a:t>        }  </a:t>
            </a:r>
          </a:p>
          <a:p>
            <a:r>
              <a:rPr lang="en-US" dirty="0"/>
              <a:t>}  </a:t>
            </a:r>
          </a:p>
          <a:p>
            <a:r>
              <a:rPr lang="en-US" dirty="0"/>
              <a:t>}  </a:t>
            </a:r>
          </a:p>
          <a:p>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Infinitive For Loop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110</a:t>
            </a:fld>
            <a:endParaRPr lang="en-US"/>
          </a:p>
        </p:txBody>
      </p:sp>
      <p:sp>
        <p:nvSpPr>
          <p:cNvPr id="4" name="Content Placeholder 3"/>
          <p:cNvSpPr>
            <a:spLocks noGrp="1"/>
          </p:cNvSpPr>
          <p:nvPr>
            <p:ph sz="quarter" idx="1"/>
          </p:nvPr>
        </p:nvSpPr>
        <p:spPr/>
        <p:txBody>
          <a:bodyPr>
            <a:normAutofit fontScale="62500" lnSpcReduction="20000"/>
          </a:bodyPr>
          <a:lstStyle/>
          <a:p>
            <a:r>
              <a:rPr lang="en-US" dirty="0"/>
              <a:t>If you use two semicolons ;; in the for loop, it will be infinitive for loop.</a:t>
            </a:r>
          </a:p>
          <a:p>
            <a:r>
              <a:rPr lang="en-US" b="1" dirty="0"/>
              <a:t>Syntax:</a:t>
            </a:r>
            <a:endParaRPr lang="en-US" dirty="0"/>
          </a:p>
          <a:p>
            <a:r>
              <a:rPr lang="en-US" b="1" dirty="0"/>
              <a:t>for</a:t>
            </a:r>
            <a:r>
              <a:rPr lang="en-US" dirty="0"/>
              <a:t>(;;){  </a:t>
            </a:r>
          </a:p>
          <a:p>
            <a:r>
              <a:rPr lang="en-US" dirty="0"/>
              <a:t>//code to be executed  </a:t>
            </a:r>
          </a:p>
          <a:p>
            <a:r>
              <a:rPr lang="en-US" dirty="0"/>
              <a:t>}  </a:t>
            </a:r>
          </a:p>
          <a:p>
            <a:r>
              <a:rPr lang="en-US" b="1" dirty="0"/>
              <a:t>Example:</a:t>
            </a:r>
            <a:endParaRPr lang="en-US" dirty="0"/>
          </a:p>
          <a:p>
            <a:r>
              <a:rPr lang="en-US" dirty="0"/>
              <a:t>//Java program to demonstrate the use of infinite for loop  </a:t>
            </a:r>
          </a:p>
          <a:p>
            <a:r>
              <a:rPr lang="en-US" dirty="0"/>
              <a:t>//which prints an statement  </a:t>
            </a:r>
          </a:p>
          <a:p>
            <a:r>
              <a:rPr lang="en-US" b="1" dirty="0"/>
              <a:t>public</a:t>
            </a:r>
            <a:r>
              <a:rPr lang="en-US" dirty="0"/>
              <a:t> </a:t>
            </a:r>
            <a:r>
              <a:rPr lang="en-US" b="1" dirty="0"/>
              <a:t>class</a:t>
            </a:r>
            <a:r>
              <a:rPr lang="en-US" dirty="0"/>
              <a:t> </a:t>
            </a:r>
            <a:r>
              <a:rPr lang="en-US" dirty="0" err="1"/>
              <a:t>ForExample</a:t>
            </a:r>
            <a:r>
              <a:rPr lang="en-US" dirty="0"/>
              <a:t> {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//Using no condition in for loop  </a:t>
            </a:r>
          </a:p>
          <a:p>
            <a:r>
              <a:rPr lang="en-US" dirty="0"/>
              <a:t>    </a:t>
            </a:r>
            <a:r>
              <a:rPr lang="en-US" b="1" dirty="0"/>
              <a:t>for</a:t>
            </a:r>
            <a:r>
              <a:rPr lang="en-US" dirty="0"/>
              <a:t>(;;){  </a:t>
            </a:r>
          </a:p>
          <a:p>
            <a:r>
              <a:rPr lang="en-US" dirty="0"/>
              <a:t>        </a:t>
            </a:r>
            <a:r>
              <a:rPr lang="en-US" dirty="0" err="1"/>
              <a:t>System.out.println</a:t>
            </a:r>
            <a:r>
              <a:rPr lang="en-US" dirty="0"/>
              <a:t>("infinitive loop");  </a:t>
            </a:r>
          </a:p>
          <a:p>
            <a:r>
              <a:rPr lang="en-US" dirty="0"/>
              <a:t>    }  </a:t>
            </a:r>
          </a:p>
          <a:p>
            <a:r>
              <a:rPr lang="en-US" dirty="0"/>
              <a:t>}  </a:t>
            </a:r>
          </a:p>
          <a:p>
            <a:r>
              <a:rPr lang="en-US" dirty="0"/>
              <a:t>}  </a:t>
            </a:r>
          </a:p>
          <a:p>
            <a:r>
              <a:rPr lang="en-US" dirty="0">
                <a:solidFill>
                  <a:srgbClr val="C00000"/>
                </a:solidFill>
              </a:rPr>
              <a:t>you need to press </a:t>
            </a:r>
            <a:r>
              <a:rPr lang="en-US" dirty="0" err="1">
                <a:solidFill>
                  <a:srgbClr val="C00000"/>
                </a:solidFill>
              </a:rPr>
              <a:t>ctrl+c</a:t>
            </a:r>
            <a:r>
              <a:rPr lang="en-US" dirty="0">
                <a:solidFill>
                  <a:srgbClr val="C00000"/>
                </a:solidFill>
              </a:rPr>
              <a:t> to exit from the program.</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solidFill>
                  <a:srgbClr val="C00000"/>
                </a:solidFill>
              </a:rPr>
            </a:br>
            <a:r>
              <a:rPr lang="en-US" b="1" dirty="0">
                <a:solidFill>
                  <a:srgbClr val="C00000"/>
                </a:solidFill>
              </a:rPr>
              <a:t>Java While Loop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111</a:t>
            </a:fld>
            <a:endParaRPr lang="en-US" dirty="0"/>
          </a:p>
        </p:txBody>
      </p:sp>
      <p:sp>
        <p:nvSpPr>
          <p:cNvPr id="4" name="Content Placeholder 3"/>
          <p:cNvSpPr>
            <a:spLocks noGrp="1"/>
          </p:cNvSpPr>
          <p:nvPr>
            <p:ph sz="quarter" idx="1"/>
          </p:nvPr>
        </p:nvSpPr>
        <p:spPr/>
        <p:txBody>
          <a:bodyPr>
            <a:normAutofit/>
          </a:bodyPr>
          <a:lstStyle/>
          <a:p>
            <a:pPr algn="just"/>
            <a:r>
              <a:rPr lang="en-US" sz="2400" dirty="0"/>
              <a:t>The Java </a:t>
            </a:r>
            <a:r>
              <a:rPr lang="en-US" sz="2400" i="1" dirty="0"/>
              <a:t>while loop</a:t>
            </a:r>
            <a:r>
              <a:rPr lang="en-US" sz="2400" dirty="0"/>
              <a:t> is used to iterate a part of the program several times. If the number of iteration is not fixed, it is recommended to use while loop.</a:t>
            </a:r>
          </a:p>
          <a:p>
            <a:r>
              <a:rPr lang="en-US" sz="2400" b="1" dirty="0"/>
              <a:t>Syntax:</a:t>
            </a:r>
            <a:endParaRPr lang="en-US" sz="2400" dirty="0"/>
          </a:p>
          <a:p>
            <a:r>
              <a:rPr lang="en-US" sz="2400" b="1" dirty="0"/>
              <a:t>while</a:t>
            </a:r>
            <a:r>
              <a:rPr lang="en-US" sz="2400" dirty="0"/>
              <a:t>(condition)</a:t>
            </a:r>
          </a:p>
          <a:p>
            <a:r>
              <a:rPr lang="en-US" sz="2400" dirty="0"/>
              <a:t>{  </a:t>
            </a:r>
          </a:p>
          <a:p>
            <a:r>
              <a:rPr lang="en-US" sz="2400" dirty="0"/>
              <a:t>//code to be executed  </a:t>
            </a:r>
          </a:p>
          <a:p>
            <a:r>
              <a:rPr lang="en-US" sz="2400" dirty="0"/>
              <a:t>}  </a:t>
            </a:r>
          </a:p>
          <a:p>
            <a:pPr>
              <a:buNone/>
            </a:pPr>
            <a:br>
              <a:rPr lang="en-US" sz="2400" dirty="0"/>
            </a:br>
            <a:endParaRPr lang="en-US" sz="2400" dirty="0"/>
          </a:p>
        </p:txBody>
      </p:sp>
      <p:pic>
        <p:nvPicPr>
          <p:cNvPr id="139266" name="Picture 2" descr="flowchart of java while loop"/>
          <p:cNvPicPr>
            <a:picLocks noChangeAspect="1" noChangeArrowheads="1"/>
          </p:cNvPicPr>
          <p:nvPr/>
        </p:nvPicPr>
        <p:blipFill>
          <a:blip r:embed="rId2"/>
          <a:srcRect/>
          <a:stretch>
            <a:fillRect/>
          </a:stretch>
        </p:blipFill>
        <p:spPr bwMode="auto">
          <a:xfrm>
            <a:off x="5340525" y="2754923"/>
            <a:ext cx="3457575" cy="3495675"/>
          </a:xfrm>
          <a:prstGeom prst="rect">
            <a:avLst/>
          </a:prstGeom>
          <a:noFill/>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112</a:t>
            </a:fld>
            <a:endParaRPr lang="en-US"/>
          </a:p>
        </p:txBody>
      </p:sp>
      <p:sp>
        <p:nvSpPr>
          <p:cNvPr id="4" name="Content Placeholder 3"/>
          <p:cNvSpPr>
            <a:spLocks noGrp="1"/>
          </p:cNvSpPr>
          <p:nvPr>
            <p:ph sz="quarter" idx="1"/>
          </p:nvPr>
        </p:nvSpPr>
        <p:spPr/>
        <p:txBody>
          <a:bodyPr/>
          <a:lstStyle/>
          <a:p>
            <a:r>
              <a:rPr lang="en-US" b="1" dirty="0"/>
              <a:t>Example:</a:t>
            </a:r>
            <a:endParaRPr lang="en-US" dirty="0"/>
          </a:p>
          <a:p>
            <a:r>
              <a:rPr lang="en-US" b="1" dirty="0"/>
              <a:t>public</a:t>
            </a:r>
            <a:r>
              <a:rPr lang="en-US" dirty="0"/>
              <a:t> </a:t>
            </a:r>
            <a:r>
              <a:rPr lang="en-US" b="1" dirty="0"/>
              <a:t>class</a:t>
            </a:r>
            <a:r>
              <a:rPr lang="en-US" dirty="0"/>
              <a:t> </a:t>
            </a:r>
            <a:r>
              <a:rPr lang="en-US" dirty="0" err="1"/>
              <a:t>WhileExample</a:t>
            </a:r>
            <a:r>
              <a:rPr lang="en-US" dirty="0"/>
              <a:t> {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a:t>
            </a:r>
            <a:r>
              <a:rPr lang="en-US" b="1" dirty="0" err="1"/>
              <a:t>int</a:t>
            </a:r>
            <a:r>
              <a:rPr lang="en-US" dirty="0"/>
              <a:t> </a:t>
            </a:r>
            <a:r>
              <a:rPr lang="en-US" dirty="0" err="1"/>
              <a:t>i</a:t>
            </a:r>
            <a:r>
              <a:rPr lang="en-US" dirty="0"/>
              <a:t>=1;  </a:t>
            </a:r>
          </a:p>
          <a:p>
            <a:r>
              <a:rPr lang="en-US" dirty="0"/>
              <a:t>    </a:t>
            </a:r>
            <a:r>
              <a:rPr lang="en-US" b="1" dirty="0"/>
              <a:t>while</a:t>
            </a:r>
            <a:r>
              <a:rPr lang="en-US" dirty="0"/>
              <a:t>(</a:t>
            </a:r>
            <a:r>
              <a:rPr lang="en-US" dirty="0" err="1"/>
              <a:t>i</a:t>
            </a:r>
            <a:r>
              <a:rPr lang="en-US" dirty="0"/>
              <a:t>&lt;=10){  </a:t>
            </a:r>
          </a:p>
          <a:p>
            <a:r>
              <a:rPr lang="en-US" dirty="0"/>
              <a:t>        </a:t>
            </a:r>
            <a:r>
              <a:rPr lang="en-US" dirty="0" err="1"/>
              <a:t>System.out.println</a:t>
            </a:r>
            <a:r>
              <a:rPr lang="en-US" dirty="0"/>
              <a:t>(</a:t>
            </a:r>
            <a:r>
              <a:rPr lang="en-US" dirty="0" err="1"/>
              <a:t>i</a:t>
            </a:r>
            <a:r>
              <a:rPr lang="en-US" dirty="0"/>
              <a:t>);  </a:t>
            </a:r>
          </a:p>
          <a:p>
            <a:r>
              <a:rPr lang="en-US" dirty="0"/>
              <a:t>    </a:t>
            </a:r>
            <a:r>
              <a:rPr lang="en-US" dirty="0" err="1"/>
              <a:t>i</a:t>
            </a:r>
            <a:r>
              <a:rPr lang="en-US" dirty="0"/>
              <a:t>++;  </a:t>
            </a:r>
          </a:p>
          <a:p>
            <a:r>
              <a:rPr lang="en-US" dirty="0"/>
              <a:t>    }  </a:t>
            </a:r>
          </a:p>
          <a:p>
            <a:r>
              <a:rPr lang="en-US" dirty="0"/>
              <a:t>}  </a:t>
            </a:r>
          </a:p>
          <a:p>
            <a:r>
              <a:rPr lang="en-US" dirty="0"/>
              <a:t>}  </a:t>
            </a:r>
          </a:p>
          <a:p>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Java Infinitive While Loop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113</a:t>
            </a:fld>
            <a:endParaRPr lang="en-US"/>
          </a:p>
        </p:txBody>
      </p:sp>
      <p:sp>
        <p:nvSpPr>
          <p:cNvPr id="4" name="Content Placeholder 3"/>
          <p:cNvSpPr>
            <a:spLocks noGrp="1"/>
          </p:cNvSpPr>
          <p:nvPr>
            <p:ph sz="quarter" idx="1"/>
          </p:nvPr>
        </p:nvSpPr>
        <p:spPr/>
        <p:txBody>
          <a:bodyPr>
            <a:normAutofit fontScale="85000" lnSpcReduction="20000"/>
          </a:bodyPr>
          <a:lstStyle/>
          <a:p>
            <a:r>
              <a:rPr lang="en-US" dirty="0"/>
              <a:t>If you pass </a:t>
            </a:r>
            <a:r>
              <a:rPr lang="en-US" b="1" dirty="0"/>
              <a:t>true</a:t>
            </a:r>
            <a:r>
              <a:rPr lang="en-US" dirty="0"/>
              <a:t> in the while loop, it will be infinitive while loop.</a:t>
            </a:r>
          </a:p>
          <a:p>
            <a:r>
              <a:rPr lang="en-US" b="1" dirty="0"/>
              <a:t>Syntax:</a:t>
            </a:r>
            <a:endParaRPr lang="en-US" dirty="0"/>
          </a:p>
          <a:p>
            <a:r>
              <a:rPr lang="en-US" b="1" dirty="0"/>
              <a:t>while</a:t>
            </a:r>
            <a:r>
              <a:rPr lang="en-US" dirty="0"/>
              <a:t>(</a:t>
            </a:r>
            <a:r>
              <a:rPr lang="en-US" b="1" dirty="0"/>
              <a:t>true</a:t>
            </a:r>
            <a:r>
              <a:rPr lang="en-US" dirty="0"/>
              <a:t>){  </a:t>
            </a:r>
          </a:p>
          <a:p>
            <a:r>
              <a:rPr lang="en-US" dirty="0"/>
              <a:t>//code to be executed  </a:t>
            </a:r>
          </a:p>
          <a:p>
            <a:r>
              <a:rPr lang="en-US" dirty="0"/>
              <a:t>}  </a:t>
            </a:r>
          </a:p>
          <a:p>
            <a:r>
              <a:rPr lang="en-US" b="1" dirty="0"/>
              <a:t>Example:</a:t>
            </a:r>
            <a:endParaRPr lang="en-US" dirty="0"/>
          </a:p>
          <a:p>
            <a:r>
              <a:rPr lang="en-US" b="1" dirty="0"/>
              <a:t>public</a:t>
            </a:r>
            <a:r>
              <a:rPr lang="en-US" dirty="0"/>
              <a:t> </a:t>
            </a:r>
            <a:r>
              <a:rPr lang="en-US" b="1" dirty="0"/>
              <a:t>class</a:t>
            </a:r>
            <a:r>
              <a:rPr lang="en-US" dirty="0"/>
              <a:t> WhileExample2 {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a:t>
            </a:r>
            <a:r>
              <a:rPr lang="en-US" b="1" dirty="0"/>
              <a:t>while</a:t>
            </a:r>
            <a:r>
              <a:rPr lang="en-US" dirty="0"/>
              <a:t>(</a:t>
            </a:r>
            <a:r>
              <a:rPr lang="en-US" b="1" dirty="0"/>
              <a:t>true</a:t>
            </a:r>
            <a:r>
              <a:rPr lang="en-US" dirty="0"/>
              <a:t>){  </a:t>
            </a:r>
          </a:p>
          <a:p>
            <a:r>
              <a:rPr lang="en-US" dirty="0"/>
              <a:t>        </a:t>
            </a:r>
            <a:r>
              <a:rPr lang="en-US" dirty="0" err="1"/>
              <a:t>System.out.println</a:t>
            </a:r>
            <a:r>
              <a:rPr lang="en-US" dirty="0"/>
              <a:t>("infinitive while loop");  </a:t>
            </a:r>
          </a:p>
          <a:p>
            <a:r>
              <a:rPr lang="en-US" dirty="0"/>
              <a:t>    }  </a:t>
            </a:r>
          </a:p>
          <a:p>
            <a:r>
              <a:rPr lang="en-US" dirty="0"/>
              <a:t>}  </a:t>
            </a:r>
          </a:p>
          <a:p>
            <a:r>
              <a:rPr lang="en-US" dirty="0"/>
              <a:t>}  </a:t>
            </a:r>
          </a:p>
          <a:p>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Java do-while Loop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114</a:t>
            </a:fld>
            <a:endParaRPr lang="en-US"/>
          </a:p>
        </p:txBody>
      </p:sp>
      <p:sp>
        <p:nvSpPr>
          <p:cNvPr id="4" name="Content Placeholder 3"/>
          <p:cNvSpPr>
            <a:spLocks noGrp="1"/>
          </p:cNvSpPr>
          <p:nvPr>
            <p:ph sz="quarter" idx="1"/>
          </p:nvPr>
        </p:nvSpPr>
        <p:spPr/>
        <p:txBody>
          <a:bodyPr>
            <a:normAutofit/>
          </a:bodyPr>
          <a:lstStyle/>
          <a:p>
            <a:pPr algn="just"/>
            <a:r>
              <a:rPr lang="en-US" sz="2000" dirty="0"/>
              <a:t>The Java </a:t>
            </a:r>
            <a:r>
              <a:rPr lang="en-US" sz="2000" i="1" dirty="0"/>
              <a:t>do-while loop</a:t>
            </a:r>
            <a:r>
              <a:rPr lang="en-US" sz="2000" dirty="0"/>
              <a:t> is used to iterate a part of the program several times. If the number of iteration is not fixed and you must have to execute the loop at least once, it is recommended to use do-while loop.</a:t>
            </a:r>
          </a:p>
          <a:p>
            <a:pPr algn="just"/>
            <a:r>
              <a:rPr lang="en-US" sz="2000" dirty="0"/>
              <a:t>The Java </a:t>
            </a:r>
            <a:r>
              <a:rPr lang="en-US" sz="2000" i="1" dirty="0"/>
              <a:t>do-while loop</a:t>
            </a:r>
            <a:r>
              <a:rPr lang="en-US" sz="2000" dirty="0"/>
              <a:t> is executed at least once because condition is checked after loop body.</a:t>
            </a:r>
          </a:p>
          <a:p>
            <a:pPr algn="just"/>
            <a:r>
              <a:rPr lang="en-US" sz="2000" b="1" dirty="0"/>
              <a:t>Syntax:</a:t>
            </a:r>
            <a:endParaRPr lang="en-US" sz="2000" dirty="0"/>
          </a:p>
          <a:p>
            <a:pPr algn="just"/>
            <a:r>
              <a:rPr lang="en-US" sz="2000" b="1" dirty="0"/>
              <a:t>do</a:t>
            </a:r>
            <a:r>
              <a:rPr lang="en-US" sz="2000" dirty="0"/>
              <a:t>{  </a:t>
            </a:r>
          </a:p>
          <a:p>
            <a:pPr algn="just"/>
            <a:r>
              <a:rPr lang="en-US" sz="2000" dirty="0"/>
              <a:t>//code to be executed  </a:t>
            </a:r>
          </a:p>
          <a:p>
            <a:pPr algn="just"/>
            <a:r>
              <a:rPr lang="en-US" sz="2000" dirty="0"/>
              <a:t>}</a:t>
            </a:r>
            <a:r>
              <a:rPr lang="en-US" sz="2000" b="1" dirty="0"/>
              <a:t>while</a:t>
            </a:r>
            <a:r>
              <a:rPr lang="en-US" sz="2000" dirty="0"/>
              <a:t>(condition);  </a:t>
            </a:r>
          </a:p>
          <a:p>
            <a:endParaRPr lang="en-US" dirty="0"/>
          </a:p>
        </p:txBody>
      </p:sp>
      <p:pic>
        <p:nvPicPr>
          <p:cNvPr id="147458" name="Picture 2" descr="flowchart of do while loop in java"/>
          <p:cNvPicPr>
            <a:picLocks noChangeAspect="1" noChangeArrowheads="1"/>
          </p:cNvPicPr>
          <p:nvPr/>
        </p:nvPicPr>
        <p:blipFill>
          <a:blip r:embed="rId2"/>
          <a:srcRect/>
          <a:stretch>
            <a:fillRect/>
          </a:stretch>
        </p:blipFill>
        <p:spPr bwMode="auto">
          <a:xfrm>
            <a:off x="4747672" y="3027851"/>
            <a:ext cx="3143250" cy="3371851"/>
          </a:xfrm>
          <a:prstGeom prst="rect">
            <a:avLst/>
          </a:prstGeom>
          <a:noFill/>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115</a:t>
            </a:fld>
            <a:endParaRPr lang="en-US"/>
          </a:p>
        </p:txBody>
      </p:sp>
      <p:sp>
        <p:nvSpPr>
          <p:cNvPr id="4" name="Content Placeholder 3"/>
          <p:cNvSpPr>
            <a:spLocks noGrp="1"/>
          </p:cNvSpPr>
          <p:nvPr>
            <p:ph sz="quarter" idx="1"/>
          </p:nvPr>
        </p:nvSpPr>
        <p:spPr/>
        <p:txBody>
          <a:bodyPr/>
          <a:lstStyle/>
          <a:p>
            <a:r>
              <a:rPr lang="en-US" b="1" dirty="0"/>
              <a:t>Example:</a:t>
            </a:r>
            <a:endParaRPr lang="en-US" dirty="0"/>
          </a:p>
          <a:p>
            <a:r>
              <a:rPr lang="en-US" b="1" dirty="0"/>
              <a:t>public</a:t>
            </a:r>
            <a:r>
              <a:rPr lang="en-US" dirty="0"/>
              <a:t> </a:t>
            </a:r>
            <a:r>
              <a:rPr lang="en-US" b="1" dirty="0"/>
              <a:t>class</a:t>
            </a:r>
            <a:r>
              <a:rPr lang="en-US" dirty="0"/>
              <a:t> </a:t>
            </a:r>
            <a:r>
              <a:rPr lang="en-US" dirty="0" err="1"/>
              <a:t>DoWhileExample</a:t>
            </a:r>
            <a:r>
              <a:rPr lang="en-US" dirty="0"/>
              <a:t> {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a:t>
            </a:r>
            <a:r>
              <a:rPr lang="en-US" b="1" dirty="0" err="1"/>
              <a:t>int</a:t>
            </a:r>
            <a:r>
              <a:rPr lang="en-US" dirty="0"/>
              <a:t> </a:t>
            </a:r>
            <a:r>
              <a:rPr lang="en-US" dirty="0" err="1"/>
              <a:t>i</a:t>
            </a:r>
            <a:r>
              <a:rPr lang="en-US" dirty="0"/>
              <a:t>=1;  </a:t>
            </a:r>
          </a:p>
          <a:p>
            <a:r>
              <a:rPr lang="en-US" dirty="0"/>
              <a:t>    </a:t>
            </a:r>
            <a:r>
              <a:rPr lang="en-US" b="1" dirty="0"/>
              <a:t>do</a:t>
            </a:r>
            <a:r>
              <a:rPr lang="en-US" dirty="0"/>
              <a:t>{  </a:t>
            </a:r>
          </a:p>
          <a:p>
            <a:r>
              <a:rPr lang="en-US" dirty="0"/>
              <a:t>        </a:t>
            </a:r>
            <a:r>
              <a:rPr lang="en-US" dirty="0" err="1"/>
              <a:t>System.out.println</a:t>
            </a:r>
            <a:r>
              <a:rPr lang="en-US" dirty="0"/>
              <a:t>(</a:t>
            </a:r>
            <a:r>
              <a:rPr lang="en-US" dirty="0" err="1"/>
              <a:t>i</a:t>
            </a:r>
            <a:r>
              <a:rPr lang="en-US" dirty="0"/>
              <a:t>);  </a:t>
            </a:r>
          </a:p>
          <a:p>
            <a:r>
              <a:rPr lang="en-US" dirty="0"/>
              <a:t>    </a:t>
            </a:r>
            <a:r>
              <a:rPr lang="en-US" dirty="0" err="1"/>
              <a:t>i</a:t>
            </a:r>
            <a:r>
              <a:rPr lang="en-US" dirty="0"/>
              <a:t>++;  </a:t>
            </a:r>
          </a:p>
          <a:p>
            <a:r>
              <a:rPr lang="en-US" dirty="0"/>
              <a:t>    }</a:t>
            </a:r>
            <a:r>
              <a:rPr lang="en-US" b="1" dirty="0"/>
              <a:t>while</a:t>
            </a:r>
            <a:r>
              <a:rPr lang="en-US" dirty="0"/>
              <a:t>(</a:t>
            </a:r>
            <a:r>
              <a:rPr lang="en-US" dirty="0" err="1"/>
              <a:t>i</a:t>
            </a:r>
            <a:r>
              <a:rPr lang="en-US" dirty="0"/>
              <a:t>&lt;=10);  </a:t>
            </a:r>
          </a:p>
          <a:p>
            <a:r>
              <a:rPr lang="en-US" dirty="0"/>
              <a:t>}  </a:t>
            </a:r>
          </a:p>
          <a:p>
            <a:r>
              <a:rPr lang="en-US" dirty="0"/>
              <a:t>}  </a:t>
            </a:r>
          </a:p>
          <a:p>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Java Infinitive do-while Loop</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116</a:t>
            </a:fld>
            <a:endParaRPr lang="en-US"/>
          </a:p>
        </p:txBody>
      </p:sp>
      <p:sp>
        <p:nvSpPr>
          <p:cNvPr id="4" name="Content Placeholder 3"/>
          <p:cNvSpPr>
            <a:spLocks noGrp="1"/>
          </p:cNvSpPr>
          <p:nvPr>
            <p:ph sz="quarter" idx="1"/>
          </p:nvPr>
        </p:nvSpPr>
        <p:spPr/>
        <p:txBody>
          <a:bodyPr>
            <a:normAutofit fontScale="85000" lnSpcReduction="20000"/>
          </a:bodyPr>
          <a:lstStyle/>
          <a:p>
            <a:r>
              <a:rPr lang="en-US" dirty="0"/>
              <a:t>If you pass </a:t>
            </a:r>
            <a:r>
              <a:rPr lang="en-US" b="1" dirty="0"/>
              <a:t>true</a:t>
            </a:r>
            <a:r>
              <a:rPr lang="en-US" dirty="0"/>
              <a:t> in the do-while loop, it will be infinitive do-while loop.</a:t>
            </a:r>
          </a:p>
          <a:p>
            <a:r>
              <a:rPr lang="en-US" b="1" dirty="0"/>
              <a:t>Syntax:</a:t>
            </a:r>
            <a:endParaRPr lang="en-US" dirty="0"/>
          </a:p>
          <a:p>
            <a:r>
              <a:rPr lang="en-US" b="1" dirty="0"/>
              <a:t>do</a:t>
            </a:r>
            <a:r>
              <a:rPr lang="en-US" dirty="0"/>
              <a:t>{  </a:t>
            </a:r>
          </a:p>
          <a:p>
            <a:r>
              <a:rPr lang="en-US" dirty="0"/>
              <a:t>//code to be executed  </a:t>
            </a:r>
          </a:p>
          <a:p>
            <a:r>
              <a:rPr lang="en-US" dirty="0"/>
              <a:t>}</a:t>
            </a:r>
            <a:r>
              <a:rPr lang="en-US" b="1" dirty="0"/>
              <a:t>while</a:t>
            </a:r>
            <a:r>
              <a:rPr lang="en-US" dirty="0"/>
              <a:t>(</a:t>
            </a:r>
            <a:r>
              <a:rPr lang="en-US" b="1" dirty="0"/>
              <a:t>true</a:t>
            </a:r>
            <a:r>
              <a:rPr lang="en-US" dirty="0"/>
              <a:t>);  </a:t>
            </a:r>
          </a:p>
          <a:p>
            <a:r>
              <a:rPr lang="en-US" b="1" dirty="0"/>
              <a:t>Example:</a:t>
            </a:r>
            <a:endParaRPr lang="en-US" dirty="0"/>
          </a:p>
          <a:p>
            <a:r>
              <a:rPr lang="en-US" b="1" dirty="0"/>
              <a:t>public</a:t>
            </a:r>
            <a:r>
              <a:rPr lang="en-US" dirty="0"/>
              <a:t> </a:t>
            </a:r>
            <a:r>
              <a:rPr lang="en-US" b="1" dirty="0"/>
              <a:t>class</a:t>
            </a:r>
            <a:r>
              <a:rPr lang="en-US" dirty="0"/>
              <a:t> DoWhileExample2 {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a:t>
            </a:r>
            <a:r>
              <a:rPr lang="en-US" b="1" dirty="0"/>
              <a:t>do</a:t>
            </a:r>
            <a:r>
              <a:rPr lang="en-US" dirty="0"/>
              <a:t>{  </a:t>
            </a:r>
          </a:p>
          <a:p>
            <a:r>
              <a:rPr lang="en-US" dirty="0"/>
              <a:t>        </a:t>
            </a:r>
            <a:r>
              <a:rPr lang="en-US" dirty="0" err="1"/>
              <a:t>System.out.println</a:t>
            </a:r>
            <a:r>
              <a:rPr lang="en-US" dirty="0"/>
              <a:t>("infinitive do while loop");  </a:t>
            </a:r>
          </a:p>
          <a:p>
            <a:r>
              <a:rPr lang="en-US" dirty="0"/>
              <a:t>    }</a:t>
            </a:r>
            <a:r>
              <a:rPr lang="en-US" b="1" dirty="0"/>
              <a:t>while</a:t>
            </a:r>
            <a:r>
              <a:rPr lang="en-US" dirty="0"/>
              <a:t>(</a:t>
            </a:r>
            <a:r>
              <a:rPr lang="en-US" b="1" dirty="0"/>
              <a:t>true</a:t>
            </a:r>
            <a:r>
              <a:rPr lang="en-US" dirty="0"/>
              <a:t>);  </a:t>
            </a:r>
          </a:p>
          <a:p>
            <a:r>
              <a:rPr lang="en-US" dirty="0"/>
              <a:t>}  </a:t>
            </a:r>
          </a:p>
          <a:p>
            <a:r>
              <a:rPr lang="en-US" dirty="0"/>
              <a:t>}  </a:t>
            </a:r>
          </a:p>
          <a:p>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Type Conversion and Casting</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117</a:t>
            </a:fld>
            <a:endParaRPr lang="en-US"/>
          </a:p>
        </p:txBody>
      </p:sp>
      <p:sp>
        <p:nvSpPr>
          <p:cNvPr id="4" name="Content Placeholder 3"/>
          <p:cNvSpPr>
            <a:spLocks noGrp="1"/>
          </p:cNvSpPr>
          <p:nvPr>
            <p:ph sz="quarter" idx="1"/>
          </p:nvPr>
        </p:nvSpPr>
        <p:spPr/>
        <p:txBody>
          <a:bodyPr>
            <a:normAutofit/>
          </a:bodyPr>
          <a:lstStyle/>
          <a:p>
            <a:pPr algn="just"/>
            <a:r>
              <a:rPr lang="en-US" sz="1800" dirty="0"/>
              <a:t>When you assign value of one data type to another, the two types might not be compatible with each other. </a:t>
            </a:r>
          </a:p>
          <a:p>
            <a:pPr algn="just"/>
            <a:r>
              <a:rPr lang="en-US" sz="1800" dirty="0"/>
              <a:t>If the data types are compatible, then Java will perform the conversion automatically known as Automatic Type Conversion and if not then they need to be casted or converted explicitly. </a:t>
            </a:r>
            <a:r>
              <a:rPr lang="en-US" sz="1800" b="1" dirty="0"/>
              <a:t>For example,</a:t>
            </a:r>
            <a:r>
              <a:rPr lang="en-US" sz="1800" dirty="0"/>
              <a:t> assigning an </a:t>
            </a:r>
            <a:r>
              <a:rPr lang="en-US" sz="1800" dirty="0" err="1"/>
              <a:t>int</a:t>
            </a:r>
            <a:r>
              <a:rPr lang="en-US" sz="1800" dirty="0"/>
              <a:t> value to a long variable.</a:t>
            </a:r>
          </a:p>
          <a:p>
            <a:r>
              <a:rPr lang="en-US" sz="1800" dirty="0"/>
              <a:t>In Java, there are two types of casting:</a:t>
            </a:r>
          </a:p>
          <a:p>
            <a:r>
              <a:rPr lang="en-US" sz="1800" b="1" dirty="0"/>
              <a:t>Widening Casting</a:t>
            </a:r>
            <a:r>
              <a:rPr lang="en-US" sz="1800" dirty="0"/>
              <a:t> (automatically) - converting a smaller type to a larger type size</a:t>
            </a:r>
            <a:br>
              <a:rPr lang="en-US" sz="1800" dirty="0"/>
            </a:br>
            <a:r>
              <a:rPr lang="en-US" sz="1800" dirty="0"/>
              <a:t>byte -&gt; short -&gt; char -&gt; </a:t>
            </a:r>
            <a:r>
              <a:rPr lang="en-US" sz="1800" dirty="0" err="1"/>
              <a:t>int</a:t>
            </a:r>
            <a:r>
              <a:rPr lang="en-US" sz="1800" dirty="0"/>
              <a:t> -&gt; long -&gt; float -&gt; double</a:t>
            </a:r>
            <a:br>
              <a:rPr lang="en-US" sz="1800" dirty="0"/>
            </a:br>
            <a:br>
              <a:rPr lang="en-US" sz="1800" dirty="0"/>
            </a:br>
            <a:r>
              <a:rPr lang="en-US" sz="1800" b="1" dirty="0"/>
              <a:t>Narrowing Casting</a:t>
            </a:r>
            <a:r>
              <a:rPr lang="en-US" sz="1800" dirty="0"/>
              <a:t> (manually) - converting a larger type to a smaller size type</a:t>
            </a:r>
            <a:br>
              <a:rPr lang="en-US" sz="1800" dirty="0"/>
            </a:br>
            <a:r>
              <a:rPr lang="en-US" sz="1800" dirty="0"/>
              <a:t>double -&gt; float -&gt; long -&gt; </a:t>
            </a:r>
            <a:r>
              <a:rPr lang="en-US" sz="1800" dirty="0" err="1"/>
              <a:t>int</a:t>
            </a:r>
            <a:r>
              <a:rPr lang="en-US" sz="1800" dirty="0"/>
              <a:t> -&gt; char -&gt; short -&gt; byte</a:t>
            </a:r>
          </a:p>
          <a:p>
            <a:pPr algn="just"/>
            <a:endParaRPr lang="en-US" sz="1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Widening Casting</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118</a:t>
            </a:fld>
            <a:endParaRPr lang="en-US"/>
          </a:p>
        </p:txBody>
      </p:sp>
      <p:sp>
        <p:nvSpPr>
          <p:cNvPr id="4" name="Content Placeholder 3"/>
          <p:cNvSpPr>
            <a:spLocks noGrp="1"/>
          </p:cNvSpPr>
          <p:nvPr>
            <p:ph sz="quarter" idx="1"/>
          </p:nvPr>
        </p:nvSpPr>
        <p:spPr/>
        <p:txBody>
          <a:bodyPr/>
          <a:lstStyle/>
          <a:p>
            <a:pPr algn="just"/>
            <a:r>
              <a:rPr lang="en-US" sz="2000" dirty="0"/>
              <a:t>Widening casting is done automatically when passing a smaller size type to a larger size type:</a:t>
            </a:r>
          </a:p>
          <a:p>
            <a:pPr algn="just"/>
            <a:r>
              <a:rPr lang="en-US" sz="2000" b="1" dirty="0"/>
              <a:t>Example</a:t>
            </a:r>
          </a:p>
          <a:p>
            <a:pPr algn="just"/>
            <a:r>
              <a:rPr lang="en-US" sz="2000" dirty="0"/>
              <a:t>public class Main </a:t>
            </a:r>
          </a:p>
          <a:p>
            <a:pPr algn="just"/>
            <a:r>
              <a:rPr lang="en-US" sz="2000" dirty="0"/>
              <a:t>{ </a:t>
            </a:r>
          </a:p>
          <a:p>
            <a:pPr algn="just"/>
            <a:r>
              <a:rPr lang="en-US" sz="2000" dirty="0"/>
              <a:t>public static void main(String[] </a:t>
            </a:r>
            <a:r>
              <a:rPr lang="en-US" sz="2000" dirty="0" err="1"/>
              <a:t>args</a:t>
            </a:r>
            <a:r>
              <a:rPr lang="en-US" sz="2000" dirty="0"/>
              <a:t>) </a:t>
            </a:r>
          </a:p>
          <a:p>
            <a:pPr algn="just"/>
            <a:r>
              <a:rPr lang="en-US" sz="2000" dirty="0"/>
              <a:t>{ </a:t>
            </a:r>
          </a:p>
          <a:p>
            <a:pPr algn="just"/>
            <a:r>
              <a:rPr lang="en-US" sz="2000" dirty="0" err="1"/>
              <a:t>int</a:t>
            </a:r>
            <a:r>
              <a:rPr lang="en-US" sz="2000" dirty="0"/>
              <a:t> </a:t>
            </a:r>
            <a:r>
              <a:rPr lang="en-US" sz="2000" dirty="0" err="1"/>
              <a:t>myInt</a:t>
            </a:r>
            <a:r>
              <a:rPr lang="en-US" sz="2000" dirty="0"/>
              <a:t> = 9; </a:t>
            </a:r>
          </a:p>
          <a:p>
            <a:pPr algn="just"/>
            <a:r>
              <a:rPr lang="en-US" sz="2000" dirty="0"/>
              <a:t>double </a:t>
            </a:r>
            <a:r>
              <a:rPr lang="en-US" sz="2000" dirty="0" err="1"/>
              <a:t>myDouble</a:t>
            </a:r>
            <a:r>
              <a:rPr lang="en-US" sz="2000" dirty="0"/>
              <a:t> = </a:t>
            </a:r>
            <a:r>
              <a:rPr lang="en-US" sz="2000" dirty="0" err="1"/>
              <a:t>myInt</a:t>
            </a:r>
            <a:r>
              <a:rPr lang="en-US" sz="2000" dirty="0"/>
              <a:t>; </a:t>
            </a:r>
            <a:r>
              <a:rPr lang="en-US" sz="2000" dirty="0">
                <a:solidFill>
                  <a:srgbClr val="6600FF"/>
                </a:solidFill>
              </a:rPr>
              <a:t>// Automatic casting: </a:t>
            </a:r>
            <a:r>
              <a:rPr lang="en-US" sz="2000" dirty="0" err="1">
                <a:solidFill>
                  <a:srgbClr val="6600FF"/>
                </a:solidFill>
              </a:rPr>
              <a:t>int</a:t>
            </a:r>
            <a:r>
              <a:rPr lang="en-US" sz="2000" dirty="0">
                <a:solidFill>
                  <a:srgbClr val="6600FF"/>
                </a:solidFill>
              </a:rPr>
              <a:t> to double</a:t>
            </a:r>
          </a:p>
          <a:p>
            <a:pPr algn="just"/>
            <a:r>
              <a:rPr lang="en-US" sz="2000" dirty="0" err="1"/>
              <a:t>System.out.println</a:t>
            </a:r>
            <a:r>
              <a:rPr lang="en-US" sz="2000" dirty="0"/>
              <a:t>(</a:t>
            </a:r>
            <a:r>
              <a:rPr lang="en-US" sz="2000" dirty="0" err="1"/>
              <a:t>myInt</a:t>
            </a:r>
            <a:r>
              <a:rPr lang="en-US" sz="2000" dirty="0"/>
              <a:t>); </a:t>
            </a:r>
            <a:r>
              <a:rPr lang="en-US" sz="2000" dirty="0">
                <a:solidFill>
                  <a:srgbClr val="6600FF"/>
                </a:solidFill>
              </a:rPr>
              <a:t>// Outputs 9 </a:t>
            </a:r>
          </a:p>
          <a:p>
            <a:pPr algn="just"/>
            <a:r>
              <a:rPr lang="en-US" sz="2000" dirty="0" err="1"/>
              <a:t>System.out.println</a:t>
            </a:r>
            <a:r>
              <a:rPr lang="en-US" sz="2000" dirty="0"/>
              <a:t>(</a:t>
            </a:r>
            <a:r>
              <a:rPr lang="en-US" sz="2000" dirty="0" err="1"/>
              <a:t>myDouble</a:t>
            </a:r>
            <a:r>
              <a:rPr lang="en-US" sz="2000" dirty="0"/>
              <a:t>); </a:t>
            </a:r>
            <a:r>
              <a:rPr lang="en-US" sz="2000" dirty="0">
                <a:solidFill>
                  <a:srgbClr val="6600FF"/>
                </a:solidFill>
              </a:rPr>
              <a:t>// Outputs 9.0 </a:t>
            </a:r>
          </a:p>
          <a:p>
            <a:pPr algn="just"/>
            <a:r>
              <a:rPr lang="en-US" sz="2000" dirty="0"/>
              <a:t>} </a:t>
            </a:r>
          </a:p>
          <a:p>
            <a:pPr algn="just"/>
            <a:r>
              <a:rPr lang="en-US" sz="2000" dirty="0"/>
              <a:t>}</a:t>
            </a:r>
          </a:p>
          <a:p>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Narrowing Casting</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119</a:t>
            </a:fld>
            <a:endParaRPr lang="en-US"/>
          </a:p>
        </p:txBody>
      </p:sp>
      <p:sp>
        <p:nvSpPr>
          <p:cNvPr id="4" name="Content Placeholder 3"/>
          <p:cNvSpPr>
            <a:spLocks noGrp="1"/>
          </p:cNvSpPr>
          <p:nvPr>
            <p:ph sz="quarter" idx="1"/>
          </p:nvPr>
        </p:nvSpPr>
        <p:spPr/>
        <p:txBody>
          <a:bodyPr>
            <a:normAutofit lnSpcReduction="10000"/>
          </a:bodyPr>
          <a:lstStyle/>
          <a:p>
            <a:pPr algn="just"/>
            <a:r>
              <a:rPr lang="en-US" sz="2400" dirty="0"/>
              <a:t>Narrowing casting must be done manually by placing the type in parentheses in front of the value:</a:t>
            </a:r>
          </a:p>
          <a:p>
            <a:pPr algn="just"/>
            <a:r>
              <a:rPr lang="en-US" sz="2400" dirty="0"/>
              <a:t>Example</a:t>
            </a:r>
          </a:p>
          <a:p>
            <a:pPr algn="just"/>
            <a:r>
              <a:rPr lang="en-US" sz="2400" dirty="0"/>
              <a:t>public class Main </a:t>
            </a:r>
          </a:p>
          <a:p>
            <a:pPr algn="just"/>
            <a:r>
              <a:rPr lang="en-US" sz="2400" dirty="0"/>
              <a:t>{ </a:t>
            </a:r>
          </a:p>
          <a:p>
            <a:pPr algn="just"/>
            <a:r>
              <a:rPr lang="en-US" sz="2400" dirty="0"/>
              <a:t>public static void main(String[] </a:t>
            </a:r>
            <a:r>
              <a:rPr lang="en-US" sz="2400" dirty="0" err="1"/>
              <a:t>args</a:t>
            </a:r>
            <a:r>
              <a:rPr lang="en-US" sz="2400" dirty="0"/>
              <a:t>) </a:t>
            </a:r>
          </a:p>
          <a:p>
            <a:pPr algn="just"/>
            <a:r>
              <a:rPr lang="en-US" sz="2400" dirty="0"/>
              <a:t>{ </a:t>
            </a:r>
          </a:p>
          <a:p>
            <a:pPr algn="just"/>
            <a:r>
              <a:rPr lang="en-US" sz="2400" dirty="0"/>
              <a:t>double </a:t>
            </a:r>
            <a:r>
              <a:rPr lang="en-US" sz="2400" dirty="0" err="1"/>
              <a:t>myDouble</a:t>
            </a:r>
            <a:r>
              <a:rPr lang="en-US" sz="2400" dirty="0"/>
              <a:t> = 9.78; </a:t>
            </a:r>
          </a:p>
          <a:p>
            <a:pPr algn="just"/>
            <a:r>
              <a:rPr lang="en-US" sz="2400" dirty="0" err="1"/>
              <a:t>int</a:t>
            </a:r>
            <a:r>
              <a:rPr lang="en-US" sz="2400" dirty="0"/>
              <a:t> </a:t>
            </a:r>
            <a:r>
              <a:rPr lang="en-US" sz="2400" dirty="0" err="1"/>
              <a:t>myInt</a:t>
            </a:r>
            <a:r>
              <a:rPr lang="en-US" sz="2400" dirty="0"/>
              <a:t> = (</a:t>
            </a:r>
            <a:r>
              <a:rPr lang="en-US" sz="2400" dirty="0" err="1"/>
              <a:t>int</a:t>
            </a:r>
            <a:r>
              <a:rPr lang="en-US" sz="2400" dirty="0"/>
              <a:t>) </a:t>
            </a:r>
            <a:r>
              <a:rPr lang="en-US" sz="2400" dirty="0" err="1"/>
              <a:t>myDouble</a:t>
            </a:r>
            <a:r>
              <a:rPr lang="en-US" sz="2400" dirty="0"/>
              <a:t>; </a:t>
            </a:r>
            <a:r>
              <a:rPr lang="en-US" sz="2400" dirty="0">
                <a:solidFill>
                  <a:srgbClr val="6600FF"/>
                </a:solidFill>
              </a:rPr>
              <a:t>// Manual casting: double to </a:t>
            </a:r>
            <a:r>
              <a:rPr lang="en-US" sz="2400" dirty="0" err="1">
                <a:solidFill>
                  <a:srgbClr val="6600FF"/>
                </a:solidFill>
              </a:rPr>
              <a:t>int</a:t>
            </a:r>
            <a:endParaRPr lang="en-US" sz="2400" dirty="0">
              <a:solidFill>
                <a:srgbClr val="6600FF"/>
              </a:solidFill>
            </a:endParaRPr>
          </a:p>
          <a:p>
            <a:pPr algn="just"/>
            <a:r>
              <a:rPr lang="en-US" sz="2400" dirty="0" err="1"/>
              <a:t>System.out.println</a:t>
            </a:r>
            <a:r>
              <a:rPr lang="en-US" sz="2400" dirty="0"/>
              <a:t>(</a:t>
            </a:r>
            <a:r>
              <a:rPr lang="en-US" sz="2400" dirty="0" err="1"/>
              <a:t>myDouble</a:t>
            </a:r>
            <a:r>
              <a:rPr lang="en-US" sz="2400" dirty="0"/>
              <a:t>); </a:t>
            </a:r>
            <a:r>
              <a:rPr lang="en-US" sz="2400" dirty="0">
                <a:solidFill>
                  <a:srgbClr val="6600FF"/>
                </a:solidFill>
              </a:rPr>
              <a:t>// Outputs 9.78</a:t>
            </a:r>
          </a:p>
          <a:p>
            <a:pPr algn="just"/>
            <a:r>
              <a:rPr lang="en-US" sz="2400" dirty="0" err="1"/>
              <a:t>System.out.println</a:t>
            </a:r>
            <a:r>
              <a:rPr lang="en-US" sz="2400" dirty="0"/>
              <a:t>(</a:t>
            </a:r>
            <a:r>
              <a:rPr lang="en-US" sz="2400" dirty="0" err="1"/>
              <a:t>myInt</a:t>
            </a:r>
            <a:r>
              <a:rPr lang="en-US" sz="2400" dirty="0"/>
              <a:t>); </a:t>
            </a:r>
            <a:r>
              <a:rPr lang="en-US" sz="2400" dirty="0">
                <a:solidFill>
                  <a:srgbClr val="6600FF"/>
                </a:solidFill>
              </a:rPr>
              <a:t>// Outputs 9 </a:t>
            </a:r>
          </a:p>
          <a:p>
            <a:pPr algn="just"/>
            <a:r>
              <a:rPr lang="en-US" sz="2400" dirty="0"/>
              <a:t>} </a:t>
            </a:r>
          </a:p>
          <a:p>
            <a:pPr algn="just"/>
            <a:r>
              <a:rPr lang="en-US" sz="2400" dirty="0"/>
              <a:t>}</a:t>
            </a:r>
          </a:p>
          <a:p>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Difference Between Type Casting and Type Conversion</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120</a:t>
            </a:fld>
            <a:endParaRPr lang="en-US"/>
          </a:p>
        </p:txBody>
      </p:sp>
      <p:graphicFrame>
        <p:nvGraphicFramePr>
          <p:cNvPr id="5" name="Content Placeholder 4"/>
          <p:cNvGraphicFramePr>
            <a:graphicFrameLocks noGrp="1"/>
          </p:cNvGraphicFramePr>
          <p:nvPr>
            <p:ph sz="quarter" idx="1"/>
          </p:nvPr>
        </p:nvGraphicFramePr>
        <p:xfrm>
          <a:off x="221066" y="1335403"/>
          <a:ext cx="9666512" cy="6105939"/>
        </p:xfrm>
        <a:graphic>
          <a:graphicData uri="http://schemas.openxmlformats.org/drawingml/2006/table">
            <a:tbl>
              <a:tblPr/>
              <a:tblGrid>
                <a:gridCol w="405588">
                  <a:extLst>
                    <a:ext uri="{9D8B030D-6E8A-4147-A177-3AD203B41FA5}">
                      <a16:colId xmlns:a16="http://schemas.microsoft.com/office/drawing/2014/main" val="20000"/>
                    </a:ext>
                  </a:extLst>
                </a:gridCol>
                <a:gridCol w="4698060">
                  <a:extLst>
                    <a:ext uri="{9D8B030D-6E8A-4147-A177-3AD203B41FA5}">
                      <a16:colId xmlns:a16="http://schemas.microsoft.com/office/drawing/2014/main" val="20001"/>
                    </a:ext>
                  </a:extLst>
                </a:gridCol>
                <a:gridCol w="4562864">
                  <a:extLst>
                    <a:ext uri="{9D8B030D-6E8A-4147-A177-3AD203B41FA5}">
                      <a16:colId xmlns:a16="http://schemas.microsoft.com/office/drawing/2014/main" val="20002"/>
                    </a:ext>
                  </a:extLst>
                </a:gridCol>
              </a:tblGrid>
              <a:tr h="250466">
                <a:tc>
                  <a:txBody>
                    <a:bodyPr/>
                    <a:lstStyle/>
                    <a:p>
                      <a:pPr algn="l" fontAlgn="t"/>
                      <a:r>
                        <a:rPr lang="en-US" sz="1100" b="1" dirty="0">
                          <a:solidFill>
                            <a:srgbClr val="000000"/>
                          </a:solidFill>
                          <a:latin typeface="times new roman"/>
                        </a:rPr>
                        <a:t>S.N</a:t>
                      </a:r>
                    </a:p>
                  </a:txBody>
                  <a:tcPr marL="56924" marR="56924" marT="56924" marB="56924">
                    <a:lnL w="9525" cap="flat" cmpd="sng" algn="ctr">
                      <a:solidFill>
                        <a:srgbClr val="5086DF"/>
                      </a:solidFill>
                      <a:prstDash val="solid"/>
                      <a:round/>
                      <a:headEnd type="none" w="med" len="med"/>
                      <a:tailEnd type="none" w="med" len="med"/>
                    </a:lnL>
                    <a:lnR w="9525" cap="flat" cmpd="sng" algn="ctr">
                      <a:solidFill>
                        <a:srgbClr val="5086DF"/>
                      </a:solidFill>
                      <a:prstDash val="solid"/>
                      <a:round/>
                      <a:headEnd type="none" w="med" len="med"/>
                      <a:tailEnd type="none" w="med" len="med"/>
                    </a:lnR>
                    <a:lnT w="9525" cap="flat" cmpd="sng" algn="ctr">
                      <a:solidFill>
                        <a:srgbClr val="5086D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100" b="1" dirty="0">
                          <a:solidFill>
                            <a:srgbClr val="000000"/>
                          </a:solidFill>
                          <a:latin typeface="times new roman"/>
                        </a:rPr>
                        <a:t>Type Casting</a:t>
                      </a:r>
                    </a:p>
                  </a:txBody>
                  <a:tcPr marL="56924" marR="56924" marT="56924" marB="56924">
                    <a:lnL w="9525" cap="flat" cmpd="sng" algn="ctr">
                      <a:solidFill>
                        <a:srgbClr val="5086DF"/>
                      </a:solidFill>
                      <a:prstDash val="solid"/>
                      <a:round/>
                      <a:headEnd type="none" w="med" len="med"/>
                      <a:tailEnd type="none" w="med" len="med"/>
                    </a:lnL>
                    <a:lnR w="9525" cap="flat" cmpd="sng" algn="ctr">
                      <a:solidFill>
                        <a:srgbClr val="5086DF"/>
                      </a:solidFill>
                      <a:prstDash val="solid"/>
                      <a:round/>
                      <a:headEnd type="none" w="med" len="med"/>
                      <a:tailEnd type="none" w="med" len="med"/>
                    </a:lnR>
                    <a:lnT w="9525" cap="flat" cmpd="sng" algn="ctr">
                      <a:solidFill>
                        <a:srgbClr val="5086D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100" b="1" dirty="0">
                          <a:solidFill>
                            <a:srgbClr val="000000"/>
                          </a:solidFill>
                          <a:latin typeface="times new roman"/>
                        </a:rPr>
                        <a:t>Type Conversion</a:t>
                      </a:r>
                    </a:p>
                  </a:txBody>
                  <a:tcPr marL="56924" marR="56924" marT="56924" marB="56924">
                    <a:lnL w="9525" cap="flat" cmpd="sng" algn="ctr">
                      <a:solidFill>
                        <a:srgbClr val="5086DF"/>
                      </a:solidFill>
                      <a:prstDash val="solid"/>
                      <a:round/>
                      <a:headEnd type="none" w="med" len="med"/>
                      <a:tailEnd type="none" w="med" len="med"/>
                    </a:lnL>
                    <a:lnR w="9525" cap="flat" cmpd="sng" algn="ctr">
                      <a:solidFill>
                        <a:srgbClr val="5086DF"/>
                      </a:solidFill>
                      <a:prstDash val="solid"/>
                      <a:round/>
                      <a:headEnd type="none" w="med" len="med"/>
                      <a:tailEnd type="none" w="med" len="med"/>
                    </a:lnR>
                    <a:lnT w="9525" cap="flat" cmpd="sng" algn="ctr">
                      <a:solidFill>
                        <a:srgbClr val="5086D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758989">
                <a:tc>
                  <a:txBody>
                    <a:bodyPr/>
                    <a:lstStyle/>
                    <a:p>
                      <a:pPr algn="l" fontAlgn="t"/>
                      <a:r>
                        <a:rPr lang="en-US" sz="1600" dirty="0">
                          <a:solidFill>
                            <a:srgbClr val="000000"/>
                          </a:solidFill>
                          <a:latin typeface="Times New Roman" pitchFamily="18" charset="0"/>
                          <a:cs typeface="Times New Roman" pitchFamily="18" charset="0"/>
                        </a:rPr>
                        <a:t>1</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600" dirty="0">
                          <a:solidFill>
                            <a:srgbClr val="000000"/>
                          </a:solidFill>
                          <a:latin typeface="Times New Roman" pitchFamily="18" charset="0"/>
                          <a:cs typeface="Times New Roman" pitchFamily="18" charset="0"/>
                        </a:rPr>
                        <a:t>Type casting is a mechanism in which one data type is converted to another data type using a casting () operator by a programmer.</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600">
                          <a:solidFill>
                            <a:srgbClr val="000000"/>
                          </a:solidFill>
                          <a:latin typeface="Times New Roman" pitchFamily="18" charset="0"/>
                          <a:cs typeface="Times New Roman" pitchFamily="18" charset="0"/>
                        </a:rPr>
                        <a:t>Type conversion allows a compiler to convert one data type to another data type at the compile time of a program or code.</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2371">
                <a:tc>
                  <a:txBody>
                    <a:bodyPr/>
                    <a:lstStyle/>
                    <a:p>
                      <a:pPr algn="l" fontAlgn="t"/>
                      <a:r>
                        <a:rPr lang="en-US" sz="1600">
                          <a:solidFill>
                            <a:srgbClr val="000000"/>
                          </a:solidFill>
                          <a:latin typeface="Times New Roman" pitchFamily="18" charset="0"/>
                          <a:cs typeface="Times New Roman" pitchFamily="18" charset="0"/>
                        </a:rPr>
                        <a:t>2</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600" dirty="0">
                          <a:solidFill>
                            <a:srgbClr val="000000"/>
                          </a:solidFill>
                          <a:latin typeface="Times New Roman" pitchFamily="18" charset="0"/>
                          <a:cs typeface="Times New Roman" pitchFamily="18" charset="0"/>
                        </a:rPr>
                        <a:t>It can be used both compatible data type and incompatible data type.</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600">
                          <a:solidFill>
                            <a:srgbClr val="000000"/>
                          </a:solidFill>
                          <a:latin typeface="Times New Roman" pitchFamily="18" charset="0"/>
                          <a:cs typeface="Times New Roman" pitchFamily="18" charset="0"/>
                        </a:rPr>
                        <a:t>Type conversion is only used with compatible data types, and hence it does not require any casting operator.</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895607">
                <a:tc>
                  <a:txBody>
                    <a:bodyPr/>
                    <a:lstStyle/>
                    <a:p>
                      <a:pPr algn="l" fontAlgn="t"/>
                      <a:r>
                        <a:rPr lang="en-US" sz="1600" dirty="0">
                          <a:solidFill>
                            <a:srgbClr val="000000"/>
                          </a:solidFill>
                          <a:latin typeface="Times New Roman" pitchFamily="18" charset="0"/>
                          <a:cs typeface="Times New Roman" pitchFamily="18" charset="0"/>
                        </a:rPr>
                        <a:t>3</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600" dirty="0">
                          <a:solidFill>
                            <a:srgbClr val="000000"/>
                          </a:solidFill>
                          <a:latin typeface="Times New Roman" pitchFamily="18" charset="0"/>
                          <a:cs typeface="Times New Roman" pitchFamily="18" charset="0"/>
                        </a:rPr>
                        <a:t>It requires a programmer to manually casting one data into another type.</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600">
                          <a:solidFill>
                            <a:srgbClr val="000000"/>
                          </a:solidFill>
                          <a:latin typeface="Times New Roman" pitchFamily="18" charset="0"/>
                          <a:cs typeface="Times New Roman" pitchFamily="18" charset="0"/>
                        </a:rPr>
                        <a:t>It does not require any programmer intervention to convert one data type to another because the compiler automatically compiles it at the run time of a program.</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9135">
                <a:tc>
                  <a:txBody>
                    <a:bodyPr/>
                    <a:lstStyle/>
                    <a:p>
                      <a:pPr algn="l" fontAlgn="t"/>
                      <a:r>
                        <a:rPr lang="en-US" sz="1600">
                          <a:solidFill>
                            <a:srgbClr val="000000"/>
                          </a:solidFill>
                          <a:latin typeface="Times New Roman" pitchFamily="18" charset="0"/>
                          <a:cs typeface="Times New Roman" pitchFamily="18" charset="0"/>
                        </a:rPr>
                        <a:t>4</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600" dirty="0">
                          <a:solidFill>
                            <a:srgbClr val="000000"/>
                          </a:solidFill>
                          <a:latin typeface="Times New Roman" pitchFamily="18" charset="0"/>
                          <a:cs typeface="Times New Roman" pitchFamily="18" charset="0"/>
                        </a:rPr>
                        <a:t>It is used while designing a program by the programmer.</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600" dirty="0">
                          <a:solidFill>
                            <a:srgbClr val="000000"/>
                          </a:solidFill>
                          <a:latin typeface="Times New Roman" pitchFamily="18" charset="0"/>
                          <a:cs typeface="Times New Roman" pitchFamily="18" charset="0"/>
                        </a:rPr>
                        <a:t>It is used or take place at the compile time of a program.</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622371">
                <a:tc>
                  <a:txBody>
                    <a:bodyPr/>
                    <a:lstStyle/>
                    <a:p>
                      <a:pPr algn="l" fontAlgn="t"/>
                      <a:r>
                        <a:rPr lang="en-US" sz="1600">
                          <a:solidFill>
                            <a:srgbClr val="000000"/>
                          </a:solidFill>
                          <a:latin typeface="Times New Roman" pitchFamily="18" charset="0"/>
                          <a:cs typeface="Times New Roman" pitchFamily="18" charset="0"/>
                        </a:rPr>
                        <a:t>5</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600" dirty="0">
                          <a:solidFill>
                            <a:srgbClr val="000000"/>
                          </a:solidFill>
                          <a:latin typeface="Times New Roman" pitchFamily="18" charset="0"/>
                          <a:cs typeface="Times New Roman" pitchFamily="18" charset="0"/>
                        </a:rPr>
                        <a:t>When casting one data type to another, the destination data type must be smaller than the source data.</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600">
                          <a:solidFill>
                            <a:srgbClr val="000000"/>
                          </a:solidFill>
                          <a:latin typeface="Times New Roman" pitchFamily="18" charset="0"/>
                          <a:cs typeface="Times New Roman" pitchFamily="18" charset="0"/>
                        </a:rPr>
                        <a:t>When converting one data type to another, the destination type should be greater than the source data type.</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2371">
                <a:tc>
                  <a:txBody>
                    <a:bodyPr/>
                    <a:lstStyle/>
                    <a:p>
                      <a:pPr algn="l" fontAlgn="t"/>
                      <a:r>
                        <a:rPr lang="en-US" sz="1600">
                          <a:solidFill>
                            <a:srgbClr val="000000"/>
                          </a:solidFill>
                          <a:latin typeface="Times New Roman" pitchFamily="18" charset="0"/>
                          <a:cs typeface="Times New Roman" pitchFamily="18" charset="0"/>
                        </a:rPr>
                        <a:t>6</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600">
                          <a:solidFill>
                            <a:srgbClr val="000000"/>
                          </a:solidFill>
                          <a:latin typeface="Times New Roman" pitchFamily="18" charset="0"/>
                          <a:cs typeface="Times New Roman" pitchFamily="18" charset="0"/>
                        </a:rPr>
                        <a:t>It is also known as narrowing conversion because one larger data type converts to a smaller data type.</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600" dirty="0">
                          <a:solidFill>
                            <a:srgbClr val="000000"/>
                          </a:solidFill>
                          <a:latin typeface="Times New Roman" pitchFamily="18" charset="0"/>
                          <a:cs typeface="Times New Roman" pitchFamily="18" charset="0"/>
                        </a:rPr>
                        <a:t>It is also known as widening conversion because one smaller data type converts to a larger data type.</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6"/>
                  </a:ext>
                </a:extLst>
              </a:tr>
              <a:tr h="349135">
                <a:tc>
                  <a:txBody>
                    <a:bodyPr/>
                    <a:lstStyle/>
                    <a:p>
                      <a:pPr algn="l" fontAlgn="t"/>
                      <a:r>
                        <a:rPr lang="en-US" sz="1600">
                          <a:solidFill>
                            <a:srgbClr val="000000"/>
                          </a:solidFill>
                          <a:latin typeface="Times New Roman" pitchFamily="18" charset="0"/>
                          <a:cs typeface="Times New Roman" pitchFamily="18" charset="0"/>
                        </a:rPr>
                        <a:t>7</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600">
                          <a:solidFill>
                            <a:srgbClr val="000000"/>
                          </a:solidFill>
                          <a:latin typeface="Times New Roman" pitchFamily="18" charset="0"/>
                          <a:cs typeface="Times New Roman" pitchFamily="18" charset="0"/>
                        </a:rPr>
                        <a:t>It is more reliable and efficient.</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600" dirty="0">
                          <a:solidFill>
                            <a:srgbClr val="000000"/>
                          </a:solidFill>
                          <a:latin typeface="Times New Roman" pitchFamily="18" charset="0"/>
                          <a:cs typeface="Times New Roman" pitchFamily="18" charset="0"/>
                        </a:rPr>
                        <a:t>It is less efficient and less reliable.</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22371">
                <a:tc>
                  <a:txBody>
                    <a:bodyPr/>
                    <a:lstStyle/>
                    <a:p>
                      <a:pPr algn="l" fontAlgn="t"/>
                      <a:r>
                        <a:rPr lang="en-US" sz="1600">
                          <a:solidFill>
                            <a:srgbClr val="000000"/>
                          </a:solidFill>
                          <a:latin typeface="Times New Roman" pitchFamily="18" charset="0"/>
                          <a:cs typeface="Times New Roman" pitchFamily="18" charset="0"/>
                        </a:rPr>
                        <a:t>8</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600">
                          <a:solidFill>
                            <a:srgbClr val="000000"/>
                          </a:solidFill>
                          <a:latin typeface="Times New Roman" pitchFamily="18" charset="0"/>
                          <a:cs typeface="Times New Roman" pitchFamily="18" charset="0"/>
                        </a:rPr>
                        <a:t>There is a possibility of data or information being lost in type casting.</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600" dirty="0">
                          <a:solidFill>
                            <a:srgbClr val="000000"/>
                          </a:solidFill>
                          <a:latin typeface="Times New Roman" pitchFamily="18" charset="0"/>
                          <a:cs typeface="Times New Roman" pitchFamily="18" charset="0"/>
                        </a:rPr>
                        <a:t>In type conversion, data is unlikely to be lost when converting from a small to a large data type.</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8"/>
                  </a:ext>
                </a:extLst>
              </a:tr>
              <a:tr h="349135">
                <a:tc>
                  <a:txBody>
                    <a:bodyPr/>
                    <a:lstStyle/>
                    <a:p>
                      <a:pPr algn="l" fontAlgn="t"/>
                      <a:r>
                        <a:rPr lang="en-US" sz="1600">
                          <a:solidFill>
                            <a:srgbClr val="000000"/>
                          </a:solidFill>
                          <a:latin typeface="Times New Roman" pitchFamily="18" charset="0"/>
                          <a:cs typeface="Times New Roman" pitchFamily="18" charset="0"/>
                        </a:rPr>
                        <a:t>8</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600">
                          <a:solidFill>
                            <a:srgbClr val="000000"/>
                          </a:solidFill>
                          <a:latin typeface="Times New Roman" pitchFamily="18" charset="0"/>
                          <a:cs typeface="Times New Roman" pitchFamily="18" charset="0"/>
                        </a:rPr>
                        <a:t>float b = 3.0; int a = (int) b</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600" dirty="0" err="1">
                          <a:solidFill>
                            <a:srgbClr val="000000"/>
                          </a:solidFill>
                          <a:latin typeface="Times New Roman" pitchFamily="18" charset="0"/>
                          <a:cs typeface="Times New Roman" pitchFamily="18" charset="0"/>
                        </a:rPr>
                        <a:t>int</a:t>
                      </a:r>
                      <a:r>
                        <a:rPr lang="en-US" sz="1600" dirty="0">
                          <a:solidFill>
                            <a:srgbClr val="000000"/>
                          </a:solidFill>
                          <a:latin typeface="Times New Roman" pitchFamily="18" charset="0"/>
                          <a:cs typeface="Times New Roman" pitchFamily="18" charset="0"/>
                        </a:rPr>
                        <a:t> x = 5, y = 2, c; float q = 12.5, p; p = q/x;</a:t>
                      </a:r>
                    </a:p>
                  </a:txBody>
                  <a:tcPr marL="37949" marR="37949" marT="37949" marB="3794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121</a:t>
            </a:fld>
            <a:endParaRPr lang="en-US"/>
          </a:p>
        </p:txBody>
      </p:sp>
      <p:sp>
        <p:nvSpPr>
          <p:cNvPr id="4" name="Content Placeholder 3"/>
          <p:cNvSpPr>
            <a:spLocks noGrp="1"/>
          </p:cNvSpPr>
          <p:nvPr>
            <p:ph sz="quarter" idx="1"/>
          </p:nvPr>
        </p:nvSpPr>
        <p:spPr/>
        <p:txBody>
          <a:bodyPr/>
          <a:lstStyle/>
          <a:p>
            <a:pPr marL="302383" lvl="1">
              <a:spcBef>
                <a:spcPts val="661"/>
              </a:spcBef>
              <a:buClr>
                <a:schemeClr val="accent1"/>
              </a:buClr>
            </a:pPr>
            <a:endParaRPr lang="en-US" sz="1900" b="1" dirty="0">
              <a:solidFill>
                <a:srgbClr val="C00000"/>
              </a:solidFill>
            </a:endParaRPr>
          </a:p>
          <a:p>
            <a:pPr marL="302383" lvl="1">
              <a:spcBef>
                <a:spcPts val="661"/>
              </a:spcBef>
              <a:buClr>
                <a:schemeClr val="accent1"/>
              </a:buClr>
            </a:pPr>
            <a:endParaRPr lang="en-US" sz="1900" b="1" dirty="0">
              <a:solidFill>
                <a:srgbClr val="C00000"/>
              </a:solidFill>
            </a:endParaRPr>
          </a:p>
          <a:p>
            <a:pPr marL="302383" lvl="1">
              <a:spcBef>
                <a:spcPts val="661"/>
              </a:spcBef>
              <a:buClr>
                <a:schemeClr val="accent1"/>
              </a:buClr>
            </a:pPr>
            <a:endParaRPr lang="en-US" sz="1900" b="1" dirty="0">
              <a:solidFill>
                <a:srgbClr val="C00000"/>
              </a:solidFill>
            </a:endParaRPr>
          </a:p>
          <a:p>
            <a:pPr marL="302383" lvl="1">
              <a:lnSpc>
                <a:spcPct val="150000"/>
              </a:lnSpc>
              <a:spcBef>
                <a:spcPts val="661"/>
              </a:spcBef>
              <a:buClr>
                <a:schemeClr val="accent1"/>
              </a:buClr>
            </a:pPr>
            <a:endParaRPr lang="en-US" sz="2400" b="1" dirty="0">
              <a:solidFill>
                <a:srgbClr val="C00000"/>
              </a:solidFill>
            </a:endParaRPr>
          </a:p>
          <a:p>
            <a:pPr marL="302383" lvl="1">
              <a:lnSpc>
                <a:spcPct val="150000"/>
              </a:lnSpc>
              <a:spcBef>
                <a:spcPts val="661"/>
              </a:spcBef>
              <a:buClr>
                <a:schemeClr val="accent1"/>
              </a:buClr>
            </a:pPr>
            <a:r>
              <a:rPr lang="en-US" sz="2400" b="1" dirty="0">
                <a:solidFill>
                  <a:srgbClr val="C00000"/>
                </a:solidFill>
              </a:rPr>
              <a:t>Concepts of classes and objects: </a:t>
            </a:r>
            <a:r>
              <a:rPr lang="en-US" sz="2400" b="1" dirty="0">
                <a:solidFill>
                  <a:srgbClr val="008000"/>
                </a:solidFill>
              </a:rPr>
              <a:t>Basic Concepts of OOPs – Constructors - Static keyword - Final with data - Access control - This key word - Garbage collection - Nested classes and inner classes - String class.</a:t>
            </a:r>
          </a:p>
          <a:p>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Introduction of Object Oriented Programming</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122</a:t>
            </a:fld>
            <a:endParaRPr lang="en-US"/>
          </a:p>
        </p:txBody>
      </p:sp>
      <p:sp>
        <p:nvSpPr>
          <p:cNvPr id="4" name="Content Placeholder 3"/>
          <p:cNvSpPr>
            <a:spLocks noGrp="1"/>
          </p:cNvSpPr>
          <p:nvPr>
            <p:ph sz="quarter" idx="1"/>
          </p:nvPr>
        </p:nvSpPr>
        <p:spPr/>
        <p:txBody>
          <a:bodyPr/>
          <a:lstStyle/>
          <a:p>
            <a:pPr algn="just"/>
            <a:r>
              <a:rPr lang="en-US" dirty="0"/>
              <a:t>Object-Oriented Programming or OOPs refers to languages that use objects in programming. </a:t>
            </a:r>
          </a:p>
          <a:p>
            <a:pPr algn="just"/>
            <a:r>
              <a:rPr lang="en-US" dirty="0"/>
              <a:t>Object-oriented programming aims to implement real-world entities like inheritance, hiding, polymorphism, etc in programming. </a:t>
            </a:r>
          </a:p>
          <a:p>
            <a:pPr algn="just"/>
            <a:r>
              <a:rPr lang="en-US" dirty="0"/>
              <a:t>The main aim of OOP is to bind together the data and the functions that operate on them so that no other part of the code can access this data except that function.</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OOPs Concepts:</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123</a:t>
            </a:fld>
            <a:endParaRPr lang="en-US"/>
          </a:p>
        </p:txBody>
      </p:sp>
      <p:sp>
        <p:nvSpPr>
          <p:cNvPr id="4" name="Content Placeholder 3"/>
          <p:cNvSpPr>
            <a:spLocks noGrp="1"/>
          </p:cNvSpPr>
          <p:nvPr>
            <p:ph sz="quarter" idx="1"/>
          </p:nvPr>
        </p:nvSpPr>
        <p:spPr/>
        <p:txBody>
          <a:bodyPr/>
          <a:lstStyle/>
          <a:p>
            <a:pPr fontAlgn="base"/>
            <a:r>
              <a:rPr lang="en-US" dirty="0"/>
              <a:t>Class</a:t>
            </a:r>
          </a:p>
          <a:p>
            <a:pPr fontAlgn="base"/>
            <a:r>
              <a:rPr lang="en-US" dirty="0"/>
              <a:t>Objects</a:t>
            </a:r>
          </a:p>
          <a:p>
            <a:pPr fontAlgn="base"/>
            <a:r>
              <a:rPr lang="en-US" dirty="0"/>
              <a:t>Data Abstraction </a:t>
            </a:r>
          </a:p>
          <a:p>
            <a:pPr fontAlgn="base"/>
            <a:r>
              <a:rPr lang="en-US" dirty="0"/>
              <a:t>Encapsulation</a:t>
            </a:r>
          </a:p>
          <a:p>
            <a:pPr fontAlgn="base"/>
            <a:r>
              <a:rPr lang="en-US" dirty="0"/>
              <a:t>Inheritance</a:t>
            </a:r>
          </a:p>
          <a:p>
            <a:pPr fontAlgn="base"/>
            <a:r>
              <a:rPr lang="en-US" dirty="0"/>
              <a:t>Polymorphism</a:t>
            </a:r>
          </a:p>
          <a:p>
            <a:pPr fontAlgn="base"/>
            <a:r>
              <a:rPr lang="en-US" dirty="0"/>
              <a:t>Dynamic Binding</a:t>
            </a:r>
          </a:p>
          <a:p>
            <a:pPr fontAlgn="base"/>
            <a:r>
              <a:rPr lang="en-US" dirty="0"/>
              <a:t>Message Passing</a:t>
            </a:r>
          </a:p>
          <a:p>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1. Class:</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124</a:t>
            </a:fld>
            <a:endParaRPr lang="en-US"/>
          </a:p>
        </p:txBody>
      </p:sp>
      <p:sp>
        <p:nvSpPr>
          <p:cNvPr id="4" name="Content Placeholder 3"/>
          <p:cNvSpPr>
            <a:spLocks noGrp="1"/>
          </p:cNvSpPr>
          <p:nvPr>
            <p:ph sz="quarter" idx="1"/>
          </p:nvPr>
        </p:nvSpPr>
        <p:spPr/>
        <p:txBody>
          <a:bodyPr>
            <a:normAutofit lnSpcReduction="10000"/>
          </a:bodyPr>
          <a:lstStyle/>
          <a:p>
            <a:pPr algn="just" fontAlgn="base"/>
            <a:r>
              <a:rPr lang="en-US" sz="2600" dirty="0"/>
              <a:t>A class is a user-defined data type. It consists of data members and member functions, which can be accessed and used by creating an instance of that class. </a:t>
            </a:r>
          </a:p>
          <a:p>
            <a:pPr algn="just" fontAlgn="base"/>
            <a:r>
              <a:rPr lang="en-US" sz="2600" dirty="0"/>
              <a:t>It represents the set of properties or methods that are common to all objects of one type. A class is like a blueprint for an object.  </a:t>
            </a:r>
          </a:p>
          <a:p>
            <a:pPr algn="just" fontAlgn="base"/>
            <a:r>
              <a:rPr lang="en-US" sz="2600" b="1" i="1" dirty="0"/>
              <a:t>For Example: </a:t>
            </a:r>
          </a:p>
          <a:p>
            <a:pPr algn="just" fontAlgn="base"/>
            <a:r>
              <a:rPr lang="en-US" sz="2600" dirty="0"/>
              <a:t>Consider the Class of </a:t>
            </a:r>
            <a:r>
              <a:rPr lang="en-US" sz="2600" b="1" dirty="0"/>
              <a:t>Cars. </a:t>
            </a:r>
          </a:p>
          <a:p>
            <a:pPr algn="just" fontAlgn="base"/>
            <a:r>
              <a:rPr lang="en-US" sz="2600" dirty="0"/>
              <a:t>There may be many cars with different names and brands but all of them will share some common properties like all of them will have 4 wheels, Speed Limit, Mileage range, etc. So here, Car is the class, and wheels, speed limits, mileage are their properties.</a:t>
            </a:r>
          </a:p>
          <a:p>
            <a:pPr>
              <a:buNone/>
            </a:pPr>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2. Object: </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125</a:t>
            </a:fld>
            <a:endParaRPr lang="en-US"/>
          </a:p>
        </p:txBody>
      </p:sp>
      <p:sp>
        <p:nvSpPr>
          <p:cNvPr id="4" name="Content Placeholder 3"/>
          <p:cNvSpPr>
            <a:spLocks noGrp="1"/>
          </p:cNvSpPr>
          <p:nvPr>
            <p:ph sz="quarter" idx="1"/>
          </p:nvPr>
        </p:nvSpPr>
        <p:spPr/>
        <p:txBody>
          <a:bodyPr>
            <a:normAutofit/>
          </a:bodyPr>
          <a:lstStyle/>
          <a:p>
            <a:pPr algn="just" fontAlgn="base"/>
            <a:r>
              <a:rPr lang="en-US" sz="2000" dirty="0"/>
              <a:t>It is a basic unit of Object-Oriented Programming and represents the real-life entities. </a:t>
            </a:r>
          </a:p>
          <a:p>
            <a:pPr algn="just" fontAlgn="base"/>
            <a:r>
              <a:rPr lang="en-US" sz="2000" dirty="0"/>
              <a:t>An Object is an instance of a Class. When a class is defined, no memory is allocated but when it is instantiated (i.e. an object is created) memory is allocated. </a:t>
            </a:r>
          </a:p>
          <a:p>
            <a:pPr algn="just" fontAlgn="base"/>
            <a:r>
              <a:rPr lang="en-US" sz="2000" dirty="0"/>
              <a:t>An object has an identity, state, and behavior. Each object contains data and code to manipulate the data. Objects can interact without having to know details of each other’s data or code, it is sufficient to know the type of message accepted and type of response returned by the objects. </a:t>
            </a:r>
          </a:p>
          <a:p>
            <a:pPr algn="just" fontAlgn="base"/>
            <a:r>
              <a:rPr lang="en-US" sz="2000" dirty="0"/>
              <a:t>For example “Dog” is a real-life Object, which has some characteristics like color, Breed, Bark, Sleep, and Eats.</a:t>
            </a:r>
          </a:p>
          <a:p>
            <a:endParaRPr lang="en-US" dirty="0"/>
          </a:p>
        </p:txBody>
      </p:sp>
      <p:pic>
        <p:nvPicPr>
          <p:cNvPr id="44034" name="Picture 2" descr="Object in OOPs"/>
          <p:cNvPicPr>
            <a:picLocks noChangeAspect="1" noChangeArrowheads="1"/>
          </p:cNvPicPr>
          <p:nvPr/>
        </p:nvPicPr>
        <p:blipFill>
          <a:blip r:embed="rId2"/>
          <a:srcRect/>
          <a:stretch>
            <a:fillRect/>
          </a:stretch>
        </p:blipFill>
        <p:spPr bwMode="auto">
          <a:xfrm>
            <a:off x="1562344" y="4861326"/>
            <a:ext cx="6286500" cy="2051940"/>
          </a:xfrm>
          <a:prstGeom prst="rect">
            <a:avLst/>
          </a:prstGeom>
          <a:noFill/>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3. Data Abstraction &amp; Encapsulation: </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126</a:t>
            </a:fld>
            <a:endParaRPr lang="en-US"/>
          </a:p>
        </p:txBody>
      </p:sp>
      <p:sp>
        <p:nvSpPr>
          <p:cNvPr id="4" name="Content Placeholder 3"/>
          <p:cNvSpPr>
            <a:spLocks noGrp="1"/>
          </p:cNvSpPr>
          <p:nvPr>
            <p:ph sz="quarter" idx="1"/>
          </p:nvPr>
        </p:nvSpPr>
        <p:spPr>
          <a:xfrm>
            <a:off x="504031" y="1343941"/>
            <a:ext cx="9072563" cy="5669807"/>
          </a:xfrm>
        </p:spPr>
        <p:txBody>
          <a:bodyPr>
            <a:normAutofit/>
          </a:bodyPr>
          <a:lstStyle/>
          <a:p>
            <a:pPr algn="just" fontAlgn="base"/>
            <a:r>
              <a:rPr lang="en-US" sz="1800" b="1" dirty="0">
                <a:solidFill>
                  <a:srgbClr val="C00000"/>
                </a:solidFill>
              </a:rPr>
              <a:t>Data abstraction </a:t>
            </a:r>
            <a:r>
              <a:rPr lang="en-US" sz="1800" dirty="0"/>
              <a:t>is one of the most essential and important features of object-oriented programming. </a:t>
            </a:r>
            <a:r>
              <a:rPr lang="en-US" sz="1800" b="1" dirty="0"/>
              <a:t>Data abstraction refers to providing only essential information about the data to the outside world, hiding the background details or implementation. </a:t>
            </a:r>
          </a:p>
          <a:p>
            <a:pPr algn="just" fontAlgn="base"/>
            <a:r>
              <a:rPr lang="en-US" sz="1800" dirty="0"/>
              <a:t>Consider a real-life example of a man driving a car. The man only knows that pressing the accelerators will increase the speed of the car or applying brakes will stop the car, but he does not know about how on pressing the accelerator the speed is increasing, he does not know about the inner mechanism of the car or the implementation of the accelerator, brakes, etc in the car. This is what abstraction is.</a:t>
            </a:r>
          </a:p>
          <a:p>
            <a:pPr algn="just" fontAlgn="base"/>
            <a:r>
              <a:rPr lang="en-US" sz="1800" b="1" dirty="0">
                <a:solidFill>
                  <a:srgbClr val="C00000"/>
                </a:solidFill>
              </a:rPr>
              <a:t>Encapsulation</a:t>
            </a:r>
            <a:r>
              <a:rPr lang="en-US" sz="1800" dirty="0"/>
              <a:t> </a:t>
            </a:r>
            <a:r>
              <a:rPr lang="en-US" sz="1800" b="1" dirty="0"/>
              <a:t>is defined as the wrapping up of data under a single unit. It is the mechanism that binds together code and the data it manipulates. </a:t>
            </a:r>
          </a:p>
          <a:p>
            <a:pPr algn="just" fontAlgn="base"/>
            <a:r>
              <a:rPr lang="en-US" sz="1800" dirty="0"/>
              <a:t>In Encapsulation, the variables or data of a class are hidden from any other class and can be accessed only through any member function of their class in which they are declared. </a:t>
            </a:r>
          </a:p>
          <a:p>
            <a:pPr algn="just" fontAlgn="base"/>
            <a:r>
              <a:rPr lang="en-US" sz="1800" dirty="0"/>
              <a:t>As in encapsulation, the data in a class is hidden from other classes, so it is also known as </a:t>
            </a:r>
            <a:r>
              <a:rPr lang="en-US" sz="1800" b="1" dirty="0"/>
              <a:t>data-hiding</a:t>
            </a:r>
            <a:r>
              <a:rPr lang="en-US" sz="1800" dirty="0"/>
              <a:t>.</a:t>
            </a:r>
          </a:p>
          <a:p>
            <a:pPr>
              <a:buNone/>
            </a:pPr>
            <a:endParaRPr lang="en-US" dirty="0"/>
          </a:p>
        </p:txBody>
      </p:sp>
      <p:pic>
        <p:nvPicPr>
          <p:cNvPr id="51202" name="Picture 2" descr="Encapsulation in Object Oriented Programming"/>
          <p:cNvPicPr>
            <a:picLocks noChangeAspect="1" noChangeArrowheads="1"/>
          </p:cNvPicPr>
          <p:nvPr/>
        </p:nvPicPr>
        <p:blipFill>
          <a:blip r:embed="rId2" cstate="print"/>
          <a:srcRect/>
          <a:stretch>
            <a:fillRect/>
          </a:stretch>
        </p:blipFill>
        <p:spPr bwMode="auto">
          <a:xfrm>
            <a:off x="4279669" y="5777801"/>
            <a:ext cx="2687852" cy="1245141"/>
          </a:xfrm>
          <a:prstGeom prst="rect">
            <a:avLst/>
          </a:prstGeom>
          <a:noFill/>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4. Inheritance: </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127</a:t>
            </a:fld>
            <a:endParaRPr lang="en-US"/>
          </a:p>
        </p:txBody>
      </p:sp>
      <p:sp>
        <p:nvSpPr>
          <p:cNvPr id="4" name="Content Placeholder 3"/>
          <p:cNvSpPr>
            <a:spLocks noGrp="1"/>
          </p:cNvSpPr>
          <p:nvPr>
            <p:ph sz="quarter" idx="1"/>
          </p:nvPr>
        </p:nvSpPr>
        <p:spPr/>
        <p:txBody>
          <a:bodyPr/>
          <a:lstStyle/>
          <a:p>
            <a:pPr algn="just" fontAlgn="base"/>
            <a:r>
              <a:rPr lang="en-US" sz="2000" dirty="0"/>
              <a:t>Inheritance is an important pillar of OOP(Object-Oriented Programming). The capability of a class to derive properties and characteristics from another class is called Inheritance. </a:t>
            </a:r>
          </a:p>
          <a:p>
            <a:pPr algn="just" fontAlgn="base"/>
            <a:r>
              <a:rPr lang="en-US" sz="2000" dirty="0"/>
              <a:t>When we write a class, we inherit properties from other classes. So when we create a class, we do not need to write all the properties and functions again and again, as these can be inherited from another class that possesses it. </a:t>
            </a:r>
          </a:p>
          <a:p>
            <a:pPr algn="just" fontAlgn="base"/>
            <a:r>
              <a:rPr lang="en-US" sz="2000" dirty="0"/>
              <a:t>Inheritance allows the user to reuse the code whenever possible and </a:t>
            </a:r>
            <a:r>
              <a:rPr lang="en-US" sz="2000" dirty="0">
                <a:solidFill>
                  <a:srgbClr val="C00000"/>
                </a:solidFill>
              </a:rPr>
              <a:t>reduce its redundancy.</a:t>
            </a:r>
          </a:p>
          <a:p>
            <a:endParaRPr lang="en-US" dirty="0"/>
          </a:p>
        </p:txBody>
      </p:sp>
      <p:pic>
        <p:nvPicPr>
          <p:cNvPr id="52226" name="Picture 2" descr="Interitance in Object Oriented Programming"/>
          <p:cNvPicPr>
            <a:picLocks noChangeAspect="1" noChangeArrowheads="1"/>
          </p:cNvPicPr>
          <p:nvPr/>
        </p:nvPicPr>
        <p:blipFill>
          <a:blip r:embed="rId2"/>
          <a:srcRect/>
          <a:stretch>
            <a:fillRect/>
          </a:stretch>
        </p:blipFill>
        <p:spPr bwMode="auto">
          <a:xfrm>
            <a:off x="2542232" y="3768132"/>
            <a:ext cx="5559361" cy="3205424"/>
          </a:xfrm>
          <a:prstGeom prst="rect">
            <a:avLst/>
          </a:prstGeom>
          <a:noFill/>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5. Polymorphism: </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128</a:t>
            </a:fld>
            <a:endParaRPr lang="en-US"/>
          </a:p>
        </p:txBody>
      </p:sp>
      <p:sp>
        <p:nvSpPr>
          <p:cNvPr id="4" name="Content Placeholder 3"/>
          <p:cNvSpPr>
            <a:spLocks noGrp="1"/>
          </p:cNvSpPr>
          <p:nvPr>
            <p:ph sz="quarter" idx="1"/>
          </p:nvPr>
        </p:nvSpPr>
        <p:spPr/>
        <p:txBody>
          <a:bodyPr/>
          <a:lstStyle/>
          <a:p>
            <a:pPr algn="just" fontAlgn="base"/>
            <a:r>
              <a:rPr lang="en-US" sz="2400" dirty="0"/>
              <a:t>The word polymorphism means </a:t>
            </a:r>
            <a:r>
              <a:rPr lang="en-US" sz="2400" b="1" dirty="0">
                <a:solidFill>
                  <a:srgbClr val="C00000"/>
                </a:solidFill>
              </a:rPr>
              <a:t>having many forms</a:t>
            </a:r>
            <a:r>
              <a:rPr lang="en-US" sz="2400" dirty="0"/>
              <a:t>. In simple words, we can define polymorphism as the ability of a message to be displayed in more than one form. </a:t>
            </a:r>
          </a:p>
          <a:p>
            <a:pPr algn="just" fontAlgn="base"/>
            <a:r>
              <a:rPr lang="en-US" sz="2400" dirty="0"/>
              <a:t>For example, A person at the same time can have different characteristics. Like a man at the same time is a father, a husband, an employee. So the same person posses different behavior in different situations. This is called polymorphism.</a:t>
            </a:r>
          </a:p>
          <a:p>
            <a:endParaRPr lang="en-US" dirty="0"/>
          </a:p>
        </p:txBody>
      </p:sp>
      <p:pic>
        <p:nvPicPr>
          <p:cNvPr id="53250" name="Picture 2" descr="Polymorphism in OOPs"/>
          <p:cNvPicPr>
            <a:picLocks noChangeAspect="1" noChangeArrowheads="1"/>
          </p:cNvPicPr>
          <p:nvPr/>
        </p:nvPicPr>
        <p:blipFill>
          <a:blip r:embed="rId2"/>
          <a:srcRect/>
          <a:stretch>
            <a:fillRect/>
          </a:stretch>
        </p:blipFill>
        <p:spPr bwMode="auto">
          <a:xfrm>
            <a:off x="2597081" y="4190161"/>
            <a:ext cx="4356020" cy="2682911"/>
          </a:xfrm>
          <a:prstGeom prst="rect">
            <a:avLst/>
          </a:prstGeom>
          <a:noFill/>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6. Dynamic Binding:</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129</a:t>
            </a:fld>
            <a:endParaRPr lang="en-US"/>
          </a:p>
        </p:txBody>
      </p:sp>
      <p:sp>
        <p:nvSpPr>
          <p:cNvPr id="4" name="Content Placeholder 3"/>
          <p:cNvSpPr>
            <a:spLocks noGrp="1"/>
          </p:cNvSpPr>
          <p:nvPr>
            <p:ph sz="quarter" idx="1"/>
          </p:nvPr>
        </p:nvSpPr>
        <p:spPr/>
        <p:txBody>
          <a:bodyPr>
            <a:normAutofit/>
          </a:bodyPr>
          <a:lstStyle/>
          <a:p>
            <a:pPr algn="just" fontAlgn="base"/>
            <a:r>
              <a:rPr lang="en-US" sz="2400" dirty="0"/>
              <a:t>In dynamic binding, the code to be executed in response to the function call is decided at runtime. </a:t>
            </a:r>
          </a:p>
          <a:p>
            <a:pPr algn="just" fontAlgn="base"/>
            <a:r>
              <a:rPr lang="en-US" sz="2400" dirty="0"/>
              <a:t>Dynamic binding means that the code associated with a given procedure call is not known until the time of the call at run time. </a:t>
            </a:r>
          </a:p>
          <a:p>
            <a:pPr algn="just" fontAlgn="base"/>
            <a:r>
              <a:rPr lang="en-US" sz="2400" dirty="0"/>
              <a:t>Dynamic Method Binding One of the main advantages of inheritance is that some derived class D has all the members of its base class B. Once D is not hiding any of the public members of B, then an object of D can represent B in any context where a B could be used. This feature is known as subtype polymorphism.</a:t>
            </a:r>
          </a:p>
          <a:p>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7. Message Passing:</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130</a:t>
            </a:fld>
            <a:endParaRPr lang="en-US"/>
          </a:p>
        </p:txBody>
      </p:sp>
      <p:sp>
        <p:nvSpPr>
          <p:cNvPr id="4" name="Content Placeholder 3"/>
          <p:cNvSpPr>
            <a:spLocks noGrp="1"/>
          </p:cNvSpPr>
          <p:nvPr>
            <p:ph sz="quarter" idx="1"/>
          </p:nvPr>
        </p:nvSpPr>
        <p:spPr/>
        <p:txBody>
          <a:bodyPr>
            <a:normAutofit/>
          </a:bodyPr>
          <a:lstStyle/>
          <a:p>
            <a:pPr algn="just" fontAlgn="base"/>
            <a:r>
              <a:rPr lang="en-US" sz="2400" dirty="0"/>
              <a:t>It is a form of communication used in object-oriented programming as well as parallel programming. Objects communicate with one another by sending and receiving information to each other. </a:t>
            </a:r>
          </a:p>
          <a:p>
            <a:pPr algn="just" fontAlgn="base"/>
            <a:r>
              <a:rPr lang="en-US" sz="2400" dirty="0"/>
              <a:t>A message for an object is a request for execution of a procedure and therefore will invoke a function in the receiving object that generates the desired results. </a:t>
            </a:r>
          </a:p>
          <a:p>
            <a:pPr algn="just" fontAlgn="base"/>
            <a:r>
              <a:rPr lang="en-US" sz="2400" dirty="0"/>
              <a:t>Message passing involves specifying the name of the object, the name of the function, and the information to be sent.</a:t>
            </a:r>
          </a:p>
          <a:p>
            <a:pPr algn="just"/>
            <a:endParaRPr lang="en-US" sz="24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Concepts of Class and Object</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131</a:t>
            </a:fld>
            <a:endParaRPr lang="en-US"/>
          </a:p>
        </p:txBody>
      </p:sp>
      <p:sp>
        <p:nvSpPr>
          <p:cNvPr id="4" name="Content Placeholder 3"/>
          <p:cNvSpPr>
            <a:spLocks noGrp="1"/>
          </p:cNvSpPr>
          <p:nvPr>
            <p:ph sz="quarter" idx="1"/>
          </p:nvPr>
        </p:nvSpPr>
        <p:spPr/>
        <p:txBody>
          <a:bodyPr/>
          <a:lstStyle/>
          <a:p>
            <a:pPr algn="just"/>
            <a:r>
              <a:rPr lang="en-US" sz="2000" b="1" dirty="0">
                <a:solidFill>
                  <a:srgbClr val="C00000"/>
                </a:solidFill>
              </a:rPr>
              <a:t>What is an object in Java</a:t>
            </a:r>
          </a:p>
          <a:p>
            <a:pPr algn="just"/>
            <a:r>
              <a:rPr lang="en-US" sz="2000" dirty="0"/>
              <a:t>An entity that has state and behavior is known as an object e.g., chair, bike, marker, pen, table, car, etc. It can be physical or logical (tangible and intangible). The example of an intangible object is the banking system.</a:t>
            </a:r>
          </a:p>
          <a:p>
            <a:pPr algn="just"/>
            <a:endParaRPr lang="en-US" sz="2000" dirty="0"/>
          </a:p>
          <a:p>
            <a:endParaRPr lang="en-US" dirty="0"/>
          </a:p>
        </p:txBody>
      </p:sp>
      <p:pic>
        <p:nvPicPr>
          <p:cNvPr id="156674" name="Picture 2" descr="object in Java"/>
          <p:cNvPicPr>
            <a:picLocks noChangeAspect="1" noChangeArrowheads="1"/>
          </p:cNvPicPr>
          <p:nvPr/>
        </p:nvPicPr>
        <p:blipFill>
          <a:blip r:embed="rId2"/>
          <a:srcRect/>
          <a:stretch>
            <a:fillRect/>
          </a:stretch>
        </p:blipFill>
        <p:spPr bwMode="auto">
          <a:xfrm>
            <a:off x="3180129" y="2834054"/>
            <a:ext cx="3867150" cy="4219575"/>
          </a:xfrm>
          <a:prstGeom prst="rect">
            <a:avLst/>
          </a:prstGeom>
          <a:noFill/>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C00000"/>
                </a:solidFill>
              </a:rPr>
              <a:t>An object has three characteristics:</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132</a:t>
            </a:fld>
            <a:endParaRPr lang="en-US"/>
          </a:p>
        </p:txBody>
      </p:sp>
      <p:sp>
        <p:nvSpPr>
          <p:cNvPr id="4" name="Content Placeholder 3"/>
          <p:cNvSpPr>
            <a:spLocks noGrp="1"/>
          </p:cNvSpPr>
          <p:nvPr>
            <p:ph sz="quarter" idx="1"/>
          </p:nvPr>
        </p:nvSpPr>
        <p:spPr/>
        <p:txBody>
          <a:bodyPr/>
          <a:lstStyle/>
          <a:p>
            <a:pPr algn="just"/>
            <a:r>
              <a:rPr lang="en-US" sz="2000" b="1" dirty="0"/>
              <a:t>State:</a:t>
            </a:r>
            <a:r>
              <a:rPr lang="en-US" sz="2000" dirty="0"/>
              <a:t> represents the data (value) of an object.</a:t>
            </a:r>
          </a:p>
          <a:p>
            <a:pPr algn="just"/>
            <a:r>
              <a:rPr lang="en-US" sz="2000" b="1" dirty="0"/>
              <a:t>Behavior:</a:t>
            </a:r>
            <a:r>
              <a:rPr lang="en-US" sz="2000" dirty="0"/>
              <a:t> represents the behavior (functionality) of an object such as deposit, withdraw, etc.</a:t>
            </a:r>
          </a:p>
          <a:p>
            <a:pPr algn="just"/>
            <a:r>
              <a:rPr lang="en-US" sz="2000" b="1" dirty="0"/>
              <a:t>Identity:</a:t>
            </a:r>
            <a:r>
              <a:rPr lang="en-US" sz="2000" dirty="0"/>
              <a:t> An object identity is typically implemented via a unique ID. The value of the ID is not visible to the external user. However, it is used internally by the JVM to identify each object uniquely.</a:t>
            </a:r>
          </a:p>
          <a:p>
            <a:endParaRPr lang="en-US" dirty="0"/>
          </a:p>
        </p:txBody>
      </p:sp>
      <p:pic>
        <p:nvPicPr>
          <p:cNvPr id="167938" name="Picture 2" descr="Characteristics of Object in Java"/>
          <p:cNvPicPr>
            <a:picLocks noChangeAspect="1" noChangeArrowheads="1"/>
          </p:cNvPicPr>
          <p:nvPr/>
        </p:nvPicPr>
        <p:blipFill>
          <a:blip r:embed="rId2"/>
          <a:srcRect/>
          <a:stretch>
            <a:fillRect/>
          </a:stretch>
        </p:blipFill>
        <p:spPr bwMode="auto">
          <a:xfrm>
            <a:off x="4783015" y="3245452"/>
            <a:ext cx="3550349" cy="3638557"/>
          </a:xfrm>
          <a:prstGeom prst="rect">
            <a:avLst/>
          </a:prstGeom>
          <a:noFill/>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133</a:t>
            </a:fld>
            <a:endParaRPr lang="en-US"/>
          </a:p>
        </p:txBody>
      </p:sp>
      <p:sp>
        <p:nvSpPr>
          <p:cNvPr id="4" name="Content Placeholder 3"/>
          <p:cNvSpPr>
            <a:spLocks noGrp="1"/>
          </p:cNvSpPr>
          <p:nvPr>
            <p:ph sz="quarter" idx="1"/>
          </p:nvPr>
        </p:nvSpPr>
        <p:spPr/>
        <p:txBody>
          <a:bodyPr>
            <a:normAutofit/>
          </a:bodyPr>
          <a:lstStyle/>
          <a:p>
            <a:pPr algn="just"/>
            <a:r>
              <a:rPr lang="en-US" sz="2000" b="1" dirty="0"/>
              <a:t>For Example</a:t>
            </a:r>
            <a:r>
              <a:rPr lang="en-US" sz="2000" dirty="0"/>
              <a:t>, Pen is an object. Its name is Reynolds; color is white, known as its state. It is used to write, so writing is its behavior.</a:t>
            </a:r>
          </a:p>
          <a:p>
            <a:pPr algn="just"/>
            <a:r>
              <a:rPr lang="en-US" sz="2000" b="1" dirty="0"/>
              <a:t>An object is an instance of a class.</a:t>
            </a:r>
            <a:r>
              <a:rPr lang="en-US" sz="2000" dirty="0"/>
              <a:t> A class is a template or blueprint from which objects are created. So, an object is the instance(result) of a class.</a:t>
            </a:r>
          </a:p>
          <a:p>
            <a:pPr algn="just"/>
            <a:r>
              <a:rPr lang="en-US" sz="2000" b="1" dirty="0"/>
              <a:t>Object Definitions:</a:t>
            </a:r>
            <a:endParaRPr lang="en-US" sz="2000" dirty="0"/>
          </a:p>
          <a:p>
            <a:pPr algn="just"/>
            <a:r>
              <a:rPr lang="en-US" sz="2000" dirty="0"/>
              <a:t>An object is </a:t>
            </a:r>
            <a:r>
              <a:rPr lang="en-US" sz="2000" i="1" dirty="0"/>
              <a:t>a real-world entity</a:t>
            </a:r>
            <a:r>
              <a:rPr lang="en-US" sz="2000" dirty="0"/>
              <a:t>.</a:t>
            </a:r>
          </a:p>
          <a:p>
            <a:pPr algn="just"/>
            <a:r>
              <a:rPr lang="en-US" sz="2000" dirty="0"/>
              <a:t>An object is </a:t>
            </a:r>
            <a:r>
              <a:rPr lang="en-US" sz="2000" i="1" dirty="0"/>
              <a:t>a runtime entity</a:t>
            </a:r>
            <a:r>
              <a:rPr lang="en-US" sz="2000" dirty="0"/>
              <a:t>.</a:t>
            </a:r>
          </a:p>
          <a:p>
            <a:pPr algn="just"/>
            <a:r>
              <a:rPr lang="en-US" sz="2000" dirty="0"/>
              <a:t>The object is </a:t>
            </a:r>
            <a:r>
              <a:rPr lang="en-US" sz="2000" i="1" dirty="0"/>
              <a:t>an entity which has state and behavior</a:t>
            </a:r>
            <a:r>
              <a:rPr lang="en-US" sz="2000" dirty="0"/>
              <a:t>.</a:t>
            </a:r>
          </a:p>
          <a:p>
            <a:pPr algn="just"/>
            <a:r>
              <a:rPr lang="en-US" sz="2000" dirty="0"/>
              <a:t>The object is </a:t>
            </a:r>
            <a:r>
              <a:rPr lang="en-US" sz="2000" i="1" dirty="0"/>
              <a:t>an instance of a class</a:t>
            </a:r>
            <a:r>
              <a:rPr lang="en-US" sz="2000" dirty="0"/>
              <a:t>.</a:t>
            </a:r>
          </a:p>
          <a:p>
            <a:endParaRPr 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134</a:t>
            </a:fld>
            <a:endParaRPr lang="en-US"/>
          </a:p>
        </p:txBody>
      </p:sp>
      <p:sp>
        <p:nvSpPr>
          <p:cNvPr id="4" name="Content Placeholder 3"/>
          <p:cNvSpPr>
            <a:spLocks noGrp="1"/>
          </p:cNvSpPr>
          <p:nvPr>
            <p:ph sz="quarter" idx="1"/>
          </p:nvPr>
        </p:nvSpPr>
        <p:spPr/>
        <p:txBody>
          <a:bodyPr>
            <a:normAutofit/>
          </a:bodyPr>
          <a:lstStyle/>
          <a:p>
            <a:pPr algn="just"/>
            <a:r>
              <a:rPr lang="en-US" sz="2400" b="1" dirty="0">
                <a:solidFill>
                  <a:srgbClr val="C00000"/>
                </a:solidFill>
              </a:rPr>
              <a:t>What is a class in Java</a:t>
            </a:r>
          </a:p>
          <a:p>
            <a:pPr algn="just"/>
            <a:r>
              <a:rPr lang="en-US" sz="2400" dirty="0"/>
              <a:t>A class is a group of objects which have common properties. It is a template or blueprint from which objects are created. It is a logical entity. It can't be physical.</a:t>
            </a:r>
          </a:p>
          <a:p>
            <a:pPr algn="just"/>
            <a:r>
              <a:rPr lang="en-US" sz="2400" dirty="0"/>
              <a:t>A class in Java can contain:</a:t>
            </a:r>
          </a:p>
          <a:p>
            <a:pPr algn="just"/>
            <a:r>
              <a:rPr lang="en-US" sz="2400" b="1" dirty="0"/>
              <a:t>Fields</a:t>
            </a:r>
            <a:endParaRPr lang="en-US" sz="2400" dirty="0"/>
          </a:p>
          <a:p>
            <a:pPr algn="just"/>
            <a:r>
              <a:rPr lang="en-US" sz="2400" b="1" dirty="0"/>
              <a:t>Methods</a:t>
            </a:r>
            <a:endParaRPr lang="en-US" sz="2400" dirty="0"/>
          </a:p>
          <a:p>
            <a:pPr algn="just"/>
            <a:r>
              <a:rPr lang="en-US" sz="2400" b="1" dirty="0"/>
              <a:t>Constructors</a:t>
            </a:r>
            <a:endParaRPr lang="en-US" sz="2400" dirty="0"/>
          </a:p>
          <a:p>
            <a:pPr algn="just"/>
            <a:r>
              <a:rPr lang="en-US" sz="2400" b="1" dirty="0"/>
              <a:t>Blocks</a:t>
            </a:r>
            <a:endParaRPr lang="en-US" sz="2400" dirty="0"/>
          </a:p>
          <a:p>
            <a:pPr algn="just"/>
            <a:r>
              <a:rPr lang="en-US" sz="2400" b="1" dirty="0"/>
              <a:t>Nested class and interface</a:t>
            </a:r>
            <a:endParaRPr lang="en-US" sz="2400" dirty="0"/>
          </a:p>
          <a:p>
            <a:endParaRPr lang="en-US" dirty="0"/>
          </a:p>
        </p:txBody>
      </p:sp>
      <p:pic>
        <p:nvPicPr>
          <p:cNvPr id="169986" name="Picture 2" descr="Class in Java"/>
          <p:cNvPicPr>
            <a:picLocks noChangeAspect="1" noChangeArrowheads="1"/>
          </p:cNvPicPr>
          <p:nvPr/>
        </p:nvPicPr>
        <p:blipFill>
          <a:blip r:embed="rId2"/>
          <a:srcRect/>
          <a:stretch>
            <a:fillRect/>
          </a:stretch>
        </p:blipFill>
        <p:spPr bwMode="auto">
          <a:xfrm>
            <a:off x="5888334" y="2804481"/>
            <a:ext cx="2895216" cy="4236901"/>
          </a:xfrm>
          <a:prstGeom prst="rect">
            <a:avLst/>
          </a:prstGeom>
          <a:noFill/>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Syntax to declare a class: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135</a:t>
            </a:fld>
            <a:endParaRPr lang="en-US"/>
          </a:p>
        </p:txBody>
      </p:sp>
      <p:sp>
        <p:nvSpPr>
          <p:cNvPr id="4" name="Content Placeholder 3"/>
          <p:cNvSpPr>
            <a:spLocks noGrp="1"/>
          </p:cNvSpPr>
          <p:nvPr>
            <p:ph sz="quarter" idx="1"/>
          </p:nvPr>
        </p:nvSpPr>
        <p:spPr/>
        <p:txBody>
          <a:bodyPr>
            <a:normAutofit fontScale="70000" lnSpcReduction="20000"/>
          </a:bodyPr>
          <a:lstStyle/>
          <a:p>
            <a:r>
              <a:rPr lang="en-US" b="1" dirty="0"/>
              <a:t>class</a:t>
            </a:r>
            <a:r>
              <a:rPr lang="en-US" dirty="0"/>
              <a:t> &lt;</a:t>
            </a:r>
            <a:r>
              <a:rPr lang="en-US" dirty="0" err="1"/>
              <a:t>class_name</a:t>
            </a:r>
            <a:r>
              <a:rPr lang="en-US" dirty="0"/>
              <a:t>&gt;</a:t>
            </a:r>
          </a:p>
          <a:p>
            <a:r>
              <a:rPr lang="en-US" dirty="0"/>
              <a:t>{  </a:t>
            </a:r>
          </a:p>
          <a:p>
            <a:r>
              <a:rPr lang="en-US" dirty="0"/>
              <a:t>    field;  </a:t>
            </a:r>
          </a:p>
          <a:p>
            <a:r>
              <a:rPr lang="en-US" dirty="0"/>
              <a:t>    method;  </a:t>
            </a:r>
          </a:p>
          <a:p>
            <a:r>
              <a:rPr lang="en-US" dirty="0"/>
              <a:t>}  </a:t>
            </a:r>
          </a:p>
          <a:p>
            <a:pPr algn="just"/>
            <a:r>
              <a:rPr lang="en-US" sz="2600" b="1" dirty="0"/>
              <a:t>Instance variable in Java</a:t>
            </a:r>
          </a:p>
          <a:p>
            <a:pPr algn="just"/>
            <a:r>
              <a:rPr lang="en-US" sz="2600" dirty="0"/>
              <a:t>A variable which is created inside the class but outside the method is known as an instance variable. Instance variable doesn't get memory at compile time. It gets memory at runtime when an object or instance is created. That is why it is known as an instance variable.</a:t>
            </a:r>
          </a:p>
          <a:p>
            <a:pPr algn="just"/>
            <a:r>
              <a:rPr lang="en-US" sz="2600" b="1" dirty="0"/>
              <a:t>Method in Java</a:t>
            </a:r>
          </a:p>
          <a:p>
            <a:pPr algn="just"/>
            <a:r>
              <a:rPr lang="en-US" sz="2600" dirty="0"/>
              <a:t>In Java, a method is like a function which is used to expose the behavior of an object.</a:t>
            </a:r>
          </a:p>
          <a:p>
            <a:pPr algn="just"/>
            <a:r>
              <a:rPr lang="en-US" sz="2600" dirty="0"/>
              <a:t>Advantage of Method</a:t>
            </a:r>
          </a:p>
          <a:p>
            <a:pPr algn="just"/>
            <a:r>
              <a:rPr lang="en-US" sz="2600" dirty="0"/>
              <a:t>Code Reusability</a:t>
            </a:r>
          </a:p>
          <a:p>
            <a:pPr algn="just"/>
            <a:r>
              <a:rPr lang="en-US" sz="2600" dirty="0"/>
              <a:t>Code Optimization</a:t>
            </a:r>
          </a:p>
          <a:p>
            <a:pPr algn="just"/>
            <a:endParaRPr lang="en-US" sz="2600" dirty="0"/>
          </a:p>
          <a:p>
            <a:pPr algn="just"/>
            <a:r>
              <a:rPr lang="en-US" sz="2600" b="1" dirty="0"/>
              <a:t>New Keyword</a:t>
            </a:r>
          </a:p>
          <a:p>
            <a:pPr algn="just"/>
            <a:r>
              <a:rPr lang="en-US" sz="2600" dirty="0"/>
              <a:t>The new keyword is used to allocate memory at runtime. All objects get memory in Heap memory area.</a:t>
            </a:r>
          </a:p>
          <a:p>
            <a:pPr algn="just"/>
            <a:endParaRPr lang="en-US" sz="2600" dirty="0"/>
          </a:p>
          <a:p>
            <a:endParaRPr lang="en-US" dirty="0"/>
          </a:p>
          <a:p>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Object and Class Example: main within the class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136</a:t>
            </a:fld>
            <a:endParaRPr lang="en-US"/>
          </a:p>
        </p:txBody>
      </p:sp>
      <p:sp>
        <p:nvSpPr>
          <p:cNvPr id="4" name="Content Placeholder 3"/>
          <p:cNvSpPr>
            <a:spLocks noGrp="1"/>
          </p:cNvSpPr>
          <p:nvPr>
            <p:ph sz="quarter" idx="1"/>
          </p:nvPr>
        </p:nvSpPr>
        <p:spPr/>
        <p:txBody>
          <a:bodyPr>
            <a:normAutofit fontScale="62500" lnSpcReduction="20000"/>
          </a:bodyPr>
          <a:lstStyle/>
          <a:p>
            <a:r>
              <a:rPr lang="en-US" dirty="0"/>
              <a:t>In this example, we have created a Student class which has two data members id and name. We are creating the object of the Student class by new keyword and printing the object's value.</a:t>
            </a:r>
          </a:p>
          <a:p>
            <a:r>
              <a:rPr lang="en-US" b="1" i="1" dirty="0"/>
              <a:t>File: Student.java</a:t>
            </a:r>
          </a:p>
          <a:p>
            <a:r>
              <a:rPr lang="en-US" dirty="0"/>
              <a:t>//Defining a Student class.  </a:t>
            </a:r>
          </a:p>
          <a:p>
            <a:r>
              <a:rPr lang="en-US" b="1" dirty="0"/>
              <a:t>class</a:t>
            </a:r>
            <a:r>
              <a:rPr lang="en-US" dirty="0"/>
              <a:t> Student{  </a:t>
            </a:r>
          </a:p>
          <a:p>
            <a:r>
              <a:rPr lang="en-US" dirty="0"/>
              <a:t> //defining fields  </a:t>
            </a:r>
          </a:p>
          <a:p>
            <a:r>
              <a:rPr lang="en-US" dirty="0"/>
              <a:t> </a:t>
            </a:r>
            <a:r>
              <a:rPr lang="en-US" b="1" dirty="0" err="1"/>
              <a:t>int</a:t>
            </a:r>
            <a:r>
              <a:rPr lang="en-US" dirty="0"/>
              <a:t> id;//field or data member or instance variable  </a:t>
            </a:r>
          </a:p>
          <a:p>
            <a:r>
              <a:rPr lang="en-US" dirty="0"/>
              <a:t> String name;  </a:t>
            </a:r>
          </a:p>
          <a:p>
            <a:r>
              <a:rPr lang="en-US" dirty="0"/>
              <a:t> //creating main method inside the Student class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//Creating an object or instance  </a:t>
            </a:r>
          </a:p>
          <a:p>
            <a:r>
              <a:rPr lang="en-US" dirty="0"/>
              <a:t>  Student s1=</a:t>
            </a:r>
            <a:r>
              <a:rPr lang="en-US" b="1" dirty="0"/>
              <a:t>new</a:t>
            </a:r>
            <a:r>
              <a:rPr lang="en-US" dirty="0"/>
              <a:t> Student();//creating an object of Student  </a:t>
            </a:r>
          </a:p>
          <a:p>
            <a:r>
              <a:rPr lang="en-US" dirty="0"/>
              <a:t>  //Printing values of the object  </a:t>
            </a:r>
          </a:p>
          <a:p>
            <a:r>
              <a:rPr lang="en-US" dirty="0"/>
              <a:t>  </a:t>
            </a:r>
            <a:r>
              <a:rPr lang="en-US" dirty="0" err="1"/>
              <a:t>System.out.println</a:t>
            </a:r>
            <a:r>
              <a:rPr lang="en-US" dirty="0"/>
              <a:t>(s1.id);   //accessing member through reference variable  </a:t>
            </a:r>
          </a:p>
          <a:p>
            <a:r>
              <a:rPr lang="en-US" dirty="0"/>
              <a:t>  </a:t>
            </a:r>
            <a:r>
              <a:rPr lang="en-US" dirty="0" err="1"/>
              <a:t>System.out.println</a:t>
            </a:r>
            <a:r>
              <a:rPr lang="en-US" dirty="0"/>
              <a:t>(s1.name);  </a:t>
            </a:r>
          </a:p>
          <a:p>
            <a:r>
              <a:rPr lang="en-US" dirty="0"/>
              <a:t> }  </a:t>
            </a:r>
          </a:p>
          <a:p>
            <a:r>
              <a:rPr lang="en-US" dirty="0"/>
              <a:t>}  </a:t>
            </a:r>
          </a:p>
          <a:p>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Object and Class Example: main outside the class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137</a:t>
            </a:fld>
            <a:endParaRPr lang="en-US"/>
          </a:p>
        </p:txBody>
      </p:sp>
      <p:sp>
        <p:nvSpPr>
          <p:cNvPr id="4" name="Content Placeholder 3"/>
          <p:cNvSpPr>
            <a:spLocks noGrp="1"/>
          </p:cNvSpPr>
          <p:nvPr>
            <p:ph sz="quarter" idx="1"/>
          </p:nvPr>
        </p:nvSpPr>
        <p:spPr/>
        <p:txBody>
          <a:bodyPr>
            <a:normAutofit/>
          </a:bodyPr>
          <a:lstStyle/>
          <a:p>
            <a:pPr algn="just">
              <a:lnSpc>
                <a:spcPct val="150000"/>
              </a:lnSpc>
            </a:pPr>
            <a:r>
              <a:rPr lang="en-US" sz="2000" dirty="0"/>
              <a:t>In real time development, we create classes and use it from another class. It is a better approach than previous one. Let's see a simple example, where we are having main() method in another class.</a:t>
            </a:r>
          </a:p>
          <a:p>
            <a:pPr algn="just">
              <a:lnSpc>
                <a:spcPct val="150000"/>
              </a:lnSpc>
            </a:pPr>
            <a:r>
              <a:rPr lang="en-US" sz="2000" dirty="0"/>
              <a:t>We can have multiple classes in different Java files or single Java file. If you define multiple classes in a single Java source file, it is a good idea to save the file name with the class name which has main() method.</a:t>
            </a:r>
          </a:p>
          <a:p>
            <a:endParaRPr lang="en-US" dirty="0"/>
          </a:p>
          <a:p>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t>File: TestStudent1.java</a:t>
            </a:r>
            <a:endParaRPr lang="en-US" b="1" dirty="0"/>
          </a:p>
        </p:txBody>
      </p:sp>
      <p:sp>
        <p:nvSpPr>
          <p:cNvPr id="3" name="Slide Number Placeholder 2"/>
          <p:cNvSpPr>
            <a:spLocks noGrp="1"/>
          </p:cNvSpPr>
          <p:nvPr>
            <p:ph type="sldNum" sz="quarter" idx="12"/>
          </p:nvPr>
        </p:nvSpPr>
        <p:spPr/>
        <p:txBody>
          <a:bodyPr/>
          <a:lstStyle/>
          <a:p>
            <a:fld id="{E3591306-41CF-4237-B2B4-5C605DD45071}" type="slidenum">
              <a:rPr lang="en-US" smtClean="0"/>
              <a:pPr/>
              <a:t>138</a:t>
            </a:fld>
            <a:endParaRPr lang="en-US"/>
          </a:p>
        </p:txBody>
      </p:sp>
      <p:sp>
        <p:nvSpPr>
          <p:cNvPr id="4" name="Content Placeholder 3"/>
          <p:cNvSpPr>
            <a:spLocks noGrp="1"/>
          </p:cNvSpPr>
          <p:nvPr>
            <p:ph sz="quarter" idx="1"/>
          </p:nvPr>
        </p:nvSpPr>
        <p:spPr/>
        <p:txBody>
          <a:bodyPr>
            <a:normAutofit fontScale="77500" lnSpcReduction="20000"/>
          </a:bodyPr>
          <a:lstStyle/>
          <a:p>
            <a:r>
              <a:rPr lang="en-US" dirty="0"/>
              <a:t>//Java Program to demonstrate having the main method in   </a:t>
            </a:r>
          </a:p>
          <a:p>
            <a:r>
              <a:rPr lang="en-US" dirty="0"/>
              <a:t>//another class  </a:t>
            </a:r>
          </a:p>
          <a:p>
            <a:r>
              <a:rPr lang="en-US" dirty="0"/>
              <a:t>//Creating Student class.  </a:t>
            </a:r>
          </a:p>
          <a:p>
            <a:r>
              <a:rPr lang="en-US" b="1" dirty="0"/>
              <a:t>class</a:t>
            </a:r>
            <a:r>
              <a:rPr lang="en-US" dirty="0"/>
              <a:t> Student{  </a:t>
            </a:r>
          </a:p>
          <a:p>
            <a:r>
              <a:rPr lang="en-US" dirty="0"/>
              <a:t> </a:t>
            </a:r>
            <a:r>
              <a:rPr lang="en-US" b="1" dirty="0" err="1"/>
              <a:t>int</a:t>
            </a:r>
            <a:r>
              <a:rPr lang="en-US" dirty="0"/>
              <a:t> id;  </a:t>
            </a:r>
          </a:p>
          <a:p>
            <a:r>
              <a:rPr lang="en-US" dirty="0"/>
              <a:t> String name;  </a:t>
            </a:r>
          </a:p>
          <a:p>
            <a:r>
              <a:rPr lang="en-US" dirty="0"/>
              <a:t>}  </a:t>
            </a:r>
          </a:p>
          <a:p>
            <a:r>
              <a:rPr lang="en-US" dirty="0"/>
              <a:t>//Creating another class TestStudent1 which contains the main method  </a:t>
            </a:r>
          </a:p>
          <a:p>
            <a:r>
              <a:rPr lang="en-US" b="1" dirty="0"/>
              <a:t>class</a:t>
            </a:r>
            <a:r>
              <a:rPr lang="en-US" dirty="0"/>
              <a:t> TestStudent1{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Student s1=</a:t>
            </a:r>
            <a:r>
              <a:rPr lang="en-US" b="1" dirty="0"/>
              <a:t>new</a:t>
            </a:r>
            <a:r>
              <a:rPr lang="en-US" dirty="0"/>
              <a:t> Student();  </a:t>
            </a:r>
          </a:p>
          <a:p>
            <a:r>
              <a:rPr lang="en-US" dirty="0"/>
              <a:t>  </a:t>
            </a:r>
            <a:r>
              <a:rPr lang="en-US" dirty="0" err="1"/>
              <a:t>System.out.println</a:t>
            </a:r>
            <a:r>
              <a:rPr lang="en-US" dirty="0"/>
              <a:t>(s1.id);  </a:t>
            </a:r>
          </a:p>
          <a:p>
            <a:r>
              <a:rPr lang="en-US" dirty="0"/>
              <a:t>  </a:t>
            </a:r>
            <a:r>
              <a:rPr lang="en-US" dirty="0" err="1"/>
              <a:t>System.out.println</a:t>
            </a:r>
            <a:r>
              <a:rPr lang="en-US" dirty="0"/>
              <a:t>(s1.name);  </a:t>
            </a:r>
          </a:p>
          <a:p>
            <a:r>
              <a:rPr lang="en-US" dirty="0"/>
              <a:t> }  </a:t>
            </a:r>
          </a:p>
          <a:p>
            <a:r>
              <a:rPr lang="en-US" dirty="0"/>
              <a:t>}  </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3 Ways to initialize object</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139</a:t>
            </a:fld>
            <a:endParaRPr lang="en-US"/>
          </a:p>
        </p:txBody>
      </p:sp>
      <p:sp>
        <p:nvSpPr>
          <p:cNvPr id="4" name="Content Placeholder 3"/>
          <p:cNvSpPr>
            <a:spLocks noGrp="1"/>
          </p:cNvSpPr>
          <p:nvPr>
            <p:ph sz="quarter" idx="1"/>
          </p:nvPr>
        </p:nvSpPr>
        <p:spPr/>
        <p:txBody>
          <a:bodyPr/>
          <a:lstStyle/>
          <a:p>
            <a:r>
              <a:rPr lang="en-US" dirty="0"/>
              <a:t>There are 3 ways to initialize object in Java.</a:t>
            </a:r>
          </a:p>
          <a:p>
            <a:r>
              <a:rPr lang="en-US" dirty="0"/>
              <a:t>By reference variable</a:t>
            </a:r>
          </a:p>
          <a:p>
            <a:r>
              <a:rPr lang="en-US" dirty="0"/>
              <a:t>By method</a:t>
            </a:r>
          </a:p>
          <a:p>
            <a:r>
              <a:rPr lang="en-US" dirty="0"/>
              <a:t>By constructor</a:t>
            </a:r>
          </a:p>
          <a:p>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1) Object and Class Example: Initialization through reference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140</a:t>
            </a:fld>
            <a:endParaRPr lang="en-US"/>
          </a:p>
        </p:txBody>
      </p:sp>
      <p:sp>
        <p:nvSpPr>
          <p:cNvPr id="4" name="Content Placeholder 3"/>
          <p:cNvSpPr>
            <a:spLocks noGrp="1"/>
          </p:cNvSpPr>
          <p:nvPr>
            <p:ph sz="quarter" idx="1"/>
          </p:nvPr>
        </p:nvSpPr>
        <p:spPr/>
        <p:txBody>
          <a:bodyPr>
            <a:normAutofit fontScale="70000" lnSpcReduction="20000"/>
          </a:bodyPr>
          <a:lstStyle/>
          <a:p>
            <a:r>
              <a:rPr lang="en-US" dirty="0"/>
              <a:t>Initializing an object means storing data into the object. Let's see a simple example where we are going to initialize the object through a reference variable.</a:t>
            </a:r>
          </a:p>
          <a:p>
            <a:r>
              <a:rPr lang="en-US" i="1" dirty="0"/>
              <a:t>File: TestStudent2.java</a:t>
            </a:r>
          </a:p>
          <a:p>
            <a:r>
              <a:rPr lang="en-US" b="1" dirty="0"/>
              <a:t>class</a:t>
            </a:r>
            <a:r>
              <a:rPr lang="en-US" dirty="0"/>
              <a:t> Student</a:t>
            </a:r>
          </a:p>
          <a:p>
            <a:r>
              <a:rPr lang="en-US" dirty="0"/>
              <a:t>{  </a:t>
            </a:r>
          </a:p>
          <a:p>
            <a:r>
              <a:rPr lang="en-US" dirty="0"/>
              <a:t> </a:t>
            </a:r>
            <a:r>
              <a:rPr lang="en-US" b="1" dirty="0" err="1"/>
              <a:t>int</a:t>
            </a:r>
            <a:r>
              <a:rPr lang="en-US" dirty="0"/>
              <a:t> id;  </a:t>
            </a:r>
          </a:p>
          <a:p>
            <a:r>
              <a:rPr lang="en-US" dirty="0"/>
              <a:t> String name;  </a:t>
            </a:r>
          </a:p>
          <a:p>
            <a:r>
              <a:rPr lang="en-US" dirty="0"/>
              <a:t>}  </a:t>
            </a:r>
          </a:p>
          <a:p>
            <a:r>
              <a:rPr lang="en-US" b="1" dirty="0"/>
              <a:t>class</a:t>
            </a:r>
            <a:r>
              <a:rPr lang="en-US" dirty="0"/>
              <a:t> TestStudent2{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Student s1=</a:t>
            </a:r>
            <a:r>
              <a:rPr lang="en-US" b="1" dirty="0"/>
              <a:t>new</a:t>
            </a:r>
            <a:r>
              <a:rPr lang="en-US" dirty="0"/>
              <a:t> Student();  </a:t>
            </a:r>
          </a:p>
          <a:p>
            <a:r>
              <a:rPr lang="en-US" dirty="0"/>
              <a:t>  s1.id=101;  </a:t>
            </a:r>
          </a:p>
          <a:p>
            <a:r>
              <a:rPr lang="en-US" dirty="0"/>
              <a:t>  s1.name="</a:t>
            </a:r>
            <a:r>
              <a:rPr lang="en-US" dirty="0" err="1"/>
              <a:t>Sonoo</a:t>
            </a:r>
            <a:r>
              <a:rPr lang="en-US" dirty="0"/>
              <a:t>";  </a:t>
            </a:r>
          </a:p>
          <a:p>
            <a:r>
              <a:rPr lang="en-US" dirty="0"/>
              <a:t>  </a:t>
            </a:r>
            <a:r>
              <a:rPr lang="en-US" dirty="0" err="1"/>
              <a:t>System.out.println</a:t>
            </a:r>
            <a:r>
              <a:rPr lang="en-US" dirty="0"/>
              <a:t>(s1.id+" "+s1.name);//printing members with a white space  </a:t>
            </a:r>
          </a:p>
          <a:p>
            <a:r>
              <a:rPr lang="en-US" dirty="0"/>
              <a:t> }  </a:t>
            </a:r>
          </a:p>
          <a:p>
            <a:r>
              <a:rPr lang="en-US" dirty="0"/>
              <a:t>}  </a:t>
            </a:r>
          </a:p>
          <a:p>
            <a:endParaRPr 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C00000"/>
                </a:solidFill>
              </a:rPr>
              <a:t>2) Object and Class Example: Initialization through method</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141</a:t>
            </a:fld>
            <a:endParaRPr lang="en-US"/>
          </a:p>
        </p:txBody>
      </p:sp>
      <p:sp>
        <p:nvSpPr>
          <p:cNvPr id="4" name="Content Placeholder 3"/>
          <p:cNvSpPr>
            <a:spLocks noGrp="1"/>
          </p:cNvSpPr>
          <p:nvPr>
            <p:ph sz="quarter" idx="1"/>
          </p:nvPr>
        </p:nvSpPr>
        <p:spPr>
          <a:xfrm>
            <a:off x="504031" y="1343942"/>
            <a:ext cx="9363450" cy="5442966"/>
          </a:xfrm>
        </p:spPr>
        <p:txBody>
          <a:bodyPr numCol="2">
            <a:normAutofit fontScale="55000" lnSpcReduction="20000"/>
          </a:bodyPr>
          <a:lstStyle/>
          <a:p>
            <a:pPr algn="just"/>
            <a:r>
              <a:rPr lang="en-US" sz="3700" dirty="0"/>
              <a:t>In this example, we are creating the two  objects of Student class and initializing the value to these objects by invoking the </a:t>
            </a:r>
            <a:r>
              <a:rPr lang="en-US" sz="3700" dirty="0" err="1"/>
              <a:t>insertRecord</a:t>
            </a:r>
            <a:r>
              <a:rPr lang="en-US" sz="3700" dirty="0"/>
              <a:t> method. Here, we are displaying the state (data) of the objects by invoking the </a:t>
            </a:r>
            <a:r>
              <a:rPr lang="en-US" sz="3700" dirty="0" err="1"/>
              <a:t>displayInformation</a:t>
            </a:r>
            <a:r>
              <a:rPr lang="en-US" sz="3700" dirty="0"/>
              <a:t>() method.</a:t>
            </a:r>
          </a:p>
          <a:p>
            <a:r>
              <a:rPr lang="en-US" sz="3700" i="1" dirty="0"/>
              <a:t>File: TestStudent4.java</a:t>
            </a:r>
          </a:p>
          <a:p>
            <a:r>
              <a:rPr lang="en-US" sz="3700" b="1" dirty="0"/>
              <a:t>class</a:t>
            </a:r>
            <a:r>
              <a:rPr lang="en-US" sz="3700" dirty="0"/>
              <a:t> Student{  </a:t>
            </a:r>
          </a:p>
          <a:p>
            <a:r>
              <a:rPr lang="en-US" sz="3700" dirty="0"/>
              <a:t> </a:t>
            </a:r>
            <a:r>
              <a:rPr lang="en-US" sz="3700" b="1" dirty="0" err="1"/>
              <a:t>int</a:t>
            </a:r>
            <a:r>
              <a:rPr lang="en-US" sz="3700" dirty="0"/>
              <a:t> </a:t>
            </a:r>
            <a:r>
              <a:rPr lang="en-US" sz="3700" dirty="0" err="1"/>
              <a:t>rollno</a:t>
            </a:r>
            <a:r>
              <a:rPr lang="en-US" sz="3700" dirty="0"/>
              <a:t>;  </a:t>
            </a:r>
          </a:p>
          <a:p>
            <a:r>
              <a:rPr lang="en-US" sz="3700" dirty="0"/>
              <a:t> String name;  </a:t>
            </a:r>
          </a:p>
          <a:p>
            <a:r>
              <a:rPr lang="en-US" sz="3700" dirty="0"/>
              <a:t> </a:t>
            </a:r>
            <a:r>
              <a:rPr lang="en-US" sz="3700" b="1" dirty="0"/>
              <a:t>void</a:t>
            </a:r>
            <a:r>
              <a:rPr lang="en-US" sz="3700" dirty="0"/>
              <a:t> </a:t>
            </a:r>
            <a:r>
              <a:rPr lang="en-US" sz="3700" dirty="0" err="1"/>
              <a:t>insertRecord</a:t>
            </a:r>
            <a:r>
              <a:rPr lang="en-US" sz="3700" dirty="0"/>
              <a:t>(</a:t>
            </a:r>
            <a:r>
              <a:rPr lang="en-US" sz="3700" b="1" dirty="0" err="1"/>
              <a:t>int</a:t>
            </a:r>
            <a:r>
              <a:rPr lang="en-US" sz="3700" dirty="0"/>
              <a:t> r, String n){  </a:t>
            </a:r>
          </a:p>
          <a:p>
            <a:r>
              <a:rPr lang="en-US" sz="3700" dirty="0"/>
              <a:t>  </a:t>
            </a:r>
            <a:r>
              <a:rPr lang="en-US" sz="3700" dirty="0" err="1"/>
              <a:t>rollno</a:t>
            </a:r>
            <a:r>
              <a:rPr lang="en-US" sz="3700" dirty="0"/>
              <a:t>=r;  </a:t>
            </a:r>
          </a:p>
          <a:p>
            <a:r>
              <a:rPr lang="en-US" sz="3700" dirty="0"/>
              <a:t>  name=n;  </a:t>
            </a:r>
          </a:p>
          <a:p>
            <a:r>
              <a:rPr lang="en-US" sz="3700" dirty="0"/>
              <a:t> }  </a:t>
            </a:r>
          </a:p>
          <a:p>
            <a:r>
              <a:rPr lang="en-US" sz="3700" dirty="0"/>
              <a:t> </a:t>
            </a:r>
            <a:r>
              <a:rPr lang="en-US" sz="3700" b="1" dirty="0"/>
              <a:t>void</a:t>
            </a:r>
            <a:r>
              <a:rPr lang="en-US" sz="3700" dirty="0"/>
              <a:t> </a:t>
            </a:r>
            <a:r>
              <a:rPr lang="en-US" sz="3700" dirty="0" err="1"/>
              <a:t>displayInformation</a:t>
            </a:r>
            <a:r>
              <a:rPr lang="en-US" sz="3700" dirty="0"/>
              <a:t>(){</a:t>
            </a:r>
            <a:r>
              <a:rPr lang="en-US" sz="3700" dirty="0" err="1"/>
              <a:t>System.out.println</a:t>
            </a:r>
            <a:r>
              <a:rPr lang="en-US" sz="3700" dirty="0"/>
              <a:t>(</a:t>
            </a:r>
            <a:r>
              <a:rPr lang="en-US" sz="3700" dirty="0" err="1"/>
              <a:t>rollno</a:t>
            </a:r>
            <a:r>
              <a:rPr lang="en-US" sz="3700" dirty="0"/>
              <a:t>+" "+name);}  </a:t>
            </a:r>
          </a:p>
          <a:p>
            <a:r>
              <a:rPr lang="en-US" sz="3700" dirty="0"/>
              <a:t>}  </a:t>
            </a:r>
          </a:p>
          <a:p>
            <a:r>
              <a:rPr lang="en-US" sz="3700" b="1" dirty="0"/>
              <a:t>class</a:t>
            </a:r>
            <a:r>
              <a:rPr lang="en-US" sz="3700" dirty="0"/>
              <a:t> TestStudent4{  </a:t>
            </a:r>
          </a:p>
          <a:p>
            <a:r>
              <a:rPr lang="en-US" sz="3700" dirty="0"/>
              <a:t> </a:t>
            </a:r>
            <a:r>
              <a:rPr lang="en-US" sz="3700" b="1" dirty="0"/>
              <a:t>public</a:t>
            </a:r>
            <a:r>
              <a:rPr lang="en-US" sz="3700" dirty="0"/>
              <a:t> </a:t>
            </a:r>
            <a:r>
              <a:rPr lang="en-US" sz="3700" b="1" dirty="0"/>
              <a:t>static</a:t>
            </a:r>
            <a:r>
              <a:rPr lang="en-US" sz="3700" dirty="0"/>
              <a:t> </a:t>
            </a:r>
            <a:r>
              <a:rPr lang="en-US" sz="3700" b="1" dirty="0"/>
              <a:t>void</a:t>
            </a:r>
            <a:r>
              <a:rPr lang="en-US" sz="3700" dirty="0"/>
              <a:t> main(String </a:t>
            </a:r>
            <a:r>
              <a:rPr lang="en-US" sz="3700" dirty="0" err="1"/>
              <a:t>args</a:t>
            </a:r>
            <a:r>
              <a:rPr lang="en-US" sz="3700" dirty="0"/>
              <a:t>[]){  </a:t>
            </a:r>
          </a:p>
          <a:p>
            <a:r>
              <a:rPr lang="en-US" sz="3700" dirty="0"/>
              <a:t>  Student s1=</a:t>
            </a:r>
            <a:r>
              <a:rPr lang="en-US" sz="3700" b="1" dirty="0"/>
              <a:t>new</a:t>
            </a:r>
            <a:r>
              <a:rPr lang="en-US" sz="3700" dirty="0"/>
              <a:t> Student();  </a:t>
            </a:r>
          </a:p>
          <a:p>
            <a:r>
              <a:rPr lang="en-US" sz="3700" dirty="0"/>
              <a:t>  Student s2=</a:t>
            </a:r>
            <a:r>
              <a:rPr lang="en-US" sz="3700" b="1" dirty="0"/>
              <a:t>new</a:t>
            </a:r>
            <a:r>
              <a:rPr lang="en-US" sz="3700" dirty="0"/>
              <a:t> Student();  </a:t>
            </a:r>
          </a:p>
          <a:p>
            <a:r>
              <a:rPr lang="en-US" sz="3700" dirty="0"/>
              <a:t>  s1.insertRecord(111,"Karan");  </a:t>
            </a:r>
          </a:p>
          <a:p>
            <a:r>
              <a:rPr lang="en-US" sz="3700" dirty="0"/>
              <a:t>  s2.insertRecord(222,"Aryan");  </a:t>
            </a:r>
          </a:p>
          <a:p>
            <a:r>
              <a:rPr lang="en-US" sz="3700" dirty="0"/>
              <a:t>  s1.displayInformation();  </a:t>
            </a:r>
          </a:p>
          <a:p>
            <a:r>
              <a:rPr lang="en-US" sz="3700" dirty="0"/>
              <a:t>  s2.displayInformation();  </a:t>
            </a:r>
          </a:p>
          <a:p>
            <a:r>
              <a:rPr lang="en-US" sz="3700" dirty="0"/>
              <a:t> }  </a:t>
            </a:r>
          </a:p>
          <a:p>
            <a:r>
              <a:rPr lang="en-US" sz="3700" dirty="0"/>
              <a:t>}  </a:t>
            </a:r>
          </a:p>
          <a:p>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Slide Number Placeholder 2"/>
          <p:cNvSpPr>
            <a:spLocks noGrp="1"/>
          </p:cNvSpPr>
          <p:nvPr>
            <p:ph type="sldNum" sz="quarter" idx="12"/>
          </p:nvPr>
        </p:nvSpPr>
        <p:spPr/>
        <p:txBody>
          <a:bodyPr/>
          <a:lstStyle/>
          <a:p>
            <a:fld id="{E3591306-41CF-4237-B2B4-5C605DD45071}" type="slidenum">
              <a:rPr lang="en-US" smtClean="0"/>
              <a:pPr/>
              <a:t>142</a:t>
            </a:fld>
            <a:endParaRPr lang="en-US"/>
          </a:p>
        </p:txBody>
      </p:sp>
      <p:sp>
        <p:nvSpPr>
          <p:cNvPr id="4" name="Content Placeholder 3"/>
          <p:cNvSpPr>
            <a:spLocks noGrp="1"/>
          </p:cNvSpPr>
          <p:nvPr>
            <p:ph sz="quarter" idx="1"/>
          </p:nvPr>
        </p:nvSpPr>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dirty="0"/>
          </a:p>
          <a:p>
            <a:pPr algn="just"/>
            <a:r>
              <a:rPr lang="en-US" sz="2400" dirty="0"/>
              <a:t>As you can see in the above figure, object gets the memory in heap memory area. The reference variable refers to the object allocated in the heap memory area. Here, s1 and s2 both are reference variables that refer to the objects allocated in memory.</a:t>
            </a:r>
          </a:p>
        </p:txBody>
      </p:sp>
      <p:pic>
        <p:nvPicPr>
          <p:cNvPr id="172034" name="Picture 2" descr="Object in Java with values"/>
          <p:cNvPicPr>
            <a:picLocks noChangeAspect="1" noChangeArrowheads="1"/>
          </p:cNvPicPr>
          <p:nvPr/>
        </p:nvPicPr>
        <p:blipFill>
          <a:blip r:embed="rId2"/>
          <a:srcRect/>
          <a:stretch>
            <a:fillRect/>
          </a:stretch>
        </p:blipFill>
        <p:spPr bwMode="auto">
          <a:xfrm>
            <a:off x="3541869" y="1447747"/>
            <a:ext cx="5362575" cy="2895601"/>
          </a:xfrm>
          <a:prstGeom prst="rect">
            <a:avLst/>
          </a:prstGeom>
          <a:noFill/>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3) Object and Class Example: Initialization through a constructor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143</a:t>
            </a:fld>
            <a:endParaRPr lang="en-US"/>
          </a:p>
        </p:txBody>
      </p:sp>
      <p:sp>
        <p:nvSpPr>
          <p:cNvPr id="4" name="Content Placeholder 3"/>
          <p:cNvSpPr>
            <a:spLocks noGrp="1"/>
          </p:cNvSpPr>
          <p:nvPr>
            <p:ph sz="quarter" idx="1"/>
          </p:nvPr>
        </p:nvSpPr>
        <p:spPr/>
        <p:txBody>
          <a:bodyPr numCol="2">
            <a:normAutofit fontScale="70000" lnSpcReduction="20000"/>
          </a:bodyPr>
          <a:lstStyle/>
          <a:p>
            <a:r>
              <a:rPr lang="en-US" dirty="0"/>
              <a:t>Object and Class Example: Employee</a:t>
            </a:r>
          </a:p>
          <a:p>
            <a:r>
              <a:rPr lang="en-US" i="1" dirty="0"/>
              <a:t>File: TestEmployee.java</a:t>
            </a:r>
          </a:p>
          <a:p>
            <a:r>
              <a:rPr lang="en-US" b="1" dirty="0"/>
              <a:t>class</a:t>
            </a:r>
            <a:r>
              <a:rPr lang="en-US" dirty="0"/>
              <a:t> Employee{  </a:t>
            </a:r>
          </a:p>
          <a:p>
            <a:r>
              <a:rPr lang="en-US" dirty="0"/>
              <a:t>    </a:t>
            </a:r>
            <a:r>
              <a:rPr lang="en-US" b="1" dirty="0" err="1"/>
              <a:t>int</a:t>
            </a:r>
            <a:r>
              <a:rPr lang="en-US" dirty="0"/>
              <a:t> id;  </a:t>
            </a:r>
          </a:p>
          <a:p>
            <a:r>
              <a:rPr lang="en-US" dirty="0"/>
              <a:t>    String name;  </a:t>
            </a:r>
          </a:p>
          <a:p>
            <a:r>
              <a:rPr lang="en-US" dirty="0"/>
              <a:t>    </a:t>
            </a:r>
            <a:r>
              <a:rPr lang="en-US" b="1" dirty="0"/>
              <a:t>float</a:t>
            </a:r>
            <a:r>
              <a:rPr lang="en-US" dirty="0"/>
              <a:t> salary;  </a:t>
            </a:r>
          </a:p>
          <a:p>
            <a:r>
              <a:rPr lang="en-US" dirty="0"/>
              <a:t>    </a:t>
            </a:r>
            <a:r>
              <a:rPr lang="en-US" b="1" dirty="0"/>
              <a:t>void</a:t>
            </a:r>
            <a:r>
              <a:rPr lang="en-US" dirty="0"/>
              <a:t> insert(</a:t>
            </a:r>
            <a:r>
              <a:rPr lang="en-US" b="1" dirty="0" err="1"/>
              <a:t>int</a:t>
            </a:r>
            <a:r>
              <a:rPr lang="en-US" dirty="0"/>
              <a:t> </a:t>
            </a:r>
            <a:r>
              <a:rPr lang="en-US" dirty="0" err="1"/>
              <a:t>i</a:t>
            </a:r>
            <a:r>
              <a:rPr lang="en-US" dirty="0"/>
              <a:t>, String n, </a:t>
            </a:r>
            <a:r>
              <a:rPr lang="en-US" b="1" dirty="0"/>
              <a:t>float</a:t>
            </a:r>
            <a:r>
              <a:rPr lang="en-US" dirty="0"/>
              <a:t> s) {  </a:t>
            </a:r>
          </a:p>
          <a:p>
            <a:r>
              <a:rPr lang="en-US" dirty="0"/>
              <a:t>        id=</a:t>
            </a:r>
            <a:r>
              <a:rPr lang="en-US" dirty="0" err="1"/>
              <a:t>i</a:t>
            </a:r>
            <a:r>
              <a:rPr lang="en-US" dirty="0"/>
              <a:t>;  </a:t>
            </a:r>
          </a:p>
          <a:p>
            <a:r>
              <a:rPr lang="en-US" dirty="0"/>
              <a:t>        name=n;  </a:t>
            </a:r>
          </a:p>
          <a:p>
            <a:r>
              <a:rPr lang="en-US" dirty="0"/>
              <a:t>        salary=s;  </a:t>
            </a:r>
          </a:p>
          <a:p>
            <a:r>
              <a:rPr lang="en-US" dirty="0"/>
              <a:t>    }  </a:t>
            </a:r>
          </a:p>
          <a:p>
            <a:r>
              <a:rPr lang="en-US" dirty="0"/>
              <a:t>    </a:t>
            </a:r>
            <a:r>
              <a:rPr lang="en-US" b="1" dirty="0"/>
              <a:t>void</a:t>
            </a:r>
            <a:r>
              <a:rPr lang="en-US" dirty="0"/>
              <a:t> display(){</a:t>
            </a:r>
            <a:r>
              <a:rPr lang="en-US" dirty="0" err="1"/>
              <a:t>System.out.println</a:t>
            </a:r>
            <a:r>
              <a:rPr lang="en-US" dirty="0"/>
              <a:t>(id+" "+name+" "+salary);}  </a:t>
            </a:r>
          </a:p>
          <a:p>
            <a:r>
              <a:rPr lang="en-US" dirty="0"/>
              <a:t>}  </a:t>
            </a:r>
          </a:p>
          <a:p>
            <a:r>
              <a:rPr lang="en-US" b="1" dirty="0"/>
              <a:t>public</a:t>
            </a:r>
            <a:r>
              <a:rPr lang="en-US" dirty="0"/>
              <a:t> </a:t>
            </a:r>
            <a:r>
              <a:rPr lang="en-US" b="1" dirty="0"/>
              <a:t>class</a:t>
            </a:r>
            <a:r>
              <a:rPr lang="en-US" dirty="0"/>
              <a:t> </a:t>
            </a:r>
            <a:r>
              <a:rPr lang="en-US" dirty="0" err="1"/>
              <a:t>TestEmployee</a:t>
            </a:r>
            <a:r>
              <a:rPr lang="en-US" dirty="0"/>
              <a:t> {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r>
              <a:rPr lang="en-US" dirty="0"/>
              <a:t>    Employee e1=</a:t>
            </a:r>
            <a:r>
              <a:rPr lang="en-US" b="1" dirty="0"/>
              <a:t>new</a:t>
            </a:r>
            <a:r>
              <a:rPr lang="en-US" dirty="0"/>
              <a:t> Employee();  </a:t>
            </a:r>
          </a:p>
          <a:p>
            <a:r>
              <a:rPr lang="en-US" dirty="0"/>
              <a:t>    Employee e2=</a:t>
            </a:r>
            <a:r>
              <a:rPr lang="en-US" b="1" dirty="0"/>
              <a:t>new</a:t>
            </a:r>
            <a:r>
              <a:rPr lang="en-US" dirty="0"/>
              <a:t> Employee();  </a:t>
            </a:r>
          </a:p>
          <a:p>
            <a:r>
              <a:rPr lang="en-US" dirty="0"/>
              <a:t>    Employee e3=</a:t>
            </a:r>
            <a:r>
              <a:rPr lang="en-US" b="1" dirty="0"/>
              <a:t>new</a:t>
            </a:r>
            <a:r>
              <a:rPr lang="en-US" dirty="0"/>
              <a:t> Employee();  </a:t>
            </a:r>
          </a:p>
          <a:p>
            <a:r>
              <a:rPr lang="en-US" dirty="0"/>
              <a:t>    e1.insert(101,"ajeet",45000);  </a:t>
            </a:r>
          </a:p>
          <a:p>
            <a:r>
              <a:rPr lang="en-US" dirty="0"/>
              <a:t>    e2.insert(102,"irfan",25000);  </a:t>
            </a:r>
          </a:p>
          <a:p>
            <a:r>
              <a:rPr lang="en-US" dirty="0"/>
              <a:t>    e3.insert(103,"nakul",55000);  </a:t>
            </a:r>
          </a:p>
          <a:p>
            <a:r>
              <a:rPr lang="en-US" dirty="0"/>
              <a:t>    e1.display();  </a:t>
            </a:r>
          </a:p>
          <a:p>
            <a:r>
              <a:rPr lang="en-US" dirty="0"/>
              <a:t>    e2.display();  </a:t>
            </a:r>
          </a:p>
          <a:p>
            <a:r>
              <a:rPr lang="en-US" dirty="0"/>
              <a:t>    e3.display();  </a:t>
            </a:r>
          </a:p>
          <a:p>
            <a:r>
              <a:rPr lang="en-US" dirty="0"/>
              <a:t>}  </a:t>
            </a:r>
          </a:p>
          <a:p>
            <a:r>
              <a:rPr lang="en-US" dirty="0"/>
              <a:t>}  </a:t>
            </a:r>
          </a:p>
          <a:p>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C00000"/>
                </a:solidFill>
              </a:rPr>
              <a:t>What are the different ways to create an object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144</a:t>
            </a:fld>
            <a:endParaRPr lang="en-US"/>
          </a:p>
        </p:txBody>
      </p:sp>
      <p:sp>
        <p:nvSpPr>
          <p:cNvPr id="4" name="Content Placeholder 3"/>
          <p:cNvSpPr>
            <a:spLocks noGrp="1"/>
          </p:cNvSpPr>
          <p:nvPr>
            <p:ph sz="quarter" idx="1"/>
          </p:nvPr>
        </p:nvSpPr>
        <p:spPr/>
        <p:txBody>
          <a:bodyPr/>
          <a:lstStyle/>
          <a:p>
            <a:r>
              <a:rPr lang="en-US" sz="2400" dirty="0"/>
              <a:t>There are many ways to create an object in java. They are:</a:t>
            </a:r>
          </a:p>
          <a:p>
            <a:r>
              <a:rPr lang="en-US" sz="2400" dirty="0"/>
              <a:t>By new keyword</a:t>
            </a:r>
          </a:p>
          <a:p>
            <a:r>
              <a:rPr lang="en-US" sz="2400" dirty="0"/>
              <a:t>By </a:t>
            </a:r>
            <a:r>
              <a:rPr lang="en-US" sz="2400" dirty="0" err="1"/>
              <a:t>newInstance</a:t>
            </a:r>
            <a:r>
              <a:rPr lang="en-US" sz="2400" dirty="0"/>
              <a:t>() method</a:t>
            </a:r>
          </a:p>
          <a:p>
            <a:r>
              <a:rPr lang="en-US" sz="2400" dirty="0"/>
              <a:t>By clone() method</a:t>
            </a:r>
          </a:p>
          <a:p>
            <a:r>
              <a:rPr lang="en-US" sz="2400" dirty="0"/>
              <a:t>By </a:t>
            </a:r>
            <a:r>
              <a:rPr lang="en-US" sz="2400" dirty="0" err="1"/>
              <a:t>deserialization</a:t>
            </a:r>
            <a:endParaRPr lang="en-US" sz="2400" dirty="0"/>
          </a:p>
          <a:p>
            <a:r>
              <a:rPr lang="en-US" sz="2400" dirty="0"/>
              <a:t>By factory method etc.</a:t>
            </a:r>
          </a:p>
          <a:p>
            <a:endParaRPr lang="en-US" dirty="0"/>
          </a:p>
        </p:txBody>
      </p:sp>
      <p:pic>
        <p:nvPicPr>
          <p:cNvPr id="179202" name="Picture 2" descr="Different Ways to create an Object in Java"/>
          <p:cNvPicPr>
            <a:picLocks noChangeAspect="1" noChangeArrowheads="1"/>
          </p:cNvPicPr>
          <p:nvPr/>
        </p:nvPicPr>
        <p:blipFill>
          <a:blip r:embed="rId2"/>
          <a:srcRect/>
          <a:stretch>
            <a:fillRect/>
          </a:stretch>
        </p:blipFill>
        <p:spPr bwMode="auto">
          <a:xfrm>
            <a:off x="4745145" y="1929283"/>
            <a:ext cx="4912727" cy="4732774"/>
          </a:xfrm>
          <a:prstGeom prst="rect">
            <a:avLst/>
          </a:prstGeom>
          <a:noFill/>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Real World Example: Account</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145</a:t>
            </a:fld>
            <a:endParaRPr lang="en-US"/>
          </a:p>
        </p:txBody>
      </p:sp>
      <p:sp>
        <p:nvSpPr>
          <p:cNvPr id="4" name="Content Placeholder 3"/>
          <p:cNvSpPr>
            <a:spLocks noGrp="1"/>
          </p:cNvSpPr>
          <p:nvPr>
            <p:ph sz="quarter" idx="1"/>
          </p:nvPr>
        </p:nvSpPr>
        <p:spPr>
          <a:xfrm>
            <a:off x="504031" y="1343942"/>
            <a:ext cx="9323257" cy="5519082"/>
          </a:xfrm>
        </p:spPr>
        <p:txBody>
          <a:bodyPr numCol="3">
            <a:noAutofit/>
          </a:bodyPr>
          <a:lstStyle/>
          <a:p>
            <a:r>
              <a:rPr lang="en-US" sz="1600" i="1" dirty="0"/>
              <a:t>File: TestAccount.java</a:t>
            </a:r>
          </a:p>
          <a:p>
            <a:r>
              <a:rPr lang="en-US" sz="1600" dirty="0"/>
              <a:t>//Java Program to demonstrate the working of a banking-system  </a:t>
            </a:r>
          </a:p>
          <a:p>
            <a:r>
              <a:rPr lang="en-US" sz="1600" b="1" dirty="0"/>
              <a:t>class</a:t>
            </a:r>
            <a:r>
              <a:rPr lang="en-US" sz="1600" dirty="0"/>
              <a:t> Account{  </a:t>
            </a:r>
          </a:p>
          <a:p>
            <a:r>
              <a:rPr lang="en-US" sz="1600" b="1" dirty="0" err="1"/>
              <a:t>int</a:t>
            </a:r>
            <a:r>
              <a:rPr lang="en-US" sz="1600" dirty="0"/>
              <a:t> </a:t>
            </a:r>
            <a:r>
              <a:rPr lang="en-US" sz="1600" dirty="0" err="1"/>
              <a:t>acc_no</a:t>
            </a:r>
            <a:r>
              <a:rPr lang="en-US" sz="1600" dirty="0"/>
              <a:t>;  </a:t>
            </a:r>
          </a:p>
          <a:p>
            <a:r>
              <a:rPr lang="en-US" sz="1600" dirty="0"/>
              <a:t>String name;  </a:t>
            </a:r>
          </a:p>
          <a:p>
            <a:r>
              <a:rPr lang="en-US" sz="1600" b="1" dirty="0"/>
              <a:t>float</a:t>
            </a:r>
            <a:r>
              <a:rPr lang="en-US" sz="1600" dirty="0"/>
              <a:t> amount;  </a:t>
            </a:r>
          </a:p>
          <a:p>
            <a:r>
              <a:rPr lang="en-US" sz="1600" b="1" dirty="0"/>
              <a:t>void</a:t>
            </a:r>
            <a:r>
              <a:rPr lang="en-US" sz="1600" dirty="0"/>
              <a:t> insert(</a:t>
            </a:r>
            <a:r>
              <a:rPr lang="en-US" sz="1600" b="1" dirty="0" err="1"/>
              <a:t>int</a:t>
            </a:r>
            <a:r>
              <a:rPr lang="en-US" sz="1600" dirty="0"/>
              <a:t> </a:t>
            </a:r>
            <a:r>
              <a:rPr lang="en-US" sz="1600" dirty="0" err="1"/>
              <a:t>a,String</a:t>
            </a:r>
            <a:r>
              <a:rPr lang="en-US" sz="1600" dirty="0"/>
              <a:t> </a:t>
            </a:r>
            <a:r>
              <a:rPr lang="en-US" sz="1600" dirty="0" err="1"/>
              <a:t>n,</a:t>
            </a:r>
            <a:r>
              <a:rPr lang="en-US" sz="1600" b="1" dirty="0" err="1"/>
              <a:t>float</a:t>
            </a:r>
            <a:r>
              <a:rPr lang="en-US" sz="1600" dirty="0"/>
              <a:t> amt){  </a:t>
            </a:r>
          </a:p>
          <a:p>
            <a:r>
              <a:rPr lang="en-US" sz="1600" dirty="0" err="1"/>
              <a:t>acc_no</a:t>
            </a:r>
            <a:r>
              <a:rPr lang="en-US" sz="1600" dirty="0"/>
              <a:t>=a;  </a:t>
            </a:r>
          </a:p>
          <a:p>
            <a:r>
              <a:rPr lang="en-US" sz="1600" dirty="0"/>
              <a:t>name=n;  </a:t>
            </a:r>
          </a:p>
          <a:p>
            <a:r>
              <a:rPr lang="en-US" sz="1600" dirty="0"/>
              <a:t>amount=amt;  </a:t>
            </a:r>
          </a:p>
          <a:p>
            <a:r>
              <a:rPr lang="en-US" sz="1600" dirty="0"/>
              <a:t>}  </a:t>
            </a:r>
          </a:p>
          <a:p>
            <a:r>
              <a:rPr lang="en-US" sz="1600" dirty="0"/>
              <a:t> </a:t>
            </a:r>
            <a:r>
              <a:rPr lang="en-US" sz="1600" b="1" dirty="0"/>
              <a:t>void</a:t>
            </a:r>
            <a:r>
              <a:rPr lang="en-US" sz="1600" dirty="0"/>
              <a:t> deposit(</a:t>
            </a:r>
            <a:r>
              <a:rPr lang="en-US" sz="1600" b="1" dirty="0"/>
              <a:t>float</a:t>
            </a:r>
            <a:r>
              <a:rPr lang="en-US" sz="1600" dirty="0"/>
              <a:t> amt){  </a:t>
            </a:r>
          </a:p>
          <a:p>
            <a:r>
              <a:rPr lang="en-US" sz="1600" dirty="0"/>
              <a:t>amount=</a:t>
            </a:r>
            <a:r>
              <a:rPr lang="en-US" sz="1600" dirty="0" err="1"/>
              <a:t>amount+amt</a:t>
            </a:r>
            <a:r>
              <a:rPr lang="en-US" sz="1600" dirty="0"/>
              <a:t>;  </a:t>
            </a:r>
          </a:p>
          <a:p>
            <a:r>
              <a:rPr lang="en-US" sz="1600" dirty="0" err="1"/>
              <a:t>System.out.println</a:t>
            </a:r>
            <a:r>
              <a:rPr lang="en-US" sz="1600" dirty="0"/>
              <a:t>(amt+" deposited");  </a:t>
            </a:r>
          </a:p>
          <a:p>
            <a:r>
              <a:rPr lang="en-US" sz="1600" dirty="0"/>
              <a:t>}  </a:t>
            </a:r>
          </a:p>
          <a:p>
            <a:r>
              <a:rPr lang="en-US" sz="1600" b="1" dirty="0"/>
              <a:t>void</a:t>
            </a:r>
            <a:r>
              <a:rPr lang="en-US" sz="1600" dirty="0"/>
              <a:t> withdraw(</a:t>
            </a:r>
            <a:r>
              <a:rPr lang="en-US" sz="1600" b="1" dirty="0"/>
              <a:t>float</a:t>
            </a:r>
            <a:r>
              <a:rPr lang="en-US" sz="1600" dirty="0"/>
              <a:t> amt){  </a:t>
            </a:r>
          </a:p>
          <a:p>
            <a:r>
              <a:rPr lang="en-US" sz="1600" b="1" dirty="0"/>
              <a:t>if</a:t>
            </a:r>
            <a:r>
              <a:rPr lang="en-US" sz="1600" dirty="0"/>
              <a:t>(amount&lt;amt){  </a:t>
            </a:r>
          </a:p>
          <a:p>
            <a:r>
              <a:rPr lang="en-US" sz="1600" dirty="0" err="1"/>
              <a:t>System.out.println</a:t>
            </a:r>
            <a:r>
              <a:rPr lang="en-US" sz="1600" dirty="0"/>
              <a:t>("Insufficient Balance");  </a:t>
            </a:r>
          </a:p>
          <a:p>
            <a:r>
              <a:rPr lang="en-US" sz="1600" dirty="0"/>
              <a:t>}</a:t>
            </a:r>
            <a:r>
              <a:rPr lang="en-US" sz="1600" b="1" dirty="0"/>
              <a:t>else</a:t>
            </a:r>
            <a:r>
              <a:rPr lang="en-US" sz="1600" dirty="0"/>
              <a:t>{  </a:t>
            </a:r>
          </a:p>
          <a:p>
            <a:r>
              <a:rPr lang="en-US" sz="1600" dirty="0"/>
              <a:t>amount=amount-amt;  </a:t>
            </a:r>
          </a:p>
          <a:p>
            <a:r>
              <a:rPr lang="en-US" sz="1600" dirty="0" err="1"/>
              <a:t>System.out.println</a:t>
            </a:r>
            <a:r>
              <a:rPr lang="en-US" sz="1600" dirty="0"/>
              <a:t>(amt+" withdrawn");  </a:t>
            </a:r>
          </a:p>
          <a:p>
            <a:r>
              <a:rPr lang="en-US" sz="1600" dirty="0"/>
              <a:t>}  </a:t>
            </a:r>
          </a:p>
          <a:p>
            <a:r>
              <a:rPr lang="en-US" sz="1600" dirty="0"/>
              <a:t>}  </a:t>
            </a:r>
          </a:p>
          <a:p>
            <a:r>
              <a:rPr lang="en-US" sz="1600" b="1" dirty="0"/>
              <a:t>void</a:t>
            </a:r>
            <a:r>
              <a:rPr lang="en-US" sz="1600" dirty="0"/>
              <a:t> </a:t>
            </a:r>
            <a:r>
              <a:rPr lang="en-US" sz="1600" dirty="0" err="1"/>
              <a:t>checkBalance</a:t>
            </a:r>
            <a:r>
              <a:rPr lang="en-US" sz="1600" dirty="0"/>
              <a:t>(){</a:t>
            </a:r>
            <a:r>
              <a:rPr lang="en-US" sz="1600" dirty="0" err="1"/>
              <a:t>System.out.println</a:t>
            </a:r>
            <a:r>
              <a:rPr lang="en-US" sz="1600" dirty="0"/>
              <a:t>("Balance is: "+amount);}  </a:t>
            </a:r>
          </a:p>
          <a:p>
            <a:r>
              <a:rPr lang="en-US" sz="1600" b="1" dirty="0"/>
              <a:t>void</a:t>
            </a:r>
            <a:r>
              <a:rPr lang="en-US" sz="1600" dirty="0"/>
              <a:t> display(){</a:t>
            </a:r>
            <a:r>
              <a:rPr lang="en-US" sz="1600" dirty="0" err="1"/>
              <a:t>System.out.println</a:t>
            </a:r>
            <a:r>
              <a:rPr lang="en-US" sz="1600" dirty="0"/>
              <a:t>(</a:t>
            </a:r>
            <a:r>
              <a:rPr lang="en-US" sz="1600" dirty="0" err="1"/>
              <a:t>acc_no</a:t>
            </a:r>
            <a:r>
              <a:rPr lang="en-US" sz="1600" dirty="0"/>
              <a:t>+" "+name+" "+amount);}  </a:t>
            </a:r>
          </a:p>
          <a:p>
            <a:r>
              <a:rPr lang="en-US" sz="1600" dirty="0"/>
              <a:t>}  </a:t>
            </a:r>
          </a:p>
          <a:p>
            <a:r>
              <a:rPr lang="en-US" sz="1600" dirty="0"/>
              <a:t>//Creating a test class to deposit and withdraw amount  </a:t>
            </a:r>
          </a:p>
          <a:p>
            <a:r>
              <a:rPr lang="en-US" sz="1600" b="1" dirty="0"/>
              <a:t>class</a:t>
            </a:r>
            <a:r>
              <a:rPr lang="en-US" sz="1600" dirty="0"/>
              <a:t> </a:t>
            </a:r>
            <a:r>
              <a:rPr lang="en-US" sz="1600" dirty="0" err="1"/>
              <a:t>TestAccount</a:t>
            </a:r>
            <a:r>
              <a:rPr lang="en-US" sz="1600" dirty="0"/>
              <a:t>{  </a:t>
            </a:r>
          </a:p>
          <a:p>
            <a:r>
              <a:rPr lang="en-US" sz="1600" b="1" dirty="0"/>
              <a:t>public</a:t>
            </a:r>
            <a:r>
              <a:rPr lang="en-US" sz="1600" dirty="0"/>
              <a:t> </a:t>
            </a:r>
            <a:r>
              <a:rPr lang="en-US" sz="1600" b="1" dirty="0"/>
              <a:t>static</a:t>
            </a:r>
            <a:r>
              <a:rPr lang="en-US" sz="1600" dirty="0"/>
              <a:t> </a:t>
            </a:r>
            <a:r>
              <a:rPr lang="en-US" sz="1600" b="1" dirty="0"/>
              <a:t>void</a:t>
            </a:r>
            <a:r>
              <a:rPr lang="en-US" sz="1600" dirty="0"/>
              <a:t> main(String[] </a:t>
            </a:r>
            <a:r>
              <a:rPr lang="en-US" sz="1600" dirty="0" err="1"/>
              <a:t>args</a:t>
            </a:r>
            <a:r>
              <a:rPr lang="en-US" sz="1600" dirty="0"/>
              <a:t>){  </a:t>
            </a:r>
          </a:p>
          <a:p>
            <a:r>
              <a:rPr lang="en-US" sz="1600" dirty="0"/>
              <a:t>Account a1=</a:t>
            </a:r>
            <a:r>
              <a:rPr lang="en-US" sz="1600" b="1" dirty="0"/>
              <a:t>new</a:t>
            </a:r>
            <a:r>
              <a:rPr lang="en-US" sz="1600" dirty="0"/>
              <a:t> Account();  </a:t>
            </a:r>
          </a:p>
          <a:p>
            <a:r>
              <a:rPr lang="en-US" sz="1600" dirty="0"/>
              <a:t>a1.insert(832345,"Ankit",1000);  </a:t>
            </a:r>
          </a:p>
          <a:p>
            <a:r>
              <a:rPr lang="en-US" sz="1600" dirty="0"/>
              <a:t>a1.display();  </a:t>
            </a:r>
          </a:p>
          <a:p>
            <a:r>
              <a:rPr lang="en-US" sz="1600" dirty="0"/>
              <a:t>a1.checkBalance();  </a:t>
            </a:r>
          </a:p>
          <a:p>
            <a:r>
              <a:rPr lang="en-US" sz="1600" dirty="0"/>
              <a:t>a1.deposit(40000);  </a:t>
            </a:r>
          </a:p>
          <a:p>
            <a:r>
              <a:rPr lang="en-US" sz="1600" dirty="0"/>
              <a:t>a1.checkBalance();  </a:t>
            </a:r>
          </a:p>
          <a:p>
            <a:r>
              <a:rPr lang="en-US" sz="1600" dirty="0"/>
              <a:t>a1.withdraw(15000);  </a:t>
            </a:r>
          </a:p>
          <a:p>
            <a:r>
              <a:rPr lang="en-US" sz="1600" dirty="0"/>
              <a:t>a1.checkBalance();  </a:t>
            </a:r>
          </a:p>
          <a:p>
            <a:r>
              <a:rPr lang="en-US" sz="1600" dirty="0"/>
              <a:t>}}   </a:t>
            </a:r>
          </a:p>
          <a:p>
            <a:endParaRPr lang="en-US" sz="16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C00000"/>
                </a:solidFill>
              </a:rPr>
              <a:t>Array of Objects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146</a:t>
            </a:fld>
            <a:endParaRPr lang="en-US"/>
          </a:p>
        </p:txBody>
      </p:sp>
      <p:sp>
        <p:nvSpPr>
          <p:cNvPr id="4" name="Content Placeholder 3"/>
          <p:cNvSpPr>
            <a:spLocks noGrp="1"/>
          </p:cNvSpPr>
          <p:nvPr>
            <p:ph sz="quarter" idx="1"/>
          </p:nvPr>
        </p:nvSpPr>
        <p:spPr/>
        <p:txBody>
          <a:bodyPr/>
          <a:lstStyle/>
          <a:p>
            <a:pPr algn="just"/>
            <a:r>
              <a:rPr lang="en-US" sz="2000" dirty="0"/>
              <a:t>Java is an object-oriented programming language. Most of the work done with the help of </a:t>
            </a:r>
            <a:r>
              <a:rPr lang="en-US" sz="2000" b="1" dirty="0"/>
              <a:t>objects</a:t>
            </a:r>
            <a:r>
              <a:rPr lang="en-US" sz="2000" dirty="0"/>
              <a:t>. </a:t>
            </a:r>
          </a:p>
          <a:p>
            <a:pPr algn="just"/>
            <a:r>
              <a:rPr lang="en-US" sz="2000" dirty="0"/>
              <a:t>We know that an array is a collection of the same data type that dynamically creates objects and can have elements of primitive types. </a:t>
            </a:r>
          </a:p>
          <a:p>
            <a:pPr algn="just"/>
            <a:r>
              <a:rPr lang="en-US" sz="2000" dirty="0"/>
              <a:t>Java allows us to store objects in an array. In Java, the class is also a user-defined data type. </a:t>
            </a:r>
          </a:p>
          <a:p>
            <a:pPr algn="just"/>
            <a:r>
              <a:rPr lang="en-US" sz="2000" dirty="0"/>
              <a:t>An array that conations </a:t>
            </a:r>
            <a:r>
              <a:rPr lang="en-US" sz="2000" b="1" dirty="0"/>
              <a:t>class type elements</a:t>
            </a:r>
            <a:r>
              <a:rPr lang="en-US" sz="2000" dirty="0"/>
              <a:t> are known as an </a:t>
            </a:r>
            <a:r>
              <a:rPr lang="en-US" sz="2000" b="1" dirty="0"/>
              <a:t>array of objects</a:t>
            </a:r>
            <a:r>
              <a:rPr lang="en-US" sz="2000" dirty="0"/>
              <a:t>. It stores the reference variable of the object.</a:t>
            </a:r>
          </a:p>
          <a:p>
            <a:endParaRPr lang="en-US" dirty="0"/>
          </a:p>
        </p:txBody>
      </p:sp>
      <p:pic>
        <p:nvPicPr>
          <p:cNvPr id="181250" name="Picture 2" descr="How to Create Array of Objects in Java"/>
          <p:cNvPicPr>
            <a:picLocks noChangeAspect="1" noChangeArrowheads="1"/>
          </p:cNvPicPr>
          <p:nvPr/>
        </p:nvPicPr>
        <p:blipFill>
          <a:blip r:embed="rId2"/>
          <a:srcRect/>
          <a:stretch>
            <a:fillRect/>
          </a:stretch>
        </p:blipFill>
        <p:spPr bwMode="auto">
          <a:xfrm>
            <a:off x="6039057" y="3779872"/>
            <a:ext cx="3557571" cy="3438526"/>
          </a:xfrm>
          <a:prstGeom prst="rect">
            <a:avLst/>
          </a:prstGeom>
          <a:noFill/>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ArrayOfObjects.java</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147</a:t>
            </a:fld>
            <a:endParaRPr lang="en-US"/>
          </a:p>
        </p:txBody>
      </p:sp>
      <p:sp>
        <p:nvSpPr>
          <p:cNvPr id="4" name="Content Placeholder 3"/>
          <p:cNvSpPr>
            <a:spLocks noGrp="1"/>
          </p:cNvSpPr>
          <p:nvPr>
            <p:ph sz="quarter" idx="1"/>
          </p:nvPr>
        </p:nvSpPr>
        <p:spPr>
          <a:xfrm>
            <a:off x="504031" y="1343942"/>
            <a:ext cx="9423740" cy="5442966"/>
          </a:xfrm>
        </p:spPr>
        <p:txBody>
          <a:bodyPr numCol="3">
            <a:normAutofit fontScale="92500" lnSpcReduction="20000"/>
          </a:bodyPr>
          <a:lstStyle/>
          <a:p>
            <a:r>
              <a:rPr lang="en-US" sz="1600" b="1" dirty="0"/>
              <a:t>public</a:t>
            </a:r>
            <a:r>
              <a:rPr lang="en-US" sz="1600" dirty="0"/>
              <a:t> </a:t>
            </a:r>
            <a:r>
              <a:rPr lang="en-US" sz="1600" b="1" dirty="0"/>
              <a:t>class</a:t>
            </a:r>
            <a:r>
              <a:rPr lang="en-US" sz="1600" dirty="0"/>
              <a:t> </a:t>
            </a:r>
            <a:r>
              <a:rPr lang="en-US" sz="1600" dirty="0" err="1"/>
              <a:t>ArrayOfObjects</a:t>
            </a:r>
            <a:r>
              <a:rPr lang="en-US" sz="1600" dirty="0"/>
              <a:t>  </a:t>
            </a:r>
          </a:p>
          <a:p>
            <a:r>
              <a:rPr lang="en-US" sz="1600" dirty="0"/>
              <a:t>{  </a:t>
            </a:r>
          </a:p>
          <a:p>
            <a:r>
              <a:rPr lang="en-US" sz="1600" b="1" dirty="0"/>
              <a:t>public</a:t>
            </a:r>
            <a:r>
              <a:rPr lang="en-US" sz="1600" dirty="0"/>
              <a:t> </a:t>
            </a:r>
            <a:r>
              <a:rPr lang="en-US" sz="1600" b="1" dirty="0"/>
              <a:t>static</a:t>
            </a:r>
            <a:r>
              <a:rPr lang="en-US" sz="1600" dirty="0"/>
              <a:t> </a:t>
            </a:r>
            <a:r>
              <a:rPr lang="en-US" sz="1600" b="1" dirty="0"/>
              <a:t>void</a:t>
            </a:r>
            <a:r>
              <a:rPr lang="en-US" sz="1600" dirty="0"/>
              <a:t> main(String </a:t>
            </a:r>
            <a:r>
              <a:rPr lang="en-US" sz="1600" dirty="0" err="1"/>
              <a:t>args</a:t>
            </a:r>
            <a:r>
              <a:rPr lang="en-US" sz="1600" dirty="0"/>
              <a:t>[])  </a:t>
            </a:r>
          </a:p>
          <a:p>
            <a:r>
              <a:rPr lang="en-US" sz="1600" dirty="0"/>
              <a:t>{  </a:t>
            </a:r>
          </a:p>
          <a:p>
            <a:r>
              <a:rPr lang="en-US" sz="1600" dirty="0"/>
              <a:t>//create an array of product object   </a:t>
            </a:r>
          </a:p>
          <a:p>
            <a:r>
              <a:rPr lang="en-US" sz="1600" dirty="0"/>
              <a:t>Product[] </a:t>
            </a:r>
            <a:r>
              <a:rPr lang="en-US" sz="1600" dirty="0" err="1"/>
              <a:t>obj</a:t>
            </a:r>
            <a:r>
              <a:rPr lang="en-US" sz="1600" dirty="0"/>
              <a:t> = </a:t>
            </a:r>
            <a:r>
              <a:rPr lang="en-US" sz="1600" b="1" dirty="0"/>
              <a:t>new</a:t>
            </a:r>
            <a:r>
              <a:rPr lang="en-US" sz="1600" dirty="0"/>
              <a:t> Product[5] ;  </a:t>
            </a:r>
          </a:p>
          <a:p>
            <a:r>
              <a:rPr lang="en-US" sz="1600" dirty="0"/>
              <a:t>//create &amp; initialize actual product objects using constructor  </a:t>
            </a:r>
          </a:p>
          <a:p>
            <a:r>
              <a:rPr lang="en-US" sz="1600" dirty="0" err="1"/>
              <a:t>obj</a:t>
            </a:r>
            <a:r>
              <a:rPr lang="en-US" sz="1600" dirty="0"/>
              <a:t>[0] = </a:t>
            </a:r>
            <a:r>
              <a:rPr lang="en-US" sz="1600" b="1" dirty="0"/>
              <a:t>new</a:t>
            </a:r>
            <a:r>
              <a:rPr lang="en-US" sz="1600" dirty="0"/>
              <a:t> Product(23907,"Dell Laptop");  </a:t>
            </a:r>
          </a:p>
          <a:p>
            <a:r>
              <a:rPr lang="en-US" sz="1600" dirty="0" err="1"/>
              <a:t>obj</a:t>
            </a:r>
            <a:r>
              <a:rPr lang="en-US" sz="1600" dirty="0"/>
              <a:t>[1] = </a:t>
            </a:r>
            <a:r>
              <a:rPr lang="en-US" sz="1600" b="1" dirty="0"/>
              <a:t>new</a:t>
            </a:r>
            <a:r>
              <a:rPr lang="en-US" sz="1600" dirty="0"/>
              <a:t> Product(91240,"HP 630");  </a:t>
            </a:r>
          </a:p>
          <a:p>
            <a:r>
              <a:rPr lang="en-US" sz="1600" dirty="0" err="1"/>
              <a:t>obj</a:t>
            </a:r>
            <a:r>
              <a:rPr lang="en-US" sz="1600" dirty="0"/>
              <a:t>[2] = </a:t>
            </a:r>
            <a:r>
              <a:rPr lang="en-US" sz="1600" b="1" dirty="0"/>
              <a:t>new</a:t>
            </a:r>
            <a:r>
              <a:rPr lang="en-US" sz="1600" dirty="0"/>
              <a:t> Product(29823,"LG OLED TV");  </a:t>
            </a:r>
          </a:p>
          <a:p>
            <a:r>
              <a:rPr lang="en-US" sz="1600" dirty="0" err="1"/>
              <a:t>obj</a:t>
            </a:r>
            <a:r>
              <a:rPr lang="en-US" sz="1600" dirty="0"/>
              <a:t>[3] = </a:t>
            </a:r>
            <a:r>
              <a:rPr lang="en-US" sz="1600" b="1" dirty="0"/>
              <a:t>new</a:t>
            </a:r>
            <a:r>
              <a:rPr lang="en-US" sz="1600" dirty="0"/>
              <a:t> Product(11908,"MI Note Pro Max 9");  </a:t>
            </a:r>
          </a:p>
          <a:p>
            <a:r>
              <a:rPr lang="en-US" sz="1600" dirty="0" err="1"/>
              <a:t>obj</a:t>
            </a:r>
            <a:r>
              <a:rPr lang="en-US" sz="1600" dirty="0"/>
              <a:t>[4] = </a:t>
            </a:r>
            <a:r>
              <a:rPr lang="en-US" sz="1600" b="1" dirty="0"/>
              <a:t>new</a:t>
            </a:r>
            <a:r>
              <a:rPr lang="en-US" sz="1600" dirty="0"/>
              <a:t> Product(43590,"Kingston USB");  </a:t>
            </a:r>
          </a:p>
          <a:p>
            <a:r>
              <a:rPr lang="en-US" sz="1600" dirty="0"/>
              <a:t>//display the product object data  </a:t>
            </a:r>
          </a:p>
          <a:p>
            <a:r>
              <a:rPr lang="en-US" sz="1600" dirty="0" err="1"/>
              <a:t>System.out.println</a:t>
            </a:r>
            <a:r>
              <a:rPr lang="en-US" sz="1600" dirty="0"/>
              <a:t>("Product Object 1:");  </a:t>
            </a:r>
          </a:p>
          <a:p>
            <a:r>
              <a:rPr lang="en-US" sz="1600" dirty="0" err="1"/>
              <a:t>obj</a:t>
            </a:r>
            <a:r>
              <a:rPr lang="en-US" sz="1600" dirty="0"/>
              <a:t>[0].display();  </a:t>
            </a:r>
          </a:p>
          <a:p>
            <a:r>
              <a:rPr lang="en-US" sz="1600" dirty="0" err="1"/>
              <a:t>System.out.println</a:t>
            </a:r>
            <a:r>
              <a:rPr lang="en-US" sz="1600" dirty="0"/>
              <a:t>("Product Object 2:");  </a:t>
            </a:r>
          </a:p>
          <a:p>
            <a:r>
              <a:rPr lang="en-US" sz="1600" dirty="0" err="1"/>
              <a:t>obj</a:t>
            </a:r>
            <a:r>
              <a:rPr lang="en-US" sz="1600" dirty="0"/>
              <a:t>[1].display();  </a:t>
            </a:r>
          </a:p>
          <a:p>
            <a:r>
              <a:rPr lang="en-US" sz="1600" dirty="0" err="1"/>
              <a:t>System.out.println</a:t>
            </a:r>
            <a:r>
              <a:rPr lang="en-US" sz="1600" dirty="0"/>
              <a:t>("Product Object 3:");  </a:t>
            </a:r>
          </a:p>
          <a:p>
            <a:r>
              <a:rPr lang="en-US" sz="1600" dirty="0" err="1"/>
              <a:t>obj</a:t>
            </a:r>
            <a:r>
              <a:rPr lang="en-US" sz="1600" dirty="0"/>
              <a:t>[2].display();  </a:t>
            </a:r>
          </a:p>
          <a:p>
            <a:r>
              <a:rPr lang="en-US" sz="1600" dirty="0" err="1"/>
              <a:t>System.out.println</a:t>
            </a:r>
            <a:r>
              <a:rPr lang="en-US" sz="1600" dirty="0"/>
              <a:t>("Product Object 4:");  </a:t>
            </a:r>
          </a:p>
          <a:p>
            <a:r>
              <a:rPr lang="en-US" sz="1600" dirty="0" err="1"/>
              <a:t>obj</a:t>
            </a:r>
            <a:r>
              <a:rPr lang="en-US" sz="1600" dirty="0"/>
              <a:t>[3].display();  </a:t>
            </a:r>
          </a:p>
          <a:p>
            <a:r>
              <a:rPr lang="en-US" sz="1600" dirty="0" err="1"/>
              <a:t>System.out.println</a:t>
            </a:r>
            <a:r>
              <a:rPr lang="en-US" sz="1600" dirty="0"/>
              <a:t>("Product Object 5:");  </a:t>
            </a:r>
          </a:p>
          <a:p>
            <a:r>
              <a:rPr lang="en-US" sz="1600" dirty="0" err="1"/>
              <a:t>obj</a:t>
            </a:r>
            <a:r>
              <a:rPr lang="en-US" sz="1600" dirty="0"/>
              <a:t>[4].display();  </a:t>
            </a:r>
          </a:p>
          <a:p>
            <a:r>
              <a:rPr lang="en-US" sz="1600" dirty="0"/>
              <a:t>}  </a:t>
            </a:r>
          </a:p>
          <a:p>
            <a:r>
              <a:rPr lang="en-US" sz="1600" dirty="0"/>
              <a:t>}  </a:t>
            </a:r>
          </a:p>
          <a:p>
            <a:r>
              <a:rPr lang="en-US" sz="1600" dirty="0"/>
              <a:t>//Product class with product Id and product name as attributes  </a:t>
            </a:r>
          </a:p>
          <a:p>
            <a:r>
              <a:rPr lang="en-US" sz="1600" b="1" dirty="0"/>
              <a:t>class</a:t>
            </a:r>
            <a:r>
              <a:rPr lang="en-US" sz="1600" dirty="0"/>
              <a:t> Product  </a:t>
            </a:r>
          </a:p>
          <a:p>
            <a:r>
              <a:rPr lang="en-US" sz="1600" dirty="0"/>
              <a:t>{  </a:t>
            </a:r>
          </a:p>
          <a:p>
            <a:r>
              <a:rPr lang="en-US" sz="1600" b="1" dirty="0" err="1"/>
              <a:t>int</a:t>
            </a:r>
            <a:r>
              <a:rPr lang="en-US" sz="1600" dirty="0"/>
              <a:t> </a:t>
            </a:r>
            <a:r>
              <a:rPr lang="en-US" sz="1600" dirty="0" err="1"/>
              <a:t>pro_Id</a:t>
            </a:r>
            <a:r>
              <a:rPr lang="en-US" sz="1600" dirty="0"/>
              <a:t>;  </a:t>
            </a:r>
          </a:p>
          <a:p>
            <a:r>
              <a:rPr lang="en-US" sz="1600" dirty="0"/>
              <a:t>String </a:t>
            </a:r>
            <a:r>
              <a:rPr lang="en-US" sz="1600" dirty="0" err="1"/>
              <a:t>pro_name</a:t>
            </a:r>
            <a:r>
              <a:rPr lang="en-US" sz="1600" dirty="0"/>
              <a:t>;  </a:t>
            </a:r>
          </a:p>
          <a:p>
            <a:r>
              <a:rPr lang="en-US" sz="1600" dirty="0"/>
              <a:t>//Product class constructor  </a:t>
            </a:r>
          </a:p>
          <a:p>
            <a:r>
              <a:rPr lang="en-US" sz="1600" dirty="0"/>
              <a:t>Product(</a:t>
            </a:r>
            <a:r>
              <a:rPr lang="en-US" sz="1600" b="1" dirty="0" err="1"/>
              <a:t>int</a:t>
            </a:r>
            <a:r>
              <a:rPr lang="en-US" sz="1600" dirty="0"/>
              <a:t> </a:t>
            </a:r>
            <a:r>
              <a:rPr lang="en-US" sz="1600" dirty="0" err="1"/>
              <a:t>pid</a:t>
            </a:r>
            <a:r>
              <a:rPr lang="en-US" sz="1600" dirty="0"/>
              <a:t>, String n)  </a:t>
            </a:r>
          </a:p>
          <a:p>
            <a:r>
              <a:rPr lang="en-US" sz="1600" dirty="0"/>
              <a:t>{  </a:t>
            </a:r>
          </a:p>
          <a:p>
            <a:r>
              <a:rPr lang="en-US" sz="1600" dirty="0" err="1"/>
              <a:t>pro_Id</a:t>
            </a:r>
            <a:r>
              <a:rPr lang="en-US" sz="1600" dirty="0"/>
              <a:t> = </a:t>
            </a:r>
            <a:r>
              <a:rPr lang="en-US" sz="1600" dirty="0" err="1"/>
              <a:t>pid</a:t>
            </a:r>
            <a:r>
              <a:rPr lang="en-US" sz="1600" dirty="0"/>
              <a:t>;  </a:t>
            </a:r>
          </a:p>
          <a:p>
            <a:r>
              <a:rPr lang="en-US" sz="1600" dirty="0" err="1"/>
              <a:t>pro_name</a:t>
            </a:r>
            <a:r>
              <a:rPr lang="en-US" sz="1600" dirty="0"/>
              <a:t> = n;  </a:t>
            </a:r>
          </a:p>
          <a:p>
            <a:r>
              <a:rPr lang="en-US" sz="1600" dirty="0"/>
              <a:t>}  </a:t>
            </a:r>
          </a:p>
          <a:p>
            <a:r>
              <a:rPr lang="en-US" sz="1600" b="1" dirty="0"/>
              <a:t>public</a:t>
            </a:r>
            <a:r>
              <a:rPr lang="en-US" sz="1600" dirty="0"/>
              <a:t> </a:t>
            </a:r>
            <a:r>
              <a:rPr lang="en-US" sz="1600" b="1" dirty="0"/>
              <a:t>void</a:t>
            </a:r>
            <a:r>
              <a:rPr lang="en-US" sz="1600" dirty="0"/>
              <a:t> display()  </a:t>
            </a:r>
          </a:p>
          <a:p>
            <a:r>
              <a:rPr lang="en-US" sz="1600" dirty="0"/>
              <a:t>{  </a:t>
            </a:r>
          </a:p>
          <a:p>
            <a:r>
              <a:rPr lang="en-US" sz="1600" dirty="0" err="1"/>
              <a:t>System.out.print</a:t>
            </a:r>
            <a:r>
              <a:rPr lang="en-US" sz="1600" dirty="0"/>
              <a:t>("Product Id = "+</a:t>
            </a:r>
            <a:r>
              <a:rPr lang="en-US" sz="1600" dirty="0" err="1"/>
              <a:t>pro_Id</a:t>
            </a:r>
            <a:r>
              <a:rPr lang="en-US" sz="1600" dirty="0"/>
              <a:t> + "  " + " Product Name = "+</a:t>
            </a:r>
            <a:r>
              <a:rPr lang="en-US" sz="1600" dirty="0" err="1"/>
              <a:t>pro_name</a:t>
            </a:r>
            <a:r>
              <a:rPr lang="en-US" sz="1600" dirty="0"/>
              <a:t>);  </a:t>
            </a:r>
          </a:p>
          <a:p>
            <a:r>
              <a:rPr lang="en-US" sz="1600" dirty="0" err="1"/>
              <a:t>System.out.println</a:t>
            </a:r>
            <a:r>
              <a:rPr lang="en-US" sz="1600" dirty="0"/>
              <a:t>();  </a:t>
            </a:r>
          </a:p>
          <a:p>
            <a:r>
              <a:rPr lang="en-US" sz="1600" dirty="0"/>
              <a:t>}  </a:t>
            </a:r>
          </a:p>
          <a:p>
            <a:r>
              <a:rPr lang="en-US" sz="1600" dirty="0"/>
              <a:t>}  </a:t>
            </a:r>
          </a:p>
          <a:p>
            <a:endParaRPr 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Constructor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148</a:t>
            </a:fld>
            <a:endParaRPr lang="en-US"/>
          </a:p>
        </p:txBody>
      </p:sp>
      <p:sp>
        <p:nvSpPr>
          <p:cNvPr id="4" name="Content Placeholder 3"/>
          <p:cNvSpPr>
            <a:spLocks noGrp="1"/>
          </p:cNvSpPr>
          <p:nvPr>
            <p:ph sz="quarter" idx="1"/>
          </p:nvPr>
        </p:nvSpPr>
        <p:spPr/>
        <p:txBody>
          <a:bodyPr>
            <a:normAutofit/>
          </a:bodyPr>
          <a:lstStyle/>
          <a:p>
            <a:pPr algn="just"/>
            <a:r>
              <a:rPr lang="en-US" sz="2400" dirty="0"/>
              <a:t>In Java, a constructor is a block of codes similar to the method. It is called when an instance of the class is created. At the time of calling constructor, memory for the object is allocated in the memory.</a:t>
            </a:r>
          </a:p>
          <a:p>
            <a:pPr algn="just"/>
            <a:r>
              <a:rPr lang="en-US" sz="2400" dirty="0">
                <a:solidFill>
                  <a:srgbClr val="008000"/>
                </a:solidFill>
              </a:rPr>
              <a:t>It is a special type of method which is used to initialize the object.</a:t>
            </a:r>
          </a:p>
          <a:p>
            <a:pPr algn="just"/>
            <a:r>
              <a:rPr lang="en-US" sz="2400" dirty="0"/>
              <a:t>Every time an object is created using the new() keyword, at least one constructor is called.</a:t>
            </a:r>
          </a:p>
          <a:p>
            <a:pPr algn="just"/>
            <a:r>
              <a:rPr lang="en-US" sz="2200" dirty="0">
                <a:solidFill>
                  <a:srgbClr val="008000"/>
                </a:solidFill>
              </a:rPr>
              <a:t>It calls a default constructor if there is no constructor available in the class. In such case, Java compiler provides a default constructor by default.</a:t>
            </a:r>
          </a:p>
          <a:p>
            <a:pPr algn="just"/>
            <a:r>
              <a:rPr lang="en-US" sz="2200" dirty="0"/>
              <a:t>There are two types of constructors in Java: no-</a:t>
            </a:r>
            <a:r>
              <a:rPr lang="en-US" sz="2200" dirty="0" err="1"/>
              <a:t>arg</a:t>
            </a:r>
            <a:r>
              <a:rPr lang="en-US" sz="2200" dirty="0"/>
              <a:t> constructor, and parameterized constructor.</a:t>
            </a:r>
          </a:p>
          <a:p>
            <a:pPr algn="just"/>
            <a:r>
              <a:rPr lang="en-US" sz="2200" b="1" dirty="0">
                <a:solidFill>
                  <a:srgbClr val="008000"/>
                </a:solidFill>
              </a:rPr>
              <a:t>Note:</a:t>
            </a:r>
            <a:r>
              <a:rPr lang="en-US" sz="2200" dirty="0">
                <a:solidFill>
                  <a:srgbClr val="008000"/>
                </a:solidFill>
              </a:rPr>
              <a:t> It is called constructor because it constructs the values at the time of object creation. It is not necessary to write a constructor for a class. It is because java compiler creates a default constructor if your class doesn't have any.</a:t>
            </a:r>
          </a:p>
          <a:p>
            <a:pPr algn="just"/>
            <a:endParaRPr lang="en-US" sz="22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Rules for creating Java constructor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149</a:t>
            </a:fld>
            <a:endParaRPr lang="en-US"/>
          </a:p>
        </p:txBody>
      </p:sp>
      <p:sp>
        <p:nvSpPr>
          <p:cNvPr id="4" name="Content Placeholder 3"/>
          <p:cNvSpPr>
            <a:spLocks noGrp="1"/>
          </p:cNvSpPr>
          <p:nvPr>
            <p:ph sz="quarter" idx="1"/>
          </p:nvPr>
        </p:nvSpPr>
        <p:spPr/>
        <p:txBody>
          <a:bodyPr/>
          <a:lstStyle/>
          <a:p>
            <a:r>
              <a:rPr lang="en-US" sz="3200" dirty="0"/>
              <a:t>There are two rules defined for the constructor.</a:t>
            </a:r>
          </a:p>
          <a:p>
            <a:pPr lvl="1" algn="just"/>
            <a:r>
              <a:rPr lang="en-US" sz="2800" dirty="0">
                <a:solidFill>
                  <a:srgbClr val="0070C0"/>
                </a:solidFill>
              </a:rPr>
              <a:t>Constructor name must be the same as its class name</a:t>
            </a:r>
          </a:p>
          <a:p>
            <a:pPr lvl="1" algn="just"/>
            <a:r>
              <a:rPr lang="en-US" sz="2800" dirty="0">
                <a:solidFill>
                  <a:srgbClr val="0070C0"/>
                </a:solidFill>
              </a:rPr>
              <a:t>A Constructor must have no explicit return type</a:t>
            </a:r>
          </a:p>
          <a:p>
            <a:pPr lvl="1" algn="just"/>
            <a:r>
              <a:rPr lang="en-US" sz="2800" dirty="0">
                <a:solidFill>
                  <a:srgbClr val="0070C0"/>
                </a:solidFill>
              </a:rPr>
              <a:t>A Java constructor cannot be abstract, static, final, and synchronized</a:t>
            </a:r>
          </a:p>
          <a:p>
            <a:r>
              <a:rPr lang="en-US" b="1" dirty="0">
                <a:solidFill>
                  <a:srgbClr val="FF0000"/>
                </a:solidFill>
              </a:rPr>
              <a:t>Types of Java constructors</a:t>
            </a:r>
          </a:p>
          <a:p>
            <a:pPr lvl="1"/>
            <a:r>
              <a:rPr lang="en-US" dirty="0"/>
              <a:t>There are two types of constructors in Java:</a:t>
            </a:r>
          </a:p>
          <a:p>
            <a:pPr lvl="2"/>
            <a:r>
              <a:rPr lang="en-US" sz="2800" dirty="0">
                <a:solidFill>
                  <a:srgbClr val="0070C0"/>
                </a:solidFill>
              </a:rPr>
              <a:t>Default constructor (no-</a:t>
            </a:r>
            <a:r>
              <a:rPr lang="en-US" sz="2800" dirty="0" err="1">
                <a:solidFill>
                  <a:srgbClr val="0070C0"/>
                </a:solidFill>
              </a:rPr>
              <a:t>arg</a:t>
            </a:r>
            <a:r>
              <a:rPr lang="en-US" sz="2800" dirty="0">
                <a:solidFill>
                  <a:srgbClr val="0070C0"/>
                </a:solidFill>
              </a:rPr>
              <a:t> constructor)</a:t>
            </a:r>
          </a:p>
          <a:p>
            <a:pPr lvl="2"/>
            <a:r>
              <a:rPr lang="en-US" sz="2800" dirty="0">
                <a:solidFill>
                  <a:srgbClr val="0070C0"/>
                </a:solidFill>
              </a:rPr>
              <a:t>Parameterized constructor</a:t>
            </a:r>
          </a:p>
          <a:p>
            <a:endParaRPr lang="en-US" dirty="0"/>
          </a:p>
        </p:txBody>
      </p:sp>
    </p:spTree>
    <p:extLst>
      <p:ext uri="{BB962C8B-B14F-4D97-AF65-F5344CB8AC3E}">
        <p14:creationId xmlns:p14="http://schemas.microsoft.com/office/powerpoint/2010/main" val="371503405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150</a:t>
            </a:fld>
            <a:endParaRPr lang="en-US"/>
          </a:p>
        </p:txBody>
      </p:sp>
      <p:sp>
        <p:nvSpPr>
          <p:cNvPr id="4" name="Content Placeholder 3"/>
          <p:cNvSpPr>
            <a:spLocks noGrp="1"/>
          </p:cNvSpPr>
          <p:nvPr>
            <p:ph sz="quarter" idx="1"/>
          </p:nvPr>
        </p:nvSpPr>
        <p:spPr/>
        <p:txBody>
          <a:bodyPr/>
          <a:lstStyle/>
          <a:p>
            <a:r>
              <a:rPr lang="en-US" b="1" dirty="0">
                <a:solidFill>
                  <a:srgbClr val="FF0000"/>
                </a:solidFill>
              </a:rPr>
              <a:t>Java Default Constructor</a:t>
            </a:r>
          </a:p>
          <a:p>
            <a:r>
              <a:rPr lang="en-US" dirty="0"/>
              <a:t>A constructor is called "Default Constructor" when it doesn't have any parameter.</a:t>
            </a:r>
          </a:p>
          <a:p>
            <a:r>
              <a:rPr lang="en-US" dirty="0">
                <a:solidFill>
                  <a:srgbClr val="FF0000"/>
                </a:solidFill>
              </a:rPr>
              <a:t>Syntax of default constructor:</a:t>
            </a:r>
          </a:p>
          <a:p>
            <a:pPr lvl="1"/>
            <a:r>
              <a:rPr lang="en-US" dirty="0"/>
              <a:t>&lt;</a:t>
            </a:r>
            <a:r>
              <a:rPr lang="en-US" dirty="0" err="1"/>
              <a:t>class_name</a:t>
            </a:r>
            <a:r>
              <a:rPr lang="en-US" dirty="0"/>
              <a:t>&gt;()</a:t>
            </a:r>
          </a:p>
          <a:p>
            <a:pPr lvl="1"/>
            <a:r>
              <a:rPr lang="en-US" dirty="0"/>
              <a:t>{</a:t>
            </a:r>
          </a:p>
          <a:p>
            <a:pPr lvl="1"/>
            <a:r>
              <a:rPr lang="en-US" dirty="0"/>
              <a:t>}  </a:t>
            </a:r>
          </a:p>
          <a:p>
            <a:endParaRPr lang="en-US" dirty="0"/>
          </a:p>
        </p:txBody>
      </p:sp>
    </p:spTree>
    <p:extLst>
      <p:ext uri="{BB962C8B-B14F-4D97-AF65-F5344CB8AC3E}">
        <p14:creationId xmlns:p14="http://schemas.microsoft.com/office/powerpoint/2010/main" val="169956733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Example of default constructor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151</a:t>
            </a:fld>
            <a:endParaRPr lang="en-US"/>
          </a:p>
        </p:txBody>
      </p:sp>
      <p:sp>
        <p:nvSpPr>
          <p:cNvPr id="4" name="Content Placeholder 3"/>
          <p:cNvSpPr>
            <a:spLocks noGrp="1"/>
          </p:cNvSpPr>
          <p:nvPr>
            <p:ph sz="quarter" idx="1"/>
          </p:nvPr>
        </p:nvSpPr>
        <p:spPr/>
        <p:txBody>
          <a:bodyPr>
            <a:normAutofit/>
          </a:bodyPr>
          <a:lstStyle/>
          <a:p>
            <a:r>
              <a:rPr lang="en-US" dirty="0"/>
              <a:t>//Java Program to create and call a default constructor  </a:t>
            </a:r>
          </a:p>
          <a:p>
            <a:r>
              <a:rPr lang="en-US" b="1" dirty="0"/>
              <a:t>class</a:t>
            </a:r>
            <a:r>
              <a:rPr lang="en-US" dirty="0"/>
              <a:t> Bike1{  </a:t>
            </a:r>
          </a:p>
          <a:p>
            <a:r>
              <a:rPr lang="en-US" dirty="0"/>
              <a:t>//creating a default constructor  </a:t>
            </a:r>
          </a:p>
          <a:p>
            <a:r>
              <a:rPr lang="en-US" dirty="0"/>
              <a:t>Bike1(){</a:t>
            </a:r>
            <a:r>
              <a:rPr lang="en-US" dirty="0" err="1"/>
              <a:t>System.out.println</a:t>
            </a:r>
            <a:r>
              <a:rPr lang="en-US" dirty="0"/>
              <a:t>("Bike is created");}  </a:t>
            </a:r>
          </a:p>
          <a:p>
            <a:r>
              <a:rPr lang="en-US" dirty="0"/>
              <a:t>//main method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//calling a default constructor  </a:t>
            </a:r>
          </a:p>
          <a:p>
            <a:r>
              <a:rPr lang="en-US" dirty="0"/>
              <a:t>Bike1 b=</a:t>
            </a:r>
            <a:r>
              <a:rPr lang="en-US" b="1" dirty="0"/>
              <a:t>new</a:t>
            </a:r>
            <a:r>
              <a:rPr lang="en-US" dirty="0"/>
              <a:t> Bike1();  </a:t>
            </a:r>
          </a:p>
          <a:p>
            <a:r>
              <a:rPr lang="en-US" dirty="0"/>
              <a:t>}  </a:t>
            </a:r>
          </a:p>
          <a:p>
            <a:r>
              <a:rPr lang="en-US" dirty="0"/>
              <a:t>}  </a:t>
            </a:r>
          </a:p>
          <a:p>
            <a:endParaRPr lang="en-US" dirty="0"/>
          </a:p>
        </p:txBody>
      </p:sp>
    </p:spTree>
    <p:extLst>
      <p:ext uri="{BB962C8B-B14F-4D97-AF65-F5344CB8AC3E}">
        <p14:creationId xmlns:p14="http://schemas.microsoft.com/office/powerpoint/2010/main" val="226116983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152</a:t>
            </a:fld>
            <a:endParaRPr lang="en-US"/>
          </a:p>
        </p:txBody>
      </p:sp>
      <p:sp>
        <p:nvSpPr>
          <p:cNvPr id="4" name="Content Placeholder 3"/>
          <p:cNvSpPr>
            <a:spLocks noGrp="1"/>
          </p:cNvSpPr>
          <p:nvPr>
            <p:ph sz="quarter" idx="1"/>
          </p:nvPr>
        </p:nvSpPr>
        <p:spPr/>
        <p:txBody>
          <a:bodyPr/>
          <a:lstStyle/>
          <a:p>
            <a:endParaRPr lang="en-US" dirty="0"/>
          </a:p>
        </p:txBody>
      </p:sp>
      <p:pic>
        <p:nvPicPr>
          <p:cNvPr id="1026" name="Picture 2" descr="Java default constru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094" y="1479736"/>
            <a:ext cx="8089265" cy="2635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10059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FF0000"/>
                </a:solidFill>
              </a:rPr>
              <a:t>Example of default constructor that displays the default values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153</a:t>
            </a:fld>
            <a:endParaRPr lang="en-US"/>
          </a:p>
        </p:txBody>
      </p:sp>
      <p:sp>
        <p:nvSpPr>
          <p:cNvPr id="4" name="Content Placeholder 3"/>
          <p:cNvSpPr>
            <a:spLocks noGrp="1"/>
          </p:cNvSpPr>
          <p:nvPr>
            <p:ph sz="quarter" idx="1"/>
          </p:nvPr>
        </p:nvSpPr>
        <p:spPr>
          <a:xfrm>
            <a:off x="504031" y="1343941"/>
            <a:ext cx="9386729" cy="5662757"/>
          </a:xfrm>
        </p:spPr>
        <p:txBody>
          <a:bodyPr numCol="2">
            <a:normAutofit/>
          </a:bodyPr>
          <a:lstStyle/>
          <a:p>
            <a:r>
              <a:rPr lang="en-US" sz="2400" b="1" dirty="0"/>
              <a:t>class</a:t>
            </a:r>
            <a:r>
              <a:rPr lang="en-US" sz="2400" dirty="0"/>
              <a:t> Student3</a:t>
            </a:r>
          </a:p>
          <a:p>
            <a:r>
              <a:rPr lang="en-US" sz="2400" dirty="0"/>
              <a:t>{  </a:t>
            </a:r>
          </a:p>
          <a:p>
            <a:r>
              <a:rPr lang="en-US" sz="2400" b="1" dirty="0" err="1"/>
              <a:t>int</a:t>
            </a:r>
            <a:r>
              <a:rPr lang="en-US" sz="2400" dirty="0"/>
              <a:t> id;  </a:t>
            </a:r>
          </a:p>
          <a:p>
            <a:r>
              <a:rPr lang="en-US" sz="2400" dirty="0"/>
              <a:t>String name;  </a:t>
            </a:r>
          </a:p>
          <a:p>
            <a:endParaRPr lang="en-US" sz="2400" b="1" dirty="0"/>
          </a:p>
          <a:p>
            <a:r>
              <a:rPr lang="en-US" sz="2400" b="1" dirty="0"/>
              <a:t>void</a:t>
            </a:r>
            <a:r>
              <a:rPr lang="en-US" sz="2400" dirty="0"/>
              <a:t> display()</a:t>
            </a:r>
          </a:p>
          <a:p>
            <a:r>
              <a:rPr lang="en-US" sz="2400" dirty="0"/>
              <a:t>{ </a:t>
            </a:r>
          </a:p>
          <a:p>
            <a:r>
              <a:rPr lang="en-US" sz="2400" dirty="0" err="1"/>
              <a:t>System.out.println</a:t>
            </a:r>
            <a:r>
              <a:rPr lang="en-US" sz="2400" dirty="0"/>
              <a:t>(id+" "+name); }  </a:t>
            </a:r>
          </a:p>
          <a:p>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a:t>
            </a:r>
          </a:p>
          <a:p>
            <a:r>
              <a:rPr lang="en-US" sz="2400" dirty="0"/>
              <a:t>{  </a:t>
            </a:r>
          </a:p>
          <a:p>
            <a:r>
              <a:rPr lang="en-US" sz="2400" dirty="0"/>
              <a:t>Student3 s1=</a:t>
            </a:r>
            <a:r>
              <a:rPr lang="en-US" sz="2400" b="1" dirty="0"/>
              <a:t>new</a:t>
            </a:r>
            <a:r>
              <a:rPr lang="en-US" sz="2400" dirty="0"/>
              <a:t> Student3();  </a:t>
            </a:r>
          </a:p>
          <a:p>
            <a:r>
              <a:rPr lang="en-US" sz="2400" dirty="0"/>
              <a:t>Student3 s2=</a:t>
            </a:r>
            <a:r>
              <a:rPr lang="en-US" sz="2400" b="1" dirty="0"/>
              <a:t>new</a:t>
            </a:r>
            <a:r>
              <a:rPr lang="en-US" sz="2400" dirty="0"/>
              <a:t> Student3();  </a:t>
            </a:r>
          </a:p>
          <a:p>
            <a:r>
              <a:rPr lang="en-US" sz="2400" dirty="0"/>
              <a:t>s1.display();  </a:t>
            </a:r>
          </a:p>
          <a:p>
            <a:r>
              <a:rPr lang="en-US" sz="2400" dirty="0"/>
              <a:t>s2.display();  </a:t>
            </a:r>
          </a:p>
          <a:p>
            <a:r>
              <a:rPr lang="en-US" sz="2400" dirty="0"/>
              <a:t>}  </a:t>
            </a:r>
          </a:p>
          <a:p>
            <a:r>
              <a:rPr lang="en-US" sz="2400" dirty="0"/>
              <a:t>}  </a:t>
            </a:r>
          </a:p>
          <a:p>
            <a:endParaRPr lang="en-US" dirty="0"/>
          </a:p>
        </p:txBody>
      </p:sp>
    </p:spTree>
    <p:extLst>
      <p:ext uri="{BB962C8B-B14F-4D97-AF65-F5344CB8AC3E}">
        <p14:creationId xmlns:p14="http://schemas.microsoft.com/office/powerpoint/2010/main" val="164505000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Parameterized Constructor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154</a:t>
            </a:fld>
            <a:endParaRPr lang="en-US"/>
          </a:p>
        </p:txBody>
      </p:sp>
      <p:sp>
        <p:nvSpPr>
          <p:cNvPr id="4" name="Content Placeholder 3"/>
          <p:cNvSpPr>
            <a:spLocks noGrp="1"/>
          </p:cNvSpPr>
          <p:nvPr>
            <p:ph sz="quarter" idx="1"/>
          </p:nvPr>
        </p:nvSpPr>
        <p:spPr/>
        <p:txBody>
          <a:bodyPr/>
          <a:lstStyle/>
          <a:p>
            <a:pPr algn="just"/>
            <a:r>
              <a:rPr lang="en-US" sz="2400" dirty="0"/>
              <a:t>A constructor which has a specific number of parameters is called a parameterized constructor.</a:t>
            </a:r>
          </a:p>
          <a:p>
            <a:pPr algn="just"/>
            <a:r>
              <a:rPr lang="en-US" sz="2400" b="1" dirty="0"/>
              <a:t>Why use the parameterized constructor?</a:t>
            </a:r>
          </a:p>
          <a:p>
            <a:pPr algn="just"/>
            <a:r>
              <a:rPr lang="en-US" sz="2400" dirty="0"/>
              <a:t>The parameterized constructor is used to provide different values to distinct objects. However, you can provide the same values also.</a:t>
            </a:r>
          </a:p>
          <a:p>
            <a:endParaRPr lang="en-US" dirty="0"/>
          </a:p>
        </p:txBody>
      </p:sp>
    </p:spTree>
    <p:extLst>
      <p:ext uri="{BB962C8B-B14F-4D97-AF65-F5344CB8AC3E}">
        <p14:creationId xmlns:p14="http://schemas.microsoft.com/office/powerpoint/2010/main" val="292845586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Example of parameterized constructor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155</a:t>
            </a:fld>
            <a:endParaRPr lang="en-US"/>
          </a:p>
        </p:txBody>
      </p:sp>
      <p:sp>
        <p:nvSpPr>
          <p:cNvPr id="4" name="Content Placeholder 3"/>
          <p:cNvSpPr>
            <a:spLocks noGrp="1"/>
          </p:cNvSpPr>
          <p:nvPr>
            <p:ph sz="quarter" idx="1"/>
          </p:nvPr>
        </p:nvSpPr>
        <p:spPr/>
        <p:txBody>
          <a:bodyPr numCol="2">
            <a:noAutofit/>
          </a:bodyPr>
          <a:lstStyle/>
          <a:p>
            <a:r>
              <a:rPr lang="en-US" sz="2400" b="1" dirty="0"/>
              <a:t>class</a:t>
            </a:r>
            <a:r>
              <a:rPr lang="en-US" sz="2400" dirty="0"/>
              <a:t> Student4</a:t>
            </a:r>
          </a:p>
          <a:p>
            <a:r>
              <a:rPr lang="en-US" sz="2400" dirty="0"/>
              <a:t>{  </a:t>
            </a:r>
          </a:p>
          <a:p>
            <a:r>
              <a:rPr lang="en-US" sz="2400" dirty="0"/>
              <a:t>    </a:t>
            </a:r>
            <a:r>
              <a:rPr lang="en-US" sz="2400" b="1" dirty="0" err="1"/>
              <a:t>int</a:t>
            </a:r>
            <a:r>
              <a:rPr lang="en-US" sz="2400" dirty="0"/>
              <a:t> id;  </a:t>
            </a:r>
          </a:p>
          <a:p>
            <a:r>
              <a:rPr lang="en-US" sz="2400" dirty="0"/>
              <a:t>    String name;  </a:t>
            </a:r>
          </a:p>
          <a:p>
            <a:r>
              <a:rPr lang="en-US" sz="2400" dirty="0"/>
              <a:t>    Student4(</a:t>
            </a:r>
            <a:r>
              <a:rPr lang="en-US" sz="2400" b="1" dirty="0" err="1"/>
              <a:t>int</a:t>
            </a:r>
            <a:r>
              <a:rPr lang="en-US" sz="2400" dirty="0"/>
              <a:t> </a:t>
            </a:r>
            <a:r>
              <a:rPr lang="en-US" sz="2400" dirty="0" err="1"/>
              <a:t>i,String</a:t>
            </a:r>
            <a:r>
              <a:rPr lang="en-US" sz="2400" dirty="0"/>
              <a:t> n)</a:t>
            </a:r>
          </a:p>
          <a:p>
            <a:r>
              <a:rPr lang="en-US" sz="2400" dirty="0"/>
              <a:t>   {  </a:t>
            </a:r>
          </a:p>
          <a:p>
            <a:r>
              <a:rPr lang="en-US" sz="2400" dirty="0"/>
              <a:t>    id = </a:t>
            </a:r>
            <a:r>
              <a:rPr lang="en-US" sz="2400" dirty="0" err="1"/>
              <a:t>i</a:t>
            </a:r>
            <a:r>
              <a:rPr lang="en-US" sz="2400" dirty="0"/>
              <a:t>;  </a:t>
            </a:r>
          </a:p>
          <a:p>
            <a:r>
              <a:rPr lang="en-US" sz="2400" dirty="0"/>
              <a:t>    name = n;  </a:t>
            </a:r>
          </a:p>
          <a:p>
            <a:r>
              <a:rPr lang="en-US" sz="2400" dirty="0"/>
              <a:t>    }  </a:t>
            </a:r>
          </a:p>
          <a:p>
            <a:r>
              <a:rPr lang="en-US" sz="2400" dirty="0"/>
              <a:t> </a:t>
            </a:r>
            <a:r>
              <a:rPr lang="en-US" sz="2400" b="1" dirty="0"/>
              <a:t>void</a:t>
            </a:r>
            <a:r>
              <a:rPr lang="en-US" sz="2400" dirty="0"/>
              <a:t> display()</a:t>
            </a:r>
          </a:p>
          <a:p>
            <a:r>
              <a:rPr lang="en-US" sz="2400" dirty="0"/>
              <a:t>{</a:t>
            </a:r>
          </a:p>
          <a:p>
            <a:r>
              <a:rPr lang="en-US" sz="2400" dirty="0" err="1"/>
              <a:t>System.out.println</a:t>
            </a:r>
            <a:r>
              <a:rPr lang="en-US" sz="2400" dirty="0"/>
              <a:t>(id+" "+name);</a:t>
            </a:r>
          </a:p>
          <a:p>
            <a:endParaRPr lang="en-US" sz="2400" dirty="0"/>
          </a:p>
          <a:p>
            <a:r>
              <a:rPr lang="en-US" sz="2400" dirty="0"/>
              <a:t>}  </a:t>
            </a:r>
          </a:p>
          <a:p>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a:t>
            </a:r>
          </a:p>
          <a:p>
            <a:r>
              <a:rPr lang="en-US" sz="2400" dirty="0"/>
              <a:t>{  </a:t>
            </a:r>
          </a:p>
          <a:p>
            <a:r>
              <a:rPr lang="en-US" sz="2400" dirty="0"/>
              <a:t>Student4 s1 = </a:t>
            </a:r>
            <a:r>
              <a:rPr lang="en-US" sz="2400" b="1" dirty="0"/>
              <a:t>new</a:t>
            </a:r>
            <a:r>
              <a:rPr lang="en-US" sz="2400" dirty="0"/>
              <a:t> Student4(111,"Karan");  </a:t>
            </a:r>
          </a:p>
          <a:p>
            <a:r>
              <a:rPr lang="en-US" sz="2400" dirty="0"/>
              <a:t>Student4 s2 = </a:t>
            </a:r>
            <a:r>
              <a:rPr lang="en-US" sz="2400" b="1" dirty="0"/>
              <a:t>new</a:t>
            </a:r>
            <a:r>
              <a:rPr lang="en-US" sz="2400" dirty="0"/>
              <a:t> Student4(222,"Aryan");  </a:t>
            </a:r>
          </a:p>
          <a:p>
            <a:r>
              <a:rPr lang="en-US" sz="2400" dirty="0"/>
              <a:t>    s1.display();  </a:t>
            </a:r>
          </a:p>
          <a:p>
            <a:r>
              <a:rPr lang="en-US" sz="2400" dirty="0"/>
              <a:t>    s2.display();  </a:t>
            </a:r>
          </a:p>
          <a:p>
            <a:r>
              <a:rPr lang="en-US" sz="2400" dirty="0"/>
              <a:t>   }  </a:t>
            </a:r>
          </a:p>
          <a:p>
            <a:r>
              <a:rPr lang="en-US" sz="2400" dirty="0"/>
              <a:t>}  </a:t>
            </a:r>
          </a:p>
          <a:p>
            <a:endParaRPr lang="en-US" sz="2400" dirty="0"/>
          </a:p>
        </p:txBody>
      </p:sp>
    </p:spTree>
    <p:extLst>
      <p:ext uri="{BB962C8B-B14F-4D97-AF65-F5344CB8AC3E}">
        <p14:creationId xmlns:p14="http://schemas.microsoft.com/office/powerpoint/2010/main" val="63314336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FF0000"/>
                </a:solidFill>
              </a:rPr>
              <a:t>Difference between constructor and method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156</a:t>
            </a:fld>
            <a:endParaRPr lang="en-US"/>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3489273319"/>
              </p:ext>
            </p:extLst>
          </p:nvPr>
        </p:nvGraphicFramePr>
        <p:xfrm>
          <a:off x="754063" y="1259945"/>
          <a:ext cx="8572500" cy="4960275"/>
        </p:xfrm>
        <a:graphic>
          <a:graphicData uri="http://schemas.openxmlformats.org/drawingml/2006/table">
            <a:tbl>
              <a:tblPr/>
              <a:tblGrid>
                <a:gridCol w="428625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tblGrid>
              <a:tr h="580948">
                <a:tc>
                  <a:txBody>
                    <a:bodyPr/>
                    <a:lstStyle/>
                    <a:p>
                      <a:pPr algn="l" fontAlgn="t"/>
                      <a:r>
                        <a:rPr lang="en-US" sz="2400" dirty="0">
                          <a:solidFill>
                            <a:srgbClr val="FF0000"/>
                          </a:solidFill>
                          <a:effectLst/>
                          <a:latin typeface="times new roman" panose="02020603050405020304" pitchFamily="18" charset="0"/>
                        </a:rPr>
                        <a:t>Java Constructor</a:t>
                      </a:r>
                    </a:p>
                  </a:txBody>
                  <a:tcPr marL="114300" marR="114300" marT="114300" marB="114300">
                    <a:lnL w="9525" cap="flat" cmpd="sng" algn="ctr">
                      <a:solidFill>
                        <a:srgbClr val="70A0EB"/>
                      </a:solidFill>
                      <a:prstDash val="solid"/>
                      <a:round/>
                      <a:headEnd type="none" w="med" len="med"/>
                      <a:tailEnd type="none" w="med" len="med"/>
                    </a:lnL>
                    <a:lnR w="9525" cap="flat" cmpd="sng" algn="ctr">
                      <a:solidFill>
                        <a:srgbClr val="70A0EB"/>
                      </a:solidFill>
                      <a:prstDash val="solid"/>
                      <a:round/>
                      <a:headEnd type="none" w="med" len="med"/>
                      <a:tailEnd type="none" w="med" len="med"/>
                    </a:lnR>
                    <a:lnT w="9525" cap="flat" cmpd="sng" algn="ctr">
                      <a:solidFill>
                        <a:srgbClr val="70A0E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400" dirty="0">
                          <a:solidFill>
                            <a:srgbClr val="FF0000"/>
                          </a:solidFill>
                          <a:effectLst/>
                          <a:latin typeface="times new roman" panose="02020603050405020304" pitchFamily="18" charset="0"/>
                        </a:rPr>
                        <a:t>Java Method</a:t>
                      </a:r>
                    </a:p>
                  </a:txBody>
                  <a:tcPr marL="114300" marR="114300" marT="114300" marB="114300">
                    <a:lnL w="9525" cap="flat" cmpd="sng" algn="ctr">
                      <a:solidFill>
                        <a:srgbClr val="70A0EB"/>
                      </a:solidFill>
                      <a:prstDash val="solid"/>
                      <a:round/>
                      <a:headEnd type="none" w="med" len="med"/>
                      <a:tailEnd type="none" w="med" len="med"/>
                    </a:lnL>
                    <a:lnR w="9525" cap="flat" cmpd="sng" algn="ctr">
                      <a:solidFill>
                        <a:srgbClr val="70A0EB"/>
                      </a:solidFill>
                      <a:prstDash val="solid"/>
                      <a:round/>
                      <a:headEnd type="none" w="med" len="med"/>
                      <a:tailEnd type="none" w="med" len="med"/>
                    </a:lnR>
                    <a:lnT w="9525" cap="flat" cmpd="sng" algn="ctr">
                      <a:solidFill>
                        <a:srgbClr val="70A0E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809807">
                <a:tc>
                  <a:txBody>
                    <a:bodyPr/>
                    <a:lstStyle/>
                    <a:p>
                      <a:pPr algn="l" fontAlgn="t"/>
                      <a:r>
                        <a:rPr lang="en-US">
                          <a:solidFill>
                            <a:srgbClr val="000000"/>
                          </a:solidFill>
                          <a:effectLst/>
                          <a:latin typeface="verdana" panose="020B0604030504040204" pitchFamily="34" charset="0"/>
                        </a:rPr>
                        <a:t>A constructor is used to initialize the state of an object.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a:solidFill>
                            <a:srgbClr val="000000"/>
                          </a:solidFill>
                          <a:effectLst/>
                          <a:latin typeface="verdana" panose="020B0604030504040204" pitchFamily="34" charset="0"/>
                        </a:rPr>
                        <a:t>A method is used to expose the behavior of an object.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9807">
                <a:tc>
                  <a:txBody>
                    <a:bodyPr/>
                    <a:lstStyle/>
                    <a:p>
                      <a:pPr algn="l" fontAlgn="t"/>
                      <a:r>
                        <a:rPr lang="en-US">
                          <a:solidFill>
                            <a:srgbClr val="000000"/>
                          </a:solidFill>
                          <a:effectLst/>
                          <a:latin typeface="verdana" panose="020B0604030504040204" pitchFamily="34" charset="0"/>
                        </a:rPr>
                        <a:t>A constructor must not have a return type.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a:solidFill>
                            <a:srgbClr val="000000"/>
                          </a:solidFill>
                          <a:effectLst/>
                          <a:latin typeface="verdana" panose="020B0604030504040204" pitchFamily="34" charset="0"/>
                        </a:rPr>
                        <a:t>A method must have a return type.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809807">
                <a:tc>
                  <a:txBody>
                    <a:bodyPr/>
                    <a:lstStyle/>
                    <a:p>
                      <a:pPr algn="l" fontAlgn="t"/>
                      <a:r>
                        <a:rPr lang="en-US">
                          <a:solidFill>
                            <a:srgbClr val="000000"/>
                          </a:solidFill>
                          <a:effectLst/>
                          <a:latin typeface="verdana" panose="020B0604030504040204" pitchFamily="34" charset="0"/>
                        </a:rPr>
                        <a:t>The constructor is invoked implicitly.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a:solidFill>
                            <a:srgbClr val="000000"/>
                          </a:solidFill>
                          <a:effectLst/>
                          <a:latin typeface="verdana" panose="020B0604030504040204" pitchFamily="34" charset="0"/>
                        </a:rPr>
                        <a:t>The method is invoked explicitly.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26687">
                <a:tc>
                  <a:txBody>
                    <a:bodyPr/>
                    <a:lstStyle/>
                    <a:p>
                      <a:pPr algn="l" fontAlgn="t"/>
                      <a:r>
                        <a:rPr lang="en-US">
                          <a:solidFill>
                            <a:srgbClr val="000000"/>
                          </a:solidFill>
                          <a:effectLst/>
                          <a:latin typeface="verdana" panose="020B0604030504040204" pitchFamily="34" charset="0"/>
                        </a:rPr>
                        <a:t>The Java compiler provides a default constructor if you don't have any constructor in a class.</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a:solidFill>
                            <a:srgbClr val="000000"/>
                          </a:solidFill>
                          <a:effectLst/>
                          <a:latin typeface="verdana" panose="020B0604030504040204" pitchFamily="34" charset="0"/>
                        </a:rPr>
                        <a:t>The method is not provided by the compiler in any case.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809807">
                <a:tc>
                  <a:txBody>
                    <a:bodyPr/>
                    <a:lstStyle/>
                    <a:p>
                      <a:pPr algn="l" fontAlgn="t"/>
                      <a:r>
                        <a:rPr lang="en-US">
                          <a:solidFill>
                            <a:srgbClr val="000000"/>
                          </a:solidFill>
                          <a:effectLst/>
                          <a:latin typeface="verdana" panose="020B0604030504040204" pitchFamily="34" charset="0"/>
                        </a:rPr>
                        <a:t>The constructor name must be same as the class name.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dirty="0">
                          <a:solidFill>
                            <a:srgbClr val="000000"/>
                          </a:solidFill>
                          <a:effectLst/>
                          <a:latin typeface="verdana" panose="020B0604030504040204" pitchFamily="34" charset="0"/>
                        </a:rPr>
                        <a:t>The method name may or may not be same as the class name.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4248547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Copy Constructor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157</a:t>
            </a:fld>
            <a:endParaRPr lang="en-US"/>
          </a:p>
        </p:txBody>
      </p:sp>
      <p:sp>
        <p:nvSpPr>
          <p:cNvPr id="4" name="Content Placeholder 3"/>
          <p:cNvSpPr>
            <a:spLocks noGrp="1"/>
          </p:cNvSpPr>
          <p:nvPr>
            <p:ph sz="quarter" idx="1"/>
          </p:nvPr>
        </p:nvSpPr>
        <p:spPr/>
        <p:txBody>
          <a:bodyPr/>
          <a:lstStyle/>
          <a:p>
            <a:pPr algn="just"/>
            <a:r>
              <a:rPr lang="en-US" sz="2400" dirty="0"/>
              <a:t>There is no copy constructor in Java. However, we can copy the values from one object to another like copy constructor in C++.</a:t>
            </a:r>
          </a:p>
          <a:p>
            <a:pPr algn="just"/>
            <a:r>
              <a:rPr lang="en-US" sz="2400" dirty="0"/>
              <a:t>There are many ways to copy the values of one object into another in Java. They are:</a:t>
            </a:r>
          </a:p>
          <a:p>
            <a:pPr lvl="1" algn="just"/>
            <a:r>
              <a:rPr lang="en-US" sz="2800" dirty="0">
                <a:solidFill>
                  <a:srgbClr val="0070C0"/>
                </a:solidFill>
              </a:rPr>
              <a:t>By constructor</a:t>
            </a:r>
          </a:p>
          <a:p>
            <a:pPr lvl="1" algn="just"/>
            <a:r>
              <a:rPr lang="en-US" sz="2800" dirty="0">
                <a:solidFill>
                  <a:srgbClr val="0070C0"/>
                </a:solidFill>
              </a:rPr>
              <a:t>By assigning the values of one object into another</a:t>
            </a:r>
          </a:p>
          <a:p>
            <a:pPr lvl="1" algn="just"/>
            <a:r>
              <a:rPr lang="en-US" sz="2800" dirty="0">
                <a:solidFill>
                  <a:srgbClr val="0070C0"/>
                </a:solidFill>
              </a:rPr>
              <a:t>By clone() method of Object class</a:t>
            </a:r>
          </a:p>
          <a:p>
            <a:pPr algn="just"/>
            <a:r>
              <a:rPr lang="en-US" sz="2400" dirty="0"/>
              <a:t>In this example, we are going to copy the values of one object into another using Java constructor.</a:t>
            </a:r>
          </a:p>
          <a:p>
            <a:endParaRPr lang="en-US" dirty="0"/>
          </a:p>
        </p:txBody>
      </p:sp>
    </p:spTree>
    <p:extLst>
      <p:ext uri="{BB962C8B-B14F-4D97-AF65-F5344CB8AC3E}">
        <p14:creationId xmlns:p14="http://schemas.microsoft.com/office/powerpoint/2010/main" val="352343147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158</a:t>
            </a:fld>
            <a:endParaRPr lang="en-US"/>
          </a:p>
        </p:txBody>
      </p:sp>
      <p:sp>
        <p:nvSpPr>
          <p:cNvPr id="4" name="Content Placeholder 3"/>
          <p:cNvSpPr>
            <a:spLocks noGrp="1"/>
          </p:cNvSpPr>
          <p:nvPr>
            <p:ph sz="quarter" idx="1"/>
          </p:nvPr>
        </p:nvSpPr>
        <p:spPr>
          <a:xfrm>
            <a:off x="504031" y="1343942"/>
            <a:ext cx="9447689" cy="5442966"/>
          </a:xfrm>
        </p:spPr>
        <p:txBody>
          <a:bodyPr numCol="2">
            <a:normAutofit lnSpcReduction="10000"/>
          </a:bodyPr>
          <a:lstStyle/>
          <a:p>
            <a:r>
              <a:rPr lang="en-US" sz="2400" b="1" dirty="0"/>
              <a:t>class</a:t>
            </a:r>
            <a:r>
              <a:rPr lang="en-US" sz="2400" dirty="0"/>
              <a:t> Student6</a:t>
            </a:r>
          </a:p>
          <a:p>
            <a:r>
              <a:rPr lang="en-US" sz="2400" dirty="0"/>
              <a:t>{  </a:t>
            </a:r>
          </a:p>
          <a:p>
            <a:r>
              <a:rPr lang="en-US" sz="2400" dirty="0"/>
              <a:t>    </a:t>
            </a:r>
            <a:r>
              <a:rPr lang="en-US" sz="2400" b="1" dirty="0" err="1"/>
              <a:t>int</a:t>
            </a:r>
            <a:r>
              <a:rPr lang="en-US" sz="2400" dirty="0"/>
              <a:t> id;  </a:t>
            </a:r>
          </a:p>
          <a:p>
            <a:r>
              <a:rPr lang="en-US" sz="2400" dirty="0"/>
              <a:t>    String name;  </a:t>
            </a:r>
          </a:p>
          <a:p>
            <a:r>
              <a:rPr lang="en-US" sz="2400" dirty="0"/>
              <a:t>    Student6(</a:t>
            </a:r>
            <a:r>
              <a:rPr lang="en-US" sz="2400" b="1" dirty="0" err="1"/>
              <a:t>int</a:t>
            </a:r>
            <a:r>
              <a:rPr lang="en-US" sz="2400" dirty="0"/>
              <a:t> </a:t>
            </a:r>
            <a:r>
              <a:rPr lang="en-US" sz="2400" dirty="0" err="1"/>
              <a:t>i,String</a:t>
            </a:r>
            <a:r>
              <a:rPr lang="en-US" sz="2400" dirty="0"/>
              <a:t> n){  </a:t>
            </a:r>
          </a:p>
          <a:p>
            <a:r>
              <a:rPr lang="en-US" sz="2400" dirty="0"/>
              <a:t>    id = </a:t>
            </a:r>
            <a:r>
              <a:rPr lang="en-US" sz="2400" dirty="0" err="1"/>
              <a:t>i</a:t>
            </a:r>
            <a:r>
              <a:rPr lang="en-US" sz="2400" dirty="0"/>
              <a:t>;  </a:t>
            </a:r>
          </a:p>
          <a:p>
            <a:r>
              <a:rPr lang="en-US" sz="2400" dirty="0"/>
              <a:t>    name = n;  </a:t>
            </a:r>
          </a:p>
          <a:p>
            <a:r>
              <a:rPr lang="en-US" sz="2400" dirty="0"/>
              <a:t>    }  </a:t>
            </a:r>
          </a:p>
          <a:p>
            <a:r>
              <a:rPr lang="en-US" sz="2400" dirty="0"/>
              <a:t>    Student6(Student6 s)</a:t>
            </a:r>
          </a:p>
          <a:p>
            <a:r>
              <a:rPr lang="en-US" sz="2400" dirty="0"/>
              <a:t>{  </a:t>
            </a:r>
          </a:p>
          <a:p>
            <a:r>
              <a:rPr lang="en-US" sz="2400" dirty="0"/>
              <a:t>    id = s.id;  </a:t>
            </a:r>
          </a:p>
          <a:p>
            <a:r>
              <a:rPr lang="en-US" sz="2400" dirty="0"/>
              <a:t>name =s.name;  </a:t>
            </a:r>
          </a:p>
          <a:p>
            <a:pPr marL="0" indent="0">
              <a:buNone/>
            </a:pPr>
            <a:r>
              <a:rPr lang="en-US" sz="2400" dirty="0"/>
              <a:t>}  </a:t>
            </a:r>
          </a:p>
          <a:p>
            <a:pPr marL="0" indent="0">
              <a:buNone/>
            </a:pPr>
            <a:r>
              <a:rPr lang="en-US" sz="2400" b="1" dirty="0"/>
              <a:t>void</a:t>
            </a:r>
            <a:r>
              <a:rPr lang="en-US" sz="2400" dirty="0"/>
              <a:t> display(){</a:t>
            </a:r>
            <a:r>
              <a:rPr lang="en-US" sz="2400" dirty="0" err="1"/>
              <a:t>System.out.println</a:t>
            </a:r>
            <a:r>
              <a:rPr lang="en-US" sz="2400" dirty="0"/>
              <a:t>(id+" "+name);}  </a:t>
            </a:r>
          </a:p>
          <a:p>
            <a:pPr marL="0" indent="0">
              <a:buNone/>
            </a:pP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pPr marL="0" indent="0">
              <a:buNone/>
            </a:pPr>
            <a:r>
              <a:rPr lang="en-US" sz="2400" dirty="0"/>
              <a:t>Student6 s1 = </a:t>
            </a:r>
            <a:r>
              <a:rPr lang="en-US" sz="2400" b="1" dirty="0"/>
              <a:t>new</a:t>
            </a:r>
            <a:r>
              <a:rPr lang="en-US" sz="2400" dirty="0"/>
              <a:t> Student6(111,"Karan");  </a:t>
            </a:r>
          </a:p>
          <a:p>
            <a:pPr marL="0" indent="0">
              <a:buNone/>
            </a:pPr>
            <a:r>
              <a:rPr lang="en-US" sz="2400" dirty="0"/>
              <a:t>Student6 s2 = </a:t>
            </a:r>
            <a:r>
              <a:rPr lang="en-US" sz="2400" b="1" dirty="0"/>
              <a:t>new</a:t>
            </a:r>
            <a:r>
              <a:rPr lang="en-US" sz="2400" dirty="0"/>
              <a:t> Student6(s1);  </a:t>
            </a:r>
          </a:p>
          <a:p>
            <a:pPr marL="0" indent="0">
              <a:buNone/>
            </a:pPr>
            <a:r>
              <a:rPr lang="en-US" sz="2400" dirty="0"/>
              <a:t>s1.display();  </a:t>
            </a:r>
          </a:p>
          <a:p>
            <a:pPr marL="0" indent="0">
              <a:buNone/>
            </a:pPr>
            <a:r>
              <a:rPr lang="en-US" sz="2400" dirty="0"/>
              <a:t>s2.display();  </a:t>
            </a:r>
          </a:p>
          <a:p>
            <a:pPr marL="0" indent="0">
              <a:buNone/>
            </a:pPr>
            <a:r>
              <a:rPr lang="en-US" sz="2400" dirty="0"/>
              <a:t>}  </a:t>
            </a:r>
          </a:p>
          <a:p>
            <a:pPr marL="0" indent="0">
              <a:buNone/>
            </a:pPr>
            <a:r>
              <a:rPr lang="en-US" sz="2400" dirty="0"/>
              <a:t>}  </a:t>
            </a:r>
          </a:p>
          <a:p>
            <a:endParaRPr lang="en-US" dirty="0"/>
          </a:p>
        </p:txBody>
      </p:sp>
    </p:spTree>
    <p:extLst>
      <p:ext uri="{BB962C8B-B14F-4D97-AF65-F5344CB8AC3E}">
        <p14:creationId xmlns:p14="http://schemas.microsoft.com/office/powerpoint/2010/main" val="242860868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159</a:t>
            </a:fld>
            <a:endParaRPr lang="en-US"/>
          </a:p>
        </p:txBody>
      </p:sp>
      <p:sp>
        <p:nvSpPr>
          <p:cNvPr id="4" name="Content Placeholder 3"/>
          <p:cNvSpPr>
            <a:spLocks noGrp="1"/>
          </p:cNvSpPr>
          <p:nvPr>
            <p:ph sz="quarter" idx="1"/>
          </p:nvPr>
        </p:nvSpPr>
        <p:spPr/>
        <p:txBody>
          <a:bodyPr>
            <a:normAutofit/>
          </a:bodyPr>
          <a:lstStyle/>
          <a:p>
            <a:pPr algn="just"/>
            <a:r>
              <a:rPr lang="en-US" sz="2000" dirty="0">
                <a:solidFill>
                  <a:srgbClr val="FF0000"/>
                </a:solidFill>
              </a:rPr>
              <a:t>Does constructor return any value?</a:t>
            </a:r>
          </a:p>
          <a:p>
            <a:pPr algn="just"/>
            <a:r>
              <a:rPr lang="en-US" sz="2000" dirty="0"/>
              <a:t>Yes, it is the current class instance (You cannot use return type yet it returns a value).</a:t>
            </a:r>
          </a:p>
          <a:p>
            <a:pPr algn="just"/>
            <a:endParaRPr lang="en-US" sz="2000" dirty="0"/>
          </a:p>
          <a:p>
            <a:pPr algn="just"/>
            <a:r>
              <a:rPr lang="en-US" sz="2000" dirty="0">
                <a:solidFill>
                  <a:srgbClr val="FF0000"/>
                </a:solidFill>
              </a:rPr>
              <a:t>Can constructor perform other tasks instead of initialization?</a:t>
            </a:r>
          </a:p>
          <a:p>
            <a:pPr algn="just"/>
            <a:r>
              <a:rPr lang="en-US" sz="2000" dirty="0"/>
              <a:t>Yes, like object creation, starting a thread, calling a method, etc. You can perform any operation in the constructor as you perform in the method.</a:t>
            </a:r>
          </a:p>
          <a:p>
            <a:pPr algn="just"/>
            <a:endParaRPr lang="en-US" sz="2000" dirty="0"/>
          </a:p>
          <a:p>
            <a:pPr algn="just"/>
            <a:r>
              <a:rPr lang="en-US" sz="2000" dirty="0">
                <a:solidFill>
                  <a:srgbClr val="FF0000"/>
                </a:solidFill>
              </a:rPr>
              <a:t>Is there Constructor class in Java?</a:t>
            </a:r>
          </a:p>
          <a:p>
            <a:pPr algn="just"/>
            <a:r>
              <a:rPr lang="en-US" sz="2000" dirty="0"/>
              <a:t>Yes.</a:t>
            </a:r>
          </a:p>
          <a:p>
            <a:pPr algn="just"/>
            <a:endParaRPr lang="en-US" sz="2000" dirty="0"/>
          </a:p>
          <a:p>
            <a:pPr algn="just"/>
            <a:r>
              <a:rPr lang="en-US" sz="2000" dirty="0">
                <a:solidFill>
                  <a:srgbClr val="FF0000"/>
                </a:solidFill>
              </a:rPr>
              <a:t>What is the purpose of Constructor class?</a:t>
            </a:r>
          </a:p>
          <a:p>
            <a:pPr algn="just"/>
            <a:r>
              <a:rPr lang="en-US" sz="2000" dirty="0"/>
              <a:t>Java provides a Constructor class which can be used to get the internal information of a constructor in the class. It is found in the </a:t>
            </a:r>
            <a:r>
              <a:rPr lang="en-US" sz="2000" dirty="0" err="1"/>
              <a:t>java.lang.reflect</a:t>
            </a:r>
            <a:r>
              <a:rPr lang="en-US" sz="2000" dirty="0"/>
              <a:t> package.</a:t>
            </a:r>
          </a:p>
          <a:p>
            <a:endParaRPr lang="en-US" sz="2400" dirty="0"/>
          </a:p>
        </p:txBody>
      </p:sp>
    </p:spTree>
    <p:extLst>
      <p:ext uri="{BB962C8B-B14F-4D97-AF65-F5344CB8AC3E}">
        <p14:creationId xmlns:p14="http://schemas.microsoft.com/office/powerpoint/2010/main" val="52659799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static keyword</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160</a:t>
            </a:fld>
            <a:endParaRPr lang="en-US"/>
          </a:p>
        </p:txBody>
      </p:sp>
      <p:sp>
        <p:nvSpPr>
          <p:cNvPr id="4" name="Content Placeholder 3"/>
          <p:cNvSpPr>
            <a:spLocks noGrp="1"/>
          </p:cNvSpPr>
          <p:nvPr>
            <p:ph sz="quarter" idx="1"/>
          </p:nvPr>
        </p:nvSpPr>
        <p:spPr/>
        <p:txBody>
          <a:bodyPr>
            <a:normAutofit/>
          </a:bodyPr>
          <a:lstStyle/>
          <a:p>
            <a:pPr algn="just"/>
            <a:r>
              <a:rPr lang="en-US" dirty="0"/>
              <a:t>The </a:t>
            </a:r>
            <a:r>
              <a:rPr lang="en-US" b="1" dirty="0"/>
              <a:t>static keyword</a:t>
            </a:r>
            <a:r>
              <a:rPr lang="en-US" dirty="0"/>
              <a:t> in Java is used for memory management mainly. We can apply static keyword with variables, methods, blocks and nested classes. The static keyword belongs to the class than an instance of the class.</a:t>
            </a:r>
          </a:p>
          <a:p>
            <a:pPr algn="just"/>
            <a:r>
              <a:rPr lang="en-US" dirty="0"/>
              <a:t>The static can be:</a:t>
            </a:r>
          </a:p>
          <a:p>
            <a:pPr lvl="1" algn="just"/>
            <a:r>
              <a:rPr lang="en-US" sz="2800" dirty="0">
                <a:solidFill>
                  <a:srgbClr val="FF0000"/>
                </a:solidFill>
              </a:rPr>
              <a:t>Variable (also known as a class variable)</a:t>
            </a:r>
          </a:p>
          <a:p>
            <a:pPr lvl="1" algn="just"/>
            <a:r>
              <a:rPr lang="en-US" sz="2800" dirty="0">
                <a:solidFill>
                  <a:srgbClr val="FF0000"/>
                </a:solidFill>
              </a:rPr>
              <a:t>Method (also known as a class method)</a:t>
            </a:r>
          </a:p>
          <a:p>
            <a:pPr lvl="1" algn="just"/>
            <a:r>
              <a:rPr lang="en-US" sz="2800" dirty="0">
                <a:solidFill>
                  <a:srgbClr val="FF0000"/>
                </a:solidFill>
              </a:rPr>
              <a:t>Block</a:t>
            </a:r>
          </a:p>
          <a:p>
            <a:pPr lvl="1" algn="just"/>
            <a:r>
              <a:rPr lang="en-US" sz="2800" dirty="0">
                <a:solidFill>
                  <a:srgbClr val="FF0000"/>
                </a:solidFill>
              </a:rPr>
              <a:t>Nested class</a:t>
            </a:r>
          </a:p>
          <a:p>
            <a:endParaRPr lang="en-US" dirty="0"/>
          </a:p>
        </p:txBody>
      </p:sp>
    </p:spTree>
    <p:extLst>
      <p:ext uri="{BB962C8B-B14F-4D97-AF65-F5344CB8AC3E}">
        <p14:creationId xmlns:p14="http://schemas.microsoft.com/office/powerpoint/2010/main" val="233726318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1) Java static variable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161</a:t>
            </a:fld>
            <a:endParaRPr lang="en-US"/>
          </a:p>
        </p:txBody>
      </p:sp>
      <p:sp>
        <p:nvSpPr>
          <p:cNvPr id="4" name="Content Placeholder 3"/>
          <p:cNvSpPr>
            <a:spLocks noGrp="1"/>
          </p:cNvSpPr>
          <p:nvPr>
            <p:ph sz="quarter" idx="1"/>
          </p:nvPr>
        </p:nvSpPr>
        <p:spPr/>
        <p:txBody>
          <a:bodyPr/>
          <a:lstStyle/>
          <a:p>
            <a:pPr algn="just"/>
            <a:r>
              <a:rPr lang="en-US" sz="2800" dirty="0"/>
              <a:t>If you declare any variable as static, it is known as a static variable.</a:t>
            </a:r>
          </a:p>
          <a:p>
            <a:pPr algn="just"/>
            <a:r>
              <a:rPr lang="en-US" sz="2800" dirty="0"/>
              <a:t>The static variable can be used to refer to the common property of all objects (which is not unique for each object), for example, the company name of employees, college name of students, etc.</a:t>
            </a:r>
          </a:p>
          <a:p>
            <a:pPr algn="just"/>
            <a:r>
              <a:rPr lang="en-US" sz="2800" dirty="0"/>
              <a:t>The static variable gets memory only once in the class area at the time of class loading.</a:t>
            </a:r>
          </a:p>
          <a:p>
            <a:pPr algn="just"/>
            <a:r>
              <a:rPr lang="en-US" sz="2800" b="1" dirty="0">
                <a:solidFill>
                  <a:srgbClr val="FF0000"/>
                </a:solidFill>
              </a:rPr>
              <a:t>Advantages of static variable</a:t>
            </a:r>
          </a:p>
          <a:p>
            <a:pPr algn="just"/>
            <a:r>
              <a:rPr lang="en-US" sz="2800" dirty="0"/>
              <a:t>It makes your program </a:t>
            </a:r>
            <a:r>
              <a:rPr lang="en-US" sz="2800" b="1" dirty="0"/>
              <a:t>memory efficient</a:t>
            </a:r>
            <a:r>
              <a:rPr lang="en-US" sz="2800" dirty="0"/>
              <a:t> (i.e., it saves memory).</a:t>
            </a:r>
          </a:p>
          <a:p>
            <a:endParaRPr lang="en-US" dirty="0"/>
          </a:p>
        </p:txBody>
      </p:sp>
    </p:spTree>
    <p:extLst>
      <p:ext uri="{BB962C8B-B14F-4D97-AF65-F5344CB8AC3E}">
        <p14:creationId xmlns:p14="http://schemas.microsoft.com/office/powerpoint/2010/main" val="236569913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Understanding the problem without static variable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162</a:t>
            </a:fld>
            <a:endParaRPr lang="en-US"/>
          </a:p>
        </p:txBody>
      </p:sp>
      <p:sp>
        <p:nvSpPr>
          <p:cNvPr id="4" name="Content Placeholder 3"/>
          <p:cNvSpPr>
            <a:spLocks noGrp="1"/>
          </p:cNvSpPr>
          <p:nvPr>
            <p:ph sz="quarter" idx="1"/>
          </p:nvPr>
        </p:nvSpPr>
        <p:spPr/>
        <p:txBody>
          <a:bodyPr>
            <a:normAutofit/>
          </a:bodyPr>
          <a:lstStyle/>
          <a:p>
            <a:r>
              <a:rPr lang="en-US" sz="2400" b="1" dirty="0"/>
              <a:t>class</a:t>
            </a:r>
            <a:r>
              <a:rPr lang="en-US" sz="2400" dirty="0"/>
              <a:t> Student{  </a:t>
            </a:r>
          </a:p>
          <a:p>
            <a:r>
              <a:rPr lang="en-US" sz="2400" dirty="0"/>
              <a:t>     </a:t>
            </a:r>
            <a:r>
              <a:rPr lang="en-US" sz="2400" b="1" dirty="0" err="1"/>
              <a:t>int</a:t>
            </a:r>
            <a:r>
              <a:rPr lang="en-US" sz="2400" dirty="0"/>
              <a:t> </a:t>
            </a:r>
            <a:r>
              <a:rPr lang="en-US" sz="2400" dirty="0" err="1"/>
              <a:t>rollno</a:t>
            </a:r>
            <a:r>
              <a:rPr lang="en-US" sz="2400" dirty="0"/>
              <a:t>;  </a:t>
            </a:r>
          </a:p>
          <a:p>
            <a:r>
              <a:rPr lang="en-US" sz="2400" dirty="0"/>
              <a:t>     String name;  </a:t>
            </a:r>
          </a:p>
          <a:p>
            <a:r>
              <a:rPr lang="en-US" sz="2400" dirty="0"/>
              <a:t>     String college="ITS";  </a:t>
            </a:r>
          </a:p>
          <a:p>
            <a:r>
              <a:rPr lang="en-US" sz="2400" dirty="0"/>
              <a:t>}  </a:t>
            </a:r>
          </a:p>
          <a:p>
            <a:pPr algn="just"/>
            <a:r>
              <a:rPr lang="en-US" sz="2400" dirty="0"/>
              <a:t>Suppose there are 500 students in my college, now all instance data members will get memory each time when the object is created. </a:t>
            </a:r>
          </a:p>
          <a:p>
            <a:pPr algn="just"/>
            <a:r>
              <a:rPr lang="en-US" sz="2400" dirty="0"/>
              <a:t>All students have its unique </a:t>
            </a:r>
            <a:r>
              <a:rPr lang="en-US" sz="2400" dirty="0" err="1"/>
              <a:t>rollno</a:t>
            </a:r>
            <a:r>
              <a:rPr lang="en-US" sz="2400" dirty="0"/>
              <a:t> and name, so instance data member is good in such case. </a:t>
            </a:r>
          </a:p>
          <a:p>
            <a:pPr algn="just"/>
            <a:r>
              <a:rPr lang="en-US" sz="2400" dirty="0"/>
              <a:t>Here, "college" refers to the common property of all objects. If we make it static, this field will get the memory only once.</a:t>
            </a:r>
          </a:p>
        </p:txBody>
      </p:sp>
    </p:spTree>
    <p:extLst>
      <p:ext uri="{BB962C8B-B14F-4D97-AF65-F5344CB8AC3E}">
        <p14:creationId xmlns:p14="http://schemas.microsoft.com/office/powerpoint/2010/main" val="210933633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163</a:t>
            </a:fld>
            <a:endParaRPr lang="en-US"/>
          </a:p>
        </p:txBody>
      </p:sp>
      <p:sp>
        <p:nvSpPr>
          <p:cNvPr id="4" name="Content Placeholder 3"/>
          <p:cNvSpPr>
            <a:spLocks noGrp="1"/>
          </p:cNvSpPr>
          <p:nvPr>
            <p:ph sz="quarter" idx="1"/>
          </p:nvPr>
        </p:nvSpPr>
        <p:spPr/>
        <p:txBody>
          <a:bodyPr/>
          <a:lstStyle/>
          <a:p>
            <a:endParaRPr lang="en-US"/>
          </a:p>
        </p:txBody>
      </p:sp>
      <p:pic>
        <p:nvPicPr>
          <p:cNvPr id="4098" name="Picture 2" descr="Static Varia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6175" y="350202"/>
            <a:ext cx="8281080" cy="5959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01155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2) Java static method</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164</a:t>
            </a:fld>
            <a:endParaRPr lang="en-US"/>
          </a:p>
        </p:txBody>
      </p:sp>
      <p:sp>
        <p:nvSpPr>
          <p:cNvPr id="4" name="Content Placeholder 3"/>
          <p:cNvSpPr>
            <a:spLocks noGrp="1"/>
          </p:cNvSpPr>
          <p:nvPr>
            <p:ph sz="quarter" idx="1"/>
          </p:nvPr>
        </p:nvSpPr>
        <p:spPr/>
        <p:txBody>
          <a:bodyPr>
            <a:normAutofit/>
          </a:bodyPr>
          <a:lstStyle/>
          <a:p>
            <a:pPr algn="just"/>
            <a:r>
              <a:rPr lang="en-US" sz="2400" dirty="0"/>
              <a:t>If you apply static keyword with any method, it is known as static method.</a:t>
            </a:r>
          </a:p>
          <a:p>
            <a:pPr algn="just"/>
            <a:r>
              <a:rPr lang="en-US" sz="2400" dirty="0"/>
              <a:t>A static method belongs to the class rather than the object of a class.</a:t>
            </a:r>
          </a:p>
          <a:p>
            <a:pPr algn="just"/>
            <a:r>
              <a:rPr lang="en-US" sz="2400" dirty="0"/>
              <a:t>A static method can be invoked without the need for creating an instance of a class.</a:t>
            </a:r>
          </a:p>
          <a:p>
            <a:pPr algn="just"/>
            <a:r>
              <a:rPr lang="en-US" sz="2400" dirty="0"/>
              <a:t>A static method can access static data member and can change the value of it.</a:t>
            </a:r>
          </a:p>
          <a:p>
            <a:pPr algn="just"/>
            <a:endParaRPr lang="en-US" sz="2400" dirty="0"/>
          </a:p>
        </p:txBody>
      </p:sp>
    </p:spTree>
    <p:extLst>
      <p:ext uri="{BB962C8B-B14F-4D97-AF65-F5344CB8AC3E}">
        <p14:creationId xmlns:p14="http://schemas.microsoft.com/office/powerpoint/2010/main" val="330029142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165</a:t>
            </a:fld>
            <a:endParaRPr lang="en-US"/>
          </a:p>
        </p:txBody>
      </p:sp>
      <p:sp>
        <p:nvSpPr>
          <p:cNvPr id="4" name="Content Placeholder 3"/>
          <p:cNvSpPr>
            <a:spLocks noGrp="1"/>
          </p:cNvSpPr>
          <p:nvPr>
            <p:ph sz="quarter" idx="1"/>
          </p:nvPr>
        </p:nvSpPr>
        <p:spPr/>
        <p:txBody>
          <a:bodyPr>
            <a:normAutofit fontScale="70000" lnSpcReduction="20000"/>
          </a:bodyPr>
          <a:lstStyle/>
          <a:p>
            <a:r>
              <a:rPr lang="en-US" b="1" dirty="0"/>
              <a:t>class</a:t>
            </a:r>
            <a:r>
              <a:rPr lang="en-US" dirty="0"/>
              <a:t> Student{  </a:t>
            </a:r>
          </a:p>
          <a:p>
            <a:r>
              <a:rPr lang="en-US" dirty="0"/>
              <a:t>     </a:t>
            </a:r>
            <a:r>
              <a:rPr lang="en-US" b="1" dirty="0" err="1"/>
              <a:t>int</a:t>
            </a:r>
            <a:r>
              <a:rPr lang="en-US" dirty="0"/>
              <a:t> </a:t>
            </a:r>
            <a:r>
              <a:rPr lang="en-US" dirty="0" err="1"/>
              <a:t>rollno</a:t>
            </a:r>
            <a:r>
              <a:rPr lang="en-US" dirty="0"/>
              <a:t>;  </a:t>
            </a:r>
          </a:p>
          <a:p>
            <a:r>
              <a:rPr lang="en-US" dirty="0"/>
              <a:t>     String name;  </a:t>
            </a:r>
          </a:p>
          <a:p>
            <a:r>
              <a:rPr lang="en-US" dirty="0"/>
              <a:t>     </a:t>
            </a:r>
            <a:r>
              <a:rPr lang="en-US" b="1" dirty="0"/>
              <a:t>static</a:t>
            </a:r>
            <a:r>
              <a:rPr lang="en-US" dirty="0"/>
              <a:t> String college = "ITS";  </a:t>
            </a:r>
          </a:p>
          <a:p>
            <a:r>
              <a:rPr lang="en-US" dirty="0"/>
              <a:t>     //static method to change the value of static variable  </a:t>
            </a:r>
          </a:p>
          <a:p>
            <a:r>
              <a:rPr lang="en-US" dirty="0"/>
              <a:t>     </a:t>
            </a:r>
            <a:r>
              <a:rPr lang="en-US" b="1" dirty="0"/>
              <a:t>static</a:t>
            </a:r>
            <a:r>
              <a:rPr lang="en-US" dirty="0"/>
              <a:t> </a:t>
            </a:r>
            <a:r>
              <a:rPr lang="en-US" b="1" dirty="0"/>
              <a:t>void</a:t>
            </a:r>
            <a:r>
              <a:rPr lang="en-US" dirty="0"/>
              <a:t> change(){  </a:t>
            </a:r>
          </a:p>
          <a:p>
            <a:r>
              <a:rPr lang="en-US" dirty="0"/>
              <a:t>     college = "BBDIT";  </a:t>
            </a:r>
          </a:p>
          <a:p>
            <a:r>
              <a:rPr lang="en-US" dirty="0"/>
              <a:t>     }  </a:t>
            </a:r>
          </a:p>
          <a:p>
            <a:r>
              <a:rPr lang="en-US" dirty="0"/>
              <a:t>     //constructor to initialize the variable  </a:t>
            </a:r>
          </a:p>
          <a:p>
            <a:r>
              <a:rPr lang="en-US" dirty="0"/>
              <a:t>     Student(</a:t>
            </a:r>
            <a:r>
              <a:rPr lang="en-US" b="1" dirty="0" err="1"/>
              <a:t>int</a:t>
            </a:r>
            <a:r>
              <a:rPr lang="en-US" dirty="0"/>
              <a:t> r, String n){  </a:t>
            </a:r>
          </a:p>
          <a:p>
            <a:r>
              <a:rPr lang="en-US" dirty="0"/>
              <a:t>     </a:t>
            </a:r>
            <a:r>
              <a:rPr lang="en-US" dirty="0" err="1"/>
              <a:t>rollno</a:t>
            </a:r>
            <a:r>
              <a:rPr lang="en-US" dirty="0"/>
              <a:t> = r;  </a:t>
            </a:r>
          </a:p>
          <a:p>
            <a:r>
              <a:rPr lang="en-US" dirty="0"/>
              <a:t>     name = n;  </a:t>
            </a:r>
          </a:p>
          <a:p>
            <a:r>
              <a:rPr lang="en-US" dirty="0"/>
              <a:t>     }  </a:t>
            </a:r>
          </a:p>
          <a:p>
            <a:r>
              <a:rPr lang="en-US" dirty="0"/>
              <a:t>     //method to display values  </a:t>
            </a:r>
          </a:p>
          <a:p>
            <a:r>
              <a:rPr lang="en-US" dirty="0"/>
              <a:t>     </a:t>
            </a:r>
            <a:r>
              <a:rPr lang="en-US" b="1" dirty="0"/>
              <a:t>void</a:t>
            </a:r>
            <a:r>
              <a:rPr lang="en-US" dirty="0"/>
              <a:t> display(){</a:t>
            </a:r>
            <a:r>
              <a:rPr lang="en-US" dirty="0" err="1"/>
              <a:t>System.out.println</a:t>
            </a:r>
            <a:r>
              <a:rPr lang="en-US" dirty="0"/>
              <a:t>(</a:t>
            </a:r>
            <a:r>
              <a:rPr lang="en-US" dirty="0" err="1"/>
              <a:t>rollno</a:t>
            </a:r>
            <a:r>
              <a:rPr lang="en-US" dirty="0"/>
              <a:t>+" "+name+" "+college);}  </a:t>
            </a:r>
          </a:p>
          <a:p>
            <a:r>
              <a:rPr lang="en-US" dirty="0"/>
              <a:t>}  </a:t>
            </a:r>
          </a:p>
          <a:p>
            <a:endParaRPr lang="en-US" dirty="0"/>
          </a:p>
        </p:txBody>
      </p:sp>
    </p:spTree>
    <p:extLst>
      <p:ext uri="{BB962C8B-B14F-4D97-AF65-F5344CB8AC3E}">
        <p14:creationId xmlns:p14="http://schemas.microsoft.com/office/powerpoint/2010/main" val="185187822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166</a:t>
            </a:fld>
            <a:endParaRPr lang="en-US"/>
          </a:p>
        </p:txBody>
      </p:sp>
      <p:sp>
        <p:nvSpPr>
          <p:cNvPr id="4" name="Content Placeholder 3"/>
          <p:cNvSpPr>
            <a:spLocks noGrp="1"/>
          </p:cNvSpPr>
          <p:nvPr>
            <p:ph sz="quarter" idx="1"/>
          </p:nvPr>
        </p:nvSpPr>
        <p:spPr/>
        <p:txBody>
          <a:bodyPr>
            <a:normAutofit fontScale="77500" lnSpcReduction="20000"/>
          </a:bodyPr>
          <a:lstStyle/>
          <a:p>
            <a:r>
              <a:rPr lang="en-US" dirty="0"/>
              <a:t>//Test class to create and display the values of object  </a:t>
            </a:r>
          </a:p>
          <a:p>
            <a:r>
              <a:rPr lang="en-US" b="1" dirty="0"/>
              <a:t>public</a:t>
            </a:r>
            <a:r>
              <a:rPr lang="en-US" dirty="0"/>
              <a:t> </a:t>
            </a:r>
            <a:r>
              <a:rPr lang="en-US" b="1" dirty="0"/>
              <a:t>class</a:t>
            </a:r>
            <a:r>
              <a:rPr lang="en-US" dirty="0"/>
              <a:t> </a:t>
            </a:r>
            <a:r>
              <a:rPr lang="en-US" dirty="0" err="1"/>
              <a:t>TestStaticMethod</a:t>
            </a:r>
            <a:r>
              <a:rPr lang="en-US" dirty="0"/>
              <a:t>{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a:t>
            </a:r>
            <a:r>
              <a:rPr lang="en-US" dirty="0" err="1"/>
              <a:t>Student.change</a:t>
            </a:r>
            <a:r>
              <a:rPr lang="en-US" dirty="0"/>
              <a:t>();//calling change method  </a:t>
            </a:r>
          </a:p>
          <a:p>
            <a:r>
              <a:rPr lang="en-US" dirty="0"/>
              <a:t>    //creating objects  </a:t>
            </a:r>
          </a:p>
          <a:p>
            <a:r>
              <a:rPr lang="en-US" dirty="0"/>
              <a:t>    Student s1 = </a:t>
            </a:r>
            <a:r>
              <a:rPr lang="en-US" b="1" dirty="0"/>
              <a:t>new</a:t>
            </a:r>
            <a:r>
              <a:rPr lang="en-US" dirty="0"/>
              <a:t> Student(111,"Karan");  </a:t>
            </a:r>
          </a:p>
          <a:p>
            <a:r>
              <a:rPr lang="en-US" dirty="0"/>
              <a:t>    Student s2 = </a:t>
            </a:r>
            <a:r>
              <a:rPr lang="en-US" b="1" dirty="0"/>
              <a:t>new</a:t>
            </a:r>
            <a:r>
              <a:rPr lang="en-US" dirty="0"/>
              <a:t> Student(222,"Aryan");  </a:t>
            </a:r>
          </a:p>
          <a:p>
            <a:r>
              <a:rPr lang="en-US" dirty="0"/>
              <a:t>    Student s3 = </a:t>
            </a:r>
            <a:r>
              <a:rPr lang="en-US" b="1" dirty="0"/>
              <a:t>new</a:t>
            </a:r>
            <a:r>
              <a:rPr lang="en-US" dirty="0"/>
              <a:t> Student(333,"Sonoo");  </a:t>
            </a:r>
          </a:p>
          <a:p>
            <a:r>
              <a:rPr lang="en-US" dirty="0"/>
              <a:t>    //calling display method  </a:t>
            </a:r>
          </a:p>
          <a:p>
            <a:r>
              <a:rPr lang="en-US" dirty="0"/>
              <a:t>    s1.display();  </a:t>
            </a:r>
          </a:p>
          <a:p>
            <a:r>
              <a:rPr lang="en-US" dirty="0"/>
              <a:t>    s2.display();  </a:t>
            </a:r>
          </a:p>
          <a:p>
            <a:r>
              <a:rPr lang="en-US" dirty="0"/>
              <a:t>    s3.display();  </a:t>
            </a:r>
          </a:p>
          <a:p>
            <a:r>
              <a:rPr lang="en-US" dirty="0"/>
              <a:t>    }  </a:t>
            </a:r>
          </a:p>
          <a:p>
            <a:r>
              <a:rPr lang="en-US" dirty="0"/>
              <a:t>}  </a:t>
            </a:r>
          </a:p>
          <a:p>
            <a:endParaRPr lang="en-US" dirty="0"/>
          </a:p>
        </p:txBody>
      </p:sp>
    </p:spTree>
    <p:extLst>
      <p:ext uri="{BB962C8B-B14F-4D97-AF65-F5344CB8AC3E}">
        <p14:creationId xmlns:p14="http://schemas.microsoft.com/office/powerpoint/2010/main" val="247948190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Restrictions for the static method</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167</a:t>
            </a:fld>
            <a:endParaRPr lang="en-US"/>
          </a:p>
        </p:txBody>
      </p:sp>
      <p:sp>
        <p:nvSpPr>
          <p:cNvPr id="4" name="Content Placeholder 3"/>
          <p:cNvSpPr>
            <a:spLocks noGrp="1"/>
          </p:cNvSpPr>
          <p:nvPr>
            <p:ph sz="quarter" idx="1"/>
          </p:nvPr>
        </p:nvSpPr>
        <p:spPr/>
        <p:txBody>
          <a:bodyPr/>
          <a:lstStyle/>
          <a:p>
            <a:r>
              <a:rPr lang="en-US" sz="2400" dirty="0"/>
              <a:t>There are two main restrictions for the static method. They are:</a:t>
            </a:r>
          </a:p>
          <a:p>
            <a:r>
              <a:rPr lang="en-US" sz="2400" dirty="0"/>
              <a:t>The static method can not use non static data member or call non-static method directly.</a:t>
            </a:r>
          </a:p>
          <a:p>
            <a:r>
              <a:rPr lang="en-US" sz="2400" dirty="0"/>
              <a:t>this and super cannot be used in static context.</a:t>
            </a:r>
          </a:p>
          <a:p>
            <a:endParaRPr lang="en-US" dirty="0"/>
          </a:p>
          <a:p>
            <a:r>
              <a:rPr lang="en-US" b="1" dirty="0">
                <a:solidFill>
                  <a:srgbClr val="FF0000"/>
                </a:solidFill>
              </a:rPr>
              <a:t>Why is the Java main method static?</a:t>
            </a:r>
          </a:p>
          <a:p>
            <a:pPr algn="just"/>
            <a:r>
              <a:rPr lang="en-US" sz="2400" dirty="0" err="1"/>
              <a:t>Ans</a:t>
            </a:r>
            <a:r>
              <a:rPr lang="en-US" sz="2400" dirty="0"/>
              <a:t>) It is because the object is not required to call a static method. If it were a non-static method, JVM creates an object first then call main() method that will lead the problem of extra memory allocation.</a:t>
            </a:r>
          </a:p>
          <a:p>
            <a:endParaRPr lang="en-US" dirty="0"/>
          </a:p>
          <a:p>
            <a:endParaRPr lang="en-US" dirty="0"/>
          </a:p>
        </p:txBody>
      </p:sp>
    </p:spTree>
    <p:extLst>
      <p:ext uri="{BB962C8B-B14F-4D97-AF65-F5344CB8AC3E}">
        <p14:creationId xmlns:p14="http://schemas.microsoft.com/office/powerpoint/2010/main" val="70617606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168</a:t>
            </a:fld>
            <a:endParaRPr lang="en-US"/>
          </a:p>
        </p:txBody>
      </p:sp>
      <p:sp>
        <p:nvSpPr>
          <p:cNvPr id="4" name="Content Placeholder 3"/>
          <p:cNvSpPr>
            <a:spLocks noGrp="1"/>
          </p:cNvSpPr>
          <p:nvPr>
            <p:ph sz="quarter" idx="1"/>
          </p:nvPr>
        </p:nvSpPr>
        <p:spPr/>
        <p:txBody>
          <a:bodyPr>
            <a:normAutofit fontScale="92500" lnSpcReduction="10000"/>
          </a:bodyPr>
          <a:lstStyle/>
          <a:p>
            <a:pPr algn="just"/>
            <a:r>
              <a:rPr lang="en-US" sz="2000" b="1" dirty="0">
                <a:solidFill>
                  <a:srgbClr val="FF0000"/>
                </a:solidFill>
              </a:rPr>
              <a:t>3) Java static block</a:t>
            </a:r>
          </a:p>
          <a:p>
            <a:pPr algn="just"/>
            <a:r>
              <a:rPr lang="en-US" sz="2000" dirty="0"/>
              <a:t>Is used to initialize the static data member.</a:t>
            </a:r>
          </a:p>
          <a:p>
            <a:pPr algn="just"/>
            <a:r>
              <a:rPr lang="en-US" sz="2000" dirty="0"/>
              <a:t>It is executed before the main method at the time of </a:t>
            </a:r>
            <a:r>
              <a:rPr lang="en-US" sz="2000" dirty="0" err="1"/>
              <a:t>classloading</a:t>
            </a:r>
            <a:r>
              <a:rPr lang="en-US" sz="2000" dirty="0"/>
              <a:t>.</a:t>
            </a:r>
          </a:p>
          <a:p>
            <a:pPr algn="just"/>
            <a:r>
              <a:rPr lang="en-US" sz="2000" dirty="0"/>
              <a:t>Example of static block</a:t>
            </a:r>
          </a:p>
          <a:p>
            <a:pPr algn="just"/>
            <a:r>
              <a:rPr lang="en-US" sz="2000" b="1" dirty="0"/>
              <a:t>class</a:t>
            </a:r>
            <a:r>
              <a:rPr lang="en-US" sz="2000" dirty="0"/>
              <a:t> A2</a:t>
            </a:r>
          </a:p>
          <a:p>
            <a:pPr algn="just"/>
            <a:r>
              <a:rPr lang="en-US" sz="2000" dirty="0"/>
              <a:t>{  </a:t>
            </a:r>
          </a:p>
          <a:p>
            <a:pPr algn="just"/>
            <a:r>
              <a:rPr lang="en-US" sz="2000" dirty="0"/>
              <a:t>  </a:t>
            </a:r>
            <a:r>
              <a:rPr lang="en-US" sz="2000" b="1" dirty="0"/>
              <a:t>static</a:t>
            </a:r>
          </a:p>
          <a:p>
            <a:pPr algn="just"/>
            <a:r>
              <a:rPr lang="en-US" sz="2000" dirty="0"/>
              <a:t>{</a:t>
            </a:r>
          </a:p>
          <a:p>
            <a:pPr algn="just"/>
            <a:r>
              <a:rPr lang="en-US" sz="2000" dirty="0" err="1"/>
              <a:t>System.out.println</a:t>
            </a:r>
            <a:r>
              <a:rPr lang="en-US" sz="2000" dirty="0"/>
              <a:t>("static block is invoked");</a:t>
            </a:r>
          </a:p>
          <a:p>
            <a:pPr algn="just"/>
            <a:r>
              <a:rPr lang="en-US" sz="2000" dirty="0"/>
              <a:t>}  </a:t>
            </a:r>
          </a:p>
          <a:p>
            <a:pPr algn="just"/>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a:t>
            </a:r>
          </a:p>
          <a:p>
            <a:pPr algn="just"/>
            <a:r>
              <a:rPr lang="en-US" sz="2000" dirty="0"/>
              <a:t>{  </a:t>
            </a:r>
          </a:p>
          <a:p>
            <a:pPr algn="just"/>
            <a:r>
              <a:rPr lang="en-US" sz="2000" dirty="0"/>
              <a:t>   </a:t>
            </a:r>
            <a:r>
              <a:rPr lang="en-US" sz="2000" dirty="0" err="1"/>
              <a:t>System.out.println</a:t>
            </a:r>
            <a:r>
              <a:rPr lang="en-US" sz="2000" dirty="0"/>
              <a:t>("Hello main");  </a:t>
            </a:r>
          </a:p>
          <a:p>
            <a:pPr algn="just"/>
            <a:r>
              <a:rPr lang="en-US" sz="2000" dirty="0"/>
              <a:t>  }  </a:t>
            </a:r>
          </a:p>
          <a:p>
            <a:pPr algn="just"/>
            <a:r>
              <a:rPr lang="en-US" sz="2000" dirty="0"/>
              <a:t>}  </a:t>
            </a:r>
          </a:p>
          <a:p>
            <a:endParaRPr lang="en-US" dirty="0"/>
          </a:p>
        </p:txBody>
      </p:sp>
    </p:spTree>
    <p:extLst>
      <p:ext uri="{BB962C8B-B14F-4D97-AF65-F5344CB8AC3E}">
        <p14:creationId xmlns:p14="http://schemas.microsoft.com/office/powerpoint/2010/main" val="77718751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169</a:t>
            </a:fld>
            <a:endParaRPr lang="en-US"/>
          </a:p>
        </p:txBody>
      </p:sp>
      <p:sp>
        <p:nvSpPr>
          <p:cNvPr id="4" name="Content Placeholder 3"/>
          <p:cNvSpPr>
            <a:spLocks noGrp="1"/>
          </p:cNvSpPr>
          <p:nvPr>
            <p:ph sz="quarter" idx="1"/>
          </p:nvPr>
        </p:nvSpPr>
        <p:spPr/>
        <p:txBody>
          <a:bodyPr>
            <a:normAutofit/>
          </a:bodyPr>
          <a:lstStyle/>
          <a:p>
            <a:pPr algn="just"/>
            <a:r>
              <a:rPr lang="en-US" sz="2400" dirty="0">
                <a:solidFill>
                  <a:srgbClr val="FF0000"/>
                </a:solidFill>
              </a:rPr>
              <a:t>Q) Can we execute a program without main() method?</a:t>
            </a:r>
          </a:p>
          <a:p>
            <a:pPr algn="just"/>
            <a:r>
              <a:rPr lang="en-US" sz="2400" dirty="0" err="1"/>
              <a:t>Ans</a:t>
            </a:r>
            <a:r>
              <a:rPr lang="en-US" sz="2400" dirty="0"/>
              <a:t>) No, one of the ways was the static block, but it was possible till JDK 1.6. Since JDK 1.7, it is not possible to execute a Java class without the main method.</a:t>
            </a:r>
          </a:p>
          <a:p>
            <a:pPr algn="just"/>
            <a:r>
              <a:rPr lang="en-US" sz="2400" b="1" dirty="0"/>
              <a:t>class</a:t>
            </a:r>
            <a:r>
              <a:rPr lang="en-US" sz="2400" dirty="0"/>
              <a:t> A3</a:t>
            </a:r>
          </a:p>
          <a:p>
            <a:pPr algn="just"/>
            <a:r>
              <a:rPr lang="en-US" sz="2400" dirty="0"/>
              <a:t>{  </a:t>
            </a:r>
          </a:p>
          <a:p>
            <a:pPr algn="just"/>
            <a:r>
              <a:rPr lang="en-US" sz="2400" dirty="0"/>
              <a:t>  </a:t>
            </a:r>
            <a:r>
              <a:rPr lang="en-US" sz="2400" b="1" dirty="0"/>
              <a:t>static</a:t>
            </a:r>
            <a:r>
              <a:rPr lang="en-US" sz="2400" dirty="0"/>
              <a:t>{  </a:t>
            </a:r>
          </a:p>
          <a:p>
            <a:pPr algn="just"/>
            <a:r>
              <a:rPr lang="en-US" sz="2400" dirty="0"/>
              <a:t>  </a:t>
            </a:r>
            <a:r>
              <a:rPr lang="en-US" sz="2400" dirty="0" err="1"/>
              <a:t>System.out.println</a:t>
            </a:r>
            <a:r>
              <a:rPr lang="en-US" sz="2400" dirty="0"/>
              <a:t>("static block is invoked");  </a:t>
            </a:r>
          </a:p>
          <a:p>
            <a:pPr algn="just"/>
            <a:r>
              <a:rPr lang="en-US" sz="2400" dirty="0"/>
              <a:t>  </a:t>
            </a:r>
            <a:r>
              <a:rPr lang="en-US" sz="2400" dirty="0" err="1"/>
              <a:t>System.exit</a:t>
            </a:r>
            <a:r>
              <a:rPr lang="en-US" sz="2400" dirty="0"/>
              <a:t>(0);  </a:t>
            </a:r>
          </a:p>
          <a:p>
            <a:pPr algn="just"/>
            <a:r>
              <a:rPr lang="en-US" sz="2400" dirty="0"/>
              <a:t>  }  </a:t>
            </a:r>
          </a:p>
          <a:p>
            <a:pPr algn="just"/>
            <a:r>
              <a:rPr lang="en-US" sz="2400" dirty="0"/>
              <a:t>}  </a:t>
            </a:r>
          </a:p>
          <a:p>
            <a:endParaRPr lang="en-US" dirty="0"/>
          </a:p>
        </p:txBody>
      </p:sp>
    </p:spTree>
    <p:extLst>
      <p:ext uri="{BB962C8B-B14F-4D97-AF65-F5344CB8AC3E}">
        <p14:creationId xmlns:p14="http://schemas.microsoft.com/office/powerpoint/2010/main" val="190653281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rPr>
              <a:t>Final Keyword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170</a:t>
            </a:fld>
            <a:endParaRPr lang="en-US"/>
          </a:p>
        </p:txBody>
      </p:sp>
      <p:sp>
        <p:nvSpPr>
          <p:cNvPr id="4" name="Content Placeholder 3"/>
          <p:cNvSpPr>
            <a:spLocks noGrp="1"/>
          </p:cNvSpPr>
          <p:nvPr>
            <p:ph sz="quarter" idx="1"/>
          </p:nvPr>
        </p:nvSpPr>
        <p:spPr/>
        <p:txBody>
          <a:bodyPr>
            <a:normAutofit/>
          </a:bodyPr>
          <a:lstStyle/>
          <a:p>
            <a:pPr algn="just"/>
            <a:r>
              <a:rPr lang="en-US" sz="2400" dirty="0"/>
              <a:t>The </a:t>
            </a:r>
            <a:r>
              <a:rPr lang="en-US" sz="2400" b="1" dirty="0"/>
              <a:t>final keyword</a:t>
            </a:r>
            <a:r>
              <a:rPr lang="en-US" sz="2400" dirty="0"/>
              <a:t> in java is used to restrict the user. The java final keyword can be used in many context. Final can be:</a:t>
            </a:r>
          </a:p>
          <a:p>
            <a:pPr lvl="1" algn="just"/>
            <a:r>
              <a:rPr lang="en-US" sz="3200" dirty="0">
                <a:solidFill>
                  <a:srgbClr val="0070C0"/>
                </a:solidFill>
              </a:rPr>
              <a:t>variable</a:t>
            </a:r>
          </a:p>
          <a:p>
            <a:pPr lvl="1" algn="just"/>
            <a:r>
              <a:rPr lang="en-US" sz="3200" dirty="0">
                <a:solidFill>
                  <a:srgbClr val="0070C0"/>
                </a:solidFill>
              </a:rPr>
              <a:t>method</a:t>
            </a:r>
          </a:p>
          <a:p>
            <a:pPr lvl="1" algn="just"/>
            <a:r>
              <a:rPr lang="en-US" sz="3200" dirty="0">
                <a:solidFill>
                  <a:srgbClr val="0070C0"/>
                </a:solidFill>
              </a:rPr>
              <a:t>class</a:t>
            </a:r>
          </a:p>
          <a:p>
            <a:pPr algn="just"/>
            <a:r>
              <a:rPr lang="en-US" sz="2400" dirty="0"/>
              <a:t>The final keyword can be applied with the variables, a final variable that have no value it is called blank final variable or uninitialized final variable. It can be initialized in the constructor only. </a:t>
            </a:r>
          </a:p>
          <a:p>
            <a:pPr algn="just"/>
            <a:r>
              <a:rPr lang="en-US" sz="2400" dirty="0"/>
              <a:t>The blank final variable can be static also which will be initialized in the static block only. </a:t>
            </a:r>
            <a:endParaRPr lang="en-US" dirty="0"/>
          </a:p>
        </p:txBody>
      </p:sp>
    </p:spTree>
    <p:extLst>
      <p:ext uri="{BB962C8B-B14F-4D97-AF65-F5344CB8AC3E}">
        <p14:creationId xmlns:p14="http://schemas.microsoft.com/office/powerpoint/2010/main" val="169770271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1) Java final variable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171</a:t>
            </a:fld>
            <a:endParaRPr lang="en-US"/>
          </a:p>
        </p:txBody>
      </p:sp>
      <p:sp>
        <p:nvSpPr>
          <p:cNvPr id="4" name="Content Placeholder 3"/>
          <p:cNvSpPr>
            <a:spLocks noGrp="1"/>
          </p:cNvSpPr>
          <p:nvPr>
            <p:ph sz="quarter" idx="1"/>
          </p:nvPr>
        </p:nvSpPr>
        <p:spPr>
          <a:xfrm>
            <a:off x="504031" y="1343941"/>
            <a:ext cx="9072563" cy="5662757"/>
          </a:xfrm>
        </p:spPr>
        <p:txBody>
          <a:bodyPr>
            <a:normAutofit fontScale="32500" lnSpcReduction="20000"/>
          </a:bodyPr>
          <a:lstStyle/>
          <a:p>
            <a:r>
              <a:rPr lang="en-US" sz="4500" dirty="0"/>
              <a:t>If you make any variable as final, you cannot change the value of final variable(It will be constant).</a:t>
            </a:r>
          </a:p>
          <a:p>
            <a:pPr algn="just"/>
            <a:r>
              <a:rPr lang="en-US" sz="4500" dirty="0"/>
              <a:t>Example of final variable</a:t>
            </a:r>
          </a:p>
          <a:p>
            <a:pPr algn="just"/>
            <a:r>
              <a:rPr lang="en-US" sz="4500" dirty="0"/>
              <a:t>There is a final variable </a:t>
            </a:r>
            <a:r>
              <a:rPr lang="en-US" sz="4500" dirty="0" err="1"/>
              <a:t>speedlimit</a:t>
            </a:r>
            <a:r>
              <a:rPr lang="en-US" sz="4500" dirty="0"/>
              <a:t>, we are going to change the value of this variable, but It can't be changed because final variable once assigned a value can never be changed.</a:t>
            </a:r>
          </a:p>
          <a:p>
            <a:r>
              <a:rPr lang="en-US" sz="5500" b="1" dirty="0"/>
              <a:t>class</a:t>
            </a:r>
            <a:r>
              <a:rPr lang="en-US" sz="5500" dirty="0"/>
              <a:t> Bike9</a:t>
            </a:r>
          </a:p>
          <a:p>
            <a:r>
              <a:rPr lang="en-US" sz="5500" dirty="0"/>
              <a:t>{  </a:t>
            </a:r>
          </a:p>
          <a:p>
            <a:r>
              <a:rPr lang="en-US" sz="5500" dirty="0"/>
              <a:t> </a:t>
            </a:r>
            <a:r>
              <a:rPr lang="en-US" sz="5500" b="1" dirty="0"/>
              <a:t>final</a:t>
            </a:r>
            <a:r>
              <a:rPr lang="en-US" sz="5500" dirty="0"/>
              <a:t> </a:t>
            </a:r>
            <a:r>
              <a:rPr lang="en-US" sz="5500" b="1" dirty="0" err="1"/>
              <a:t>int</a:t>
            </a:r>
            <a:r>
              <a:rPr lang="en-US" sz="5500" dirty="0"/>
              <a:t> </a:t>
            </a:r>
            <a:r>
              <a:rPr lang="en-US" sz="5500" dirty="0" err="1"/>
              <a:t>speedlimit</a:t>
            </a:r>
            <a:r>
              <a:rPr lang="en-US" sz="5500" dirty="0"/>
              <a:t>=90;//final variable  </a:t>
            </a:r>
          </a:p>
          <a:p>
            <a:r>
              <a:rPr lang="en-US" sz="5500" dirty="0"/>
              <a:t> </a:t>
            </a:r>
            <a:r>
              <a:rPr lang="en-US" sz="5500" b="1" dirty="0"/>
              <a:t>void</a:t>
            </a:r>
            <a:r>
              <a:rPr lang="en-US" sz="5500" dirty="0"/>
              <a:t> run()</a:t>
            </a:r>
          </a:p>
          <a:p>
            <a:r>
              <a:rPr lang="en-US" sz="5500" dirty="0"/>
              <a:t>{  </a:t>
            </a:r>
          </a:p>
          <a:p>
            <a:r>
              <a:rPr lang="en-US" sz="5500" dirty="0"/>
              <a:t>  </a:t>
            </a:r>
            <a:r>
              <a:rPr lang="en-US" sz="5500" dirty="0" err="1"/>
              <a:t>speedlimit</a:t>
            </a:r>
            <a:r>
              <a:rPr lang="en-US" sz="5500" dirty="0"/>
              <a:t>=400;  </a:t>
            </a:r>
          </a:p>
          <a:p>
            <a:r>
              <a:rPr lang="en-US" sz="5500" dirty="0"/>
              <a:t> }  </a:t>
            </a:r>
          </a:p>
          <a:p>
            <a:r>
              <a:rPr lang="en-US" sz="5500" dirty="0"/>
              <a:t> </a:t>
            </a:r>
            <a:r>
              <a:rPr lang="en-US" sz="5500" b="1" dirty="0"/>
              <a:t>public</a:t>
            </a:r>
            <a:r>
              <a:rPr lang="en-US" sz="5500" dirty="0"/>
              <a:t> </a:t>
            </a:r>
            <a:r>
              <a:rPr lang="en-US" sz="5500" b="1" dirty="0"/>
              <a:t>static</a:t>
            </a:r>
            <a:r>
              <a:rPr lang="en-US" sz="5500" dirty="0"/>
              <a:t> </a:t>
            </a:r>
            <a:r>
              <a:rPr lang="en-US" sz="5500" b="1" dirty="0"/>
              <a:t>void</a:t>
            </a:r>
            <a:r>
              <a:rPr lang="en-US" sz="5500" dirty="0"/>
              <a:t> main(String </a:t>
            </a:r>
            <a:r>
              <a:rPr lang="en-US" sz="5500" dirty="0" err="1"/>
              <a:t>args</a:t>
            </a:r>
            <a:r>
              <a:rPr lang="en-US" sz="5500" dirty="0"/>
              <a:t>[])</a:t>
            </a:r>
          </a:p>
          <a:p>
            <a:r>
              <a:rPr lang="en-US" sz="5500" dirty="0"/>
              <a:t>{  </a:t>
            </a:r>
          </a:p>
          <a:p>
            <a:r>
              <a:rPr lang="en-US" sz="5500" dirty="0"/>
              <a:t> Bike9 </a:t>
            </a:r>
            <a:r>
              <a:rPr lang="en-US" sz="5500" dirty="0" err="1"/>
              <a:t>obj</a:t>
            </a:r>
            <a:r>
              <a:rPr lang="en-US" sz="5500" dirty="0"/>
              <a:t>=</a:t>
            </a:r>
            <a:r>
              <a:rPr lang="en-US" sz="5500" b="1" dirty="0"/>
              <a:t>new</a:t>
            </a:r>
            <a:r>
              <a:rPr lang="en-US" sz="5500" dirty="0"/>
              <a:t>  Bike9();  </a:t>
            </a:r>
          </a:p>
          <a:p>
            <a:r>
              <a:rPr lang="en-US" sz="5500" dirty="0"/>
              <a:t> </a:t>
            </a:r>
            <a:r>
              <a:rPr lang="en-US" sz="5500" dirty="0" err="1"/>
              <a:t>obj.run</a:t>
            </a:r>
            <a:r>
              <a:rPr lang="en-US" sz="5500" dirty="0"/>
              <a:t>();  </a:t>
            </a:r>
          </a:p>
          <a:p>
            <a:r>
              <a:rPr lang="en-US" sz="5500" dirty="0"/>
              <a:t> }  </a:t>
            </a:r>
          </a:p>
          <a:p>
            <a:r>
              <a:rPr lang="en-US" sz="5500" dirty="0"/>
              <a:t>}//end of class  </a:t>
            </a:r>
          </a:p>
          <a:p>
            <a:br>
              <a:rPr lang="en-US" sz="5500" dirty="0"/>
            </a:br>
            <a:endParaRPr lang="en-US" sz="5500" dirty="0"/>
          </a:p>
        </p:txBody>
      </p:sp>
    </p:spTree>
    <p:extLst>
      <p:ext uri="{BB962C8B-B14F-4D97-AF65-F5344CB8AC3E}">
        <p14:creationId xmlns:p14="http://schemas.microsoft.com/office/powerpoint/2010/main" val="68275303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final method</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172</a:t>
            </a:fld>
            <a:endParaRPr lang="en-US"/>
          </a:p>
        </p:txBody>
      </p:sp>
      <p:sp>
        <p:nvSpPr>
          <p:cNvPr id="4" name="Content Placeholder 3"/>
          <p:cNvSpPr>
            <a:spLocks noGrp="1"/>
          </p:cNvSpPr>
          <p:nvPr>
            <p:ph sz="quarter" idx="1"/>
          </p:nvPr>
        </p:nvSpPr>
        <p:spPr/>
        <p:txBody>
          <a:bodyPr>
            <a:normAutofit fontScale="85000" lnSpcReduction="20000"/>
          </a:bodyPr>
          <a:lstStyle/>
          <a:p>
            <a:r>
              <a:rPr lang="en-US" dirty="0"/>
              <a:t>If you make any method as final, you cannot override it.</a:t>
            </a:r>
          </a:p>
          <a:p>
            <a:r>
              <a:rPr lang="en-US" b="1" dirty="0"/>
              <a:t>class</a:t>
            </a:r>
            <a:r>
              <a:rPr lang="en-US" dirty="0"/>
              <a:t> Bike{  </a:t>
            </a:r>
          </a:p>
          <a:p>
            <a:r>
              <a:rPr lang="en-US" dirty="0"/>
              <a:t>  </a:t>
            </a:r>
            <a:r>
              <a:rPr lang="en-US" b="1" dirty="0"/>
              <a:t>final</a:t>
            </a:r>
            <a:r>
              <a:rPr lang="en-US" dirty="0"/>
              <a:t> </a:t>
            </a:r>
            <a:r>
              <a:rPr lang="en-US" b="1" dirty="0"/>
              <a:t>void</a:t>
            </a:r>
            <a:r>
              <a:rPr lang="en-US" dirty="0"/>
              <a:t> run(){</a:t>
            </a:r>
            <a:r>
              <a:rPr lang="en-US" dirty="0" err="1"/>
              <a:t>System.out.println</a:t>
            </a:r>
            <a:r>
              <a:rPr lang="en-US" dirty="0"/>
              <a:t>("running");}  </a:t>
            </a:r>
          </a:p>
          <a:p>
            <a:r>
              <a:rPr lang="en-US" dirty="0"/>
              <a:t>}  </a:t>
            </a:r>
          </a:p>
          <a:p>
            <a:r>
              <a:rPr lang="en-US" dirty="0"/>
              <a:t>     </a:t>
            </a:r>
          </a:p>
          <a:p>
            <a:r>
              <a:rPr lang="en-US" b="1" dirty="0"/>
              <a:t>class</a:t>
            </a:r>
            <a:r>
              <a:rPr lang="en-US" dirty="0"/>
              <a:t> Honda </a:t>
            </a:r>
            <a:r>
              <a:rPr lang="en-US" b="1" dirty="0"/>
              <a:t>extends</a:t>
            </a:r>
            <a:r>
              <a:rPr lang="en-US" dirty="0"/>
              <a:t> Bike</a:t>
            </a:r>
          </a:p>
          <a:p>
            <a:r>
              <a:rPr lang="en-US" dirty="0"/>
              <a:t>{  </a:t>
            </a:r>
          </a:p>
          <a:p>
            <a:r>
              <a:rPr lang="en-US" dirty="0"/>
              <a:t>   </a:t>
            </a:r>
            <a:r>
              <a:rPr lang="en-US" b="1" dirty="0"/>
              <a:t>void</a:t>
            </a:r>
            <a:r>
              <a:rPr lang="en-US" dirty="0"/>
              <a:t> run(){</a:t>
            </a:r>
            <a:r>
              <a:rPr lang="en-US" dirty="0" err="1"/>
              <a:t>System.out.println</a:t>
            </a:r>
            <a:r>
              <a:rPr lang="en-US" dirty="0"/>
              <a:t>("running safely with 100kmph");}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Honda </a:t>
            </a:r>
            <a:r>
              <a:rPr lang="en-US" dirty="0" err="1"/>
              <a:t>honda</a:t>
            </a:r>
            <a:r>
              <a:rPr lang="en-US" dirty="0"/>
              <a:t>= </a:t>
            </a:r>
            <a:r>
              <a:rPr lang="en-US" b="1" dirty="0"/>
              <a:t>new</a:t>
            </a:r>
            <a:r>
              <a:rPr lang="en-US" dirty="0"/>
              <a:t> Honda();  </a:t>
            </a:r>
          </a:p>
          <a:p>
            <a:r>
              <a:rPr lang="en-US" dirty="0"/>
              <a:t>   </a:t>
            </a:r>
            <a:r>
              <a:rPr lang="en-US" dirty="0" err="1"/>
              <a:t>honda.run</a:t>
            </a:r>
            <a:r>
              <a:rPr lang="en-US" dirty="0"/>
              <a:t>();  </a:t>
            </a:r>
          </a:p>
          <a:p>
            <a:r>
              <a:rPr lang="en-US" dirty="0"/>
              <a:t>   }  </a:t>
            </a:r>
          </a:p>
          <a:p>
            <a:r>
              <a:rPr lang="en-US" dirty="0"/>
              <a:t>}  </a:t>
            </a:r>
          </a:p>
          <a:p>
            <a:endParaRPr lang="en-US" dirty="0"/>
          </a:p>
        </p:txBody>
      </p:sp>
    </p:spTree>
    <p:extLst>
      <p:ext uri="{BB962C8B-B14F-4D97-AF65-F5344CB8AC3E}">
        <p14:creationId xmlns:p14="http://schemas.microsoft.com/office/powerpoint/2010/main" val="411717476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final class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173</a:t>
            </a:fld>
            <a:endParaRPr lang="en-US"/>
          </a:p>
        </p:txBody>
      </p:sp>
      <p:sp>
        <p:nvSpPr>
          <p:cNvPr id="4" name="Content Placeholder 3"/>
          <p:cNvSpPr>
            <a:spLocks noGrp="1"/>
          </p:cNvSpPr>
          <p:nvPr>
            <p:ph sz="quarter" idx="1"/>
          </p:nvPr>
        </p:nvSpPr>
        <p:spPr/>
        <p:txBody>
          <a:bodyPr>
            <a:normAutofit fontScale="92500" lnSpcReduction="10000"/>
          </a:bodyPr>
          <a:lstStyle/>
          <a:p>
            <a:r>
              <a:rPr lang="en-US" dirty="0"/>
              <a:t>If you make any class as final, you cannot extend it.</a:t>
            </a:r>
          </a:p>
          <a:p>
            <a:r>
              <a:rPr lang="en-US" b="1" dirty="0"/>
              <a:t>final</a:t>
            </a:r>
            <a:r>
              <a:rPr lang="en-US" dirty="0"/>
              <a:t> </a:t>
            </a:r>
            <a:r>
              <a:rPr lang="en-US" b="1" dirty="0"/>
              <a:t>class</a:t>
            </a:r>
            <a:r>
              <a:rPr lang="en-US" dirty="0"/>
              <a:t> Bike{}  </a:t>
            </a:r>
          </a:p>
          <a:p>
            <a:r>
              <a:rPr lang="en-US" dirty="0"/>
              <a:t>  </a:t>
            </a:r>
          </a:p>
          <a:p>
            <a:r>
              <a:rPr lang="en-US" b="1" dirty="0"/>
              <a:t>class</a:t>
            </a:r>
            <a:r>
              <a:rPr lang="en-US" dirty="0"/>
              <a:t> Honda1 </a:t>
            </a:r>
            <a:r>
              <a:rPr lang="en-US" b="1" dirty="0"/>
              <a:t>extends</a:t>
            </a:r>
            <a:r>
              <a:rPr lang="en-US" dirty="0"/>
              <a:t> Bike{  </a:t>
            </a:r>
          </a:p>
          <a:p>
            <a:r>
              <a:rPr lang="en-US" dirty="0"/>
              <a:t>  </a:t>
            </a:r>
            <a:r>
              <a:rPr lang="en-US" b="1" dirty="0"/>
              <a:t>void</a:t>
            </a:r>
            <a:r>
              <a:rPr lang="en-US" dirty="0"/>
              <a:t> run(){</a:t>
            </a:r>
            <a:r>
              <a:rPr lang="en-US" dirty="0" err="1"/>
              <a:t>System.out.println</a:t>
            </a:r>
            <a:r>
              <a:rPr lang="en-US" dirty="0"/>
              <a:t>("running safely with 100kmph");}  </a:t>
            </a:r>
          </a:p>
          <a:p>
            <a:r>
              <a:rPr lang="en-US" dirty="0"/>
              <a:t>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Honda1 </a:t>
            </a:r>
            <a:r>
              <a:rPr lang="en-US" dirty="0" err="1"/>
              <a:t>honda</a:t>
            </a:r>
            <a:r>
              <a:rPr lang="en-US" dirty="0"/>
              <a:t>= </a:t>
            </a:r>
            <a:r>
              <a:rPr lang="en-US" b="1" dirty="0"/>
              <a:t>new</a:t>
            </a:r>
            <a:r>
              <a:rPr lang="en-US" dirty="0"/>
              <a:t> Honda1();  </a:t>
            </a:r>
          </a:p>
          <a:p>
            <a:r>
              <a:rPr lang="en-US" dirty="0"/>
              <a:t>  </a:t>
            </a:r>
            <a:r>
              <a:rPr lang="en-US" dirty="0" err="1"/>
              <a:t>honda.run</a:t>
            </a:r>
            <a:r>
              <a:rPr lang="en-US" dirty="0"/>
              <a:t>();  </a:t>
            </a:r>
          </a:p>
          <a:p>
            <a:r>
              <a:rPr lang="en-US" dirty="0"/>
              <a:t>  }  </a:t>
            </a:r>
          </a:p>
          <a:p>
            <a:r>
              <a:rPr lang="en-US" dirty="0"/>
              <a:t>}  </a:t>
            </a:r>
          </a:p>
          <a:p>
            <a:endParaRPr lang="en-US" dirty="0"/>
          </a:p>
        </p:txBody>
      </p:sp>
    </p:spTree>
    <p:extLst>
      <p:ext uri="{BB962C8B-B14F-4D97-AF65-F5344CB8AC3E}">
        <p14:creationId xmlns:p14="http://schemas.microsoft.com/office/powerpoint/2010/main" val="401173029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solidFill>
                  <a:srgbClr val="FF0000"/>
                </a:solidFill>
              </a:rPr>
              <a:t>What is blank or uninitialized final variable?</a:t>
            </a:r>
            <a:endParaRPr lang="en-US" dirty="0"/>
          </a:p>
        </p:txBody>
      </p:sp>
      <p:sp>
        <p:nvSpPr>
          <p:cNvPr id="3" name="Slide Number Placeholder 2"/>
          <p:cNvSpPr>
            <a:spLocks noGrp="1"/>
          </p:cNvSpPr>
          <p:nvPr>
            <p:ph type="sldNum" sz="quarter" idx="12"/>
          </p:nvPr>
        </p:nvSpPr>
        <p:spPr/>
        <p:txBody>
          <a:bodyPr/>
          <a:lstStyle/>
          <a:p>
            <a:fld id="{E3591306-41CF-4237-B2B4-5C605DD45071}" type="slidenum">
              <a:rPr lang="en-US" smtClean="0"/>
              <a:pPr/>
              <a:t>174</a:t>
            </a:fld>
            <a:endParaRPr lang="en-US"/>
          </a:p>
        </p:txBody>
      </p:sp>
      <p:sp>
        <p:nvSpPr>
          <p:cNvPr id="4" name="Content Placeholder 3"/>
          <p:cNvSpPr>
            <a:spLocks noGrp="1"/>
          </p:cNvSpPr>
          <p:nvPr>
            <p:ph sz="quarter" idx="1"/>
          </p:nvPr>
        </p:nvSpPr>
        <p:spPr/>
        <p:txBody>
          <a:bodyPr>
            <a:normAutofit/>
          </a:bodyPr>
          <a:lstStyle/>
          <a:p>
            <a:pPr algn="just"/>
            <a:r>
              <a:rPr lang="en-US" sz="1800" dirty="0"/>
              <a:t>A final variable that is not initialized at the time of declaration is known as blank final variable.</a:t>
            </a:r>
          </a:p>
          <a:p>
            <a:pPr algn="just"/>
            <a:r>
              <a:rPr lang="en-US" sz="1800" dirty="0"/>
              <a:t>If you want to create a variable that is initialized at the time of creating object and once initialized may not be changed, it is useful. For example PAN CARD number of an employee.</a:t>
            </a:r>
          </a:p>
          <a:p>
            <a:pPr algn="just"/>
            <a:r>
              <a:rPr lang="en-US" sz="1800" dirty="0"/>
              <a:t>It can be initialized only in constructor</a:t>
            </a:r>
          </a:p>
          <a:p>
            <a:r>
              <a:rPr lang="en-US" sz="1800" b="1" dirty="0"/>
              <a:t>class</a:t>
            </a:r>
            <a:r>
              <a:rPr lang="en-US" sz="1800" dirty="0"/>
              <a:t> Bike10{  </a:t>
            </a:r>
          </a:p>
          <a:p>
            <a:r>
              <a:rPr lang="en-US" sz="1800" dirty="0"/>
              <a:t>  </a:t>
            </a:r>
            <a:r>
              <a:rPr lang="en-US" sz="1800" b="1" dirty="0"/>
              <a:t>final</a:t>
            </a:r>
            <a:r>
              <a:rPr lang="en-US" sz="1800" dirty="0"/>
              <a:t> </a:t>
            </a:r>
            <a:r>
              <a:rPr lang="en-US" sz="1800" b="1" dirty="0" err="1"/>
              <a:t>int</a:t>
            </a:r>
            <a:r>
              <a:rPr lang="en-US" sz="1800" dirty="0"/>
              <a:t> </a:t>
            </a:r>
            <a:r>
              <a:rPr lang="en-US" sz="1800" dirty="0" err="1"/>
              <a:t>speedlimit</a:t>
            </a:r>
            <a:r>
              <a:rPr lang="en-US" sz="1800" dirty="0"/>
              <a:t>;//blank final variable  </a:t>
            </a:r>
          </a:p>
          <a:p>
            <a:r>
              <a:rPr lang="en-US" sz="1800" dirty="0"/>
              <a:t>   Bike10(){  </a:t>
            </a:r>
          </a:p>
          <a:p>
            <a:r>
              <a:rPr lang="en-US" sz="1800" dirty="0"/>
              <a:t>  </a:t>
            </a:r>
            <a:r>
              <a:rPr lang="en-US" sz="1800" dirty="0" err="1"/>
              <a:t>speedlimit</a:t>
            </a:r>
            <a:r>
              <a:rPr lang="en-US" sz="1800" dirty="0"/>
              <a:t>=70;  </a:t>
            </a:r>
          </a:p>
          <a:p>
            <a:r>
              <a:rPr lang="en-US" sz="1800" dirty="0"/>
              <a:t>  </a:t>
            </a:r>
            <a:r>
              <a:rPr lang="en-US" sz="1800" dirty="0" err="1"/>
              <a:t>System.out.println</a:t>
            </a:r>
            <a:r>
              <a:rPr lang="en-US" sz="1800" dirty="0"/>
              <a:t>(</a:t>
            </a:r>
            <a:r>
              <a:rPr lang="en-US" sz="1800" dirty="0" err="1"/>
              <a:t>speedlimit</a:t>
            </a:r>
            <a:r>
              <a:rPr lang="en-US" sz="1800" dirty="0"/>
              <a:t>);  </a:t>
            </a:r>
          </a:p>
          <a:p>
            <a:r>
              <a:rPr lang="en-US" sz="1800" dirty="0"/>
              <a:t>  }  </a:t>
            </a:r>
          </a:p>
          <a:p>
            <a:r>
              <a:rPr lang="en-US" sz="1800" dirty="0"/>
              <a:t>    </a:t>
            </a:r>
            <a:r>
              <a:rPr lang="en-US" sz="1800" b="1" dirty="0"/>
              <a:t>public</a:t>
            </a:r>
            <a:r>
              <a:rPr lang="en-US" sz="1800" dirty="0"/>
              <a:t> </a:t>
            </a:r>
            <a:r>
              <a:rPr lang="en-US" sz="1800" b="1" dirty="0"/>
              <a:t>static</a:t>
            </a:r>
            <a:r>
              <a:rPr lang="en-US" sz="1800" dirty="0"/>
              <a:t> </a:t>
            </a:r>
            <a:r>
              <a:rPr lang="en-US" sz="1800" b="1" dirty="0"/>
              <a:t>void</a:t>
            </a:r>
            <a:r>
              <a:rPr lang="en-US" sz="1800" dirty="0"/>
              <a:t> main(String </a:t>
            </a:r>
            <a:r>
              <a:rPr lang="en-US" sz="1800" dirty="0" err="1"/>
              <a:t>args</a:t>
            </a:r>
            <a:r>
              <a:rPr lang="en-US" sz="1800" dirty="0"/>
              <a:t>[]){  </a:t>
            </a:r>
          </a:p>
          <a:p>
            <a:r>
              <a:rPr lang="en-US" sz="1800" dirty="0"/>
              <a:t>    </a:t>
            </a:r>
            <a:r>
              <a:rPr lang="en-US" sz="1800" b="1" dirty="0"/>
              <a:t>new</a:t>
            </a:r>
            <a:r>
              <a:rPr lang="en-US" sz="1800" dirty="0"/>
              <a:t> Bike10();  </a:t>
            </a:r>
          </a:p>
          <a:p>
            <a:r>
              <a:rPr lang="en-US" sz="1800" dirty="0"/>
              <a:t> }  </a:t>
            </a:r>
          </a:p>
          <a:p>
            <a:r>
              <a:rPr lang="en-US" sz="1800" dirty="0"/>
              <a:t>}  </a:t>
            </a:r>
          </a:p>
          <a:p>
            <a:pPr algn="just"/>
            <a:endParaRPr lang="en-US" sz="1800" dirty="0"/>
          </a:p>
          <a:p>
            <a:pPr algn="just"/>
            <a:endParaRPr lang="en-US" sz="2400" dirty="0"/>
          </a:p>
          <a:p>
            <a:endParaRPr lang="en-US" dirty="0"/>
          </a:p>
        </p:txBody>
      </p:sp>
    </p:spTree>
    <p:extLst>
      <p:ext uri="{BB962C8B-B14F-4D97-AF65-F5344CB8AC3E}">
        <p14:creationId xmlns:p14="http://schemas.microsoft.com/office/powerpoint/2010/main" val="68835673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static blank final variable</a:t>
            </a:r>
            <a:endParaRPr lang="en-US" dirty="0"/>
          </a:p>
        </p:txBody>
      </p:sp>
      <p:sp>
        <p:nvSpPr>
          <p:cNvPr id="3" name="Slide Number Placeholder 2"/>
          <p:cNvSpPr>
            <a:spLocks noGrp="1"/>
          </p:cNvSpPr>
          <p:nvPr>
            <p:ph type="sldNum" sz="quarter" idx="12"/>
          </p:nvPr>
        </p:nvSpPr>
        <p:spPr/>
        <p:txBody>
          <a:bodyPr/>
          <a:lstStyle/>
          <a:p>
            <a:fld id="{E3591306-41CF-4237-B2B4-5C605DD45071}" type="slidenum">
              <a:rPr lang="en-US" smtClean="0"/>
              <a:pPr/>
              <a:t>175</a:t>
            </a:fld>
            <a:endParaRPr lang="en-US"/>
          </a:p>
        </p:txBody>
      </p:sp>
      <p:sp>
        <p:nvSpPr>
          <p:cNvPr id="4" name="Content Placeholder 3"/>
          <p:cNvSpPr>
            <a:spLocks noGrp="1"/>
          </p:cNvSpPr>
          <p:nvPr>
            <p:ph sz="quarter" idx="1"/>
          </p:nvPr>
        </p:nvSpPr>
        <p:spPr/>
        <p:txBody>
          <a:bodyPr/>
          <a:lstStyle/>
          <a:p>
            <a:r>
              <a:rPr lang="en-US" dirty="0"/>
              <a:t>A static final variable that is not initialized at the time of declaration is known as static blank final variable. It can be initialized only in static block.</a:t>
            </a:r>
          </a:p>
          <a:p>
            <a:r>
              <a:rPr lang="en-US" b="1" dirty="0"/>
              <a:t>class</a:t>
            </a:r>
            <a:r>
              <a:rPr lang="en-US" dirty="0"/>
              <a:t> A{  </a:t>
            </a:r>
          </a:p>
          <a:p>
            <a:r>
              <a:rPr lang="en-US" dirty="0"/>
              <a:t>  </a:t>
            </a:r>
            <a:r>
              <a:rPr lang="en-US" b="1" dirty="0"/>
              <a:t>static</a:t>
            </a:r>
            <a:r>
              <a:rPr lang="en-US" dirty="0"/>
              <a:t> </a:t>
            </a:r>
            <a:r>
              <a:rPr lang="en-US" b="1" dirty="0"/>
              <a:t>final</a:t>
            </a:r>
            <a:r>
              <a:rPr lang="en-US" dirty="0"/>
              <a:t> </a:t>
            </a:r>
            <a:r>
              <a:rPr lang="en-US" b="1" dirty="0" err="1"/>
              <a:t>int</a:t>
            </a:r>
            <a:r>
              <a:rPr lang="en-US" dirty="0"/>
              <a:t> data;//static blank final variable  </a:t>
            </a:r>
          </a:p>
          <a:p>
            <a:r>
              <a:rPr lang="en-US" dirty="0"/>
              <a:t>  </a:t>
            </a:r>
            <a:r>
              <a:rPr lang="en-US" b="1" dirty="0"/>
              <a:t>static</a:t>
            </a:r>
            <a:r>
              <a:rPr lang="en-US" dirty="0"/>
              <a:t>{ data=50;}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a:t>
            </a:r>
            <a:r>
              <a:rPr lang="en-US" dirty="0" err="1"/>
              <a:t>System.out.println</a:t>
            </a:r>
            <a:r>
              <a:rPr lang="en-US" dirty="0"/>
              <a:t>(</a:t>
            </a:r>
            <a:r>
              <a:rPr lang="en-US" dirty="0" err="1"/>
              <a:t>A.data</a:t>
            </a:r>
            <a:r>
              <a:rPr lang="en-US" dirty="0"/>
              <a:t>);  </a:t>
            </a:r>
          </a:p>
          <a:p>
            <a:r>
              <a:rPr lang="en-US" dirty="0"/>
              <a:t> }  </a:t>
            </a:r>
          </a:p>
          <a:p>
            <a:r>
              <a:rPr lang="en-US" dirty="0"/>
              <a:t>}  </a:t>
            </a:r>
          </a:p>
          <a:p>
            <a:endParaRPr lang="en-US" dirty="0"/>
          </a:p>
        </p:txBody>
      </p:sp>
    </p:spTree>
    <p:extLst>
      <p:ext uri="{BB962C8B-B14F-4D97-AF65-F5344CB8AC3E}">
        <p14:creationId xmlns:p14="http://schemas.microsoft.com/office/powerpoint/2010/main" val="40470666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176</a:t>
            </a:fld>
            <a:endParaRPr lang="en-US"/>
          </a:p>
        </p:txBody>
      </p:sp>
      <p:sp>
        <p:nvSpPr>
          <p:cNvPr id="4" name="Content Placeholder 3"/>
          <p:cNvSpPr>
            <a:spLocks noGrp="1"/>
          </p:cNvSpPr>
          <p:nvPr>
            <p:ph sz="quarter" idx="1"/>
          </p:nvPr>
        </p:nvSpPr>
        <p:spPr/>
        <p:txBody>
          <a:bodyPr>
            <a:normAutofit/>
          </a:bodyPr>
          <a:lstStyle/>
          <a:p>
            <a:pPr algn="just"/>
            <a:r>
              <a:rPr lang="en-US" sz="2800" dirty="0">
                <a:solidFill>
                  <a:srgbClr val="FF0000"/>
                </a:solidFill>
              </a:rPr>
              <a:t>Q) Is final method inherited?</a:t>
            </a:r>
          </a:p>
          <a:p>
            <a:pPr algn="just"/>
            <a:r>
              <a:rPr lang="en-US" sz="2800" dirty="0"/>
              <a:t>Yes, final method is inherited but you cannot override it. </a:t>
            </a:r>
          </a:p>
          <a:p>
            <a:pPr algn="just"/>
            <a:r>
              <a:rPr lang="en-US" sz="2800" dirty="0">
                <a:solidFill>
                  <a:srgbClr val="FF0000"/>
                </a:solidFill>
              </a:rPr>
              <a:t>Q) Can we declare a constructor final?</a:t>
            </a:r>
          </a:p>
          <a:p>
            <a:pPr algn="just"/>
            <a:r>
              <a:rPr lang="en-US" sz="2800" dirty="0"/>
              <a:t>No, because constructor is never inherited.</a:t>
            </a:r>
          </a:p>
          <a:p>
            <a:r>
              <a:rPr lang="en-US" sz="2800" dirty="0">
                <a:solidFill>
                  <a:srgbClr val="FF0000"/>
                </a:solidFill>
              </a:rPr>
              <a:t>Q) What is final parameter?</a:t>
            </a:r>
          </a:p>
          <a:p>
            <a:r>
              <a:rPr lang="en-US" sz="2800" dirty="0"/>
              <a:t>If you declare any parameter as final, you cannot change the value of it.</a:t>
            </a:r>
          </a:p>
          <a:p>
            <a:pPr algn="just"/>
            <a:endParaRPr lang="en-US" sz="2000" dirty="0"/>
          </a:p>
          <a:p>
            <a:endParaRPr lang="en-US" dirty="0"/>
          </a:p>
        </p:txBody>
      </p:sp>
    </p:spTree>
    <p:extLst>
      <p:ext uri="{BB962C8B-B14F-4D97-AF65-F5344CB8AC3E}">
        <p14:creationId xmlns:p14="http://schemas.microsoft.com/office/powerpoint/2010/main" val="64978165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Access Modifiers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177</a:t>
            </a:fld>
            <a:endParaRPr lang="en-US"/>
          </a:p>
        </p:txBody>
      </p:sp>
      <p:sp>
        <p:nvSpPr>
          <p:cNvPr id="4" name="Content Placeholder 3"/>
          <p:cNvSpPr>
            <a:spLocks noGrp="1"/>
          </p:cNvSpPr>
          <p:nvPr>
            <p:ph sz="quarter" idx="1"/>
          </p:nvPr>
        </p:nvSpPr>
        <p:spPr/>
        <p:txBody>
          <a:bodyPr/>
          <a:lstStyle/>
          <a:p>
            <a:pPr algn="just"/>
            <a:r>
              <a:rPr lang="en-US" sz="2400" dirty="0"/>
              <a:t>There are two types of modifiers in Java: </a:t>
            </a:r>
          </a:p>
          <a:p>
            <a:pPr lvl="1" algn="just"/>
            <a:r>
              <a:rPr lang="en-US" sz="2800" b="1" dirty="0">
                <a:solidFill>
                  <a:srgbClr val="0070C0"/>
                </a:solidFill>
              </a:rPr>
              <a:t>access modifiers</a:t>
            </a:r>
            <a:r>
              <a:rPr lang="en-US" sz="2800" dirty="0">
                <a:solidFill>
                  <a:srgbClr val="0070C0"/>
                </a:solidFill>
              </a:rPr>
              <a:t> and </a:t>
            </a:r>
          </a:p>
          <a:p>
            <a:pPr lvl="1" algn="just"/>
            <a:r>
              <a:rPr lang="en-US" sz="2800" b="1" dirty="0">
                <a:solidFill>
                  <a:srgbClr val="0070C0"/>
                </a:solidFill>
              </a:rPr>
              <a:t>non-access modifiers</a:t>
            </a:r>
            <a:r>
              <a:rPr lang="en-US" sz="2800" dirty="0">
                <a:solidFill>
                  <a:srgbClr val="0070C0"/>
                </a:solidFill>
              </a:rPr>
              <a:t>.</a:t>
            </a:r>
          </a:p>
          <a:p>
            <a:pPr algn="just"/>
            <a:r>
              <a:rPr lang="en-US" sz="2400" dirty="0"/>
              <a:t>The access modifiers in Java specifies the accessibility or scope of a field, method, constructor, or class. We can change the access level of fields, constructors, methods, and class by applying the access modifier on it.</a:t>
            </a:r>
          </a:p>
          <a:p>
            <a:pPr algn="just"/>
            <a:r>
              <a:rPr lang="en-US" sz="2400" dirty="0"/>
              <a:t>There are many non-access modifiers, </a:t>
            </a:r>
            <a:r>
              <a:rPr lang="en-US" sz="2400" dirty="0">
                <a:solidFill>
                  <a:srgbClr val="0070C0"/>
                </a:solidFill>
              </a:rPr>
              <a:t>such as static, abstract, synchronized, native, volatile, transient, etc. </a:t>
            </a:r>
            <a:r>
              <a:rPr lang="en-US" sz="2400" dirty="0"/>
              <a:t>Here, we are going to learn the access modifiers only.</a:t>
            </a:r>
          </a:p>
          <a:p>
            <a:pPr marL="0" indent="0">
              <a:buNone/>
            </a:pPr>
            <a:br>
              <a:rPr lang="en-US" dirty="0"/>
            </a:br>
            <a:endParaRPr lang="en-US" dirty="0"/>
          </a:p>
        </p:txBody>
      </p:sp>
    </p:spTree>
    <p:extLst>
      <p:ext uri="{BB962C8B-B14F-4D97-AF65-F5344CB8AC3E}">
        <p14:creationId xmlns:p14="http://schemas.microsoft.com/office/powerpoint/2010/main" val="111410158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FF0000"/>
                </a:solidFill>
              </a:rPr>
              <a:t>There are four types of Java access modifiers: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178</a:t>
            </a:fld>
            <a:endParaRPr lang="en-US"/>
          </a:p>
        </p:txBody>
      </p:sp>
      <p:sp>
        <p:nvSpPr>
          <p:cNvPr id="4" name="Content Placeholder 3"/>
          <p:cNvSpPr>
            <a:spLocks noGrp="1"/>
          </p:cNvSpPr>
          <p:nvPr>
            <p:ph sz="quarter" idx="1"/>
          </p:nvPr>
        </p:nvSpPr>
        <p:spPr/>
        <p:txBody>
          <a:bodyPr>
            <a:normAutofit lnSpcReduction="10000"/>
          </a:bodyPr>
          <a:lstStyle/>
          <a:p>
            <a:pPr algn="just"/>
            <a:r>
              <a:rPr lang="en-US" sz="2400" b="1" dirty="0">
                <a:solidFill>
                  <a:srgbClr val="0070C0"/>
                </a:solidFill>
              </a:rPr>
              <a:t>Private</a:t>
            </a:r>
            <a:r>
              <a:rPr lang="en-US" sz="2400" dirty="0">
                <a:solidFill>
                  <a:srgbClr val="0070C0"/>
                </a:solidFill>
              </a:rPr>
              <a:t>: </a:t>
            </a:r>
            <a:r>
              <a:rPr lang="en-US" sz="2400" dirty="0"/>
              <a:t>The access level of a private modifier is only within the class. It cannot be accessed from outside the class.</a:t>
            </a:r>
          </a:p>
          <a:p>
            <a:pPr algn="just"/>
            <a:endParaRPr lang="en-US" sz="2400" dirty="0"/>
          </a:p>
          <a:p>
            <a:pPr algn="just"/>
            <a:r>
              <a:rPr lang="en-US" sz="2400" b="1" dirty="0">
                <a:solidFill>
                  <a:srgbClr val="0070C0"/>
                </a:solidFill>
              </a:rPr>
              <a:t>Default</a:t>
            </a:r>
            <a:r>
              <a:rPr lang="en-US" sz="2400" dirty="0">
                <a:solidFill>
                  <a:srgbClr val="0070C0"/>
                </a:solidFill>
              </a:rPr>
              <a:t>: </a:t>
            </a:r>
            <a:r>
              <a:rPr lang="en-US" sz="2400" dirty="0"/>
              <a:t>The access level of a default modifier is only within the package. It cannot be accessed from outside the package. If you do not specify any access level, it will be the default.</a:t>
            </a:r>
          </a:p>
          <a:p>
            <a:pPr algn="just"/>
            <a:endParaRPr lang="en-US" sz="2400" dirty="0"/>
          </a:p>
          <a:p>
            <a:pPr algn="just"/>
            <a:r>
              <a:rPr lang="en-US" sz="2400" b="1" dirty="0">
                <a:solidFill>
                  <a:srgbClr val="0070C0"/>
                </a:solidFill>
              </a:rPr>
              <a:t>Protected</a:t>
            </a:r>
            <a:r>
              <a:rPr lang="en-US" sz="2400" dirty="0">
                <a:solidFill>
                  <a:srgbClr val="0070C0"/>
                </a:solidFill>
              </a:rPr>
              <a:t>: </a:t>
            </a:r>
            <a:r>
              <a:rPr lang="en-US" sz="2400" dirty="0"/>
              <a:t>The access level of a protected modifier is within the package and outside the package through child class. If you do not make the child class, it cannot be accessed from outside the package.</a:t>
            </a:r>
          </a:p>
          <a:p>
            <a:pPr algn="just"/>
            <a:endParaRPr lang="en-US" sz="2400" dirty="0"/>
          </a:p>
          <a:p>
            <a:pPr algn="just"/>
            <a:r>
              <a:rPr lang="en-US" sz="2400" b="1" dirty="0">
                <a:solidFill>
                  <a:srgbClr val="0070C0"/>
                </a:solidFill>
              </a:rPr>
              <a:t>Public</a:t>
            </a:r>
            <a:r>
              <a:rPr lang="en-US" sz="2400" dirty="0">
                <a:solidFill>
                  <a:srgbClr val="0070C0"/>
                </a:solidFill>
              </a:rPr>
              <a:t>:</a:t>
            </a:r>
            <a:r>
              <a:rPr lang="en-US" sz="2400" dirty="0"/>
              <a:t> The access level of a public modifier is everywhere. It can be accessed from within the class, outside the class, within the package and outside the package.</a:t>
            </a:r>
          </a:p>
          <a:p>
            <a:endParaRPr lang="en-US" dirty="0"/>
          </a:p>
        </p:txBody>
      </p:sp>
    </p:spTree>
    <p:extLst>
      <p:ext uri="{BB962C8B-B14F-4D97-AF65-F5344CB8AC3E}">
        <p14:creationId xmlns:p14="http://schemas.microsoft.com/office/powerpoint/2010/main" val="60685562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179</a:t>
            </a:fld>
            <a:endParaRPr lang="en-US"/>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426525604"/>
              </p:ext>
            </p:extLst>
          </p:nvPr>
        </p:nvGraphicFramePr>
        <p:xfrm>
          <a:off x="504030" y="2240280"/>
          <a:ext cx="8883810" cy="3924932"/>
        </p:xfrm>
        <a:graphic>
          <a:graphicData uri="http://schemas.openxmlformats.org/drawingml/2006/table">
            <a:tbl>
              <a:tblPr/>
              <a:tblGrid>
                <a:gridCol w="1776762">
                  <a:extLst>
                    <a:ext uri="{9D8B030D-6E8A-4147-A177-3AD203B41FA5}">
                      <a16:colId xmlns:a16="http://schemas.microsoft.com/office/drawing/2014/main" val="20000"/>
                    </a:ext>
                  </a:extLst>
                </a:gridCol>
                <a:gridCol w="1776762">
                  <a:extLst>
                    <a:ext uri="{9D8B030D-6E8A-4147-A177-3AD203B41FA5}">
                      <a16:colId xmlns:a16="http://schemas.microsoft.com/office/drawing/2014/main" val="20001"/>
                    </a:ext>
                  </a:extLst>
                </a:gridCol>
                <a:gridCol w="1776762">
                  <a:extLst>
                    <a:ext uri="{9D8B030D-6E8A-4147-A177-3AD203B41FA5}">
                      <a16:colId xmlns:a16="http://schemas.microsoft.com/office/drawing/2014/main" val="20002"/>
                    </a:ext>
                  </a:extLst>
                </a:gridCol>
                <a:gridCol w="1776762">
                  <a:extLst>
                    <a:ext uri="{9D8B030D-6E8A-4147-A177-3AD203B41FA5}">
                      <a16:colId xmlns:a16="http://schemas.microsoft.com/office/drawing/2014/main" val="20003"/>
                    </a:ext>
                  </a:extLst>
                </a:gridCol>
                <a:gridCol w="1776762">
                  <a:extLst>
                    <a:ext uri="{9D8B030D-6E8A-4147-A177-3AD203B41FA5}">
                      <a16:colId xmlns:a16="http://schemas.microsoft.com/office/drawing/2014/main" val="20004"/>
                    </a:ext>
                  </a:extLst>
                </a:gridCol>
              </a:tblGrid>
              <a:tr h="594360">
                <a:tc>
                  <a:txBody>
                    <a:bodyPr/>
                    <a:lstStyle/>
                    <a:p>
                      <a:pPr algn="ctr" fontAlgn="t"/>
                      <a:r>
                        <a:rPr lang="en-US" sz="2000" dirty="0">
                          <a:solidFill>
                            <a:srgbClr val="7030A0"/>
                          </a:solidFill>
                          <a:effectLst/>
                          <a:latin typeface="times new roman" panose="02020603050405020304" pitchFamily="18" charset="0"/>
                        </a:rPr>
                        <a:t>Access Modifier</a:t>
                      </a:r>
                    </a:p>
                  </a:txBody>
                  <a:tcPr marL="114300" marR="114300" marT="114300" marB="114300">
                    <a:lnL w="9525" cap="flat" cmpd="sng" algn="ctr">
                      <a:solidFill>
                        <a:srgbClr val="C0770D"/>
                      </a:solidFill>
                      <a:prstDash val="solid"/>
                      <a:round/>
                      <a:headEnd type="none" w="med" len="med"/>
                      <a:tailEnd type="none" w="med" len="med"/>
                    </a:lnL>
                    <a:lnR w="9525" cap="flat" cmpd="sng" algn="ctr">
                      <a:solidFill>
                        <a:srgbClr val="C0770D"/>
                      </a:solidFill>
                      <a:prstDash val="solid"/>
                      <a:round/>
                      <a:headEnd type="none" w="med" len="med"/>
                      <a:tailEnd type="none" w="med" len="med"/>
                    </a:lnR>
                    <a:lnT w="9525" cap="flat" cmpd="sng" algn="ctr">
                      <a:solidFill>
                        <a:srgbClr val="C0770D"/>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ctr" fontAlgn="t"/>
                      <a:r>
                        <a:rPr lang="en-US" sz="2000" dirty="0">
                          <a:solidFill>
                            <a:srgbClr val="7030A0"/>
                          </a:solidFill>
                          <a:effectLst/>
                          <a:latin typeface="times new roman" panose="02020603050405020304" pitchFamily="18" charset="0"/>
                        </a:rPr>
                        <a:t>within class</a:t>
                      </a:r>
                    </a:p>
                  </a:txBody>
                  <a:tcPr marL="114300" marR="114300" marT="114300" marB="114300">
                    <a:lnL w="9525" cap="flat" cmpd="sng" algn="ctr">
                      <a:solidFill>
                        <a:srgbClr val="C0770D"/>
                      </a:solidFill>
                      <a:prstDash val="solid"/>
                      <a:round/>
                      <a:headEnd type="none" w="med" len="med"/>
                      <a:tailEnd type="none" w="med" len="med"/>
                    </a:lnL>
                    <a:lnR w="9525" cap="flat" cmpd="sng" algn="ctr">
                      <a:solidFill>
                        <a:srgbClr val="C0770D"/>
                      </a:solidFill>
                      <a:prstDash val="solid"/>
                      <a:round/>
                      <a:headEnd type="none" w="med" len="med"/>
                      <a:tailEnd type="none" w="med" len="med"/>
                    </a:lnR>
                    <a:lnT w="9525" cap="flat" cmpd="sng" algn="ctr">
                      <a:solidFill>
                        <a:srgbClr val="C0770D"/>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ctr" fontAlgn="t"/>
                      <a:r>
                        <a:rPr lang="en-US" sz="2000" dirty="0">
                          <a:solidFill>
                            <a:srgbClr val="7030A0"/>
                          </a:solidFill>
                          <a:effectLst/>
                          <a:latin typeface="times new roman" panose="02020603050405020304" pitchFamily="18" charset="0"/>
                        </a:rPr>
                        <a:t>within package</a:t>
                      </a:r>
                    </a:p>
                  </a:txBody>
                  <a:tcPr marL="114300" marR="114300" marT="114300" marB="114300">
                    <a:lnL w="9525" cap="flat" cmpd="sng" algn="ctr">
                      <a:solidFill>
                        <a:srgbClr val="C0770D"/>
                      </a:solidFill>
                      <a:prstDash val="solid"/>
                      <a:round/>
                      <a:headEnd type="none" w="med" len="med"/>
                      <a:tailEnd type="none" w="med" len="med"/>
                    </a:lnL>
                    <a:lnR w="9525" cap="flat" cmpd="sng" algn="ctr">
                      <a:solidFill>
                        <a:srgbClr val="C0770D"/>
                      </a:solidFill>
                      <a:prstDash val="solid"/>
                      <a:round/>
                      <a:headEnd type="none" w="med" len="med"/>
                      <a:tailEnd type="none" w="med" len="med"/>
                    </a:lnR>
                    <a:lnT w="9525" cap="flat" cmpd="sng" algn="ctr">
                      <a:solidFill>
                        <a:srgbClr val="C0770D"/>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ctr" fontAlgn="t"/>
                      <a:r>
                        <a:rPr lang="en-US" sz="2000" dirty="0">
                          <a:solidFill>
                            <a:srgbClr val="7030A0"/>
                          </a:solidFill>
                          <a:effectLst/>
                          <a:latin typeface="times new roman" panose="02020603050405020304" pitchFamily="18" charset="0"/>
                        </a:rPr>
                        <a:t>outside package by subclass only</a:t>
                      </a:r>
                    </a:p>
                  </a:txBody>
                  <a:tcPr marL="114300" marR="114300" marT="114300" marB="114300">
                    <a:lnL w="9525" cap="flat" cmpd="sng" algn="ctr">
                      <a:solidFill>
                        <a:srgbClr val="C0770D"/>
                      </a:solidFill>
                      <a:prstDash val="solid"/>
                      <a:round/>
                      <a:headEnd type="none" w="med" len="med"/>
                      <a:tailEnd type="none" w="med" len="med"/>
                    </a:lnL>
                    <a:lnR w="9525" cap="flat" cmpd="sng" algn="ctr">
                      <a:solidFill>
                        <a:srgbClr val="C0770D"/>
                      </a:solidFill>
                      <a:prstDash val="solid"/>
                      <a:round/>
                      <a:headEnd type="none" w="med" len="med"/>
                      <a:tailEnd type="none" w="med" len="med"/>
                    </a:lnR>
                    <a:lnT w="9525" cap="flat" cmpd="sng" algn="ctr">
                      <a:solidFill>
                        <a:srgbClr val="C0770D"/>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ctr" fontAlgn="t"/>
                      <a:r>
                        <a:rPr lang="en-US" sz="2000" dirty="0">
                          <a:solidFill>
                            <a:srgbClr val="7030A0"/>
                          </a:solidFill>
                          <a:effectLst/>
                          <a:latin typeface="times new roman" panose="02020603050405020304" pitchFamily="18" charset="0"/>
                        </a:rPr>
                        <a:t>outside package</a:t>
                      </a:r>
                    </a:p>
                  </a:txBody>
                  <a:tcPr marL="114300" marR="114300" marT="114300" marB="114300">
                    <a:lnL w="9525" cap="flat" cmpd="sng" algn="ctr">
                      <a:solidFill>
                        <a:srgbClr val="C0770D"/>
                      </a:solidFill>
                      <a:prstDash val="solid"/>
                      <a:round/>
                      <a:headEnd type="none" w="med" len="med"/>
                      <a:tailEnd type="none" w="med" len="med"/>
                    </a:lnL>
                    <a:lnR w="9525" cap="flat" cmpd="sng" algn="ctr">
                      <a:solidFill>
                        <a:srgbClr val="C0770D"/>
                      </a:solidFill>
                      <a:prstDash val="solid"/>
                      <a:round/>
                      <a:headEnd type="none" w="med" len="med"/>
                      <a:tailEnd type="none" w="med" len="med"/>
                    </a:lnR>
                    <a:lnT w="9525" cap="flat" cmpd="sng" algn="ctr">
                      <a:solidFill>
                        <a:srgbClr val="C0770D"/>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695483">
                <a:tc>
                  <a:txBody>
                    <a:bodyPr/>
                    <a:lstStyle/>
                    <a:p>
                      <a:pPr algn="l" fontAlgn="t"/>
                      <a:r>
                        <a:rPr lang="en-US" b="1">
                          <a:solidFill>
                            <a:srgbClr val="000000"/>
                          </a:solidFill>
                          <a:effectLst/>
                          <a:latin typeface="verdana" panose="020B0604030504040204" pitchFamily="34" charset="0"/>
                        </a:rPr>
                        <a:t>Private</a:t>
                      </a:r>
                      <a:endParaRPr lang="en-US">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US" dirty="0">
                          <a:solidFill>
                            <a:srgbClr val="000000"/>
                          </a:solidFill>
                          <a:effectLst/>
                          <a:latin typeface="verdana" panose="020B0604030504040204" pitchFamily="34" charset="0"/>
                        </a:rPr>
                        <a:t>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US">
                          <a:solidFill>
                            <a:srgbClr val="000000"/>
                          </a:solidFill>
                          <a:effectLst/>
                          <a:latin typeface="verdana" panose="020B0604030504040204" pitchFamily="34" charset="0"/>
                        </a:rPr>
                        <a:t>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US">
                          <a:solidFill>
                            <a:srgbClr val="000000"/>
                          </a:solidFill>
                          <a:effectLst/>
                          <a:latin typeface="verdana" panose="020B0604030504040204" pitchFamily="34" charset="0"/>
                        </a:rPr>
                        <a:t>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US">
                          <a:solidFill>
                            <a:srgbClr val="000000"/>
                          </a:solidFill>
                          <a:effectLst/>
                          <a:latin typeface="verdana" panose="020B0604030504040204" pitchFamily="34" charset="0"/>
                        </a:rPr>
                        <a:t>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95483">
                <a:tc>
                  <a:txBody>
                    <a:bodyPr/>
                    <a:lstStyle/>
                    <a:p>
                      <a:pPr algn="l" fontAlgn="t"/>
                      <a:r>
                        <a:rPr lang="en-US" b="1">
                          <a:solidFill>
                            <a:srgbClr val="000000"/>
                          </a:solidFill>
                          <a:effectLst/>
                          <a:latin typeface="verdana" panose="020B0604030504040204" pitchFamily="34" charset="0"/>
                        </a:rPr>
                        <a:t>Default</a:t>
                      </a:r>
                      <a:endParaRPr lang="en-US">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US">
                          <a:solidFill>
                            <a:srgbClr val="000000"/>
                          </a:solidFill>
                          <a:effectLst/>
                          <a:latin typeface="verdana" panose="020B0604030504040204" pitchFamily="34" charset="0"/>
                        </a:rPr>
                        <a:t>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US">
                          <a:solidFill>
                            <a:srgbClr val="000000"/>
                          </a:solidFill>
                          <a:effectLst/>
                          <a:latin typeface="verdana" panose="020B0604030504040204" pitchFamily="34" charset="0"/>
                        </a:rPr>
                        <a:t>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US" dirty="0">
                          <a:solidFill>
                            <a:srgbClr val="000000"/>
                          </a:solidFill>
                          <a:effectLst/>
                          <a:latin typeface="verdana" panose="020B0604030504040204" pitchFamily="34" charset="0"/>
                        </a:rPr>
                        <a:t>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US" dirty="0">
                          <a:solidFill>
                            <a:srgbClr val="000000"/>
                          </a:solidFill>
                          <a:effectLst/>
                          <a:latin typeface="verdana" panose="020B0604030504040204" pitchFamily="34" charset="0"/>
                        </a:rPr>
                        <a:t>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695483">
                <a:tc>
                  <a:txBody>
                    <a:bodyPr/>
                    <a:lstStyle/>
                    <a:p>
                      <a:pPr algn="l" fontAlgn="t"/>
                      <a:r>
                        <a:rPr lang="en-US" b="1">
                          <a:solidFill>
                            <a:srgbClr val="000000"/>
                          </a:solidFill>
                          <a:effectLst/>
                          <a:latin typeface="verdana" panose="020B0604030504040204" pitchFamily="34" charset="0"/>
                        </a:rPr>
                        <a:t>Protected</a:t>
                      </a:r>
                      <a:endParaRPr lang="en-US">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US">
                          <a:solidFill>
                            <a:srgbClr val="000000"/>
                          </a:solidFill>
                          <a:effectLst/>
                          <a:latin typeface="verdana" panose="020B0604030504040204" pitchFamily="34" charset="0"/>
                        </a:rPr>
                        <a:t>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US">
                          <a:solidFill>
                            <a:srgbClr val="000000"/>
                          </a:solidFill>
                          <a:effectLst/>
                          <a:latin typeface="verdana" panose="020B0604030504040204" pitchFamily="34" charset="0"/>
                        </a:rPr>
                        <a:t>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US">
                          <a:solidFill>
                            <a:srgbClr val="000000"/>
                          </a:solidFill>
                          <a:effectLst/>
                          <a:latin typeface="verdana" panose="020B0604030504040204" pitchFamily="34" charset="0"/>
                        </a:rPr>
                        <a:t>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US" dirty="0">
                          <a:solidFill>
                            <a:srgbClr val="000000"/>
                          </a:solidFill>
                          <a:effectLst/>
                          <a:latin typeface="verdana" panose="020B0604030504040204" pitchFamily="34" charset="0"/>
                        </a:rPr>
                        <a:t>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95483">
                <a:tc>
                  <a:txBody>
                    <a:bodyPr/>
                    <a:lstStyle/>
                    <a:p>
                      <a:pPr algn="l" fontAlgn="t"/>
                      <a:r>
                        <a:rPr lang="en-US" b="1">
                          <a:solidFill>
                            <a:srgbClr val="000000"/>
                          </a:solidFill>
                          <a:effectLst/>
                          <a:latin typeface="verdana" panose="020B0604030504040204" pitchFamily="34" charset="0"/>
                        </a:rPr>
                        <a:t>Public</a:t>
                      </a:r>
                      <a:endParaRPr lang="en-US">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US">
                          <a:solidFill>
                            <a:srgbClr val="000000"/>
                          </a:solidFill>
                          <a:effectLst/>
                          <a:latin typeface="verdana" panose="020B0604030504040204" pitchFamily="34" charset="0"/>
                        </a:rPr>
                        <a:t>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US">
                          <a:solidFill>
                            <a:srgbClr val="000000"/>
                          </a:solidFill>
                          <a:effectLst/>
                          <a:latin typeface="verdana" panose="020B0604030504040204" pitchFamily="34" charset="0"/>
                        </a:rPr>
                        <a:t>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US">
                          <a:solidFill>
                            <a:srgbClr val="000000"/>
                          </a:solidFill>
                          <a:effectLst/>
                          <a:latin typeface="verdana" panose="020B0604030504040204" pitchFamily="34" charset="0"/>
                        </a:rPr>
                        <a:t>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US" dirty="0">
                          <a:solidFill>
                            <a:srgbClr val="000000"/>
                          </a:solidFill>
                          <a:effectLst/>
                          <a:latin typeface="verdana" panose="020B0604030504040204" pitchFamily="34" charset="0"/>
                        </a:rPr>
                        <a:t>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1396663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this keyword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180</a:t>
            </a:fld>
            <a:endParaRPr lang="en-US"/>
          </a:p>
        </p:txBody>
      </p:sp>
      <p:sp>
        <p:nvSpPr>
          <p:cNvPr id="4" name="Content Placeholder 3"/>
          <p:cNvSpPr>
            <a:spLocks noGrp="1"/>
          </p:cNvSpPr>
          <p:nvPr>
            <p:ph sz="quarter" idx="1"/>
          </p:nvPr>
        </p:nvSpPr>
        <p:spPr/>
        <p:txBody>
          <a:bodyPr/>
          <a:lstStyle/>
          <a:p>
            <a:r>
              <a:rPr lang="en-US" dirty="0"/>
              <a:t>There can be a lot of usage of </a:t>
            </a:r>
            <a:r>
              <a:rPr lang="en-US" b="1" dirty="0"/>
              <a:t>java this keyword</a:t>
            </a:r>
            <a:r>
              <a:rPr lang="en-US" dirty="0"/>
              <a:t>. In java, this is a </a:t>
            </a:r>
            <a:r>
              <a:rPr lang="en-US" b="1" dirty="0"/>
              <a:t>reference variable</a:t>
            </a:r>
            <a:r>
              <a:rPr lang="en-US" dirty="0"/>
              <a:t> that refers to the current object.</a:t>
            </a:r>
          </a:p>
        </p:txBody>
      </p:sp>
      <p:pic>
        <p:nvPicPr>
          <p:cNvPr id="6146" name="Picture 2" descr="java this keywo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4415" y="2842576"/>
            <a:ext cx="4010025" cy="2948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42796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Usage of java this keyword</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181</a:t>
            </a:fld>
            <a:endParaRPr lang="en-US"/>
          </a:p>
        </p:txBody>
      </p:sp>
      <p:sp>
        <p:nvSpPr>
          <p:cNvPr id="4" name="Content Placeholder 3"/>
          <p:cNvSpPr>
            <a:spLocks noGrp="1"/>
          </p:cNvSpPr>
          <p:nvPr>
            <p:ph sz="quarter" idx="1"/>
          </p:nvPr>
        </p:nvSpPr>
        <p:spPr/>
        <p:txBody>
          <a:bodyPr/>
          <a:lstStyle/>
          <a:p>
            <a:r>
              <a:rPr lang="en-US" dirty="0"/>
              <a:t>Here is given the 6 usage of java this keyword.</a:t>
            </a:r>
          </a:p>
          <a:p>
            <a:pPr lvl="1" algn="just"/>
            <a:r>
              <a:rPr lang="en-US" dirty="0">
                <a:solidFill>
                  <a:srgbClr val="0070C0"/>
                </a:solidFill>
              </a:rPr>
              <a:t>this can be used to refer current class instance variable.</a:t>
            </a:r>
          </a:p>
          <a:p>
            <a:pPr lvl="1" algn="just"/>
            <a:r>
              <a:rPr lang="en-US" dirty="0">
                <a:solidFill>
                  <a:srgbClr val="0070C0"/>
                </a:solidFill>
              </a:rPr>
              <a:t>this can be used to invoke current class method (implicitly)</a:t>
            </a:r>
          </a:p>
          <a:p>
            <a:pPr lvl="1" algn="just"/>
            <a:r>
              <a:rPr lang="en-US" dirty="0">
                <a:solidFill>
                  <a:srgbClr val="0070C0"/>
                </a:solidFill>
              </a:rPr>
              <a:t>this() can be used to invoke current class constructor.</a:t>
            </a:r>
          </a:p>
          <a:p>
            <a:pPr lvl="1" algn="just"/>
            <a:r>
              <a:rPr lang="en-US" dirty="0">
                <a:solidFill>
                  <a:srgbClr val="0070C0"/>
                </a:solidFill>
              </a:rPr>
              <a:t>this can be passed as an argument in the method call.</a:t>
            </a:r>
          </a:p>
          <a:p>
            <a:pPr lvl="1" algn="just"/>
            <a:r>
              <a:rPr lang="en-US" dirty="0">
                <a:solidFill>
                  <a:srgbClr val="0070C0"/>
                </a:solidFill>
              </a:rPr>
              <a:t>this can be passed as argument in the constructor call.</a:t>
            </a:r>
          </a:p>
          <a:p>
            <a:pPr lvl="1" algn="just"/>
            <a:r>
              <a:rPr lang="en-US" dirty="0">
                <a:solidFill>
                  <a:srgbClr val="0070C0"/>
                </a:solidFill>
              </a:rPr>
              <a:t>this can be used to return the current class instance from the method.</a:t>
            </a:r>
          </a:p>
          <a:p>
            <a:endParaRPr lang="en-US" dirty="0"/>
          </a:p>
        </p:txBody>
      </p:sp>
    </p:spTree>
    <p:extLst>
      <p:ext uri="{BB962C8B-B14F-4D97-AF65-F5344CB8AC3E}">
        <p14:creationId xmlns:p14="http://schemas.microsoft.com/office/powerpoint/2010/main" val="342327277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this: to refer current class instance variable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182</a:t>
            </a:fld>
            <a:endParaRPr lang="en-US"/>
          </a:p>
        </p:txBody>
      </p:sp>
      <p:sp>
        <p:nvSpPr>
          <p:cNvPr id="4" name="Content Placeholder 3"/>
          <p:cNvSpPr>
            <a:spLocks noGrp="1"/>
          </p:cNvSpPr>
          <p:nvPr>
            <p:ph sz="quarter" idx="1"/>
          </p:nvPr>
        </p:nvSpPr>
        <p:spPr/>
        <p:txBody>
          <a:bodyPr>
            <a:normAutofit fontScale="70000" lnSpcReduction="20000"/>
          </a:bodyPr>
          <a:lstStyle/>
          <a:p>
            <a:r>
              <a:rPr lang="en-US" sz="2600" dirty="0"/>
              <a:t>The this keyword can be used to refer current class instance variable. If there is ambiguity between the instance variables and parameters, this keyword resolves the problem of ambiguity.</a:t>
            </a:r>
            <a:endParaRPr lang="en-US" sz="2600" b="1" dirty="0"/>
          </a:p>
          <a:p>
            <a:r>
              <a:rPr lang="en-US" sz="3100" b="1" dirty="0"/>
              <a:t>class</a:t>
            </a:r>
            <a:r>
              <a:rPr lang="en-US" sz="3100" dirty="0"/>
              <a:t> Student</a:t>
            </a:r>
          </a:p>
          <a:p>
            <a:r>
              <a:rPr lang="en-US" sz="3100" dirty="0"/>
              <a:t>{  </a:t>
            </a:r>
          </a:p>
          <a:p>
            <a:r>
              <a:rPr lang="en-US" sz="3100" b="1" dirty="0" err="1"/>
              <a:t>int</a:t>
            </a:r>
            <a:r>
              <a:rPr lang="en-US" sz="3100" dirty="0"/>
              <a:t> </a:t>
            </a:r>
            <a:r>
              <a:rPr lang="en-US" sz="3100" dirty="0" err="1"/>
              <a:t>rollno</a:t>
            </a:r>
            <a:r>
              <a:rPr lang="en-US" sz="3100" dirty="0"/>
              <a:t>;  </a:t>
            </a:r>
          </a:p>
          <a:p>
            <a:r>
              <a:rPr lang="en-US" sz="3100" dirty="0"/>
              <a:t>String name;  </a:t>
            </a:r>
          </a:p>
          <a:p>
            <a:r>
              <a:rPr lang="en-US" sz="3100" b="1" dirty="0"/>
              <a:t>float</a:t>
            </a:r>
            <a:r>
              <a:rPr lang="en-US" sz="3100" dirty="0"/>
              <a:t> fee;  </a:t>
            </a:r>
          </a:p>
          <a:p>
            <a:r>
              <a:rPr lang="en-US" sz="3100" dirty="0"/>
              <a:t>Student(</a:t>
            </a:r>
            <a:r>
              <a:rPr lang="en-US" sz="3100" b="1" dirty="0" err="1"/>
              <a:t>int</a:t>
            </a:r>
            <a:r>
              <a:rPr lang="en-US" sz="3100" dirty="0"/>
              <a:t> </a:t>
            </a:r>
            <a:r>
              <a:rPr lang="en-US" sz="3100" dirty="0" err="1"/>
              <a:t>rollno,String</a:t>
            </a:r>
            <a:r>
              <a:rPr lang="en-US" sz="3100" dirty="0"/>
              <a:t> </a:t>
            </a:r>
            <a:r>
              <a:rPr lang="en-US" sz="3100" dirty="0" err="1"/>
              <a:t>name,</a:t>
            </a:r>
            <a:r>
              <a:rPr lang="en-US" sz="3100" b="1" dirty="0" err="1"/>
              <a:t>float</a:t>
            </a:r>
            <a:r>
              <a:rPr lang="en-US" sz="3100" dirty="0"/>
              <a:t> fee){  </a:t>
            </a:r>
          </a:p>
          <a:p>
            <a:r>
              <a:rPr lang="en-US" sz="3100" b="1" dirty="0" err="1"/>
              <a:t>this</a:t>
            </a:r>
            <a:r>
              <a:rPr lang="en-US" sz="3100" dirty="0" err="1"/>
              <a:t>.rollno</a:t>
            </a:r>
            <a:r>
              <a:rPr lang="en-US" sz="3100" dirty="0"/>
              <a:t>=</a:t>
            </a:r>
            <a:r>
              <a:rPr lang="en-US" sz="3100" dirty="0" err="1"/>
              <a:t>rollno</a:t>
            </a:r>
            <a:r>
              <a:rPr lang="en-US" sz="3100" dirty="0"/>
              <a:t>;  </a:t>
            </a:r>
          </a:p>
          <a:p>
            <a:r>
              <a:rPr lang="en-US" sz="3100" b="1" dirty="0"/>
              <a:t>this</a:t>
            </a:r>
            <a:r>
              <a:rPr lang="en-US" sz="3100" dirty="0"/>
              <a:t>.name=name;  </a:t>
            </a:r>
          </a:p>
          <a:p>
            <a:r>
              <a:rPr lang="en-US" sz="3100" b="1" dirty="0" err="1"/>
              <a:t>this</a:t>
            </a:r>
            <a:r>
              <a:rPr lang="en-US" sz="3100" dirty="0" err="1"/>
              <a:t>.fee</a:t>
            </a:r>
            <a:r>
              <a:rPr lang="en-US" sz="3100" dirty="0"/>
              <a:t>=fee;  </a:t>
            </a:r>
          </a:p>
          <a:p>
            <a:r>
              <a:rPr lang="en-US" sz="3100" dirty="0"/>
              <a:t>}  </a:t>
            </a:r>
          </a:p>
          <a:p>
            <a:r>
              <a:rPr lang="en-US" sz="3100" b="1" dirty="0"/>
              <a:t>void</a:t>
            </a:r>
            <a:r>
              <a:rPr lang="en-US" sz="3100" dirty="0"/>
              <a:t> display(){</a:t>
            </a:r>
            <a:r>
              <a:rPr lang="en-US" sz="3100" dirty="0" err="1"/>
              <a:t>System.out.println</a:t>
            </a:r>
            <a:r>
              <a:rPr lang="en-US" sz="3100" dirty="0"/>
              <a:t>(</a:t>
            </a:r>
            <a:r>
              <a:rPr lang="en-US" sz="3100" dirty="0" err="1"/>
              <a:t>rollno</a:t>
            </a:r>
            <a:r>
              <a:rPr lang="en-US" sz="3100" dirty="0"/>
              <a:t>+" "+name+" "+fee);}  </a:t>
            </a:r>
          </a:p>
          <a:p>
            <a:r>
              <a:rPr lang="en-US" sz="3100" dirty="0"/>
              <a:t>}  </a:t>
            </a:r>
          </a:p>
          <a:p>
            <a:r>
              <a:rPr lang="en-US" sz="3100" dirty="0"/>
              <a:t>  </a:t>
            </a:r>
          </a:p>
          <a:p>
            <a:endParaRPr lang="en-US" dirty="0"/>
          </a:p>
        </p:txBody>
      </p:sp>
    </p:spTree>
    <p:extLst>
      <p:ext uri="{BB962C8B-B14F-4D97-AF65-F5344CB8AC3E}">
        <p14:creationId xmlns:p14="http://schemas.microsoft.com/office/powerpoint/2010/main" val="194686635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183</a:t>
            </a:fld>
            <a:endParaRPr lang="en-US"/>
          </a:p>
        </p:txBody>
      </p:sp>
      <p:sp>
        <p:nvSpPr>
          <p:cNvPr id="4" name="Content Placeholder 3"/>
          <p:cNvSpPr>
            <a:spLocks noGrp="1"/>
          </p:cNvSpPr>
          <p:nvPr>
            <p:ph sz="quarter" idx="1"/>
          </p:nvPr>
        </p:nvSpPr>
        <p:spPr/>
        <p:txBody>
          <a:bodyPr>
            <a:normAutofit fontScale="92500" lnSpcReduction="20000"/>
          </a:bodyPr>
          <a:lstStyle/>
          <a:p>
            <a:r>
              <a:rPr lang="en-US" b="1" dirty="0"/>
              <a:t>class</a:t>
            </a:r>
            <a:r>
              <a:rPr lang="en-US" dirty="0"/>
              <a:t> TestThis2</a:t>
            </a:r>
          </a:p>
          <a:p>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r>
              <a:rPr lang="en-US" dirty="0"/>
              <a:t>{  </a:t>
            </a:r>
          </a:p>
          <a:p>
            <a:r>
              <a:rPr lang="en-US" dirty="0"/>
              <a:t>Student s1=</a:t>
            </a:r>
            <a:r>
              <a:rPr lang="en-US" b="1" dirty="0"/>
              <a:t>new</a:t>
            </a:r>
            <a:r>
              <a:rPr lang="en-US" dirty="0"/>
              <a:t> Student(111,"ankit",5000f);  </a:t>
            </a:r>
          </a:p>
          <a:p>
            <a:r>
              <a:rPr lang="en-US" dirty="0"/>
              <a:t>Student s2=</a:t>
            </a:r>
            <a:r>
              <a:rPr lang="en-US" b="1" dirty="0"/>
              <a:t>new</a:t>
            </a:r>
            <a:r>
              <a:rPr lang="en-US" dirty="0"/>
              <a:t> Student(112,"sumit",6000f);  </a:t>
            </a:r>
          </a:p>
          <a:p>
            <a:r>
              <a:rPr lang="en-US" dirty="0"/>
              <a:t>s1.display();  </a:t>
            </a:r>
          </a:p>
          <a:p>
            <a:r>
              <a:rPr lang="en-US" dirty="0"/>
              <a:t>s2.display();  </a:t>
            </a:r>
          </a:p>
          <a:p>
            <a:r>
              <a:rPr lang="en-US" dirty="0"/>
              <a:t>}</a:t>
            </a:r>
          </a:p>
          <a:p>
            <a:r>
              <a:rPr lang="en-US" dirty="0"/>
              <a:t>}  </a:t>
            </a:r>
          </a:p>
          <a:p>
            <a:pPr algn="just"/>
            <a:r>
              <a:rPr lang="en-US" sz="2600" dirty="0"/>
              <a:t>In the above example, parameters (formal arguments) and instance variables are same. So, we are using this keyword to distinguish local variable and instance variable.</a:t>
            </a:r>
          </a:p>
          <a:p>
            <a:endParaRPr lang="en-US" dirty="0"/>
          </a:p>
        </p:txBody>
      </p:sp>
    </p:spTree>
    <p:extLst>
      <p:ext uri="{BB962C8B-B14F-4D97-AF65-F5344CB8AC3E}">
        <p14:creationId xmlns:p14="http://schemas.microsoft.com/office/powerpoint/2010/main" val="359125372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this: to invoke current class method</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184</a:t>
            </a:fld>
            <a:endParaRPr lang="en-US"/>
          </a:p>
        </p:txBody>
      </p:sp>
      <p:sp>
        <p:nvSpPr>
          <p:cNvPr id="4" name="Content Placeholder 3"/>
          <p:cNvSpPr>
            <a:spLocks noGrp="1"/>
          </p:cNvSpPr>
          <p:nvPr>
            <p:ph sz="quarter" idx="1"/>
          </p:nvPr>
        </p:nvSpPr>
        <p:spPr/>
        <p:txBody>
          <a:bodyPr>
            <a:normAutofit/>
          </a:bodyPr>
          <a:lstStyle/>
          <a:p>
            <a:pPr algn="just"/>
            <a:r>
              <a:rPr lang="en-US" sz="2000" dirty="0"/>
              <a:t>You may invoke the method of the current class by using the this keyword. If you don't use the this keyword, compiler automatically adds this keyword while invoking the method. Let's see the example</a:t>
            </a:r>
          </a:p>
          <a:p>
            <a:pPr algn="just"/>
            <a:endParaRPr lang="en-US" sz="2000" dirty="0"/>
          </a:p>
        </p:txBody>
      </p:sp>
      <p:pic>
        <p:nvPicPr>
          <p:cNvPr id="6146" name="Picture 2" descr="this keywo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4295" y="2689062"/>
            <a:ext cx="7658610" cy="3894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39687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185</a:t>
            </a:fld>
            <a:endParaRPr lang="en-US"/>
          </a:p>
        </p:txBody>
      </p:sp>
      <p:sp>
        <p:nvSpPr>
          <p:cNvPr id="4" name="Content Placeholder 3"/>
          <p:cNvSpPr>
            <a:spLocks noGrp="1"/>
          </p:cNvSpPr>
          <p:nvPr>
            <p:ph sz="quarter" idx="1"/>
          </p:nvPr>
        </p:nvSpPr>
        <p:spPr/>
        <p:txBody>
          <a:bodyPr>
            <a:normAutofit fontScale="77500" lnSpcReduction="20000"/>
          </a:bodyPr>
          <a:lstStyle/>
          <a:p>
            <a:r>
              <a:rPr lang="en-US" b="1" dirty="0"/>
              <a:t>class</a:t>
            </a:r>
            <a:r>
              <a:rPr lang="en-US" dirty="0"/>
              <a:t> A</a:t>
            </a:r>
          </a:p>
          <a:p>
            <a:r>
              <a:rPr lang="en-US" dirty="0"/>
              <a:t>{  </a:t>
            </a:r>
          </a:p>
          <a:p>
            <a:r>
              <a:rPr lang="en-US" b="1" dirty="0"/>
              <a:t>void</a:t>
            </a:r>
            <a:r>
              <a:rPr lang="en-US" dirty="0"/>
              <a:t> m(){</a:t>
            </a:r>
            <a:r>
              <a:rPr lang="en-US" dirty="0" err="1"/>
              <a:t>System.out.println</a:t>
            </a:r>
            <a:r>
              <a:rPr lang="en-US" dirty="0"/>
              <a:t>("hello m");}  </a:t>
            </a:r>
          </a:p>
          <a:p>
            <a:r>
              <a:rPr lang="en-US" b="1" dirty="0"/>
              <a:t>void</a:t>
            </a:r>
            <a:r>
              <a:rPr lang="en-US" dirty="0"/>
              <a:t> n(){  </a:t>
            </a:r>
          </a:p>
          <a:p>
            <a:r>
              <a:rPr lang="en-US" dirty="0" err="1"/>
              <a:t>System.out.println</a:t>
            </a:r>
            <a:r>
              <a:rPr lang="en-US" dirty="0"/>
              <a:t>("hello n");  </a:t>
            </a:r>
          </a:p>
          <a:p>
            <a:r>
              <a:rPr lang="en-US" dirty="0"/>
              <a:t>//m();//same as </a:t>
            </a:r>
            <a:r>
              <a:rPr lang="en-US" dirty="0" err="1"/>
              <a:t>this.m</a:t>
            </a:r>
            <a:r>
              <a:rPr lang="en-US" dirty="0"/>
              <a:t>()  </a:t>
            </a:r>
          </a:p>
          <a:p>
            <a:r>
              <a:rPr lang="en-US" b="1" dirty="0" err="1"/>
              <a:t>this</a:t>
            </a:r>
            <a:r>
              <a:rPr lang="en-US" dirty="0" err="1"/>
              <a:t>.m</a:t>
            </a:r>
            <a:r>
              <a:rPr lang="en-US" dirty="0"/>
              <a:t>();  </a:t>
            </a:r>
          </a:p>
          <a:p>
            <a:r>
              <a:rPr lang="en-US" dirty="0"/>
              <a:t>}  </a:t>
            </a:r>
          </a:p>
          <a:p>
            <a:r>
              <a:rPr lang="en-US" dirty="0"/>
              <a:t>}  </a:t>
            </a:r>
          </a:p>
          <a:p>
            <a:r>
              <a:rPr lang="en-US" b="1" dirty="0"/>
              <a:t>class</a:t>
            </a:r>
            <a:r>
              <a:rPr lang="en-US" dirty="0"/>
              <a:t> TestThis4</a:t>
            </a:r>
          </a:p>
          <a:p>
            <a:r>
              <a:rPr lang="en-US" dirty="0"/>
              <a:t>{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A a=</a:t>
            </a:r>
            <a:r>
              <a:rPr lang="en-US" b="1" dirty="0"/>
              <a:t>new</a:t>
            </a:r>
            <a:r>
              <a:rPr lang="en-US" dirty="0"/>
              <a:t> A();  </a:t>
            </a:r>
          </a:p>
          <a:p>
            <a:r>
              <a:rPr lang="en-US" dirty="0" err="1"/>
              <a:t>a.n</a:t>
            </a:r>
            <a:r>
              <a:rPr lang="en-US" dirty="0"/>
              <a:t>();  </a:t>
            </a:r>
          </a:p>
          <a:p>
            <a:r>
              <a:rPr lang="en-US" dirty="0"/>
              <a:t>}}  </a:t>
            </a:r>
          </a:p>
          <a:p>
            <a:endParaRPr lang="en-US" dirty="0"/>
          </a:p>
        </p:txBody>
      </p:sp>
    </p:spTree>
    <p:extLst>
      <p:ext uri="{BB962C8B-B14F-4D97-AF65-F5344CB8AC3E}">
        <p14:creationId xmlns:p14="http://schemas.microsoft.com/office/powerpoint/2010/main" val="142694452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this() : to invoke current class constructor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186</a:t>
            </a:fld>
            <a:endParaRPr lang="en-US"/>
          </a:p>
        </p:txBody>
      </p:sp>
      <p:sp>
        <p:nvSpPr>
          <p:cNvPr id="4" name="Content Placeholder 3"/>
          <p:cNvSpPr>
            <a:spLocks noGrp="1"/>
          </p:cNvSpPr>
          <p:nvPr>
            <p:ph sz="quarter" idx="1"/>
          </p:nvPr>
        </p:nvSpPr>
        <p:spPr/>
        <p:txBody>
          <a:bodyPr>
            <a:normAutofit/>
          </a:bodyPr>
          <a:lstStyle/>
          <a:p>
            <a:pPr algn="just"/>
            <a:r>
              <a:rPr lang="en-US" sz="2000" dirty="0"/>
              <a:t>The this() constructor call can be used to invoke the current class constructor. It is used to reuse the constructor. In other words, it is used for constructor chaining.</a:t>
            </a:r>
          </a:p>
          <a:p>
            <a:pPr algn="just"/>
            <a:r>
              <a:rPr lang="en-US" sz="2000" b="1" dirty="0"/>
              <a:t>Calling default constructor from parameterized constructor:</a:t>
            </a:r>
          </a:p>
          <a:p>
            <a:r>
              <a:rPr lang="en-US" sz="2000" b="1" dirty="0"/>
              <a:t>class</a:t>
            </a:r>
            <a:r>
              <a:rPr lang="en-US" sz="2000" dirty="0"/>
              <a:t> A{  </a:t>
            </a:r>
          </a:p>
          <a:p>
            <a:r>
              <a:rPr lang="en-US" sz="2000" dirty="0"/>
              <a:t>A(){</a:t>
            </a:r>
            <a:r>
              <a:rPr lang="en-US" sz="2000" dirty="0" err="1"/>
              <a:t>System.out.println</a:t>
            </a:r>
            <a:r>
              <a:rPr lang="en-US" sz="2000" dirty="0"/>
              <a:t>("hello a");}  </a:t>
            </a:r>
          </a:p>
          <a:p>
            <a:r>
              <a:rPr lang="en-US" sz="2000" dirty="0"/>
              <a:t>A(</a:t>
            </a:r>
            <a:r>
              <a:rPr lang="en-US" sz="2000" b="1" dirty="0" err="1"/>
              <a:t>int</a:t>
            </a:r>
            <a:r>
              <a:rPr lang="en-US" sz="2000" dirty="0"/>
              <a:t> x){  </a:t>
            </a:r>
          </a:p>
          <a:p>
            <a:r>
              <a:rPr lang="en-US" sz="2000" b="1" dirty="0"/>
              <a:t>this</a:t>
            </a:r>
            <a:r>
              <a:rPr lang="en-US" sz="2000" dirty="0"/>
              <a:t>();  </a:t>
            </a:r>
          </a:p>
          <a:p>
            <a:r>
              <a:rPr lang="en-US" sz="2000" dirty="0" err="1"/>
              <a:t>System.out.println</a:t>
            </a:r>
            <a:r>
              <a:rPr lang="en-US" sz="2000" dirty="0"/>
              <a:t>(x);  </a:t>
            </a:r>
          </a:p>
          <a:p>
            <a:r>
              <a:rPr lang="en-US" sz="2000" dirty="0"/>
              <a:t>}  </a:t>
            </a:r>
          </a:p>
          <a:p>
            <a:r>
              <a:rPr lang="en-US" sz="2000" dirty="0"/>
              <a:t>}  </a:t>
            </a:r>
          </a:p>
          <a:p>
            <a:r>
              <a:rPr lang="en-US" sz="2000" b="1" dirty="0"/>
              <a:t>class</a:t>
            </a:r>
            <a:r>
              <a:rPr lang="en-US" sz="2000" dirty="0"/>
              <a:t> TestThis5{  </a:t>
            </a:r>
          </a:p>
          <a:p>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r>
              <a:rPr lang="en-US" sz="2000" dirty="0"/>
              <a:t>A a=</a:t>
            </a:r>
            <a:r>
              <a:rPr lang="en-US" sz="2000" b="1" dirty="0"/>
              <a:t>new</a:t>
            </a:r>
            <a:r>
              <a:rPr lang="en-US" sz="2000" dirty="0"/>
              <a:t> A(10);  </a:t>
            </a:r>
          </a:p>
          <a:p>
            <a:r>
              <a:rPr lang="en-US" sz="2000" dirty="0"/>
              <a:t>}}  </a:t>
            </a:r>
          </a:p>
          <a:p>
            <a:pPr algn="just"/>
            <a:endParaRPr lang="en-US" sz="2000" dirty="0"/>
          </a:p>
        </p:txBody>
      </p:sp>
    </p:spTree>
    <p:extLst>
      <p:ext uri="{BB962C8B-B14F-4D97-AF65-F5344CB8AC3E}">
        <p14:creationId xmlns:p14="http://schemas.microsoft.com/office/powerpoint/2010/main" val="66733711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solidFill>
                  <a:srgbClr val="FF0000"/>
                </a:solidFill>
              </a:rPr>
              <a:t>Calling parameterized constructor from default constructor:</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187</a:t>
            </a:fld>
            <a:endParaRPr lang="en-US"/>
          </a:p>
        </p:txBody>
      </p:sp>
      <p:sp>
        <p:nvSpPr>
          <p:cNvPr id="4" name="Content Placeholder 3"/>
          <p:cNvSpPr>
            <a:spLocks noGrp="1"/>
          </p:cNvSpPr>
          <p:nvPr>
            <p:ph sz="quarter" idx="1"/>
          </p:nvPr>
        </p:nvSpPr>
        <p:spPr/>
        <p:txBody>
          <a:bodyPr>
            <a:normAutofit fontScale="85000" lnSpcReduction="20000"/>
          </a:bodyPr>
          <a:lstStyle/>
          <a:p>
            <a:r>
              <a:rPr lang="en-US" b="1" dirty="0"/>
              <a:t>class</a:t>
            </a:r>
            <a:r>
              <a:rPr lang="en-US" dirty="0"/>
              <a:t> A{  </a:t>
            </a:r>
          </a:p>
          <a:p>
            <a:r>
              <a:rPr lang="en-US" dirty="0"/>
              <a:t>A(){  </a:t>
            </a:r>
          </a:p>
          <a:p>
            <a:r>
              <a:rPr lang="en-US" b="1" dirty="0"/>
              <a:t>this</a:t>
            </a:r>
            <a:r>
              <a:rPr lang="en-US" dirty="0"/>
              <a:t>(5);  </a:t>
            </a:r>
          </a:p>
          <a:p>
            <a:r>
              <a:rPr lang="en-US" dirty="0" err="1"/>
              <a:t>System.out.println</a:t>
            </a:r>
            <a:r>
              <a:rPr lang="en-US" dirty="0"/>
              <a:t>("hello a");  </a:t>
            </a:r>
          </a:p>
          <a:p>
            <a:r>
              <a:rPr lang="en-US" dirty="0"/>
              <a:t>}  </a:t>
            </a:r>
          </a:p>
          <a:p>
            <a:r>
              <a:rPr lang="en-US" dirty="0"/>
              <a:t>A(</a:t>
            </a:r>
            <a:r>
              <a:rPr lang="en-US" b="1" dirty="0" err="1"/>
              <a:t>int</a:t>
            </a:r>
            <a:r>
              <a:rPr lang="en-US" dirty="0"/>
              <a:t> x){  </a:t>
            </a:r>
          </a:p>
          <a:p>
            <a:r>
              <a:rPr lang="en-US" dirty="0" err="1"/>
              <a:t>System.out.println</a:t>
            </a:r>
            <a:r>
              <a:rPr lang="en-US" dirty="0"/>
              <a:t>(x);  </a:t>
            </a:r>
          </a:p>
          <a:p>
            <a:r>
              <a:rPr lang="en-US" dirty="0"/>
              <a:t>}  </a:t>
            </a:r>
          </a:p>
          <a:p>
            <a:r>
              <a:rPr lang="en-US" dirty="0"/>
              <a:t>}  </a:t>
            </a:r>
          </a:p>
          <a:p>
            <a:r>
              <a:rPr lang="en-US" b="1" dirty="0"/>
              <a:t>class</a:t>
            </a:r>
            <a:r>
              <a:rPr lang="en-US" dirty="0"/>
              <a:t> TestThis6{  </a:t>
            </a:r>
          </a:p>
          <a:p>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A a=</a:t>
            </a:r>
            <a:r>
              <a:rPr lang="en-US" b="1" dirty="0"/>
              <a:t>new</a:t>
            </a:r>
            <a:r>
              <a:rPr lang="en-US" dirty="0"/>
              <a:t> A();  </a:t>
            </a:r>
          </a:p>
          <a:p>
            <a:r>
              <a:rPr lang="en-US" dirty="0"/>
              <a:t>}}  </a:t>
            </a:r>
          </a:p>
          <a:p>
            <a:endParaRPr lang="en-US" dirty="0"/>
          </a:p>
        </p:txBody>
      </p:sp>
    </p:spTree>
    <p:extLst>
      <p:ext uri="{BB962C8B-B14F-4D97-AF65-F5344CB8AC3E}">
        <p14:creationId xmlns:p14="http://schemas.microsoft.com/office/powerpoint/2010/main" val="146562842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Garbage Collection</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188</a:t>
            </a:fld>
            <a:endParaRPr lang="en-US"/>
          </a:p>
        </p:txBody>
      </p:sp>
      <p:sp>
        <p:nvSpPr>
          <p:cNvPr id="4" name="Content Placeholder 3"/>
          <p:cNvSpPr>
            <a:spLocks noGrp="1"/>
          </p:cNvSpPr>
          <p:nvPr>
            <p:ph sz="quarter" idx="1"/>
          </p:nvPr>
        </p:nvSpPr>
        <p:spPr/>
        <p:txBody>
          <a:bodyPr>
            <a:normAutofit/>
          </a:bodyPr>
          <a:lstStyle/>
          <a:p>
            <a:pPr algn="just"/>
            <a:r>
              <a:rPr lang="en-US" sz="2400" dirty="0"/>
              <a:t>In java, garbage means unreferenced objects.</a:t>
            </a:r>
          </a:p>
          <a:p>
            <a:pPr algn="just"/>
            <a:r>
              <a:rPr lang="en-US" sz="2400" dirty="0"/>
              <a:t>Garbage Collection is process of reclaiming the runtime unused memory automatically. In other words, it is a way to destroy the unused objects.</a:t>
            </a:r>
          </a:p>
          <a:p>
            <a:pPr algn="just"/>
            <a:r>
              <a:rPr lang="en-US" sz="2400" dirty="0"/>
              <a:t>To do so, we were using free() function in C language and delete() in C++. But, in java it is performed automatically. So, java provides better memory management.</a:t>
            </a:r>
          </a:p>
          <a:p>
            <a:pPr algn="just"/>
            <a:r>
              <a:rPr lang="en-US" sz="2400" dirty="0">
                <a:solidFill>
                  <a:srgbClr val="FF0000"/>
                </a:solidFill>
              </a:rPr>
              <a:t>Advantage of Garbage Collection</a:t>
            </a:r>
          </a:p>
          <a:p>
            <a:pPr algn="just"/>
            <a:r>
              <a:rPr lang="en-US" sz="2400" dirty="0"/>
              <a:t>It makes java </a:t>
            </a:r>
            <a:r>
              <a:rPr lang="en-US" sz="2400" b="1" dirty="0"/>
              <a:t>memory efficient</a:t>
            </a:r>
            <a:r>
              <a:rPr lang="en-US" sz="2400" dirty="0"/>
              <a:t> because garbage collector removes the unreferenced objects from heap memory.</a:t>
            </a:r>
          </a:p>
          <a:p>
            <a:pPr algn="just"/>
            <a:r>
              <a:rPr lang="en-US" sz="2400" dirty="0"/>
              <a:t>It is </a:t>
            </a:r>
            <a:r>
              <a:rPr lang="en-US" sz="2400" b="1" dirty="0"/>
              <a:t>automatically done</a:t>
            </a:r>
            <a:r>
              <a:rPr lang="en-US" sz="2400" dirty="0"/>
              <a:t> by the garbage collector(a part of JVM) so we don't need to make extra efforts.</a:t>
            </a:r>
          </a:p>
          <a:p>
            <a:endParaRPr lang="en-US" dirty="0"/>
          </a:p>
        </p:txBody>
      </p:sp>
    </p:spTree>
    <p:extLst>
      <p:ext uri="{BB962C8B-B14F-4D97-AF65-F5344CB8AC3E}">
        <p14:creationId xmlns:p14="http://schemas.microsoft.com/office/powerpoint/2010/main" val="80672207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rPr>
              <a:t>How can an object be unreferenced?</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189</a:t>
            </a:fld>
            <a:endParaRPr lang="en-US"/>
          </a:p>
        </p:txBody>
      </p:sp>
      <p:sp>
        <p:nvSpPr>
          <p:cNvPr id="4" name="Content Placeholder 3"/>
          <p:cNvSpPr>
            <a:spLocks noGrp="1"/>
          </p:cNvSpPr>
          <p:nvPr>
            <p:ph sz="quarter" idx="1"/>
          </p:nvPr>
        </p:nvSpPr>
        <p:spPr>
          <a:xfrm>
            <a:off x="504031" y="1343942"/>
            <a:ext cx="9386729" cy="5442966"/>
          </a:xfrm>
        </p:spPr>
        <p:txBody>
          <a:bodyPr>
            <a:normAutofit/>
          </a:bodyPr>
          <a:lstStyle/>
          <a:p>
            <a:r>
              <a:rPr lang="en-US" sz="2400" dirty="0"/>
              <a:t>There are many ways:</a:t>
            </a:r>
          </a:p>
          <a:p>
            <a:pPr lvl="1"/>
            <a:r>
              <a:rPr lang="en-US" sz="2400" dirty="0">
                <a:solidFill>
                  <a:srgbClr val="FF0000"/>
                </a:solidFill>
              </a:rPr>
              <a:t>By nulling the reference</a:t>
            </a:r>
          </a:p>
          <a:p>
            <a:pPr lvl="1"/>
            <a:r>
              <a:rPr lang="en-US" sz="2400" dirty="0">
                <a:solidFill>
                  <a:srgbClr val="FF0000"/>
                </a:solidFill>
              </a:rPr>
              <a:t>By assigning a reference to another</a:t>
            </a:r>
          </a:p>
          <a:p>
            <a:endParaRPr lang="en-US" sz="2400" dirty="0">
              <a:solidFill>
                <a:srgbClr val="00B0F0"/>
              </a:solidFill>
            </a:endParaRPr>
          </a:p>
          <a:p>
            <a:r>
              <a:rPr lang="en-US" sz="2400" dirty="0">
                <a:solidFill>
                  <a:srgbClr val="00B0F0"/>
                </a:solidFill>
              </a:rPr>
              <a:t>1) By nulling a reference:</a:t>
            </a:r>
          </a:p>
          <a:p>
            <a:r>
              <a:rPr lang="en-US" sz="2400" dirty="0"/>
              <a:t>Employee e=</a:t>
            </a:r>
            <a:r>
              <a:rPr lang="en-US" sz="2400" b="1" dirty="0"/>
              <a:t>new</a:t>
            </a:r>
            <a:r>
              <a:rPr lang="en-US" sz="2400" dirty="0"/>
              <a:t> Employee();  </a:t>
            </a:r>
          </a:p>
          <a:p>
            <a:r>
              <a:rPr lang="en-US" sz="2400" dirty="0"/>
              <a:t>e=</a:t>
            </a:r>
            <a:r>
              <a:rPr lang="en-US" sz="2400" b="1" dirty="0"/>
              <a:t>null</a:t>
            </a:r>
            <a:r>
              <a:rPr lang="en-US" sz="2400" dirty="0"/>
              <a:t>;  </a:t>
            </a:r>
          </a:p>
          <a:p>
            <a:r>
              <a:rPr lang="en-US" sz="2400" dirty="0">
                <a:solidFill>
                  <a:srgbClr val="00B0F0"/>
                </a:solidFill>
              </a:rPr>
              <a:t>2) By assigning a reference to another:</a:t>
            </a:r>
          </a:p>
          <a:p>
            <a:r>
              <a:rPr lang="en-US" sz="2400" dirty="0"/>
              <a:t>Employee e1=</a:t>
            </a:r>
            <a:r>
              <a:rPr lang="en-US" sz="2400" b="1" dirty="0"/>
              <a:t>new</a:t>
            </a:r>
            <a:r>
              <a:rPr lang="en-US" sz="2400" dirty="0"/>
              <a:t> Employee();  </a:t>
            </a:r>
          </a:p>
          <a:p>
            <a:r>
              <a:rPr lang="en-US" sz="2400" dirty="0"/>
              <a:t>Employee e2=</a:t>
            </a:r>
            <a:r>
              <a:rPr lang="en-US" sz="2400" b="1" dirty="0"/>
              <a:t>new</a:t>
            </a:r>
            <a:r>
              <a:rPr lang="en-US" sz="2400" dirty="0"/>
              <a:t> Employee();  </a:t>
            </a:r>
          </a:p>
          <a:p>
            <a:r>
              <a:rPr lang="en-US" sz="2400" dirty="0"/>
              <a:t>e1=e2; //now the first object referred by e1 is available for garbage collection  </a:t>
            </a:r>
          </a:p>
          <a:p>
            <a:endParaRPr lang="en-US" sz="3200" dirty="0">
              <a:solidFill>
                <a:srgbClr val="FF0000"/>
              </a:solidFill>
            </a:endParaRPr>
          </a:p>
        </p:txBody>
      </p:sp>
    </p:spTree>
    <p:extLst>
      <p:ext uri="{BB962C8B-B14F-4D97-AF65-F5344CB8AC3E}">
        <p14:creationId xmlns:p14="http://schemas.microsoft.com/office/powerpoint/2010/main" val="310440332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190</a:t>
            </a:fld>
            <a:endParaRPr lang="en-US"/>
          </a:p>
        </p:txBody>
      </p:sp>
      <p:sp>
        <p:nvSpPr>
          <p:cNvPr id="4" name="Content Placeholder 3"/>
          <p:cNvSpPr>
            <a:spLocks noGrp="1"/>
          </p:cNvSpPr>
          <p:nvPr>
            <p:ph sz="quarter" idx="1"/>
          </p:nvPr>
        </p:nvSpPr>
        <p:spPr/>
        <p:txBody>
          <a:bodyPr/>
          <a:lstStyle/>
          <a:p>
            <a:pPr algn="just"/>
            <a:r>
              <a:rPr lang="en-US" sz="2400" dirty="0">
                <a:solidFill>
                  <a:srgbClr val="FF0000"/>
                </a:solidFill>
              </a:rPr>
              <a:t>finalize() method</a:t>
            </a:r>
          </a:p>
          <a:p>
            <a:pPr algn="just"/>
            <a:r>
              <a:rPr lang="en-US" sz="2400" dirty="0"/>
              <a:t>The finalize() method is invoked each time before the object is garbage collected. This method can be used to perform cleanup processing. This method is defined in Object class as:</a:t>
            </a:r>
          </a:p>
          <a:p>
            <a:pPr algn="ctr"/>
            <a:r>
              <a:rPr lang="en-US" sz="2400" b="1" dirty="0">
                <a:solidFill>
                  <a:srgbClr val="0070C0"/>
                </a:solidFill>
              </a:rPr>
              <a:t>protected</a:t>
            </a:r>
            <a:r>
              <a:rPr lang="en-US" sz="2400" dirty="0">
                <a:solidFill>
                  <a:srgbClr val="0070C0"/>
                </a:solidFill>
              </a:rPr>
              <a:t> </a:t>
            </a:r>
            <a:r>
              <a:rPr lang="en-US" sz="2400" b="1" dirty="0">
                <a:solidFill>
                  <a:srgbClr val="0070C0"/>
                </a:solidFill>
              </a:rPr>
              <a:t>void</a:t>
            </a:r>
            <a:r>
              <a:rPr lang="en-US" sz="2400" dirty="0">
                <a:solidFill>
                  <a:srgbClr val="0070C0"/>
                </a:solidFill>
              </a:rPr>
              <a:t> finalize(){}  </a:t>
            </a:r>
          </a:p>
          <a:p>
            <a:pPr algn="just"/>
            <a:r>
              <a:rPr lang="en-US" sz="2400" dirty="0" err="1">
                <a:solidFill>
                  <a:srgbClr val="FF0000"/>
                </a:solidFill>
              </a:rPr>
              <a:t>gc</a:t>
            </a:r>
            <a:r>
              <a:rPr lang="en-US" sz="2400" dirty="0">
                <a:solidFill>
                  <a:srgbClr val="FF0000"/>
                </a:solidFill>
              </a:rPr>
              <a:t>() method</a:t>
            </a:r>
          </a:p>
          <a:p>
            <a:pPr algn="just"/>
            <a:r>
              <a:rPr lang="en-US" sz="2400" dirty="0"/>
              <a:t>The </a:t>
            </a:r>
            <a:r>
              <a:rPr lang="en-US" sz="2400" dirty="0" err="1"/>
              <a:t>gc</a:t>
            </a:r>
            <a:r>
              <a:rPr lang="en-US" sz="2400" dirty="0"/>
              <a:t>() method is used to invoke the garbage collector to perform cleanup processing. The </a:t>
            </a:r>
            <a:r>
              <a:rPr lang="en-US" sz="2400" dirty="0" err="1"/>
              <a:t>gc</a:t>
            </a:r>
            <a:r>
              <a:rPr lang="en-US" sz="2400" dirty="0"/>
              <a:t>() is found in System and Runtime classes.</a:t>
            </a:r>
          </a:p>
          <a:p>
            <a:pPr algn="ctr"/>
            <a:r>
              <a:rPr lang="en-US" sz="2400" b="1" dirty="0">
                <a:solidFill>
                  <a:srgbClr val="0070C0"/>
                </a:solidFill>
              </a:rPr>
              <a:t>public</a:t>
            </a:r>
            <a:r>
              <a:rPr lang="en-US" sz="2400" dirty="0">
                <a:solidFill>
                  <a:srgbClr val="0070C0"/>
                </a:solidFill>
              </a:rPr>
              <a:t> </a:t>
            </a:r>
            <a:r>
              <a:rPr lang="en-US" sz="2400" b="1" dirty="0">
                <a:solidFill>
                  <a:srgbClr val="0070C0"/>
                </a:solidFill>
              </a:rPr>
              <a:t>static</a:t>
            </a:r>
            <a:r>
              <a:rPr lang="en-US" sz="2400" dirty="0">
                <a:solidFill>
                  <a:srgbClr val="0070C0"/>
                </a:solidFill>
              </a:rPr>
              <a:t> </a:t>
            </a:r>
            <a:r>
              <a:rPr lang="en-US" sz="2400" b="1" dirty="0">
                <a:solidFill>
                  <a:srgbClr val="0070C0"/>
                </a:solidFill>
              </a:rPr>
              <a:t>void</a:t>
            </a:r>
            <a:r>
              <a:rPr lang="en-US" sz="2400" dirty="0">
                <a:solidFill>
                  <a:srgbClr val="0070C0"/>
                </a:solidFill>
              </a:rPr>
              <a:t> </a:t>
            </a:r>
            <a:r>
              <a:rPr lang="en-US" sz="2400" dirty="0" err="1">
                <a:solidFill>
                  <a:srgbClr val="0070C0"/>
                </a:solidFill>
              </a:rPr>
              <a:t>gc</a:t>
            </a:r>
            <a:r>
              <a:rPr lang="en-US" sz="2400" dirty="0">
                <a:solidFill>
                  <a:srgbClr val="0070C0"/>
                </a:solidFill>
              </a:rPr>
              <a:t>(){}  </a:t>
            </a:r>
          </a:p>
          <a:p>
            <a:endParaRPr lang="en-US" dirty="0"/>
          </a:p>
        </p:txBody>
      </p:sp>
    </p:spTree>
    <p:extLst>
      <p:ext uri="{BB962C8B-B14F-4D97-AF65-F5344CB8AC3E}">
        <p14:creationId xmlns:p14="http://schemas.microsoft.com/office/powerpoint/2010/main" val="347354053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Simple Example of garbage collection in java</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191</a:t>
            </a:fld>
            <a:endParaRPr lang="en-US"/>
          </a:p>
        </p:txBody>
      </p:sp>
      <p:sp>
        <p:nvSpPr>
          <p:cNvPr id="4" name="Content Placeholder 3"/>
          <p:cNvSpPr>
            <a:spLocks noGrp="1"/>
          </p:cNvSpPr>
          <p:nvPr>
            <p:ph sz="quarter" idx="1"/>
          </p:nvPr>
        </p:nvSpPr>
        <p:spPr/>
        <p:txBody>
          <a:bodyPr>
            <a:normAutofit fontScale="85000" lnSpcReduction="20000"/>
          </a:bodyPr>
          <a:lstStyle/>
          <a:p>
            <a:r>
              <a:rPr lang="en-US" b="1" dirty="0"/>
              <a:t>public</a:t>
            </a:r>
            <a:r>
              <a:rPr lang="en-US" dirty="0"/>
              <a:t> </a:t>
            </a:r>
            <a:r>
              <a:rPr lang="en-US" b="1" dirty="0"/>
              <a:t>class</a:t>
            </a:r>
            <a:r>
              <a:rPr lang="en-US" dirty="0"/>
              <a:t> TestGarbage1</a:t>
            </a:r>
          </a:p>
          <a:p>
            <a:r>
              <a:rPr lang="en-US" dirty="0"/>
              <a:t>{  </a:t>
            </a:r>
          </a:p>
          <a:p>
            <a:r>
              <a:rPr lang="en-US" dirty="0"/>
              <a:t> </a:t>
            </a:r>
            <a:r>
              <a:rPr lang="en-US" b="1" dirty="0"/>
              <a:t>public</a:t>
            </a:r>
            <a:r>
              <a:rPr lang="en-US" dirty="0"/>
              <a:t> </a:t>
            </a:r>
            <a:r>
              <a:rPr lang="en-US" b="1" dirty="0"/>
              <a:t>void</a:t>
            </a:r>
            <a:r>
              <a:rPr lang="en-US" dirty="0"/>
              <a:t> finalize(){</a:t>
            </a:r>
            <a:r>
              <a:rPr lang="en-US" dirty="0" err="1"/>
              <a:t>System.out.println</a:t>
            </a:r>
            <a:r>
              <a:rPr lang="en-US" dirty="0"/>
              <a:t>("object is garbage collected");}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TestGarbage1 s1=</a:t>
            </a:r>
            <a:r>
              <a:rPr lang="en-US" b="1" dirty="0"/>
              <a:t>new</a:t>
            </a:r>
            <a:r>
              <a:rPr lang="en-US" dirty="0"/>
              <a:t> TestGarbage1();  </a:t>
            </a:r>
          </a:p>
          <a:p>
            <a:r>
              <a:rPr lang="en-US" dirty="0"/>
              <a:t>  TestGarbage1 s2=</a:t>
            </a:r>
            <a:r>
              <a:rPr lang="en-US" b="1" dirty="0"/>
              <a:t>new</a:t>
            </a:r>
            <a:r>
              <a:rPr lang="en-US" dirty="0"/>
              <a:t> TestGarbage1();  </a:t>
            </a:r>
          </a:p>
          <a:p>
            <a:r>
              <a:rPr lang="en-US" dirty="0"/>
              <a:t>  s1=</a:t>
            </a:r>
            <a:r>
              <a:rPr lang="en-US" b="1" dirty="0"/>
              <a:t>null</a:t>
            </a:r>
            <a:r>
              <a:rPr lang="en-US" dirty="0"/>
              <a:t>;  </a:t>
            </a:r>
          </a:p>
          <a:p>
            <a:r>
              <a:rPr lang="en-US" dirty="0"/>
              <a:t>  s2=</a:t>
            </a:r>
            <a:r>
              <a:rPr lang="en-US" b="1" dirty="0"/>
              <a:t>null</a:t>
            </a:r>
            <a:r>
              <a:rPr lang="en-US" dirty="0"/>
              <a:t>;  </a:t>
            </a:r>
          </a:p>
          <a:p>
            <a:r>
              <a:rPr lang="en-US" dirty="0">
                <a:solidFill>
                  <a:srgbClr val="FF0000"/>
                </a:solidFill>
              </a:rPr>
              <a:t>// requesting JVM for running Garbage Collector </a:t>
            </a:r>
          </a:p>
          <a:p>
            <a:r>
              <a:rPr lang="en-US" dirty="0"/>
              <a:t> </a:t>
            </a:r>
            <a:r>
              <a:rPr lang="en-US" dirty="0" err="1">
                <a:solidFill>
                  <a:srgbClr val="0070C0"/>
                </a:solidFill>
              </a:rPr>
              <a:t>System.gc</a:t>
            </a:r>
            <a:r>
              <a:rPr lang="en-US" dirty="0">
                <a:solidFill>
                  <a:srgbClr val="0070C0"/>
                </a:solidFill>
              </a:rPr>
              <a:t>();  </a:t>
            </a:r>
          </a:p>
          <a:p>
            <a:r>
              <a:rPr lang="en-US" dirty="0">
                <a:solidFill>
                  <a:srgbClr val="0070C0"/>
                </a:solidFill>
              </a:rPr>
              <a:t>  </a:t>
            </a:r>
            <a:r>
              <a:rPr lang="en-US" dirty="0" err="1">
                <a:solidFill>
                  <a:srgbClr val="0070C0"/>
                </a:solidFill>
              </a:rPr>
              <a:t>Runtime.getRuntime</a:t>
            </a:r>
            <a:r>
              <a:rPr lang="en-US" dirty="0">
                <a:solidFill>
                  <a:srgbClr val="0070C0"/>
                </a:solidFill>
              </a:rPr>
              <a:t>().</a:t>
            </a:r>
            <a:r>
              <a:rPr lang="en-US" dirty="0" err="1">
                <a:solidFill>
                  <a:srgbClr val="0070C0"/>
                </a:solidFill>
              </a:rPr>
              <a:t>gc</a:t>
            </a:r>
            <a:r>
              <a:rPr lang="en-US" dirty="0">
                <a:solidFill>
                  <a:srgbClr val="0070C0"/>
                </a:solidFill>
              </a:rPr>
              <a:t>();</a:t>
            </a:r>
          </a:p>
          <a:p>
            <a:r>
              <a:rPr lang="en-US" dirty="0"/>
              <a:t> }  </a:t>
            </a:r>
          </a:p>
          <a:p>
            <a:r>
              <a:rPr lang="en-US" dirty="0"/>
              <a:t>}  </a:t>
            </a:r>
          </a:p>
          <a:p>
            <a:endParaRPr lang="en-US" dirty="0"/>
          </a:p>
        </p:txBody>
      </p:sp>
    </p:spTree>
    <p:extLst>
      <p:ext uri="{BB962C8B-B14F-4D97-AF65-F5344CB8AC3E}">
        <p14:creationId xmlns:p14="http://schemas.microsoft.com/office/powerpoint/2010/main" val="376789627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Nested and Inner Class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192</a:t>
            </a:fld>
            <a:endParaRPr lang="en-US"/>
          </a:p>
        </p:txBody>
      </p:sp>
      <p:sp>
        <p:nvSpPr>
          <p:cNvPr id="4" name="Content Placeholder 3"/>
          <p:cNvSpPr>
            <a:spLocks noGrp="1"/>
          </p:cNvSpPr>
          <p:nvPr>
            <p:ph sz="quarter" idx="1"/>
          </p:nvPr>
        </p:nvSpPr>
        <p:spPr/>
        <p:txBody>
          <a:bodyPr>
            <a:normAutofit lnSpcReduction="10000"/>
          </a:bodyPr>
          <a:lstStyle/>
          <a:p>
            <a:pPr algn="just"/>
            <a:r>
              <a:rPr lang="en-US" sz="2400" b="1" dirty="0"/>
              <a:t>Java inner class</a:t>
            </a:r>
            <a:r>
              <a:rPr lang="en-US" sz="2400" dirty="0"/>
              <a:t> or nested class is a class which is declared inside the class or interface.</a:t>
            </a:r>
          </a:p>
          <a:p>
            <a:pPr algn="just"/>
            <a:r>
              <a:rPr lang="en-US" sz="2400" dirty="0"/>
              <a:t>We use inner classes to logically group classes and interfaces in one place so that it can be more readable and maintainable.</a:t>
            </a:r>
          </a:p>
          <a:p>
            <a:pPr algn="just"/>
            <a:r>
              <a:rPr lang="en-US" sz="2400" dirty="0"/>
              <a:t>Additionally, it can access all the members of outer class including private data members and methods.</a:t>
            </a:r>
          </a:p>
          <a:p>
            <a:pPr algn="just"/>
            <a:r>
              <a:rPr lang="en-US" sz="2400" dirty="0">
                <a:solidFill>
                  <a:srgbClr val="FF0000"/>
                </a:solidFill>
              </a:rPr>
              <a:t>Syntax of Inner class</a:t>
            </a:r>
          </a:p>
          <a:p>
            <a:r>
              <a:rPr lang="en-US" sz="2400" b="1" dirty="0"/>
              <a:t>class</a:t>
            </a:r>
            <a:r>
              <a:rPr lang="en-US" sz="2400" dirty="0"/>
              <a:t> </a:t>
            </a:r>
            <a:r>
              <a:rPr lang="en-US" sz="2400" dirty="0" err="1"/>
              <a:t>Java_Outer_class</a:t>
            </a:r>
            <a:r>
              <a:rPr lang="en-US" sz="2400" dirty="0"/>
              <a:t>{  </a:t>
            </a:r>
          </a:p>
          <a:p>
            <a:r>
              <a:rPr lang="en-US" sz="2400" dirty="0"/>
              <a:t> //code  </a:t>
            </a:r>
          </a:p>
          <a:p>
            <a:r>
              <a:rPr lang="en-US" sz="2400" dirty="0"/>
              <a:t> </a:t>
            </a:r>
            <a:r>
              <a:rPr lang="en-US" sz="2400" b="1" dirty="0"/>
              <a:t>class</a:t>
            </a:r>
            <a:r>
              <a:rPr lang="en-US" sz="2400" dirty="0"/>
              <a:t> </a:t>
            </a:r>
            <a:r>
              <a:rPr lang="en-US" sz="2400" dirty="0" err="1"/>
              <a:t>Java_Inner_class</a:t>
            </a:r>
            <a:r>
              <a:rPr lang="en-US" sz="2400" dirty="0"/>
              <a:t>{  </a:t>
            </a:r>
          </a:p>
          <a:p>
            <a:r>
              <a:rPr lang="en-US" sz="2400" dirty="0"/>
              <a:t>  //code  </a:t>
            </a:r>
          </a:p>
          <a:p>
            <a:r>
              <a:rPr lang="en-US" sz="2400" dirty="0"/>
              <a:t> }  </a:t>
            </a:r>
          </a:p>
          <a:p>
            <a:r>
              <a:rPr lang="en-US" sz="2400" dirty="0"/>
              <a:t>}  </a:t>
            </a:r>
          </a:p>
          <a:p>
            <a:pPr algn="just"/>
            <a:endParaRPr lang="en-US" sz="2400" dirty="0"/>
          </a:p>
          <a:p>
            <a:endParaRPr lang="en-US" dirty="0"/>
          </a:p>
        </p:txBody>
      </p:sp>
    </p:spTree>
    <p:extLst>
      <p:ext uri="{BB962C8B-B14F-4D97-AF65-F5344CB8AC3E}">
        <p14:creationId xmlns:p14="http://schemas.microsoft.com/office/powerpoint/2010/main" val="4774459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Advantage of java inner classes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193</a:t>
            </a:fld>
            <a:endParaRPr lang="en-US"/>
          </a:p>
        </p:txBody>
      </p:sp>
      <p:sp>
        <p:nvSpPr>
          <p:cNvPr id="4" name="Content Placeholder 3"/>
          <p:cNvSpPr>
            <a:spLocks noGrp="1"/>
          </p:cNvSpPr>
          <p:nvPr>
            <p:ph sz="quarter" idx="1"/>
          </p:nvPr>
        </p:nvSpPr>
        <p:spPr/>
        <p:txBody>
          <a:bodyPr/>
          <a:lstStyle/>
          <a:p>
            <a:pPr algn="just"/>
            <a:r>
              <a:rPr lang="en-US" sz="2400" dirty="0"/>
              <a:t>There are basically three advantages of inner classes in java. They are as follows:</a:t>
            </a:r>
          </a:p>
          <a:p>
            <a:pPr algn="just"/>
            <a:r>
              <a:rPr lang="en-US" sz="2400" dirty="0"/>
              <a:t>1) Nested classes represent a special type of relationship that is </a:t>
            </a:r>
            <a:r>
              <a:rPr lang="en-US" sz="2400" b="1" dirty="0"/>
              <a:t>it can access all the members (data members and methods) of outer class</a:t>
            </a:r>
            <a:r>
              <a:rPr lang="en-US" sz="2400" dirty="0"/>
              <a:t> including private.</a:t>
            </a:r>
          </a:p>
          <a:p>
            <a:pPr algn="just"/>
            <a:r>
              <a:rPr lang="en-US" sz="2400" dirty="0"/>
              <a:t>2) Nested classes are used </a:t>
            </a:r>
            <a:r>
              <a:rPr lang="en-US" sz="2400" b="1" dirty="0"/>
              <a:t>to develop more readable and maintainable code</a:t>
            </a:r>
            <a:r>
              <a:rPr lang="en-US" sz="2400" dirty="0"/>
              <a:t> because it logically group classes and interfaces in one place only.</a:t>
            </a:r>
          </a:p>
          <a:p>
            <a:pPr algn="just"/>
            <a:r>
              <a:rPr lang="en-US" sz="2400" dirty="0"/>
              <a:t>3) </a:t>
            </a:r>
            <a:r>
              <a:rPr lang="en-US" sz="2400" b="1" dirty="0"/>
              <a:t>Code Optimization</a:t>
            </a:r>
            <a:r>
              <a:rPr lang="en-US" sz="2400" dirty="0"/>
              <a:t>: It requires less code to write.</a:t>
            </a:r>
          </a:p>
          <a:p>
            <a:r>
              <a:rPr lang="en-US" sz="2400" dirty="0">
                <a:solidFill>
                  <a:srgbClr val="FF0000"/>
                </a:solidFill>
              </a:rPr>
              <a:t>Difference between nested class and inner class in Java</a:t>
            </a:r>
          </a:p>
          <a:p>
            <a:r>
              <a:rPr lang="en-US" sz="2400" dirty="0"/>
              <a:t>Inner class is a part of nested class. Non-static nested classes are known as inner classes.</a:t>
            </a:r>
          </a:p>
          <a:p>
            <a:endParaRPr lang="en-US" dirty="0"/>
          </a:p>
        </p:txBody>
      </p:sp>
    </p:spTree>
    <p:extLst>
      <p:ext uri="{BB962C8B-B14F-4D97-AF65-F5344CB8AC3E}">
        <p14:creationId xmlns:p14="http://schemas.microsoft.com/office/powerpoint/2010/main" val="222986952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Types of Nested classes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194</a:t>
            </a:fld>
            <a:endParaRPr lang="en-US"/>
          </a:p>
        </p:txBody>
      </p:sp>
      <p:sp>
        <p:nvSpPr>
          <p:cNvPr id="4" name="Content Placeholder 3"/>
          <p:cNvSpPr>
            <a:spLocks noGrp="1"/>
          </p:cNvSpPr>
          <p:nvPr>
            <p:ph sz="quarter" idx="1"/>
          </p:nvPr>
        </p:nvSpPr>
        <p:spPr/>
        <p:txBody>
          <a:bodyPr>
            <a:normAutofit/>
          </a:bodyPr>
          <a:lstStyle/>
          <a:p>
            <a:pPr algn="just"/>
            <a:r>
              <a:rPr lang="en-US" dirty="0"/>
              <a:t>There are two types of nested classes non-static and static nested classes. The non-static nested classes are also known as inner classes.</a:t>
            </a:r>
          </a:p>
          <a:p>
            <a:pPr algn="just"/>
            <a:r>
              <a:rPr lang="en-US" dirty="0"/>
              <a:t>Non-static nested class (inner class)</a:t>
            </a:r>
          </a:p>
          <a:p>
            <a:pPr lvl="1" algn="just"/>
            <a:r>
              <a:rPr lang="en-US" dirty="0">
                <a:solidFill>
                  <a:srgbClr val="0070C0"/>
                </a:solidFill>
              </a:rPr>
              <a:t>Member inner class</a:t>
            </a:r>
          </a:p>
          <a:p>
            <a:pPr lvl="1" algn="just"/>
            <a:r>
              <a:rPr lang="en-US" dirty="0">
                <a:solidFill>
                  <a:srgbClr val="0070C0"/>
                </a:solidFill>
              </a:rPr>
              <a:t>Anonymous inner class</a:t>
            </a:r>
          </a:p>
          <a:p>
            <a:pPr lvl="1" algn="just"/>
            <a:r>
              <a:rPr lang="en-US" dirty="0">
                <a:solidFill>
                  <a:srgbClr val="0070C0"/>
                </a:solidFill>
              </a:rPr>
              <a:t>Local inner class</a:t>
            </a:r>
          </a:p>
          <a:p>
            <a:pPr algn="just"/>
            <a:r>
              <a:rPr lang="en-US" dirty="0"/>
              <a:t>Static nested class</a:t>
            </a:r>
          </a:p>
          <a:p>
            <a:endParaRPr lang="en-US" dirty="0"/>
          </a:p>
        </p:txBody>
      </p:sp>
    </p:spTree>
    <p:extLst>
      <p:ext uri="{BB962C8B-B14F-4D97-AF65-F5344CB8AC3E}">
        <p14:creationId xmlns:p14="http://schemas.microsoft.com/office/powerpoint/2010/main" val="82747700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195</a:t>
            </a:fld>
            <a:endParaRPr lang="en-US"/>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2634688726"/>
              </p:ext>
            </p:extLst>
          </p:nvPr>
        </p:nvGraphicFramePr>
        <p:xfrm>
          <a:off x="675402" y="1539239"/>
          <a:ext cx="9032478" cy="3593984"/>
        </p:xfrm>
        <a:graphic>
          <a:graphicData uri="http://schemas.openxmlformats.org/drawingml/2006/table">
            <a:tbl>
              <a:tblPr/>
              <a:tblGrid>
                <a:gridCol w="3027918">
                  <a:extLst>
                    <a:ext uri="{9D8B030D-6E8A-4147-A177-3AD203B41FA5}">
                      <a16:colId xmlns:a16="http://schemas.microsoft.com/office/drawing/2014/main" val="20000"/>
                    </a:ext>
                  </a:extLst>
                </a:gridCol>
                <a:gridCol w="6004560">
                  <a:extLst>
                    <a:ext uri="{9D8B030D-6E8A-4147-A177-3AD203B41FA5}">
                      <a16:colId xmlns:a16="http://schemas.microsoft.com/office/drawing/2014/main" val="20001"/>
                    </a:ext>
                  </a:extLst>
                </a:gridCol>
              </a:tblGrid>
              <a:tr h="595988">
                <a:tc>
                  <a:txBody>
                    <a:bodyPr/>
                    <a:lstStyle/>
                    <a:p>
                      <a:pPr algn="l" fontAlgn="t"/>
                      <a:r>
                        <a:rPr lang="en-US" sz="2400" b="1" dirty="0">
                          <a:solidFill>
                            <a:srgbClr val="0070C0"/>
                          </a:solidFill>
                          <a:effectLst/>
                          <a:latin typeface="times new roman" panose="02020603050405020304" pitchFamily="18" charset="0"/>
                        </a:rPr>
                        <a:t>Type</a:t>
                      </a:r>
                    </a:p>
                  </a:txBody>
                  <a:tcPr marL="114300" marR="114300" marT="114300" marB="114300">
                    <a:lnL w="9525" cap="flat" cmpd="sng" algn="ctr">
                      <a:solidFill>
                        <a:srgbClr val="20A5A1"/>
                      </a:solidFill>
                      <a:prstDash val="solid"/>
                      <a:round/>
                      <a:headEnd type="none" w="med" len="med"/>
                      <a:tailEnd type="none" w="med" len="med"/>
                    </a:lnL>
                    <a:lnR w="9525" cap="flat" cmpd="sng" algn="ctr">
                      <a:solidFill>
                        <a:srgbClr val="20A5A1"/>
                      </a:solidFill>
                      <a:prstDash val="solid"/>
                      <a:round/>
                      <a:headEnd type="none" w="med" len="med"/>
                      <a:tailEnd type="none" w="med" len="med"/>
                    </a:lnR>
                    <a:lnT w="9525" cap="flat" cmpd="sng" algn="ctr">
                      <a:solidFill>
                        <a:srgbClr val="20A5A1"/>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400" b="1" dirty="0">
                          <a:solidFill>
                            <a:srgbClr val="0070C0"/>
                          </a:solidFill>
                          <a:effectLst/>
                          <a:latin typeface="times new roman" panose="02020603050405020304" pitchFamily="18" charset="0"/>
                        </a:rPr>
                        <a:t>Description</a:t>
                      </a:r>
                    </a:p>
                  </a:txBody>
                  <a:tcPr marL="114300" marR="114300" marT="114300" marB="114300">
                    <a:lnL w="9525" cap="flat" cmpd="sng" algn="ctr">
                      <a:solidFill>
                        <a:srgbClr val="20A5A1"/>
                      </a:solidFill>
                      <a:prstDash val="solid"/>
                      <a:round/>
                      <a:headEnd type="none" w="med" len="med"/>
                      <a:tailEnd type="none" w="med" len="med"/>
                    </a:lnL>
                    <a:lnR w="9525" cap="flat" cmpd="sng" algn="ctr">
                      <a:solidFill>
                        <a:srgbClr val="20A5A1"/>
                      </a:solidFill>
                      <a:prstDash val="solid"/>
                      <a:round/>
                      <a:headEnd type="none" w="med" len="med"/>
                      <a:tailEnd type="none" w="med" len="med"/>
                    </a:lnR>
                    <a:lnT w="9525" cap="flat" cmpd="sng" algn="ctr">
                      <a:solidFill>
                        <a:srgbClr val="20A5A1"/>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830770">
                <a:tc>
                  <a:txBody>
                    <a:bodyPr/>
                    <a:lstStyle/>
                    <a:p>
                      <a:pPr algn="l" fontAlgn="t"/>
                      <a:r>
                        <a:rPr lang="en-US" u="none" strike="noStrike" dirty="0">
                          <a:solidFill>
                            <a:srgbClr val="008000"/>
                          </a:solidFill>
                          <a:effectLst/>
                          <a:latin typeface="verdana" panose="020B0604030504040204" pitchFamily="34" charset="0"/>
                        </a:rPr>
                        <a:t>Member Inner Class</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a:solidFill>
                            <a:srgbClr val="000000"/>
                          </a:solidFill>
                          <a:effectLst/>
                          <a:latin typeface="verdana" panose="020B0604030504040204" pitchFamily="34" charset="0"/>
                        </a:rPr>
                        <a:t>A class created within class and outside method.</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686">
                <a:tc>
                  <a:txBody>
                    <a:bodyPr/>
                    <a:lstStyle/>
                    <a:p>
                      <a:pPr algn="l" fontAlgn="t"/>
                      <a:r>
                        <a:rPr lang="en-US" u="none" strike="noStrike" dirty="0">
                          <a:solidFill>
                            <a:srgbClr val="008000"/>
                          </a:solidFill>
                          <a:effectLst/>
                          <a:latin typeface="verdana" panose="020B0604030504040204" pitchFamily="34" charset="0"/>
                        </a:rPr>
                        <a:t>Local Inner Class</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a:solidFill>
                            <a:srgbClr val="000000"/>
                          </a:solidFill>
                          <a:effectLst/>
                          <a:latin typeface="verdana" panose="020B0604030504040204" pitchFamily="34" charset="0"/>
                        </a:rPr>
                        <a:t>A class created within method.</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30770">
                <a:tc>
                  <a:txBody>
                    <a:bodyPr/>
                    <a:lstStyle/>
                    <a:p>
                      <a:pPr algn="l" fontAlgn="t"/>
                      <a:r>
                        <a:rPr lang="en-US" u="none" strike="noStrike" dirty="0">
                          <a:solidFill>
                            <a:srgbClr val="008000"/>
                          </a:solidFill>
                          <a:effectLst/>
                          <a:latin typeface="verdana" panose="020B0604030504040204" pitchFamily="34" charset="0"/>
                        </a:rPr>
                        <a:t>Static Nested Class</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a:solidFill>
                            <a:srgbClr val="000000"/>
                          </a:solidFill>
                          <a:effectLst/>
                          <a:latin typeface="verdana" panose="020B0604030504040204" pitchFamily="34" charset="0"/>
                        </a:rPr>
                        <a:t>A static class created within class.</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3"/>
                  </a:ext>
                </a:extLst>
              </a:tr>
              <a:tr h="830770">
                <a:tc>
                  <a:txBody>
                    <a:bodyPr/>
                    <a:lstStyle/>
                    <a:p>
                      <a:pPr algn="l" fontAlgn="t"/>
                      <a:r>
                        <a:rPr lang="en-US" u="none" strike="noStrike" dirty="0">
                          <a:solidFill>
                            <a:srgbClr val="008000"/>
                          </a:solidFill>
                          <a:effectLst/>
                          <a:latin typeface="verdana" panose="020B0604030504040204" pitchFamily="34" charset="0"/>
                        </a:rPr>
                        <a:t>Nested Interface</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dirty="0">
                          <a:solidFill>
                            <a:srgbClr val="000000"/>
                          </a:solidFill>
                          <a:effectLst/>
                          <a:latin typeface="verdana" panose="020B0604030504040204" pitchFamily="34" charset="0"/>
                        </a:rPr>
                        <a:t>An interface created within class or interface.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6890048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Member inner class example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196</a:t>
            </a:fld>
            <a:endParaRPr lang="en-US"/>
          </a:p>
        </p:txBody>
      </p:sp>
      <p:sp>
        <p:nvSpPr>
          <p:cNvPr id="4" name="Content Placeholder 3"/>
          <p:cNvSpPr>
            <a:spLocks noGrp="1"/>
          </p:cNvSpPr>
          <p:nvPr>
            <p:ph sz="quarter" idx="1"/>
          </p:nvPr>
        </p:nvSpPr>
        <p:spPr/>
        <p:txBody>
          <a:bodyPr>
            <a:normAutofit lnSpcReduction="10000"/>
          </a:bodyPr>
          <a:lstStyle/>
          <a:p>
            <a:pPr algn="just"/>
            <a:r>
              <a:rPr lang="en-US" sz="2400" dirty="0"/>
              <a:t>In this example, we are creating </a:t>
            </a:r>
            <a:r>
              <a:rPr lang="en-US" sz="2400" dirty="0" err="1"/>
              <a:t>msg</a:t>
            </a:r>
            <a:r>
              <a:rPr lang="en-US" sz="2400" dirty="0"/>
              <a:t>() method in member inner class that is accessing the private data member of outer class.</a:t>
            </a:r>
          </a:p>
          <a:p>
            <a:r>
              <a:rPr lang="en-US" sz="2400" b="1" dirty="0"/>
              <a:t>class</a:t>
            </a:r>
            <a:r>
              <a:rPr lang="en-US" sz="2400" dirty="0"/>
              <a:t> TestMemberOuter1{  </a:t>
            </a:r>
          </a:p>
          <a:p>
            <a:r>
              <a:rPr lang="en-US" sz="2400" dirty="0"/>
              <a:t> </a:t>
            </a:r>
            <a:r>
              <a:rPr lang="en-US" sz="2400" b="1" dirty="0"/>
              <a:t>private</a:t>
            </a:r>
            <a:r>
              <a:rPr lang="en-US" sz="2400" dirty="0"/>
              <a:t> </a:t>
            </a:r>
            <a:r>
              <a:rPr lang="en-US" sz="2400" b="1" dirty="0" err="1"/>
              <a:t>int</a:t>
            </a:r>
            <a:r>
              <a:rPr lang="en-US" sz="2400" dirty="0"/>
              <a:t> data=30;  </a:t>
            </a:r>
          </a:p>
          <a:p>
            <a:r>
              <a:rPr lang="en-US" sz="2400" dirty="0"/>
              <a:t> </a:t>
            </a:r>
            <a:r>
              <a:rPr lang="en-US" sz="2400" b="1" dirty="0"/>
              <a:t>class</a:t>
            </a:r>
            <a:r>
              <a:rPr lang="en-US" sz="2400" dirty="0"/>
              <a:t> Inner{  </a:t>
            </a:r>
          </a:p>
          <a:p>
            <a:r>
              <a:rPr lang="en-US" sz="2400" dirty="0"/>
              <a:t>  </a:t>
            </a:r>
            <a:r>
              <a:rPr lang="en-US" sz="2400" b="1" dirty="0"/>
              <a:t>void</a:t>
            </a:r>
            <a:r>
              <a:rPr lang="en-US" sz="2400" dirty="0"/>
              <a:t> </a:t>
            </a:r>
            <a:r>
              <a:rPr lang="en-US" sz="2400" dirty="0" err="1"/>
              <a:t>msg</a:t>
            </a:r>
            <a:r>
              <a:rPr lang="en-US" sz="2400" dirty="0"/>
              <a:t>(){</a:t>
            </a:r>
            <a:r>
              <a:rPr lang="en-US" sz="2400" dirty="0" err="1"/>
              <a:t>System.out.println</a:t>
            </a:r>
            <a:r>
              <a:rPr lang="en-US" sz="2400" dirty="0"/>
              <a:t>("data is "+data);}  </a:t>
            </a:r>
          </a:p>
          <a:p>
            <a:r>
              <a:rPr lang="en-US" sz="2400" dirty="0"/>
              <a:t> }  </a:t>
            </a:r>
          </a:p>
          <a:p>
            <a:r>
              <a:rPr lang="en-US" sz="2400" dirty="0"/>
              <a:t> </a:t>
            </a: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r>
              <a:rPr lang="en-US" sz="2400" dirty="0"/>
              <a:t>  TestMemberOuter1 </a:t>
            </a:r>
            <a:r>
              <a:rPr lang="en-US" sz="2400" dirty="0" err="1"/>
              <a:t>obj</a:t>
            </a:r>
            <a:r>
              <a:rPr lang="en-US" sz="2400" dirty="0"/>
              <a:t>=</a:t>
            </a:r>
            <a:r>
              <a:rPr lang="en-US" sz="2400" b="1" dirty="0"/>
              <a:t>new</a:t>
            </a:r>
            <a:r>
              <a:rPr lang="en-US" sz="2400" dirty="0"/>
              <a:t> TestMemberOuter1();  </a:t>
            </a:r>
          </a:p>
          <a:p>
            <a:r>
              <a:rPr lang="en-US" sz="2400" dirty="0"/>
              <a:t>  TestMemberOuter1.Inner in=</a:t>
            </a:r>
            <a:r>
              <a:rPr lang="en-US" sz="2400" dirty="0" err="1"/>
              <a:t>obj.</a:t>
            </a:r>
            <a:r>
              <a:rPr lang="en-US" sz="2400" b="1" dirty="0" err="1"/>
              <a:t>new</a:t>
            </a:r>
            <a:r>
              <a:rPr lang="en-US" sz="2400" dirty="0"/>
              <a:t> Inner();  </a:t>
            </a:r>
          </a:p>
          <a:p>
            <a:r>
              <a:rPr lang="en-US" sz="2400" dirty="0"/>
              <a:t>  in.msg();  </a:t>
            </a:r>
          </a:p>
          <a:p>
            <a:r>
              <a:rPr lang="en-US" sz="2400" dirty="0"/>
              <a:t> }  </a:t>
            </a:r>
          </a:p>
          <a:p>
            <a:r>
              <a:rPr lang="en-US" sz="2400" dirty="0"/>
              <a:t>}  </a:t>
            </a:r>
          </a:p>
          <a:p>
            <a:pPr algn="just"/>
            <a:endParaRPr lang="en-US" sz="2400" dirty="0"/>
          </a:p>
        </p:txBody>
      </p:sp>
    </p:spTree>
    <p:extLst>
      <p:ext uri="{BB962C8B-B14F-4D97-AF65-F5344CB8AC3E}">
        <p14:creationId xmlns:p14="http://schemas.microsoft.com/office/powerpoint/2010/main" val="255307331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Local inner class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197</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US" sz="2400" dirty="0"/>
              <a:t>A class i.e. created inside a method is called local inner class in java. If you want to invoke the methods of local inner class, you must instantiate this class inside the method.</a:t>
            </a:r>
          </a:p>
          <a:p>
            <a:r>
              <a:rPr lang="en-US" sz="2400" b="1" dirty="0"/>
              <a:t>public</a:t>
            </a:r>
            <a:r>
              <a:rPr lang="en-US" sz="2400" dirty="0"/>
              <a:t> </a:t>
            </a:r>
            <a:r>
              <a:rPr lang="en-US" sz="2400" b="1" dirty="0"/>
              <a:t>class</a:t>
            </a:r>
            <a:r>
              <a:rPr lang="en-US" sz="2400" dirty="0"/>
              <a:t> localInner1{  </a:t>
            </a:r>
          </a:p>
          <a:p>
            <a:r>
              <a:rPr lang="en-US" sz="2400" dirty="0"/>
              <a:t> </a:t>
            </a:r>
            <a:r>
              <a:rPr lang="en-US" sz="2400" b="1" dirty="0"/>
              <a:t>private</a:t>
            </a:r>
            <a:r>
              <a:rPr lang="en-US" sz="2400" dirty="0"/>
              <a:t> </a:t>
            </a:r>
            <a:r>
              <a:rPr lang="en-US" sz="2400" b="1" dirty="0" err="1"/>
              <a:t>int</a:t>
            </a:r>
            <a:r>
              <a:rPr lang="en-US" sz="2400" dirty="0"/>
              <a:t> data=30;//instance variable  </a:t>
            </a:r>
          </a:p>
          <a:p>
            <a:r>
              <a:rPr lang="en-US" sz="2400" dirty="0"/>
              <a:t> </a:t>
            </a:r>
            <a:r>
              <a:rPr lang="en-US" sz="2400" b="1" dirty="0"/>
              <a:t>void</a:t>
            </a:r>
            <a:r>
              <a:rPr lang="en-US" sz="2400" dirty="0"/>
              <a:t> display(){  </a:t>
            </a:r>
          </a:p>
          <a:p>
            <a:r>
              <a:rPr lang="en-US" sz="2400" dirty="0"/>
              <a:t>  </a:t>
            </a:r>
            <a:r>
              <a:rPr lang="en-US" sz="2400" b="1" dirty="0"/>
              <a:t>class</a:t>
            </a:r>
            <a:r>
              <a:rPr lang="en-US" sz="2400" dirty="0"/>
              <a:t> Local{  </a:t>
            </a:r>
          </a:p>
          <a:p>
            <a:r>
              <a:rPr lang="en-US" sz="2400" dirty="0"/>
              <a:t>   </a:t>
            </a:r>
            <a:r>
              <a:rPr lang="en-US" sz="2400" b="1" dirty="0"/>
              <a:t>void</a:t>
            </a:r>
            <a:r>
              <a:rPr lang="en-US" sz="2400" dirty="0"/>
              <a:t> </a:t>
            </a:r>
            <a:r>
              <a:rPr lang="en-US" sz="2400" dirty="0" err="1"/>
              <a:t>msg</a:t>
            </a:r>
            <a:r>
              <a:rPr lang="en-US" sz="2400" dirty="0"/>
              <a:t>(){</a:t>
            </a:r>
            <a:r>
              <a:rPr lang="en-US" sz="2400" dirty="0" err="1"/>
              <a:t>System.out.println</a:t>
            </a:r>
            <a:r>
              <a:rPr lang="en-US" sz="2400" dirty="0"/>
              <a:t>(data);}  </a:t>
            </a:r>
          </a:p>
          <a:p>
            <a:r>
              <a:rPr lang="en-US" sz="2400" dirty="0"/>
              <a:t>  }  </a:t>
            </a:r>
          </a:p>
          <a:p>
            <a:r>
              <a:rPr lang="en-US" sz="2400" dirty="0"/>
              <a:t>  Local l=</a:t>
            </a:r>
            <a:r>
              <a:rPr lang="en-US" sz="2400" b="1" dirty="0"/>
              <a:t>new</a:t>
            </a:r>
            <a:r>
              <a:rPr lang="en-US" sz="2400" dirty="0"/>
              <a:t> Local();  </a:t>
            </a:r>
          </a:p>
          <a:p>
            <a:r>
              <a:rPr lang="en-US" sz="2400" dirty="0"/>
              <a:t>  l.msg();  </a:t>
            </a:r>
          </a:p>
          <a:p>
            <a:r>
              <a:rPr lang="en-US" sz="2400" dirty="0"/>
              <a:t> }  </a:t>
            </a:r>
          </a:p>
          <a:p>
            <a:r>
              <a:rPr lang="en-US" sz="2400" dirty="0"/>
              <a:t> </a:t>
            </a: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r>
              <a:rPr lang="en-US" sz="2400" dirty="0"/>
              <a:t>  localInner1 </a:t>
            </a:r>
            <a:r>
              <a:rPr lang="en-US" sz="2400" dirty="0" err="1"/>
              <a:t>obj</a:t>
            </a:r>
            <a:r>
              <a:rPr lang="en-US" sz="2400" dirty="0"/>
              <a:t>=</a:t>
            </a:r>
            <a:r>
              <a:rPr lang="en-US" sz="2400" b="1" dirty="0"/>
              <a:t>new</a:t>
            </a:r>
            <a:r>
              <a:rPr lang="en-US" sz="2400" dirty="0"/>
              <a:t> localInner1();  </a:t>
            </a:r>
          </a:p>
          <a:p>
            <a:r>
              <a:rPr lang="en-US" sz="2400" dirty="0"/>
              <a:t>  </a:t>
            </a:r>
            <a:r>
              <a:rPr lang="en-US" sz="2400" dirty="0" err="1"/>
              <a:t>obj.display</a:t>
            </a:r>
            <a:r>
              <a:rPr lang="en-US" sz="2400" dirty="0"/>
              <a:t>();  </a:t>
            </a:r>
          </a:p>
          <a:p>
            <a:r>
              <a:rPr lang="en-US" sz="2400" dirty="0"/>
              <a:t> }  </a:t>
            </a:r>
          </a:p>
          <a:p>
            <a:r>
              <a:rPr lang="en-US" sz="2400" dirty="0"/>
              <a:t>}  </a:t>
            </a:r>
          </a:p>
          <a:p>
            <a:pPr algn="just"/>
            <a:endParaRPr lang="en-US" sz="2400" dirty="0"/>
          </a:p>
        </p:txBody>
      </p:sp>
    </p:spTree>
    <p:extLst>
      <p:ext uri="{BB962C8B-B14F-4D97-AF65-F5344CB8AC3E}">
        <p14:creationId xmlns:p14="http://schemas.microsoft.com/office/powerpoint/2010/main" val="171315060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Rules for Java Local Inner class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198</a:t>
            </a:fld>
            <a:endParaRPr lang="en-US"/>
          </a:p>
        </p:txBody>
      </p:sp>
      <p:sp>
        <p:nvSpPr>
          <p:cNvPr id="4" name="Content Placeholder 3"/>
          <p:cNvSpPr>
            <a:spLocks noGrp="1"/>
          </p:cNvSpPr>
          <p:nvPr>
            <p:ph sz="quarter" idx="1"/>
          </p:nvPr>
        </p:nvSpPr>
        <p:spPr/>
        <p:txBody>
          <a:bodyPr/>
          <a:lstStyle/>
          <a:p>
            <a:pPr algn="just"/>
            <a:r>
              <a:rPr lang="en-US" sz="2400" dirty="0"/>
              <a:t>Local variable can't be private, public or protected.</a:t>
            </a:r>
          </a:p>
          <a:p>
            <a:pPr algn="just"/>
            <a:r>
              <a:rPr lang="en-US" sz="2400" dirty="0">
                <a:solidFill>
                  <a:srgbClr val="0070C0"/>
                </a:solidFill>
              </a:rPr>
              <a:t>Local inner class cannot be invoked from outside the method.</a:t>
            </a:r>
          </a:p>
          <a:p>
            <a:pPr algn="just"/>
            <a:r>
              <a:rPr lang="en-US" sz="2400" dirty="0"/>
              <a:t>Local inner class cannot access non-final local variable till JDK 1.7. Since JDK 1.8, it is possible to access the non-final local variable in local inner class.</a:t>
            </a:r>
          </a:p>
          <a:p>
            <a:endParaRPr lang="en-US" dirty="0"/>
          </a:p>
        </p:txBody>
      </p:sp>
    </p:spTree>
    <p:extLst>
      <p:ext uri="{BB962C8B-B14F-4D97-AF65-F5344CB8AC3E}">
        <p14:creationId xmlns:p14="http://schemas.microsoft.com/office/powerpoint/2010/main" val="52676426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static nested class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199</a:t>
            </a:fld>
            <a:endParaRPr lang="en-US"/>
          </a:p>
        </p:txBody>
      </p:sp>
      <p:sp>
        <p:nvSpPr>
          <p:cNvPr id="4" name="Content Placeholder 3"/>
          <p:cNvSpPr>
            <a:spLocks noGrp="1"/>
          </p:cNvSpPr>
          <p:nvPr>
            <p:ph sz="quarter" idx="1"/>
          </p:nvPr>
        </p:nvSpPr>
        <p:spPr/>
        <p:txBody>
          <a:bodyPr/>
          <a:lstStyle/>
          <a:p>
            <a:pPr algn="just"/>
            <a:r>
              <a:rPr lang="en-US" sz="2400" dirty="0"/>
              <a:t>A static class i.e. created inside a class is called static nested class in java. It cannot access non-static data members and methods. It can be accessed by outer class name.</a:t>
            </a:r>
          </a:p>
          <a:p>
            <a:pPr algn="just"/>
            <a:r>
              <a:rPr lang="en-US" sz="2400" dirty="0"/>
              <a:t>It can access static data members of outer class including private.</a:t>
            </a:r>
          </a:p>
          <a:p>
            <a:pPr algn="just"/>
            <a:r>
              <a:rPr lang="en-US" sz="2400" dirty="0"/>
              <a:t>Static nested class cannot access non-static (instance) data member or method.</a:t>
            </a:r>
          </a:p>
          <a:p>
            <a:endParaRPr lang="en-US" dirty="0"/>
          </a:p>
        </p:txBody>
      </p:sp>
    </p:spTree>
    <p:extLst>
      <p:ext uri="{BB962C8B-B14F-4D97-AF65-F5344CB8AC3E}">
        <p14:creationId xmlns:p14="http://schemas.microsoft.com/office/powerpoint/2010/main" val="363990921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FF0000"/>
                </a:solidFill>
              </a:rPr>
              <a:t>Java static nested class example with instance method</a:t>
            </a:r>
          </a:p>
        </p:txBody>
      </p:sp>
      <p:sp>
        <p:nvSpPr>
          <p:cNvPr id="3" name="Slide Number Placeholder 2"/>
          <p:cNvSpPr>
            <a:spLocks noGrp="1"/>
          </p:cNvSpPr>
          <p:nvPr>
            <p:ph type="sldNum" sz="quarter" idx="12"/>
          </p:nvPr>
        </p:nvSpPr>
        <p:spPr/>
        <p:txBody>
          <a:bodyPr/>
          <a:lstStyle/>
          <a:p>
            <a:fld id="{E3591306-41CF-4237-B2B4-5C605DD45071}" type="slidenum">
              <a:rPr lang="en-US" smtClean="0"/>
              <a:pPr/>
              <a:t>200</a:t>
            </a:fld>
            <a:endParaRPr lang="en-US"/>
          </a:p>
        </p:txBody>
      </p:sp>
      <p:sp>
        <p:nvSpPr>
          <p:cNvPr id="4" name="Content Placeholder 3"/>
          <p:cNvSpPr>
            <a:spLocks noGrp="1"/>
          </p:cNvSpPr>
          <p:nvPr>
            <p:ph sz="quarter" idx="1"/>
          </p:nvPr>
        </p:nvSpPr>
        <p:spPr/>
        <p:txBody>
          <a:bodyPr/>
          <a:lstStyle/>
          <a:p>
            <a:r>
              <a:rPr lang="en-US" b="1" dirty="0"/>
              <a:t>class</a:t>
            </a:r>
            <a:r>
              <a:rPr lang="en-US" dirty="0"/>
              <a:t> TestOuter1{  </a:t>
            </a:r>
          </a:p>
          <a:p>
            <a:r>
              <a:rPr lang="en-US" dirty="0"/>
              <a:t>  </a:t>
            </a:r>
            <a:r>
              <a:rPr lang="en-US" b="1" dirty="0"/>
              <a:t>static</a:t>
            </a:r>
            <a:r>
              <a:rPr lang="en-US" dirty="0"/>
              <a:t> </a:t>
            </a:r>
            <a:r>
              <a:rPr lang="en-US" b="1" dirty="0" err="1"/>
              <a:t>int</a:t>
            </a:r>
            <a:r>
              <a:rPr lang="en-US" dirty="0"/>
              <a:t> data=30;  </a:t>
            </a:r>
          </a:p>
          <a:p>
            <a:r>
              <a:rPr lang="en-US" dirty="0"/>
              <a:t>  </a:t>
            </a:r>
            <a:r>
              <a:rPr lang="en-US" b="1" dirty="0"/>
              <a:t>static</a:t>
            </a:r>
            <a:r>
              <a:rPr lang="en-US" dirty="0"/>
              <a:t> </a:t>
            </a:r>
            <a:r>
              <a:rPr lang="en-US" b="1" dirty="0"/>
              <a:t>class</a:t>
            </a:r>
            <a:r>
              <a:rPr lang="en-US" dirty="0"/>
              <a:t> Inner{  </a:t>
            </a:r>
          </a:p>
          <a:p>
            <a:r>
              <a:rPr lang="en-US" dirty="0"/>
              <a:t>   </a:t>
            </a:r>
            <a:r>
              <a:rPr lang="en-US" b="1" dirty="0"/>
              <a:t>void</a:t>
            </a:r>
            <a:r>
              <a:rPr lang="en-US" dirty="0"/>
              <a:t> </a:t>
            </a:r>
            <a:r>
              <a:rPr lang="en-US" dirty="0" err="1"/>
              <a:t>msg</a:t>
            </a:r>
            <a:r>
              <a:rPr lang="en-US" dirty="0"/>
              <a:t>(){</a:t>
            </a:r>
            <a:r>
              <a:rPr lang="en-US" dirty="0" err="1"/>
              <a:t>System.out.println</a:t>
            </a:r>
            <a:r>
              <a:rPr lang="en-US" dirty="0"/>
              <a:t>("data is "+data);}  </a:t>
            </a:r>
          </a:p>
          <a:p>
            <a:r>
              <a:rPr lang="en-US" dirty="0"/>
              <a:t>  }  </a:t>
            </a:r>
          </a:p>
          <a:p>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r>
              <a:rPr lang="en-US" dirty="0"/>
              <a:t>  TestOuter1.Inner </a:t>
            </a:r>
            <a:r>
              <a:rPr lang="en-US" dirty="0" err="1"/>
              <a:t>obj</a:t>
            </a:r>
            <a:r>
              <a:rPr lang="en-US" dirty="0"/>
              <a:t>=</a:t>
            </a:r>
            <a:r>
              <a:rPr lang="en-US" b="1" dirty="0"/>
              <a:t>new</a:t>
            </a:r>
            <a:r>
              <a:rPr lang="en-US" dirty="0"/>
              <a:t> TestOuter1.Inner();  </a:t>
            </a:r>
          </a:p>
          <a:p>
            <a:r>
              <a:rPr lang="en-US" dirty="0"/>
              <a:t>  obj.msg();  </a:t>
            </a:r>
          </a:p>
          <a:p>
            <a:r>
              <a:rPr lang="en-US" dirty="0"/>
              <a:t>  }  </a:t>
            </a:r>
          </a:p>
          <a:p>
            <a:r>
              <a:rPr lang="en-US" dirty="0"/>
              <a:t>}  </a:t>
            </a:r>
          </a:p>
          <a:p>
            <a:endParaRPr lang="en-US" dirty="0"/>
          </a:p>
        </p:txBody>
      </p:sp>
    </p:spTree>
    <p:extLst>
      <p:ext uri="{BB962C8B-B14F-4D97-AF65-F5344CB8AC3E}">
        <p14:creationId xmlns:p14="http://schemas.microsoft.com/office/powerpoint/2010/main" val="139876954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Nested Interface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201</a:t>
            </a:fld>
            <a:endParaRPr lang="en-US"/>
          </a:p>
        </p:txBody>
      </p:sp>
      <p:sp>
        <p:nvSpPr>
          <p:cNvPr id="4" name="Content Placeholder 3"/>
          <p:cNvSpPr>
            <a:spLocks noGrp="1"/>
          </p:cNvSpPr>
          <p:nvPr>
            <p:ph sz="quarter" idx="1"/>
          </p:nvPr>
        </p:nvSpPr>
        <p:spPr/>
        <p:txBody>
          <a:bodyPr>
            <a:normAutofit/>
          </a:bodyPr>
          <a:lstStyle/>
          <a:p>
            <a:pPr algn="just"/>
            <a:r>
              <a:rPr lang="en-US" sz="2400" dirty="0"/>
              <a:t>An interface i.e. declared within another interface or class is known as nested interface. </a:t>
            </a:r>
          </a:p>
          <a:p>
            <a:pPr algn="just"/>
            <a:r>
              <a:rPr lang="en-US" sz="2400" dirty="0"/>
              <a:t>The nested interfaces are used to group related interfaces so that they can be easy to maintain. </a:t>
            </a:r>
          </a:p>
          <a:p>
            <a:pPr algn="just"/>
            <a:r>
              <a:rPr lang="en-US" sz="2400" dirty="0"/>
              <a:t>The nested interface must be referred by the outer interface or class. It can't be accessed directly.</a:t>
            </a:r>
          </a:p>
          <a:p>
            <a:pPr algn="just"/>
            <a:r>
              <a:rPr lang="en-US" sz="2400" dirty="0">
                <a:solidFill>
                  <a:srgbClr val="FF0000"/>
                </a:solidFill>
              </a:rPr>
              <a:t>Points to remember for nested interfaces</a:t>
            </a:r>
          </a:p>
          <a:p>
            <a:pPr algn="just"/>
            <a:r>
              <a:rPr lang="en-US" sz="2400" dirty="0"/>
              <a:t>There are given some points that should be remembered by the java programmer.</a:t>
            </a:r>
          </a:p>
          <a:p>
            <a:pPr lvl="1" algn="just"/>
            <a:r>
              <a:rPr lang="en-US" sz="2400" dirty="0">
                <a:solidFill>
                  <a:srgbClr val="0070C0"/>
                </a:solidFill>
              </a:rPr>
              <a:t>Nested interface must be public if it is declared inside the interface but it can have any access modifier if declared within the class.</a:t>
            </a:r>
          </a:p>
          <a:p>
            <a:pPr lvl="1" algn="just"/>
            <a:r>
              <a:rPr lang="en-US" sz="2400" dirty="0">
                <a:solidFill>
                  <a:srgbClr val="0070C0"/>
                </a:solidFill>
              </a:rPr>
              <a:t>Nested interfaces are declared static </a:t>
            </a:r>
            <a:r>
              <a:rPr lang="en-US" sz="2400" dirty="0" err="1">
                <a:solidFill>
                  <a:srgbClr val="0070C0"/>
                </a:solidFill>
              </a:rPr>
              <a:t>implicitely</a:t>
            </a:r>
            <a:r>
              <a:rPr lang="en-US" sz="2400" dirty="0">
                <a:solidFill>
                  <a:srgbClr val="0070C0"/>
                </a:solidFill>
              </a:rPr>
              <a:t>.</a:t>
            </a:r>
          </a:p>
          <a:p>
            <a:endParaRPr lang="en-US" dirty="0"/>
          </a:p>
        </p:txBody>
      </p:sp>
    </p:spTree>
    <p:extLst>
      <p:ext uri="{BB962C8B-B14F-4D97-AF65-F5344CB8AC3E}">
        <p14:creationId xmlns:p14="http://schemas.microsoft.com/office/powerpoint/2010/main" val="265912878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202</a:t>
            </a:fld>
            <a:endParaRPr lang="en-US"/>
          </a:p>
        </p:txBody>
      </p:sp>
      <p:sp>
        <p:nvSpPr>
          <p:cNvPr id="4" name="Content Placeholder 3"/>
          <p:cNvSpPr>
            <a:spLocks noGrp="1"/>
          </p:cNvSpPr>
          <p:nvPr>
            <p:ph sz="quarter" idx="1"/>
          </p:nvPr>
        </p:nvSpPr>
        <p:spPr/>
        <p:txBody>
          <a:bodyPr>
            <a:normAutofit fontScale="77500" lnSpcReduction="20000"/>
          </a:bodyPr>
          <a:lstStyle/>
          <a:p>
            <a:r>
              <a:rPr lang="en-US" dirty="0">
                <a:solidFill>
                  <a:srgbClr val="0070C0"/>
                </a:solidFill>
              </a:rPr>
              <a:t>Syntax of nested interface which is declared within the interface</a:t>
            </a:r>
          </a:p>
          <a:p>
            <a:r>
              <a:rPr lang="en-US" b="1" dirty="0"/>
              <a:t>interface</a:t>
            </a:r>
            <a:r>
              <a:rPr lang="en-US" dirty="0"/>
              <a:t> </a:t>
            </a:r>
            <a:r>
              <a:rPr lang="en-US" dirty="0" err="1"/>
              <a:t>interface_name</a:t>
            </a:r>
            <a:r>
              <a:rPr lang="en-US" dirty="0"/>
              <a:t>{  </a:t>
            </a:r>
          </a:p>
          <a:p>
            <a:r>
              <a:rPr lang="en-US" dirty="0"/>
              <a:t> ...  </a:t>
            </a:r>
          </a:p>
          <a:p>
            <a:r>
              <a:rPr lang="en-US" dirty="0"/>
              <a:t> </a:t>
            </a:r>
            <a:r>
              <a:rPr lang="en-US" b="1" dirty="0"/>
              <a:t>interface</a:t>
            </a:r>
            <a:r>
              <a:rPr lang="en-US" dirty="0"/>
              <a:t> </a:t>
            </a:r>
            <a:r>
              <a:rPr lang="en-US" dirty="0" err="1"/>
              <a:t>nested_interface_name</a:t>
            </a:r>
            <a:r>
              <a:rPr lang="en-US" dirty="0"/>
              <a:t>{  </a:t>
            </a:r>
          </a:p>
          <a:p>
            <a:r>
              <a:rPr lang="en-US" dirty="0"/>
              <a:t>  ...  </a:t>
            </a:r>
          </a:p>
          <a:p>
            <a:r>
              <a:rPr lang="en-US" dirty="0"/>
              <a:t> }  </a:t>
            </a:r>
          </a:p>
          <a:p>
            <a:r>
              <a:rPr lang="en-US" dirty="0"/>
              <a:t>}   </a:t>
            </a:r>
          </a:p>
          <a:p>
            <a:r>
              <a:rPr lang="en-US" dirty="0">
                <a:solidFill>
                  <a:srgbClr val="0070C0"/>
                </a:solidFill>
              </a:rPr>
              <a:t>Syntax of nested interface which is declared within the class</a:t>
            </a:r>
          </a:p>
          <a:p>
            <a:r>
              <a:rPr lang="en-US" b="1" dirty="0"/>
              <a:t>class</a:t>
            </a:r>
            <a:r>
              <a:rPr lang="en-US" dirty="0"/>
              <a:t> </a:t>
            </a:r>
            <a:r>
              <a:rPr lang="en-US" dirty="0" err="1"/>
              <a:t>class_name</a:t>
            </a:r>
            <a:r>
              <a:rPr lang="en-US" dirty="0"/>
              <a:t>{  </a:t>
            </a:r>
          </a:p>
          <a:p>
            <a:r>
              <a:rPr lang="en-US" dirty="0"/>
              <a:t> ...  </a:t>
            </a:r>
          </a:p>
          <a:p>
            <a:r>
              <a:rPr lang="en-US" dirty="0"/>
              <a:t> </a:t>
            </a:r>
            <a:r>
              <a:rPr lang="en-US" b="1" dirty="0"/>
              <a:t>interface</a:t>
            </a:r>
            <a:r>
              <a:rPr lang="en-US" dirty="0"/>
              <a:t> </a:t>
            </a:r>
            <a:r>
              <a:rPr lang="en-US" dirty="0" err="1"/>
              <a:t>nested_interface_name</a:t>
            </a:r>
            <a:r>
              <a:rPr lang="en-US" dirty="0"/>
              <a:t>{  </a:t>
            </a:r>
          </a:p>
          <a:p>
            <a:r>
              <a:rPr lang="en-US" dirty="0"/>
              <a:t>  ...  </a:t>
            </a:r>
          </a:p>
          <a:p>
            <a:r>
              <a:rPr lang="en-US" dirty="0"/>
              <a:t> }  </a:t>
            </a:r>
          </a:p>
          <a:p>
            <a:r>
              <a:rPr lang="en-US" dirty="0"/>
              <a:t>}   </a:t>
            </a:r>
          </a:p>
          <a:p>
            <a:endParaRPr lang="en-US" dirty="0"/>
          </a:p>
        </p:txBody>
      </p:sp>
    </p:spTree>
    <p:extLst>
      <p:ext uri="{BB962C8B-B14F-4D97-AF65-F5344CB8AC3E}">
        <p14:creationId xmlns:p14="http://schemas.microsoft.com/office/powerpoint/2010/main" val="406496453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String Class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203</a:t>
            </a:fld>
            <a:endParaRPr lang="en-US"/>
          </a:p>
        </p:txBody>
      </p:sp>
      <p:sp>
        <p:nvSpPr>
          <p:cNvPr id="4" name="Content Placeholder 3"/>
          <p:cNvSpPr>
            <a:spLocks noGrp="1"/>
          </p:cNvSpPr>
          <p:nvPr>
            <p:ph sz="quarter" idx="1"/>
          </p:nvPr>
        </p:nvSpPr>
        <p:spPr/>
        <p:txBody>
          <a:bodyPr/>
          <a:lstStyle/>
          <a:p>
            <a:pPr algn="just"/>
            <a:r>
              <a:rPr lang="en-US" sz="2400" dirty="0"/>
              <a:t>In Java, string is basically an object that represents sequence of char values. An array of characters works same as Java string. </a:t>
            </a:r>
          </a:p>
          <a:p>
            <a:pPr algn="just"/>
            <a:r>
              <a:rPr lang="en-US" sz="2400" dirty="0">
                <a:solidFill>
                  <a:srgbClr val="FF0000"/>
                </a:solidFill>
              </a:rPr>
              <a:t>For example:</a:t>
            </a:r>
          </a:p>
          <a:p>
            <a:pPr algn="just"/>
            <a:r>
              <a:rPr lang="en-US" sz="2400" b="1" dirty="0"/>
              <a:t>char</a:t>
            </a:r>
            <a:r>
              <a:rPr lang="en-US" sz="2400" dirty="0"/>
              <a:t>[] </a:t>
            </a:r>
            <a:r>
              <a:rPr lang="en-US" sz="2400" dirty="0" err="1"/>
              <a:t>ch</a:t>
            </a:r>
            <a:r>
              <a:rPr lang="en-US" sz="2400" dirty="0"/>
              <a:t>={'j','a','v','a','t','p','o','</a:t>
            </a:r>
            <a:r>
              <a:rPr lang="en-US" sz="2400" dirty="0" err="1"/>
              <a:t>i</a:t>
            </a:r>
            <a:r>
              <a:rPr lang="en-US" sz="2400" dirty="0"/>
              <a:t>','</a:t>
            </a:r>
            <a:r>
              <a:rPr lang="en-US" sz="2400" dirty="0" err="1"/>
              <a:t>n','t</a:t>
            </a:r>
            <a:r>
              <a:rPr lang="en-US" sz="2400" dirty="0"/>
              <a:t>'};  </a:t>
            </a:r>
          </a:p>
          <a:p>
            <a:pPr algn="just"/>
            <a:r>
              <a:rPr lang="en-US" sz="2400" dirty="0"/>
              <a:t>String s=</a:t>
            </a:r>
            <a:r>
              <a:rPr lang="en-US" sz="2400" b="1" dirty="0"/>
              <a:t>new</a:t>
            </a:r>
            <a:r>
              <a:rPr lang="en-US" sz="2400" dirty="0"/>
              <a:t> String(</a:t>
            </a:r>
            <a:r>
              <a:rPr lang="en-US" sz="2400" dirty="0" err="1"/>
              <a:t>ch</a:t>
            </a:r>
            <a:r>
              <a:rPr lang="en-US" sz="2400" dirty="0"/>
              <a:t>);  </a:t>
            </a:r>
          </a:p>
          <a:p>
            <a:pPr algn="just"/>
            <a:r>
              <a:rPr lang="en-US" sz="2400" dirty="0"/>
              <a:t>is same as:</a:t>
            </a:r>
          </a:p>
          <a:p>
            <a:pPr algn="just"/>
            <a:r>
              <a:rPr lang="en-US" sz="2400" dirty="0"/>
              <a:t>String s="</a:t>
            </a:r>
            <a:r>
              <a:rPr lang="en-US" sz="2400" dirty="0" err="1"/>
              <a:t>javatpoint</a:t>
            </a:r>
            <a:r>
              <a:rPr lang="en-US" sz="2400" dirty="0"/>
              <a:t>";  </a:t>
            </a:r>
          </a:p>
          <a:p>
            <a:pPr algn="just"/>
            <a:r>
              <a:rPr lang="en-US" sz="2400" b="1" dirty="0"/>
              <a:t>Java String</a:t>
            </a:r>
            <a:r>
              <a:rPr lang="en-US" sz="2400" dirty="0"/>
              <a:t> class provides a lot of methods to perform operations on strings such as compare(), </a:t>
            </a:r>
            <a:r>
              <a:rPr lang="en-US" sz="2400" dirty="0" err="1"/>
              <a:t>concat</a:t>
            </a:r>
            <a:r>
              <a:rPr lang="en-US" sz="2400" dirty="0"/>
              <a:t>(), equals(), split(), length(), replace(), </a:t>
            </a:r>
            <a:r>
              <a:rPr lang="en-US" sz="2400" dirty="0" err="1"/>
              <a:t>compareTo</a:t>
            </a:r>
            <a:r>
              <a:rPr lang="en-US" sz="2400" dirty="0"/>
              <a:t>(), intern(), substring() etc.</a:t>
            </a:r>
          </a:p>
          <a:p>
            <a:pPr marL="0" indent="0">
              <a:buNone/>
            </a:pPr>
            <a:br>
              <a:rPr lang="en-US" sz="2400" dirty="0"/>
            </a:br>
            <a:endParaRPr lang="en-US" sz="2400" dirty="0"/>
          </a:p>
          <a:p>
            <a:endParaRPr lang="en-US" dirty="0"/>
          </a:p>
        </p:txBody>
      </p:sp>
    </p:spTree>
    <p:extLst>
      <p:ext uri="{BB962C8B-B14F-4D97-AF65-F5344CB8AC3E}">
        <p14:creationId xmlns:p14="http://schemas.microsoft.com/office/powerpoint/2010/main" val="175936561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204</a:t>
            </a:fld>
            <a:endParaRPr lang="en-US"/>
          </a:p>
        </p:txBody>
      </p:sp>
      <p:sp>
        <p:nvSpPr>
          <p:cNvPr id="4" name="Content Placeholder 3"/>
          <p:cNvSpPr>
            <a:spLocks noGrp="1"/>
          </p:cNvSpPr>
          <p:nvPr>
            <p:ph sz="quarter" idx="1"/>
          </p:nvPr>
        </p:nvSpPr>
        <p:spPr/>
        <p:txBody>
          <a:bodyPr>
            <a:normAutofit/>
          </a:bodyPr>
          <a:lstStyle/>
          <a:p>
            <a:r>
              <a:rPr lang="en-US" sz="2000" dirty="0"/>
              <a:t>The </a:t>
            </a:r>
            <a:r>
              <a:rPr lang="en-US" sz="2000" dirty="0" err="1"/>
              <a:t>java.lang.String</a:t>
            </a:r>
            <a:r>
              <a:rPr lang="en-US" sz="2000" dirty="0"/>
              <a:t> class implements </a:t>
            </a:r>
            <a:r>
              <a:rPr lang="en-US" sz="2000" i="1" dirty="0" err="1"/>
              <a:t>Serializable</a:t>
            </a:r>
            <a:r>
              <a:rPr lang="en-US" sz="2000" dirty="0"/>
              <a:t>, </a:t>
            </a:r>
            <a:r>
              <a:rPr lang="en-US" sz="2000" i="1" dirty="0"/>
              <a:t>Comparable</a:t>
            </a:r>
            <a:r>
              <a:rPr lang="en-US" sz="2000" dirty="0"/>
              <a:t> and </a:t>
            </a:r>
            <a:r>
              <a:rPr lang="en-US" sz="2000" i="1" dirty="0" err="1"/>
              <a:t>CharSequence</a:t>
            </a:r>
            <a:r>
              <a:rPr lang="en-US" sz="2000" dirty="0"/>
              <a:t> interfaces.</a:t>
            </a:r>
          </a:p>
          <a:p>
            <a:endParaRPr lang="en-US" sz="2400" dirty="0"/>
          </a:p>
          <a:p>
            <a:endParaRPr lang="en-US" sz="2400" dirty="0"/>
          </a:p>
          <a:p>
            <a:endParaRPr lang="en-US" sz="2400" dirty="0"/>
          </a:p>
          <a:p>
            <a:r>
              <a:rPr lang="en-US" sz="2000" b="1" dirty="0" err="1"/>
              <a:t>CharSequence</a:t>
            </a:r>
            <a:r>
              <a:rPr lang="en-US" sz="2000" b="1" dirty="0"/>
              <a:t> Interface</a:t>
            </a:r>
          </a:p>
          <a:p>
            <a:pPr algn="just"/>
            <a:r>
              <a:rPr lang="en-US" sz="2000" dirty="0"/>
              <a:t>The </a:t>
            </a:r>
            <a:r>
              <a:rPr lang="en-US" sz="2000" dirty="0" err="1"/>
              <a:t>CharSequence</a:t>
            </a:r>
            <a:r>
              <a:rPr lang="en-US" sz="2000" dirty="0"/>
              <a:t> interface is used to represent the sequence of characters. String, StringBuffer and StringBuilder classes implement it. It means, we can create strings in java by using these three classes.</a:t>
            </a:r>
          </a:p>
          <a:p>
            <a:endParaRPr lang="en-US" sz="2400" dirty="0"/>
          </a:p>
        </p:txBody>
      </p:sp>
      <p:pic>
        <p:nvPicPr>
          <p:cNvPr id="4098" name="Picture 2" descr="String in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6666" y="2103120"/>
            <a:ext cx="2418566" cy="148113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harSequence in Jav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2952" y="5057574"/>
            <a:ext cx="2872374" cy="1813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037224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205</a:t>
            </a:fld>
            <a:endParaRPr lang="en-US"/>
          </a:p>
        </p:txBody>
      </p:sp>
      <p:sp>
        <p:nvSpPr>
          <p:cNvPr id="4" name="Content Placeholder 3"/>
          <p:cNvSpPr>
            <a:spLocks noGrp="1"/>
          </p:cNvSpPr>
          <p:nvPr>
            <p:ph sz="quarter" idx="1"/>
          </p:nvPr>
        </p:nvSpPr>
        <p:spPr/>
        <p:txBody>
          <a:bodyPr>
            <a:normAutofit/>
          </a:bodyPr>
          <a:lstStyle/>
          <a:p>
            <a:pPr algn="just"/>
            <a:r>
              <a:rPr lang="en-US" sz="2400" dirty="0"/>
              <a:t>The Java String is immutable which means it cannot be changed. Whenever we change any string, a new instance is created. For mutable strings, you can use StringBuffer and StringBuilder classes.</a:t>
            </a:r>
          </a:p>
          <a:p>
            <a:pPr algn="just"/>
            <a:r>
              <a:rPr lang="en-US" sz="2400" dirty="0">
                <a:solidFill>
                  <a:srgbClr val="FF0000"/>
                </a:solidFill>
              </a:rPr>
              <a:t>What is String in java</a:t>
            </a:r>
          </a:p>
          <a:p>
            <a:pPr algn="just"/>
            <a:r>
              <a:rPr lang="en-US" sz="2400" dirty="0"/>
              <a:t>Generally, String is a sequence of characters. But in Java, string is an object that represents a sequence of characters. The </a:t>
            </a:r>
            <a:r>
              <a:rPr lang="en-US" sz="2400" dirty="0" err="1"/>
              <a:t>java.lang.String</a:t>
            </a:r>
            <a:r>
              <a:rPr lang="en-US" sz="2400" dirty="0"/>
              <a:t> class is used to create a string object.</a:t>
            </a:r>
          </a:p>
          <a:p>
            <a:pPr algn="just"/>
            <a:r>
              <a:rPr lang="en-US" sz="2400" dirty="0">
                <a:solidFill>
                  <a:srgbClr val="FF0000"/>
                </a:solidFill>
              </a:rPr>
              <a:t>How to create a string object?</a:t>
            </a:r>
          </a:p>
          <a:p>
            <a:pPr algn="just"/>
            <a:r>
              <a:rPr lang="en-US" sz="2400" dirty="0"/>
              <a:t>There are two ways to create String object:</a:t>
            </a:r>
          </a:p>
          <a:p>
            <a:pPr algn="just"/>
            <a:r>
              <a:rPr lang="en-US" sz="2400" dirty="0"/>
              <a:t>By string literal</a:t>
            </a:r>
          </a:p>
          <a:p>
            <a:pPr algn="just"/>
            <a:r>
              <a:rPr lang="en-US" sz="2400" dirty="0"/>
              <a:t>By new keyword</a:t>
            </a:r>
          </a:p>
          <a:p>
            <a:endParaRPr lang="en-US" dirty="0"/>
          </a:p>
        </p:txBody>
      </p:sp>
    </p:spTree>
    <p:extLst>
      <p:ext uri="{BB962C8B-B14F-4D97-AF65-F5344CB8AC3E}">
        <p14:creationId xmlns:p14="http://schemas.microsoft.com/office/powerpoint/2010/main" val="91600516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1) String Literal</a:t>
            </a:r>
          </a:p>
        </p:txBody>
      </p:sp>
      <p:sp>
        <p:nvSpPr>
          <p:cNvPr id="3" name="Slide Number Placeholder 2"/>
          <p:cNvSpPr>
            <a:spLocks noGrp="1"/>
          </p:cNvSpPr>
          <p:nvPr>
            <p:ph type="sldNum" sz="quarter" idx="12"/>
          </p:nvPr>
        </p:nvSpPr>
        <p:spPr/>
        <p:txBody>
          <a:bodyPr/>
          <a:lstStyle/>
          <a:p>
            <a:fld id="{E3591306-41CF-4237-B2B4-5C605DD45071}" type="slidenum">
              <a:rPr lang="en-US" smtClean="0"/>
              <a:pPr/>
              <a:t>206</a:t>
            </a:fld>
            <a:endParaRPr lang="en-US"/>
          </a:p>
        </p:txBody>
      </p:sp>
      <p:sp>
        <p:nvSpPr>
          <p:cNvPr id="4" name="Content Placeholder 3"/>
          <p:cNvSpPr>
            <a:spLocks noGrp="1"/>
          </p:cNvSpPr>
          <p:nvPr>
            <p:ph sz="quarter" idx="1"/>
          </p:nvPr>
        </p:nvSpPr>
        <p:spPr/>
        <p:txBody>
          <a:bodyPr/>
          <a:lstStyle/>
          <a:p>
            <a:pPr algn="just"/>
            <a:r>
              <a:rPr lang="en-US" sz="2400" dirty="0"/>
              <a:t>Java String literal is created by using double quotes. For Example:</a:t>
            </a:r>
          </a:p>
          <a:p>
            <a:pPr algn="just"/>
            <a:r>
              <a:rPr lang="en-US" sz="2400" dirty="0">
                <a:solidFill>
                  <a:srgbClr val="FF0000"/>
                </a:solidFill>
              </a:rPr>
              <a:t>String s="welcome";  </a:t>
            </a:r>
          </a:p>
          <a:p>
            <a:pPr algn="just"/>
            <a:r>
              <a:rPr lang="en-US" sz="2400" dirty="0"/>
              <a:t>Each time you create a string literal, the JVM checks the "string constant pool" first. If the string already exists in the pool, a reference to the pooled instance is returned. If the string doesn't exist in the pool, a new string instance is created and placed in the pool. For example:</a:t>
            </a:r>
          </a:p>
          <a:p>
            <a:pPr algn="just"/>
            <a:r>
              <a:rPr lang="en-US" sz="2400" dirty="0">
                <a:solidFill>
                  <a:srgbClr val="FF0000"/>
                </a:solidFill>
              </a:rPr>
              <a:t>String s1="Welcome";  </a:t>
            </a:r>
          </a:p>
          <a:p>
            <a:pPr algn="just"/>
            <a:r>
              <a:rPr lang="en-US" sz="2400" dirty="0">
                <a:solidFill>
                  <a:srgbClr val="FF0000"/>
                </a:solidFill>
              </a:rPr>
              <a:t>String s2="Welcome";//It doesn't create a new instance</a:t>
            </a:r>
            <a:r>
              <a:rPr lang="en-US" dirty="0">
                <a:solidFill>
                  <a:srgbClr val="FF0000"/>
                </a:solidFill>
              </a:rPr>
              <a:t>  </a:t>
            </a:r>
          </a:p>
          <a:p>
            <a:endParaRPr lang="en-US" dirty="0">
              <a:solidFill>
                <a:srgbClr val="FF0000"/>
              </a:solidFill>
            </a:endParaRPr>
          </a:p>
        </p:txBody>
      </p:sp>
    </p:spTree>
    <p:extLst>
      <p:ext uri="{BB962C8B-B14F-4D97-AF65-F5344CB8AC3E}">
        <p14:creationId xmlns:p14="http://schemas.microsoft.com/office/powerpoint/2010/main" val="388913718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207</a:t>
            </a:fld>
            <a:endParaRPr lang="en-US"/>
          </a:p>
        </p:txBody>
      </p:sp>
      <p:sp>
        <p:nvSpPr>
          <p:cNvPr id="4" name="Content Placeholder 3"/>
          <p:cNvSpPr>
            <a:spLocks noGrp="1"/>
          </p:cNvSpPr>
          <p:nvPr>
            <p:ph sz="quarter" idx="1"/>
          </p:nvPr>
        </p:nvSpPr>
        <p:spPr/>
        <p:txBody>
          <a:bodyPr/>
          <a:lstStyle/>
          <a:p>
            <a:endParaRPr lang="en-US"/>
          </a:p>
        </p:txBody>
      </p:sp>
      <p:pic>
        <p:nvPicPr>
          <p:cNvPr id="5122" name="Picture 2" descr="Java string liter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7469" y="1124151"/>
            <a:ext cx="5495925" cy="4876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41176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208</a:t>
            </a:fld>
            <a:endParaRPr lang="en-US"/>
          </a:p>
        </p:txBody>
      </p:sp>
      <p:sp>
        <p:nvSpPr>
          <p:cNvPr id="4" name="Content Placeholder 3"/>
          <p:cNvSpPr>
            <a:spLocks noGrp="1"/>
          </p:cNvSpPr>
          <p:nvPr>
            <p:ph sz="quarter" idx="1"/>
          </p:nvPr>
        </p:nvSpPr>
        <p:spPr/>
        <p:txBody>
          <a:bodyPr>
            <a:noAutofit/>
          </a:bodyPr>
          <a:lstStyle/>
          <a:p>
            <a:pPr algn="just"/>
            <a:r>
              <a:rPr lang="en-US" sz="2400" dirty="0"/>
              <a:t>In the above example, only one object will be created. Firstly, JVM will not find any string object with the value "Welcome" in string constant pool, that is why it will create a new object. </a:t>
            </a:r>
          </a:p>
          <a:p>
            <a:pPr algn="just"/>
            <a:r>
              <a:rPr lang="en-US" sz="2400" dirty="0"/>
              <a:t>After that it will find the string with the value "Welcome" in the pool, it will not create a new object but will return the reference to the same instance.</a:t>
            </a:r>
          </a:p>
          <a:p>
            <a:pPr algn="just"/>
            <a:r>
              <a:rPr lang="en-US" sz="2400" dirty="0"/>
              <a:t>String objects are stored in a special memory area known as the "string constant pool".</a:t>
            </a:r>
          </a:p>
          <a:p>
            <a:pPr algn="just"/>
            <a:r>
              <a:rPr lang="en-US" sz="2400" dirty="0">
                <a:solidFill>
                  <a:srgbClr val="FF0000"/>
                </a:solidFill>
              </a:rPr>
              <a:t>Why Java uses the concept of String literal?</a:t>
            </a:r>
          </a:p>
          <a:p>
            <a:pPr algn="just"/>
            <a:r>
              <a:rPr lang="en-US" sz="2400" dirty="0"/>
              <a:t>To make Java more memory efficient (because no new objects are created if it exists already in the string constant pool).</a:t>
            </a:r>
          </a:p>
          <a:p>
            <a:endParaRPr lang="en-US" sz="3200" dirty="0"/>
          </a:p>
        </p:txBody>
      </p:sp>
    </p:spTree>
    <p:extLst>
      <p:ext uri="{BB962C8B-B14F-4D97-AF65-F5344CB8AC3E}">
        <p14:creationId xmlns:p14="http://schemas.microsoft.com/office/powerpoint/2010/main" val="243870327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rPr>
              <a:t>2) By new keyword</a:t>
            </a:r>
          </a:p>
        </p:txBody>
      </p:sp>
      <p:sp>
        <p:nvSpPr>
          <p:cNvPr id="3" name="Slide Number Placeholder 2"/>
          <p:cNvSpPr>
            <a:spLocks noGrp="1"/>
          </p:cNvSpPr>
          <p:nvPr>
            <p:ph type="sldNum" sz="quarter" idx="12"/>
          </p:nvPr>
        </p:nvSpPr>
        <p:spPr/>
        <p:txBody>
          <a:bodyPr/>
          <a:lstStyle/>
          <a:p>
            <a:fld id="{E3591306-41CF-4237-B2B4-5C605DD45071}" type="slidenum">
              <a:rPr lang="en-US" smtClean="0"/>
              <a:pPr/>
              <a:t>209</a:t>
            </a:fld>
            <a:endParaRPr lang="en-US"/>
          </a:p>
        </p:txBody>
      </p:sp>
      <p:sp>
        <p:nvSpPr>
          <p:cNvPr id="4" name="Content Placeholder 3"/>
          <p:cNvSpPr>
            <a:spLocks noGrp="1"/>
          </p:cNvSpPr>
          <p:nvPr>
            <p:ph sz="quarter" idx="1"/>
          </p:nvPr>
        </p:nvSpPr>
        <p:spPr/>
        <p:txBody>
          <a:bodyPr>
            <a:normAutofit fontScale="92500" lnSpcReduction="20000"/>
          </a:bodyPr>
          <a:lstStyle/>
          <a:p>
            <a:pPr algn="just"/>
            <a:r>
              <a:rPr lang="en-US" sz="2400" dirty="0"/>
              <a:t>String s=</a:t>
            </a:r>
            <a:r>
              <a:rPr lang="en-US" sz="2400" b="1" dirty="0"/>
              <a:t>new</a:t>
            </a:r>
            <a:r>
              <a:rPr lang="en-US" sz="2400" dirty="0"/>
              <a:t> String("Welcome");//creates two objects and one reference variable  </a:t>
            </a:r>
          </a:p>
          <a:p>
            <a:pPr algn="just"/>
            <a:r>
              <a:rPr lang="en-US" sz="2400" dirty="0"/>
              <a:t>In such case, JVM will create a new string object in normal (non-pool) heap memory, and the literal "Welcome" will be placed in the string constant pool. The variable s will refer to the object in a heap (non-pool).</a:t>
            </a:r>
          </a:p>
          <a:p>
            <a:r>
              <a:rPr lang="en-US" sz="2400" b="1" dirty="0"/>
              <a:t>public</a:t>
            </a:r>
            <a:r>
              <a:rPr lang="en-US" sz="2400" dirty="0"/>
              <a:t> </a:t>
            </a:r>
            <a:r>
              <a:rPr lang="en-US" sz="2400" b="1" dirty="0"/>
              <a:t>class</a:t>
            </a:r>
            <a:r>
              <a:rPr lang="en-US" sz="2400" dirty="0"/>
              <a:t> </a:t>
            </a:r>
            <a:r>
              <a:rPr lang="en-US" sz="2400" dirty="0" err="1"/>
              <a:t>StringExample</a:t>
            </a:r>
            <a:r>
              <a:rPr lang="en-US" sz="2400" dirty="0"/>
              <a:t>{  </a:t>
            </a:r>
          </a:p>
          <a:p>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r>
              <a:rPr lang="en-US" sz="2400" dirty="0"/>
              <a:t>String s1="java";//creating string by java string literal  </a:t>
            </a:r>
          </a:p>
          <a:p>
            <a:r>
              <a:rPr lang="en-US" sz="2400" b="1" dirty="0"/>
              <a:t>char</a:t>
            </a:r>
            <a:r>
              <a:rPr lang="en-US" sz="2400" dirty="0"/>
              <a:t> </a:t>
            </a:r>
            <a:r>
              <a:rPr lang="en-US" sz="2400" dirty="0" err="1"/>
              <a:t>ch</a:t>
            </a:r>
            <a:r>
              <a:rPr lang="en-US" sz="2400" dirty="0"/>
              <a:t>[]={'s','t','r','</a:t>
            </a:r>
            <a:r>
              <a:rPr lang="en-US" sz="2400" dirty="0" err="1"/>
              <a:t>i</a:t>
            </a:r>
            <a:r>
              <a:rPr lang="en-US" sz="2400" dirty="0"/>
              <a:t>','</a:t>
            </a:r>
            <a:r>
              <a:rPr lang="en-US" sz="2400" dirty="0" err="1"/>
              <a:t>n','g','s</a:t>
            </a:r>
            <a:r>
              <a:rPr lang="en-US" sz="2400" dirty="0"/>
              <a:t>'};  </a:t>
            </a:r>
          </a:p>
          <a:p>
            <a:r>
              <a:rPr lang="en-US" sz="2400" dirty="0"/>
              <a:t>String s2=</a:t>
            </a:r>
            <a:r>
              <a:rPr lang="en-US" sz="2400" b="1" dirty="0"/>
              <a:t>new</a:t>
            </a:r>
            <a:r>
              <a:rPr lang="en-US" sz="2400" dirty="0"/>
              <a:t> String(</a:t>
            </a:r>
            <a:r>
              <a:rPr lang="en-US" sz="2400" dirty="0" err="1"/>
              <a:t>ch</a:t>
            </a:r>
            <a:r>
              <a:rPr lang="en-US" sz="2400" dirty="0"/>
              <a:t>);//converting char array to string  </a:t>
            </a:r>
          </a:p>
          <a:p>
            <a:r>
              <a:rPr lang="en-US" sz="2400" dirty="0"/>
              <a:t>String s3=</a:t>
            </a:r>
            <a:r>
              <a:rPr lang="en-US" sz="2400" b="1" dirty="0"/>
              <a:t>new</a:t>
            </a:r>
            <a:r>
              <a:rPr lang="en-US" sz="2400" dirty="0"/>
              <a:t> String("example");//creating java string by new keyword  </a:t>
            </a:r>
          </a:p>
          <a:p>
            <a:r>
              <a:rPr lang="en-US" sz="2400" dirty="0" err="1"/>
              <a:t>System.out.println</a:t>
            </a:r>
            <a:r>
              <a:rPr lang="en-US" sz="2400" dirty="0"/>
              <a:t>(s1);  </a:t>
            </a:r>
          </a:p>
          <a:p>
            <a:r>
              <a:rPr lang="en-US" sz="2400" dirty="0" err="1"/>
              <a:t>System.out.println</a:t>
            </a:r>
            <a:r>
              <a:rPr lang="en-US" sz="2400" dirty="0"/>
              <a:t>(s2);  </a:t>
            </a:r>
          </a:p>
          <a:p>
            <a:r>
              <a:rPr lang="en-US" sz="2400" dirty="0" err="1"/>
              <a:t>System.out.println</a:t>
            </a:r>
            <a:r>
              <a:rPr lang="en-US" sz="2400" dirty="0"/>
              <a:t>(s3);  </a:t>
            </a:r>
          </a:p>
          <a:p>
            <a:r>
              <a:rPr lang="en-US" sz="2400" dirty="0"/>
              <a:t>}}  </a:t>
            </a:r>
          </a:p>
          <a:p>
            <a:pPr algn="just"/>
            <a:endParaRPr lang="en-US" sz="2400" dirty="0"/>
          </a:p>
          <a:p>
            <a:endParaRPr lang="en-US" dirty="0"/>
          </a:p>
        </p:txBody>
      </p:sp>
    </p:spTree>
    <p:extLst>
      <p:ext uri="{BB962C8B-B14F-4D97-AF65-F5344CB8AC3E}">
        <p14:creationId xmlns:p14="http://schemas.microsoft.com/office/powerpoint/2010/main" val="93223207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Java String class methods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210</a:t>
            </a:fld>
            <a:endParaRPr lang="en-US"/>
          </a:p>
        </p:txBody>
      </p:sp>
      <p:sp>
        <p:nvSpPr>
          <p:cNvPr id="4" name="Content Placeholder 3"/>
          <p:cNvSpPr>
            <a:spLocks noGrp="1"/>
          </p:cNvSpPr>
          <p:nvPr>
            <p:ph sz="quarter" idx="1"/>
          </p:nvPr>
        </p:nvSpPr>
        <p:spPr/>
        <p:txBody>
          <a:bodyPr>
            <a:normAutofit/>
          </a:bodyPr>
          <a:lstStyle/>
          <a:p>
            <a:r>
              <a:rPr lang="en-US" sz="2000" dirty="0"/>
              <a:t>The </a:t>
            </a:r>
            <a:r>
              <a:rPr lang="en-US" sz="2000" dirty="0" err="1"/>
              <a:t>java.lang.String</a:t>
            </a:r>
            <a:r>
              <a:rPr lang="en-US" sz="2000" dirty="0"/>
              <a:t> class provides many useful methods to perform operations on sequence of char values.</a:t>
            </a:r>
          </a:p>
        </p:txBody>
      </p:sp>
      <p:graphicFrame>
        <p:nvGraphicFramePr>
          <p:cNvPr id="5" name="Table 4"/>
          <p:cNvGraphicFramePr>
            <a:graphicFrameLocks noGrp="1"/>
          </p:cNvGraphicFramePr>
          <p:nvPr>
            <p:extLst>
              <p:ext uri="{D42A27DB-BD31-4B8C-83A1-F6EECF244321}">
                <p14:modId xmlns:p14="http://schemas.microsoft.com/office/powerpoint/2010/main" val="404455266"/>
              </p:ext>
            </p:extLst>
          </p:nvPr>
        </p:nvGraphicFramePr>
        <p:xfrm>
          <a:off x="675402" y="2060895"/>
          <a:ext cx="9062956" cy="4837898"/>
        </p:xfrm>
        <a:graphic>
          <a:graphicData uri="http://schemas.openxmlformats.org/drawingml/2006/table">
            <a:tbl>
              <a:tblPr/>
              <a:tblGrid>
                <a:gridCol w="481451">
                  <a:extLst>
                    <a:ext uri="{9D8B030D-6E8A-4147-A177-3AD203B41FA5}">
                      <a16:colId xmlns:a16="http://schemas.microsoft.com/office/drawing/2014/main" val="20000"/>
                    </a:ext>
                  </a:extLst>
                </a:gridCol>
                <a:gridCol w="3948546">
                  <a:extLst>
                    <a:ext uri="{9D8B030D-6E8A-4147-A177-3AD203B41FA5}">
                      <a16:colId xmlns:a16="http://schemas.microsoft.com/office/drawing/2014/main" val="20001"/>
                    </a:ext>
                  </a:extLst>
                </a:gridCol>
                <a:gridCol w="4632959">
                  <a:extLst>
                    <a:ext uri="{9D8B030D-6E8A-4147-A177-3AD203B41FA5}">
                      <a16:colId xmlns:a16="http://schemas.microsoft.com/office/drawing/2014/main" val="20002"/>
                    </a:ext>
                  </a:extLst>
                </a:gridCol>
              </a:tblGrid>
              <a:tr h="361798">
                <a:tc>
                  <a:txBody>
                    <a:bodyPr/>
                    <a:lstStyle/>
                    <a:p>
                      <a:pPr algn="l" fontAlgn="t"/>
                      <a:r>
                        <a:rPr lang="en-US" sz="1400" dirty="0">
                          <a:solidFill>
                            <a:srgbClr val="FF0000"/>
                          </a:solidFill>
                          <a:effectLst/>
                          <a:latin typeface="times new roman" panose="02020603050405020304" pitchFamily="18" charset="0"/>
                        </a:rPr>
                        <a:t>No.</a:t>
                      </a:r>
                    </a:p>
                  </a:txBody>
                  <a:tcPr marL="91210" marR="91210" marT="91210" marB="91210">
                    <a:lnL w="9525" cap="flat" cmpd="sng" algn="ctr">
                      <a:solidFill>
                        <a:srgbClr val="3061CA"/>
                      </a:solidFill>
                      <a:prstDash val="solid"/>
                      <a:round/>
                      <a:headEnd type="none" w="med" len="med"/>
                      <a:tailEnd type="none" w="med" len="med"/>
                    </a:lnL>
                    <a:lnR w="9525" cap="flat" cmpd="sng" algn="ctr">
                      <a:solidFill>
                        <a:srgbClr val="3061CA"/>
                      </a:solidFill>
                      <a:prstDash val="solid"/>
                      <a:round/>
                      <a:headEnd type="none" w="med" len="med"/>
                      <a:tailEnd type="none" w="med" len="med"/>
                    </a:lnR>
                    <a:lnT w="9525" cap="flat" cmpd="sng" algn="ctr">
                      <a:solidFill>
                        <a:srgbClr val="3061C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400" dirty="0">
                          <a:solidFill>
                            <a:srgbClr val="FF0000"/>
                          </a:solidFill>
                          <a:effectLst/>
                          <a:latin typeface="times new roman" panose="02020603050405020304" pitchFamily="18" charset="0"/>
                        </a:rPr>
                        <a:t>Method</a:t>
                      </a:r>
                    </a:p>
                  </a:txBody>
                  <a:tcPr marL="91210" marR="91210" marT="91210" marB="91210">
                    <a:lnL w="9525" cap="flat" cmpd="sng" algn="ctr">
                      <a:solidFill>
                        <a:srgbClr val="3061CA"/>
                      </a:solidFill>
                      <a:prstDash val="solid"/>
                      <a:round/>
                      <a:headEnd type="none" w="med" len="med"/>
                      <a:tailEnd type="none" w="med" len="med"/>
                    </a:lnL>
                    <a:lnR w="9525" cap="flat" cmpd="sng" algn="ctr">
                      <a:solidFill>
                        <a:srgbClr val="3061CA"/>
                      </a:solidFill>
                      <a:prstDash val="solid"/>
                      <a:round/>
                      <a:headEnd type="none" w="med" len="med"/>
                      <a:tailEnd type="none" w="med" len="med"/>
                    </a:lnR>
                    <a:lnT w="9525" cap="flat" cmpd="sng" algn="ctr">
                      <a:solidFill>
                        <a:srgbClr val="3061C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400" dirty="0">
                          <a:solidFill>
                            <a:srgbClr val="FF0000"/>
                          </a:solidFill>
                          <a:effectLst/>
                          <a:latin typeface="times new roman" panose="02020603050405020304" pitchFamily="18" charset="0"/>
                        </a:rPr>
                        <a:t>Description</a:t>
                      </a:r>
                    </a:p>
                  </a:txBody>
                  <a:tcPr marL="91210" marR="91210" marT="91210" marB="91210">
                    <a:lnL w="9525" cap="flat" cmpd="sng" algn="ctr">
                      <a:solidFill>
                        <a:srgbClr val="3061CA"/>
                      </a:solidFill>
                      <a:prstDash val="solid"/>
                      <a:round/>
                      <a:headEnd type="none" w="med" len="med"/>
                      <a:tailEnd type="none" w="med" len="med"/>
                    </a:lnL>
                    <a:lnR w="9525" cap="flat" cmpd="sng" algn="ctr">
                      <a:solidFill>
                        <a:srgbClr val="3061CA"/>
                      </a:solidFill>
                      <a:prstDash val="solid"/>
                      <a:round/>
                      <a:headEnd type="none" w="med" len="med"/>
                      <a:tailEnd type="none" w="med" len="med"/>
                    </a:lnR>
                    <a:lnT w="9525" cap="flat" cmpd="sng" algn="ctr">
                      <a:solidFill>
                        <a:srgbClr val="3061C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612705">
                <a:tc>
                  <a:txBody>
                    <a:bodyPr/>
                    <a:lstStyle/>
                    <a:p>
                      <a:pPr algn="l" fontAlgn="t"/>
                      <a:r>
                        <a:rPr lang="en-US" sz="1800" dirty="0">
                          <a:solidFill>
                            <a:srgbClr val="000000"/>
                          </a:solidFill>
                          <a:effectLst/>
                          <a:latin typeface="verdana" panose="020B0604030504040204" pitchFamily="34" charset="0"/>
                        </a:rPr>
                        <a:t>1</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u="none" strike="noStrike" dirty="0">
                          <a:solidFill>
                            <a:srgbClr val="008000"/>
                          </a:solidFill>
                          <a:effectLst/>
                          <a:latin typeface="verdana" panose="020B0604030504040204" pitchFamily="34" charset="0"/>
                        </a:rPr>
                        <a:t>char </a:t>
                      </a:r>
                      <a:r>
                        <a:rPr lang="en-US" sz="1800" u="none" strike="noStrike" dirty="0" err="1">
                          <a:solidFill>
                            <a:srgbClr val="008000"/>
                          </a:solidFill>
                          <a:effectLst/>
                          <a:latin typeface="verdana" panose="020B0604030504040204" pitchFamily="34" charset="0"/>
                        </a:rPr>
                        <a:t>charAt</a:t>
                      </a:r>
                      <a:r>
                        <a:rPr lang="en-US" sz="1800" u="none" strike="noStrike" dirty="0">
                          <a:solidFill>
                            <a:srgbClr val="008000"/>
                          </a:solidFill>
                          <a:effectLst/>
                          <a:latin typeface="verdana" panose="020B0604030504040204" pitchFamily="34" charset="0"/>
                        </a:rPr>
                        <a:t>(</a:t>
                      </a:r>
                      <a:r>
                        <a:rPr lang="en-US" sz="1800" u="none" strike="noStrike" dirty="0" err="1">
                          <a:solidFill>
                            <a:srgbClr val="008000"/>
                          </a:solidFill>
                          <a:effectLst/>
                          <a:latin typeface="verdana" panose="020B0604030504040204" pitchFamily="34" charset="0"/>
                        </a:rPr>
                        <a:t>int</a:t>
                      </a:r>
                      <a:r>
                        <a:rPr lang="en-US" sz="1800" u="none" strike="noStrike" dirty="0">
                          <a:solidFill>
                            <a:srgbClr val="008000"/>
                          </a:solidFill>
                          <a:effectLst/>
                          <a:latin typeface="verdana" panose="020B0604030504040204" pitchFamily="34" charset="0"/>
                        </a:rPr>
                        <a:t> index)</a:t>
                      </a:r>
                      <a:endParaRPr lang="en-US" sz="1800" dirty="0">
                        <a:solidFill>
                          <a:srgbClr val="000000"/>
                        </a:solidFill>
                        <a:effectLst/>
                        <a:latin typeface="verdana" panose="020B0604030504040204" pitchFamily="34" charset="0"/>
                      </a:endParaRP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a:solidFill>
                            <a:srgbClr val="000000"/>
                          </a:solidFill>
                          <a:effectLst/>
                          <a:latin typeface="verdana" panose="020B0604030504040204" pitchFamily="34" charset="0"/>
                        </a:rPr>
                        <a:t>returns char value for the particular index</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1938">
                <a:tc>
                  <a:txBody>
                    <a:bodyPr/>
                    <a:lstStyle/>
                    <a:p>
                      <a:pPr algn="l" fontAlgn="t"/>
                      <a:r>
                        <a:rPr lang="en-US" sz="1800">
                          <a:solidFill>
                            <a:srgbClr val="000000"/>
                          </a:solidFill>
                          <a:effectLst/>
                          <a:latin typeface="verdana" panose="020B0604030504040204" pitchFamily="34" charset="0"/>
                        </a:rPr>
                        <a:t>2</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u="none" strike="noStrike" dirty="0" err="1">
                          <a:solidFill>
                            <a:srgbClr val="008000"/>
                          </a:solidFill>
                          <a:effectLst/>
                          <a:latin typeface="verdana" panose="020B0604030504040204" pitchFamily="34" charset="0"/>
                        </a:rPr>
                        <a:t>int</a:t>
                      </a:r>
                      <a:r>
                        <a:rPr lang="en-US" sz="1800" u="none" strike="noStrike" dirty="0">
                          <a:solidFill>
                            <a:srgbClr val="008000"/>
                          </a:solidFill>
                          <a:effectLst/>
                          <a:latin typeface="verdana" panose="020B0604030504040204" pitchFamily="34" charset="0"/>
                        </a:rPr>
                        <a:t> length()</a:t>
                      </a:r>
                      <a:endParaRPr lang="en-US" sz="1800" dirty="0">
                        <a:solidFill>
                          <a:srgbClr val="000000"/>
                        </a:solidFill>
                        <a:effectLst/>
                        <a:latin typeface="verdana" panose="020B0604030504040204" pitchFamily="34" charset="0"/>
                      </a:endParaRP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a:solidFill>
                            <a:srgbClr val="000000"/>
                          </a:solidFill>
                          <a:effectLst/>
                          <a:latin typeface="verdana" panose="020B0604030504040204" pitchFamily="34" charset="0"/>
                        </a:rPr>
                        <a:t>returns string length</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612705">
                <a:tc>
                  <a:txBody>
                    <a:bodyPr/>
                    <a:lstStyle/>
                    <a:p>
                      <a:pPr algn="l" fontAlgn="t"/>
                      <a:r>
                        <a:rPr lang="en-US" sz="1800">
                          <a:solidFill>
                            <a:srgbClr val="000000"/>
                          </a:solidFill>
                          <a:effectLst/>
                          <a:latin typeface="verdana" panose="020B0604030504040204" pitchFamily="34" charset="0"/>
                        </a:rPr>
                        <a:t>3</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u="none" strike="noStrike" dirty="0">
                          <a:solidFill>
                            <a:srgbClr val="008000"/>
                          </a:solidFill>
                          <a:effectLst/>
                          <a:latin typeface="verdana" panose="020B0604030504040204" pitchFamily="34" charset="0"/>
                        </a:rPr>
                        <a:t>static String format(String format, Object... </a:t>
                      </a:r>
                      <a:r>
                        <a:rPr lang="en-US" sz="1800" u="none" strike="noStrike" dirty="0" err="1">
                          <a:solidFill>
                            <a:srgbClr val="008000"/>
                          </a:solidFill>
                          <a:effectLst/>
                          <a:latin typeface="verdana" panose="020B0604030504040204" pitchFamily="34" charset="0"/>
                        </a:rPr>
                        <a:t>args</a:t>
                      </a:r>
                      <a:r>
                        <a:rPr lang="en-US" sz="1800" u="none" strike="noStrike" dirty="0">
                          <a:solidFill>
                            <a:srgbClr val="008000"/>
                          </a:solidFill>
                          <a:effectLst/>
                          <a:latin typeface="verdana" panose="020B0604030504040204" pitchFamily="34" charset="0"/>
                        </a:rPr>
                        <a:t>)</a:t>
                      </a:r>
                      <a:endParaRPr lang="en-US" sz="1800" dirty="0">
                        <a:solidFill>
                          <a:srgbClr val="000000"/>
                        </a:solidFill>
                        <a:effectLst/>
                        <a:latin typeface="verdana" panose="020B0604030504040204" pitchFamily="34" charset="0"/>
                      </a:endParaRP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dirty="0">
                          <a:solidFill>
                            <a:srgbClr val="000000"/>
                          </a:solidFill>
                          <a:effectLst/>
                          <a:latin typeface="verdana" panose="020B0604030504040204" pitchFamily="34" charset="0"/>
                        </a:rPr>
                        <a:t>returns a formatted string.</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2705">
                <a:tc>
                  <a:txBody>
                    <a:bodyPr/>
                    <a:lstStyle/>
                    <a:p>
                      <a:pPr algn="l" fontAlgn="t"/>
                      <a:r>
                        <a:rPr lang="en-US" sz="1800">
                          <a:solidFill>
                            <a:srgbClr val="000000"/>
                          </a:solidFill>
                          <a:effectLst/>
                          <a:latin typeface="verdana" panose="020B0604030504040204" pitchFamily="34" charset="0"/>
                        </a:rPr>
                        <a:t>4</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u="none" strike="noStrike" dirty="0">
                          <a:solidFill>
                            <a:srgbClr val="008000"/>
                          </a:solidFill>
                          <a:effectLst/>
                          <a:latin typeface="verdana" panose="020B0604030504040204" pitchFamily="34" charset="0"/>
                        </a:rPr>
                        <a:t>static String format(Locale l, String format, Object... </a:t>
                      </a:r>
                      <a:r>
                        <a:rPr lang="en-US" sz="1800" u="none" strike="noStrike" dirty="0" err="1">
                          <a:solidFill>
                            <a:srgbClr val="008000"/>
                          </a:solidFill>
                          <a:effectLst/>
                          <a:latin typeface="verdana" panose="020B0604030504040204" pitchFamily="34" charset="0"/>
                        </a:rPr>
                        <a:t>args</a:t>
                      </a:r>
                      <a:r>
                        <a:rPr lang="en-US" sz="1800" u="none" strike="noStrike" dirty="0">
                          <a:solidFill>
                            <a:srgbClr val="008000"/>
                          </a:solidFill>
                          <a:effectLst/>
                          <a:latin typeface="verdana" panose="020B0604030504040204" pitchFamily="34" charset="0"/>
                        </a:rPr>
                        <a:t>)</a:t>
                      </a:r>
                      <a:endParaRPr lang="en-US" sz="1800" dirty="0">
                        <a:solidFill>
                          <a:srgbClr val="000000"/>
                        </a:solidFill>
                        <a:effectLst/>
                        <a:latin typeface="verdana" panose="020B0604030504040204" pitchFamily="34" charset="0"/>
                      </a:endParaRP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a:solidFill>
                            <a:srgbClr val="000000"/>
                          </a:solidFill>
                          <a:effectLst/>
                          <a:latin typeface="verdana" panose="020B0604030504040204" pitchFamily="34" charset="0"/>
                        </a:rPr>
                        <a:t>returns formatted string with given locale.</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612705">
                <a:tc>
                  <a:txBody>
                    <a:bodyPr/>
                    <a:lstStyle/>
                    <a:p>
                      <a:pPr algn="l" fontAlgn="t"/>
                      <a:r>
                        <a:rPr lang="en-US" sz="1800">
                          <a:solidFill>
                            <a:srgbClr val="000000"/>
                          </a:solidFill>
                          <a:effectLst/>
                          <a:latin typeface="verdana" panose="020B0604030504040204" pitchFamily="34" charset="0"/>
                        </a:rPr>
                        <a:t>5</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u="none" strike="noStrike" dirty="0">
                          <a:solidFill>
                            <a:srgbClr val="008000"/>
                          </a:solidFill>
                          <a:effectLst/>
                          <a:latin typeface="verdana" panose="020B0604030504040204" pitchFamily="34" charset="0"/>
                        </a:rPr>
                        <a:t>String substring(</a:t>
                      </a:r>
                      <a:r>
                        <a:rPr lang="en-US" sz="1800" u="none" strike="noStrike" dirty="0" err="1">
                          <a:solidFill>
                            <a:srgbClr val="008000"/>
                          </a:solidFill>
                          <a:effectLst/>
                          <a:latin typeface="verdana" panose="020B0604030504040204" pitchFamily="34" charset="0"/>
                        </a:rPr>
                        <a:t>int</a:t>
                      </a:r>
                      <a:r>
                        <a:rPr lang="en-US" sz="1800" u="none" strike="noStrike" dirty="0">
                          <a:solidFill>
                            <a:srgbClr val="008000"/>
                          </a:solidFill>
                          <a:effectLst/>
                          <a:latin typeface="verdana" panose="020B0604030504040204" pitchFamily="34" charset="0"/>
                        </a:rPr>
                        <a:t> </a:t>
                      </a:r>
                      <a:r>
                        <a:rPr lang="en-US" sz="1800" u="none" strike="noStrike" dirty="0" err="1">
                          <a:solidFill>
                            <a:srgbClr val="008000"/>
                          </a:solidFill>
                          <a:effectLst/>
                          <a:latin typeface="verdana" panose="020B0604030504040204" pitchFamily="34" charset="0"/>
                        </a:rPr>
                        <a:t>beginIndex</a:t>
                      </a:r>
                      <a:r>
                        <a:rPr lang="en-US" sz="1800" u="none" strike="noStrike" dirty="0">
                          <a:solidFill>
                            <a:srgbClr val="008000"/>
                          </a:solidFill>
                          <a:effectLst/>
                          <a:latin typeface="verdana" panose="020B0604030504040204" pitchFamily="34" charset="0"/>
                        </a:rPr>
                        <a:t>)</a:t>
                      </a:r>
                      <a:endParaRPr lang="en-US" sz="1800" dirty="0">
                        <a:solidFill>
                          <a:srgbClr val="000000"/>
                        </a:solidFill>
                        <a:effectLst/>
                        <a:latin typeface="verdana" panose="020B0604030504040204" pitchFamily="34" charset="0"/>
                      </a:endParaRP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dirty="0">
                          <a:solidFill>
                            <a:srgbClr val="000000"/>
                          </a:solidFill>
                          <a:effectLst/>
                          <a:latin typeface="verdana" panose="020B0604030504040204" pitchFamily="34" charset="0"/>
                        </a:rPr>
                        <a:t>returns substring for given begin index.</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12705">
                <a:tc>
                  <a:txBody>
                    <a:bodyPr/>
                    <a:lstStyle/>
                    <a:p>
                      <a:pPr algn="l" fontAlgn="t"/>
                      <a:r>
                        <a:rPr lang="en-US" sz="1800">
                          <a:solidFill>
                            <a:srgbClr val="000000"/>
                          </a:solidFill>
                          <a:effectLst/>
                          <a:latin typeface="verdana" panose="020B0604030504040204" pitchFamily="34" charset="0"/>
                        </a:rPr>
                        <a:t>6</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u="none" strike="noStrike" dirty="0">
                          <a:solidFill>
                            <a:srgbClr val="008000"/>
                          </a:solidFill>
                          <a:effectLst/>
                          <a:latin typeface="verdana" panose="020B0604030504040204" pitchFamily="34" charset="0"/>
                        </a:rPr>
                        <a:t>String substring(</a:t>
                      </a:r>
                      <a:r>
                        <a:rPr lang="en-US" sz="1800" u="none" strike="noStrike" dirty="0" err="1">
                          <a:solidFill>
                            <a:srgbClr val="008000"/>
                          </a:solidFill>
                          <a:effectLst/>
                          <a:latin typeface="verdana" panose="020B0604030504040204" pitchFamily="34" charset="0"/>
                        </a:rPr>
                        <a:t>int</a:t>
                      </a:r>
                      <a:r>
                        <a:rPr lang="en-US" sz="1800" u="none" strike="noStrike" dirty="0">
                          <a:solidFill>
                            <a:srgbClr val="008000"/>
                          </a:solidFill>
                          <a:effectLst/>
                          <a:latin typeface="verdana" panose="020B0604030504040204" pitchFamily="34" charset="0"/>
                        </a:rPr>
                        <a:t> </a:t>
                      </a:r>
                      <a:r>
                        <a:rPr lang="en-US" sz="1800" u="none" strike="noStrike" dirty="0" err="1">
                          <a:solidFill>
                            <a:srgbClr val="008000"/>
                          </a:solidFill>
                          <a:effectLst/>
                          <a:latin typeface="verdana" panose="020B0604030504040204" pitchFamily="34" charset="0"/>
                        </a:rPr>
                        <a:t>beginIndex</a:t>
                      </a:r>
                      <a:r>
                        <a:rPr lang="en-US" sz="1800" u="none" strike="noStrike" dirty="0">
                          <a:solidFill>
                            <a:srgbClr val="008000"/>
                          </a:solidFill>
                          <a:effectLst/>
                          <a:latin typeface="verdana" panose="020B0604030504040204" pitchFamily="34" charset="0"/>
                        </a:rPr>
                        <a:t>, </a:t>
                      </a:r>
                      <a:r>
                        <a:rPr lang="en-US" sz="1800" u="none" strike="noStrike" dirty="0" err="1">
                          <a:solidFill>
                            <a:srgbClr val="008000"/>
                          </a:solidFill>
                          <a:effectLst/>
                          <a:latin typeface="verdana" panose="020B0604030504040204" pitchFamily="34" charset="0"/>
                        </a:rPr>
                        <a:t>int</a:t>
                      </a:r>
                      <a:r>
                        <a:rPr lang="en-US" sz="1800" u="none" strike="noStrike" dirty="0">
                          <a:solidFill>
                            <a:srgbClr val="008000"/>
                          </a:solidFill>
                          <a:effectLst/>
                          <a:latin typeface="verdana" panose="020B0604030504040204" pitchFamily="34" charset="0"/>
                        </a:rPr>
                        <a:t> </a:t>
                      </a:r>
                      <a:r>
                        <a:rPr lang="en-US" sz="1800" u="none" strike="noStrike" dirty="0" err="1">
                          <a:solidFill>
                            <a:srgbClr val="008000"/>
                          </a:solidFill>
                          <a:effectLst/>
                          <a:latin typeface="verdana" panose="020B0604030504040204" pitchFamily="34" charset="0"/>
                        </a:rPr>
                        <a:t>endIndex</a:t>
                      </a:r>
                      <a:r>
                        <a:rPr lang="en-US" sz="1800" u="none" strike="noStrike" dirty="0">
                          <a:solidFill>
                            <a:srgbClr val="008000"/>
                          </a:solidFill>
                          <a:effectLst/>
                          <a:latin typeface="verdana" panose="020B0604030504040204" pitchFamily="34" charset="0"/>
                        </a:rPr>
                        <a:t>)</a:t>
                      </a:r>
                      <a:endParaRPr lang="en-US" sz="1800" dirty="0">
                        <a:solidFill>
                          <a:srgbClr val="000000"/>
                        </a:solidFill>
                        <a:effectLst/>
                        <a:latin typeface="verdana" panose="020B0604030504040204" pitchFamily="34" charset="0"/>
                      </a:endParaRP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dirty="0">
                          <a:solidFill>
                            <a:srgbClr val="000000"/>
                          </a:solidFill>
                          <a:effectLst/>
                          <a:latin typeface="verdana" panose="020B0604030504040204" pitchFamily="34" charset="0"/>
                        </a:rPr>
                        <a:t>returns substring for given begin index and end index.</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6"/>
                  </a:ext>
                </a:extLst>
              </a:tr>
              <a:tr h="694914">
                <a:tc>
                  <a:txBody>
                    <a:bodyPr/>
                    <a:lstStyle/>
                    <a:p>
                      <a:pPr algn="l" fontAlgn="t"/>
                      <a:r>
                        <a:rPr lang="en-US" sz="1800">
                          <a:solidFill>
                            <a:srgbClr val="000000"/>
                          </a:solidFill>
                          <a:effectLst/>
                          <a:latin typeface="verdana" panose="020B0604030504040204" pitchFamily="34" charset="0"/>
                        </a:rPr>
                        <a:t>7</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u="none" strike="noStrike" dirty="0" err="1">
                          <a:solidFill>
                            <a:srgbClr val="008000"/>
                          </a:solidFill>
                          <a:effectLst/>
                          <a:latin typeface="verdana" panose="020B0604030504040204" pitchFamily="34" charset="0"/>
                        </a:rPr>
                        <a:t>boolean</a:t>
                      </a:r>
                      <a:r>
                        <a:rPr lang="en-US" sz="1800" u="none" strike="noStrike" dirty="0">
                          <a:solidFill>
                            <a:srgbClr val="008000"/>
                          </a:solidFill>
                          <a:effectLst/>
                          <a:latin typeface="verdana" panose="020B0604030504040204" pitchFamily="34" charset="0"/>
                        </a:rPr>
                        <a:t> contains(</a:t>
                      </a:r>
                      <a:r>
                        <a:rPr lang="en-US" sz="1800" u="none" strike="noStrike" dirty="0" err="1">
                          <a:solidFill>
                            <a:srgbClr val="008000"/>
                          </a:solidFill>
                          <a:effectLst/>
                          <a:latin typeface="verdana" panose="020B0604030504040204" pitchFamily="34" charset="0"/>
                        </a:rPr>
                        <a:t>CharSequence</a:t>
                      </a:r>
                      <a:r>
                        <a:rPr lang="en-US" sz="1800" u="none" strike="noStrike" dirty="0">
                          <a:solidFill>
                            <a:srgbClr val="008000"/>
                          </a:solidFill>
                          <a:effectLst/>
                          <a:latin typeface="verdana" panose="020B0604030504040204" pitchFamily="34" charset="0"/>
                        </a:rPr>
                        <a:t> s)</a:t>
                      </a:r>
                      <a:endParaRPr lang="en-US" sz="1800" dirty="0">
                        <a:solidFill>
                          <a:srgbClr val="000000"/>
                        </a:solidFill>
                        <a:effectLst/>
                        <a:latin typeface="verdana" panose="020B0604030504040204" pitchFamily="34" charset="0"/>
                      </a:endParaRP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dirty="0">
                          <a:solidFill>
                            <a:srgbClr val="000000"/>
                          </a:solidFill>
                          <a:effectLst/>
                          <a:latin typeface="verdana" panose="020B0604030504040204" pitchFamily="34" charset="0"/>
                        </a:rPr>
                        <a:t>returns true or false after matching the sequence of char value.</a:t>
                      </a:r>
                    </a:p>
                  </a:txBody>
                  <a:tcPr marL="60807" marR="60807" marT="60807" marB="60807">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86912409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211</a:t>
            </a:fld>
            <a:endParaRPr lang="en-US"/>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69631670"/>
              </p:ext>
            </p:extLst>
          </p:nvPr>
        </p:nvGraphicFramePr>
        <p:xfrm>
          <a:off x="504031" y="1658310"/>
          <a:ext cx="9264810" cy="4455373"/>
        </p:xfrm>
        <a:graphic>
          <a:graphicData uri="http://schemas.openxmlformats.org/drawingml/2006/table">
            <a:tbl>
              <a:tblPr/>
              <a:tblGrid>
                <a:gridCol w="730411">
                  <a:extLst>
                    <a:ext uri="{9D8B030D-6E8A-4147-A177-3AD203B41FA5}">
                      <a16:colId xmlns:a16="http://schemas.microsoft.com/office/drawing/2014/main" val="20000"/>
                    </a:ext>
                  </a:extLst>
                </a:gridCol>
                <a:gridCol w="4815840">
                  <a:extLst>
                    <a:ext uri="{9D8B030D-6E8A-4147-A177-3AD203B41FA5}">
                      <a16:colId xmlns:a16="http://schemas.microsoft.com/office/drawing/2014/main" val="20001"/>
                    </a:ext>
                  </a:extLst>
                </a:gridCol>
                <a:gridCol w="3718559">
                  <a:extLst>
                    <a:ext uri="{9D8B030D-6E8A-4147-A177-3AD203B41FA5}">
                      <a16:colId xmlns:a16="http://schemas.microsoft.com/office/drawing/2014/main" val="20002"/>
                    </a:ext>
                  </a:extLst>
                </a:gridCol>
              </a:tblGrid>
              <a:tr h="673410">
                <a:tc>
                  <a:txBody>
                    <a:bodyPr/>
                    <a:lstStyle/>
                    <a:p>
                      <a:pPr algn="l" fontAlgn="t"/>
                      <a:r>
                        <a:rPr lang="en-US" sz="1800" dirty="0">
                          <a:solidFill>
                            <a:srgbClr val="000000"/>
                          </a:solidFill>
                          <a:effectLst/>
                          <a:latin typeface="verdana" panose="020B0604030504040204" pitchFamily="34" charset="0"/>
                        </a:rPr>
                        <a:t>8</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u="none" strike="noStrike" dirty="0">
                          <a:solidFill>
                            <a:srgbClr val="008000"/>
                          </a:solidFill>
                          <a:effectLst/>
                          <a:latin typeface="verdana" panose="020B0604030504040204" pitchFamily="34" charset="0"/>
                        </a:rPr>
                        <a:t>static String join(</a:t>
                      </a:r>
                      <a:r>
                        <a:rPr lang="en-US" sz="1800" u="none" strike="noStrike" dirty="0" err="1">
                          <a:solidFill>
                            <a:srgbClr val="008000"/>
                          </a:solidFill>
                          <a:effectLst/>
                          <a:latin typeface="verdana" panose="020B0604030504040204" pitchFamily="34" charset="0"/>
                        </a:rPr>
                        <a:t>CharSequence</a:t>
                      </a:r>
                      <a:r>
                        <a:rPr lang="en-US" sz="1800" u="none" strike="noStrike" dirty="0">
                          <a:solidFill>
                            <a:srgbClr val="008000"/>
                          </a:solidFill>
                          <a:effectLst/>
                          <a:latin typeface="verdana" panose="020B0604030504040204" pitchFamily="34" charset="0"/>
                        </a:rPr>
                        <a:t> delimiter, </a:t>
                      </a:r>
                      <a:r>
                        <a:rPr lang="en-US" sz="1800" u="none" strike="noStrike" dirty="0" err="1">
                          <a:solidFill>
                            <a:srgbClr val="008000"/>
                          </a:solidFill>
                          <a:effectLst/>
                          <a:latin typeface="verdana" panose="020B0604030504040204" pitchFamily="34" charset="0"/>
                        </a:rPr>
                        <a:t>CharSequence</a:t>
                      </a:r>
                      <a:r>
                        <a:rPr lang="en-US" sz="1800" u="none" strike="noStrike" dirty="0">
                          <a:solidFill>
                            <a:srgbClr val="008000"/>
                          </a:solidFill>
                          <a:effectLst/>
                          <a:latin typeface="verdana" panose="020B0604030504040204" pitchFamily="34" charset="0"/>
                        </a:rPr>
                        <a:t>... elements)</a:t>
                      </a:r>
                      <a:endParaRPr lang="en-US" sz="1800" dirty="0">
                        <a:solidFill>
                          <a:srgbClr val="000000"/>
                        </a:solidFill>
                        <a:effectLst/>
                        <a:latin typeface="verdana" panose="020B0604030504040204" pitchFamily="34" charset="0"/>
                      </a:endParaRP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dirty="0">
                          <a:solidFill>
                            <a:srgbClr val="000000"/>
                          </a:solidFill>
                          <a:effectLst/>
                          <a:latin typeface="verdana" panose="020B0604030504040204" pitchFamily="34" charset="0"/>
                        </a:rPr>
                        <a:t>returns a joined string.</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0"/>
                  </a:ext>
                </a:extLst>
              </a:tr>
              <a:tr h="680636">
                <a:tc>
                  <a:txBody>
                    <a:bodyPr/>
                    <a:lstStyle/>
                    <a:p>
                      <a:pPr algn="l" fontAlgn="t"/>
                      <a:r>
                        <a:rPr lang="en-US" sz="1800">
                          <a:solidFill>
                            <a:srgbClr val="000000"/>
                          </a:solidFill>
                          <a:effectLst/>
                          <a:latin typeface="verdana" panose="020B0604030504040204" pitchFamily="34" charset="0"/>
                        </a:rPr>
                        <a:t>9</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u="none" strike="noStrike" dirty="0">
                          <a:solidFill>
                            <a:srgbClr val="008000"/>
                          </a:solidFill>
                          <a:effectLst/>
                          <a:latin typeface="verdana" panose="020B0604030504040204" pitchFamily="34" charset="0"/>
                        </a:rPr>
                        <a:t>static String join(</a:t>
                      </a:r>
                      <a:r>
                        <a:rPr lang="en-US" sz="1800" u="none" strike="noStrike" dirty="0" err="1">
                          <a:solidFill>
                            <a:srgbClr val="008000"/>
                          </a:solidFill>
                          <a:effectLst/>
                          <a:latin typeface="verdana" panose="020B0604030504040204" pitchFamily="34" charset="0"/>
                        </a:rPr>
                        <a:t>CharSequence</a:t>
                      </a:r>
                      <a:r>
                        <a:rPr lang="en-US" sz="1800" u="none" strike="noStrike" dirty="0">
                          <a:solidFill>
                            <a:srgbClr val="008000"/>
                          </a:solidFill>
                          <a:effectLst/>
                          <a:latin typeface="verdana" panose="020B0604030504040204" pitchFamily="34" charset="0"/>
                        </a:rPr>
                        <a:t> delimiter, </a:t>
                      </a:r>
                      <a:r>
                        <a:rPr lang="en-US" sz="1800" u="none" strike="noStrike" dirty="0" err="1">
                          <a:solidFill>
                            <a:srgbClr val="008000"/>
                          </a:solidFill>
                          <a:effectLst/>
                          <a:latin typeface="verdana" panose="020B0604030504040204" pitchFamily="34" charset="0"/>
                        </a:rPr>
                        <a:t>Iterable</a:t>
                      </a:r>
                      <a:r>
                        <a:rPr lang="en-US" sz="1800" u="none" strike="noStrike" dirty="0">
                          <a:solidFill>
                            <a:srgbClr val="008000"/>
                          </a:solidFill>
                          <a:effectLst/>
                          <a:latin typeface="verdana" panose="020B0604030504040204" pitchFamily="34" charset="0"/>
                        </a:rPr>
                        <a:t>&lt;? extends </a:t>
                      </a:r>
                      <a:r>
                        <a:rPr lang="en-US" sz="1800" u="none" strike="noStrike" dirty="0" err="1">
                          <a:solidFill>
                            <a:srgbClr val="008000"/>
                          </a:solidFill>
                          <a:effectLst/>
                          <a:latin typeface="verdana" panose="020B0604030504040204" pitchFamily="34" charset="0"/>
                        </a:rPr>
                        <a:t>CharSequence</a:t>
                      </a:r>
                      <a:r>
                        <a:rPr lang="en-US" sz="1800" u="none" strike="noStrike" dirty="0">
                          <a:solidFill>
                            <a:srgbClr val="008000"/>
                          </a:solidFill>
                          <a:effectLst/>
                          <a:latin typeface="verdana" panose="020B0604030504040204" pitchFamily="34" charset="0"/>
                        </a:rPr>
                        <a:t>&gt; elements)</a:t>
                      </a:r>
                      <a:endParaRPr lang="en-US" sz="1800" dirty="0">
                        <a:solidFill>
                          <a:srgbClr val="000000"/>
                        </a:solidFill>
                        <a:effectLst/>
                        <a:latin typeface="verdana" panose="020B0604030504040204" pitchFamily="34" charset="0"/>
                      </a:endParaRP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dirty="0">
                          <a:solidFill>
                            <a:srgbClr val="000000"/>
                          </a:solidFill>
                          <a:effectLst/>
                          <a:latin typeface="verdana" panose="020B0604030504040204" pitchFamily="34" charset="0"/>
                        </a:rPr>
                        <a:t>returns a joined string.</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5171">
                <a:tc>
                  <a:txBody>
                    <a:bodyPr/>
                    <a:lstStyle/>
                    <a:p>
                      <a:pPr algn="l" fontAlgn="t"/>
                      <a:r>
                        <a:rPr lang="en-US" sz="1800">
                          <a:solidFill>
                            <a:srgbClr val="000000"/>
                          </a:solidFill>
                          <a:effectLst/>
                          <a:latin typeface="verdana" panose="020B0604030504040204" pitchFamily="34" charset="0"/>
                        </a:rPr>
                        <a:t>10</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u="none" strike="noStrike" dirty="0" err="1">
                          <a:solidFill>
                            <a:srgbClr val="008000"/>
                          </a:solidFill>
                          <a:effectLst/>
                          <a:latin typeface="verdana" panose="020B0604030504040204" pitchFamily="34" charset="0"/>
                        </a:rPr>
                        <a:t>boolean</a:t>
                      </a:r>
                      <a:r>
                        <a:rPr lang="en-US" sz="1800" u="none" strike="noStrike" dirty="0">
                          <a:solidFill>
                            <a:srgbClr val="008000"/>
                          </a:solidFill>
                          <a:effectLst/>
                          <a:latin typeface="verdana" panose="020B0604030504040204" pitchFamily="34" charset="0"/>
                        </a:rPr>
                        <a:t> equals(Object another)</a:t>
                      </a:r>
                      <a:endParaRPr lang="en-US" sz="1800" dirty="0">
                        <a:solidFill>
                          <a:srgbClr val="000000"/>
                        </a:solidFill>
                        <a:effectLst/>
                        <a:latin typeface="verdana" panose="020B0604030504040204" pitchFamily="34" charset="0"/>
                      </a:endParaRP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dirty="0">
                          <a:solidFill>
                            <a:srgbClr val="000000"/>
                          </a:solidFill>
                          <a:effectLst/>
                          <a:latin typeface="verdana" panose="020B0604030504040204" pitchFamily="34" charset="0"/>
                        </a:rPr>
                        <a:t>checks the equality of string with the given object.</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571529">
                <a:tc>
                  <a:txBody>
                    <a:bodyPr/>
                    <a:lstStyle/>
                    <a:p>
                      <a:pPr algn="l" fontAlgn="t"/>
                      <a:r>
                        <a:rPr lang="en-US" sz="1800">
                          <a:solidFill>
                            <a:srgbClr val="000000"/>
                          </a:solidFill>
                          <a:effectLst/>
                          <a:latin typeface="verdana" panose="020B0604030504040204" pitchFamily="34" charset="0"/>
                        </a:rPr>
                        <a:t>11</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u="none" strike="noStrike" dirty="0" err="1">
                          <a:solidFill>
                            <a:srgbClr val="008000"/>
                          </a:solidFill>
                          <a:effectLst/>
                          <a:latin typeface="verdana" panose="020B0604030504040204" pitchFamily="34" charset="0"/>
                        </a:rPr>
                        <a:t>boolean</a:t>
                      </a:r>
                      <a:r>
                        <a:rPr lang="en-US" sz="1800" u="none" strike="noStrike" dirty="0">
                          <a:solidFill>
                            <a:srgbClr val="008000"/>
                          </a:solidFill>
                          <a:effectLst/>
                          <a:latin typeface="verdana" panose="020B0604030504040204" pitchFamily="34" charset="0"/>
                        </a:rPr>
                        <a:t> </a:t>
                      </a:r>
                      <a:r>
                        <a:rPr lang="en-US" sz="1800" u="none" strike="noStrike" dirty="0" err="1">
                          <a:solidFill>
                            <a:srgbClr val="008000"/>
                          </a:solidFill>
                          <a:effectLst/>
                          <a:latin typeface="verdana" panose="020B0604030504040204" pitchFamily="34" charset="0"/>
                        </a:rPr>
                        <a:t>isEmpty</a:t>
                      </a:r>
                      <a:r>
                        <a:rPr lang="en-US" sz="1800" u="none" strike="noStrike" dirty="0">
                          <a:solidFill>
                            <a:srgbClr val="008000"/>
                          </a:solidFill>
                          <a:effectLst/>
                          <a:latin typeface="verdana" panose="020B0604030504040204" pitchFamily="34" charset="0"/>
                        </a:rPr>
                        <a:t>()</a:t>
                      </a:r>
                      <a:endParaRPr lang="en-US" sz="1800" dirty="0">
                        <a:solidFill>
                          <a:srgbClr val="000000"/>
                        </a:solidFill>
                        <a:effectLst/>
                        <a:latin typeface="verdana" panose="020B0604030504040204" pitchFamily="34" charset="0"/>
                      </a:endParaRP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dirty="0">
                          <a:solidFill>
                            <a:srgbClr val="000000"/>
                          </a:solidFill>
                          <a:effectLst/>
                          <a:latin typeface="verdana" panose="020B0604030504040204" pitchFamily="34" charset="0"/>
                        </a:rPr>
                        <a:t>checks if string is empty.</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29">
                <a:tc>
                  <a:txBody>
                    <a:bodyPr/>
                    <a:lstStyle/>
                    <a:p>
                      <a:pPr algn="l" fontAlgn="t"/>
                      <a:r>
                        <a:rPr lang="en-US" sz="1800">
                          <a:solidFill>
                            <a:srgbClr val="000000"/>
                          </a:solidFill>
                          <a:effectLst/>
                          <a:latin typeface="verdana" panose="020B0604030504040204" pitchFamily="34" charset="0"/>
                        </a:rPr>
                        <a:t>12</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u="none" strike="noStrike" dirty="0">
                          <a:solidFill>
                            <a:srgbClr val="008000"/>
                          </a:solidFill>
                          <a:effectLst/>
                          <a:latin typeface="verdana" panose="020B0604030504040204" pitchFamily="34" charset="0"/>
                        </a:rPr>
                        <a:t>String </a:t>
                      </a:r>
                      <a:r>
                        <a:rPr lang="en-US" sz="1800" u="none" strike="noStrike" dirty="0" err="1">
                          <a:solidFill>
                            <a:srgbClr val="008000"/>
                          </a:solidFill>
                          <a:effectLst/>
                          <a:latin typeface="verdana" panose="020B0604030504040204" pitchFamily="34" charset="0"/>
                        </a:rPr>
                        <a:t>concat</a:t>
                      </a:r>
                      <a:r>
                        <a:rPr lang="en-US" sz="1800" u="none" strike="noStrike" dirty="0">
                          <a:solidFill>
                            <a:srgbClr val="008000"/>
                          </a:solidFill>
                          <a:effectLst/>
                          <a:latin typeface="verdana" panose="020B0604030504040204" pitchFamily="34" charset="0"/>
                        </a:rPr>
                        <a:t>(String </a:t>
                      </a:r>
                      <a:r>
                        <a:rPr lang="en-US" sz="1800" u="none" strike="noStrike" dirty="0" err="1">
                          <a:solidFill>
                            <a:srgbClr val="008000"/>
                          </a:solidFill>
                          <a:effectLst/>
                          <a:latin typeface="verdana" panose="020B0604030504040204" pitchFamily="34" charset="0"/>
                        </a:rPr>
                        <a:t>str</a:t>
                      </a:r>
                      <a:r>
                        <a:rPr lang="en-US" sz="1800" u="none" strike="noStrike" dirty="0">
                          <a:solidFill>
                            <a:srgbClr val="008000"/>
                          </a:solidFill>
                          <a:effectLst/>
                          <a:latin typeface="verdana" panose="020B0604030504040204" pitchFamily="34" charset="0"/>
                        </a:rPr>
                        <a:t>)</a:t>
                      </a:r>
                      <a:endParaRPr lang="en-US" sz="1800" dirty="0">
                        <a:solidFill>
                          <a:srgbClr val="000000"/>
                        </a:solidFill>
                        <a:effectLst/>
                        <a:latin typeface="verdana" panose="020B0604030504040204" pitchFamily="34" charset="0"/>
                      </a:endParaRP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dirty="0">
                          <a:solidFill>
                            <a:srgbClr val="000000"/>
                          </a:solidFill>
                          <a:effectLst/>
                          <a:latin typeface="verdana" panose="020B0604030504040204" pitchFamily="34" charset="0"/>
                        </a:rPr>
                        <a:t>concatenates the specified string.</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795171">
                <a:tc>
                  <a:txBody>
                    <a:bodyPr/>
                    <a:lstStyle/>
                    <a:p>
                      <a:pPr algn="l" fontAlgn="t"/>
                      <a:r>
                        <a:rPr lang="en-US" sz="1800">
                          <a:solidFill>
                            <a:srgbClr val="000000"/>
                          </a:solidFill>
                          <a:effectLst/>
                          <a:latin typeface="verdana" panose="020B0604030504040204" pitchFamily="34" charset="0"/>
                        </a:rPr>
                        <a:t>13</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u="none" strike="noStrike" dirty="0">
                          <a:solidFill>
                            <a:srgbClr val="008000"/>
                          </a:solidFill>
                          <a:effectLst/>
                          <a:latin typeface="verdana" panose="020B0604030504040204" pitchFamily="34" charset="0"/>
                        </a:rPr>
                        <a:t>String replace(char old, char new)</a:t>
                      </a:r>
                      <a:endParaRPr lang="en-US" sz="1800" dirty="0">
                        <a:solidFill>
                          <a:srgbClr val="000000"/>
                        </a:solidFill>
                        <a:effectLst/>
                        <a:latin typeface="verdana" panose="020B0604030504040204" pitchFamily="34" charset="0"/>
                      </a:endParaRP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dirty="0">
                          <a:solidFill>
                            <a:srgbClr val="000000"/>
                          </a:solidFill>
                          <a:effectLst/>
                          <a:latin typeface="verdana" panose="020B0604030504040204" pitchFamily="34" charset="0"/>
                        </a:rPr>
                        <a:t>replaces all occurrences of the specified char value.</a:t>
                      </a:r>
                    </a:p>
                  </a:txBody>
                  <a:tcPr marL="62123" marR="62123" marT="62123" marB="6212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8003903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212</a:t>
            </a:fld>
            <a:endParaRPr lang="en-US"/>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4175363507"/>
              </p:ext>
            </p:extLst>
          </p:nvPr>
        </p:nvGraphicFramePr>
        <p:xfrm>
          <a:off x="504032" y="1661160"/>
          <a:ext cx="8621448" cy="4705668"/>
        </p:xfrm>
        <a:graphic>
          <a:graphicData uri="http://schemas.openxmlformats.org/drawingml/2006/table">
            <a:tbl>
              <a:tblPr/>
              <a:tblGrid>
                <a:gridCol w="552019">
                  <a:extLst>
                    <a:ext uri="{9D8B030D-6E8A-4147-A177-3AD203B41FA5}">
                      <a16:colId xmlns:a16="http://schemas.microsoft.com/office/drawing/2014/main" val="20000"/>
                    </a:ext>
                  </a:extLst>
                </a:gridCol>
                <a:gridCol w="4323669">
                  <a:extLst>
                    <a:ext uri="{9D8B030D-6E8A-4147-A177-3AD203B41FA5}">
                      <a16:colId xmlns:a16="http://schemas.microsoft.com/office/drawing/2014/main" val="20001"/>
                    </a:ext>
                  </a:extLst>
                </a:gridCol>
                <a:gridCol w="3745760">
                  <a:extLst>
                    <a:ext uri="{9D8B030D-6E8A-4147-A177-3AD203B41FA5}">
                      <a16:colId xmlns:a16="http://schemas.microsoft.com/office/drawing/2014/main" val="20002"/>
                    </a:ext>
                  </a:extLst>
                </a:gridCol>
              </a:tblGrid>
              <a:tr h="1277698">
                <a:tc>
                  <a:txBody>
                    <a:bodyPr/>
                    <a:lstStyle/>
                    <a:p>
                      <a:pPr algn="l" fontAlgn="t"/>
                      <a:r>
                        <a:rPr lang="en-US" dirty="0">
                          <a:solidFill>
                            <a:srgbClr val="000000"/>
                          </a:solidFill>
                          <a:effectLst/>
                          <a:latin typeface="verdana" panose="020B0604030504040204" pitchFamily="34" charset="0"/>
                        </a:rPr>
                        <a:t>14</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u="none" strike="noStrike" dirty="0">
                          <a:solidFill>
                            <a:srgbClr val="008000"/>
                          </a:solidFill>
                          <a:effectLst/>
                          <a:latin typeface="verdana" panose="020B0604030504040204" pitchFamily="34" charset="0"/>
                        </a:rPr>
                        <a:t>String replace(</a:t>
                      </a:r>
                      <a:r>
                        <a:rPr lang="en-US" u="none" strike="noStrike" dirty="0" err="1">
                          <a:solidFill>
                            <a:srgbClr val="008000"/>
                          </a:solidFill>
                          <a:effectLst/>
                          <a:latin typeface="verdana" panose="020B0604030504040204" pitchFamily="34" charset="0"/>
                        </a:rPr>
                        <a:t>CharSequence</a:t>
                      </a:r>
                      <a:r>
                        <a:rPr lang="en-US" u="none" strike="noStrike" dirty="0">
                          <a:solidFill>
                            <a:srgbClr val="008000"/>
                          </a:solidFill>
                          <a:effectLst/>
                          <a:latin typeface="verdana" panose="020B0604030504040204" pitchFamily="34" charset="0"/>
                        </a:rPr>
                        <a:t> old, </a:t>
                      </a:r>
                      <a:r>
                        <a:rPr lang="en-US" u="none" strike="noStrike" dirty="0" err="1">
                          <a:solidFill>
                            <a:srgbClr val="008000"/>
                          </a:solidFill>
                          <a:effectLst/>
                          <a:latin typeface="verdana" panose="020B0604030504040204" pitchFamily="34" charset="0"/>
                        </a:rPr>
                        <a:t>CharSequence</a:t>
                      </a:r>
                      <a:r>
                        <a:rPr lang="en-US" u="none" strike="noStrike" dirty="0">
                          <a:solidFill>
                            <a:srgbClr val="008000"/>
                          </a:solidFill>
                          <a:effectLst/>
                          <a:latin typeface="verdana" panose="020B0604030504040204" pitchFamily="34" charset="0"/>
                        </a:rPr>
                        <a:t> new)</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a:solidFill>
                            <a:srgbClr val="000000"/>
                          </a:solidFill>
                          <a:effectLst/>
                          <a:latin typeface="verdana" panose="020B0604030504040204" pitchFamily="34" charset="0"/>
                        </a:rPr>
                        <a:t>replaces all occurrences of the specified CharSequence.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0"/>
                  </a:ext>
                </a:extLst>
              </a:tr>
              <a:tr h="997228">
                <a:tc>
                  <a:txBody>
                    <a:bodyPr/>
                    <a:lstStyle/>
                    <a:p>
                      <a:pPr algn="l" fontAlgn="t"/>
                      <a:r>
                        <a:rPr lang="en-US">
                          <a:solidFill>
                            <a:srgbClr val="000000"/>
                          </a:solidFill>
                          <a:effectLst/>
                          <a:latin typeface="verdana" panose="020B0604030504040204" pitchFamily="34" charset="0"/>
                        </a:rPr>
                        <a:t>15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u="none" strike="noStrike" dirty="0">
                          <a:solidFill>
                            <a:srgbClr val="008000"/>
                          </a:solidFill>
                          <a:effectLst/>
                          <a:latin typeface="verdana" panose="020B0604030504040204" pitchFamily="34" charset="0"/>
                        </a:rPr>
                        <a:t>static String </a:t>
                      </a:r>
                      <a:r>
                        <a:rPr lang="en-US" u="none" strike="noStrike" dirty="0" err="1">
                          <a:solidFill>
                            <a:srgbClr val="008000"/>
                          </a:solidFill>
                          <a:effectLst/>
                          <a:latin typeface="verdana" panose="020B0604030504040204" pitchFamily="34" charset="0"/>
                        </a:rPr>
                        <a:t>equalsIgnoreCase</a:t>
                      </a:r>
                      <a:r>
                        <a:rPr lang="en-US" u="none" strike="noStrike" dirty="0">
                          <a:solidFill>
                            <a:srgbClr val="008000"/>
                          </a:solidFill>
                          <a:effectLst/>
                          <a:latin typeface="verdana" panose="020B0604030504040204" pitchFamily="34" charset="0"/>
                        </a:rPr>
                        <a:t>(String another)</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a:solidFill>
                            <a:srgbClr val="000000"/>
                          </a:solidFill>
                          <a:effectLst/>
                          <a:latin typeface="verdana" panose="020B0604030504040204" pitchFamily="34" charset="0"/>
                        </a:rPr>
                        <a:t>compares another string. It doesn't check case.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6757">
                <a:tc>
                  <a:txBody>
                    <a:bodyPr/>
                    <a:lstStyle/>
                    <a:p>
                      <a:pPr algn="l" fontAlgn="t"/>
                      <a:r>
                        <a:rPr lang="en-US">
                          <a:solidFill>
                            <a:srgbClr val="000000"/>
                          </a:solidFill>
                          <a:effectLst/>
                          <a:latin typeface="verdana" panose="020B0604030504040204" pitchFamily="34" charset="0"/>
                        </a:rPr>
                        <a:t>16</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u="none" strike="noStrike" dirty="0">
                          <a:solidFill>
                            <a:srgbClr val="008000"/>
                          </a:solidFill>
                          <a:effectLst/>
                          <a:latin typeface="verdana" panose="020B0604030504040204" pitchFamily="34" charset="0"/>
                        </a:rPr>
                        <a:t>String[] split(String regex)</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a:solidFill>
                            <a:srgbClr val="000000"/>
                          </a:solidFill>
                          <a:effectLst/>
                          <a:latin typeface="verdana" panose="020B0604030504040204" pitchFamily="34" charset="0"/>
                        </a:rPr>
                        <a:t>returns a split string matching regex.</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997228">
                <a:tc>
                  <a:txBody>
                    <a:bodyPr/>
                    <a:lstStyle/>
                    <a:p>
                      <a:pPr algn="l" fontAlgn="t"/>
                      <a:r>
                        <a:rPr lang="en-US">
                          <a:solidFill>
                            <a:srgbClr val="000000"/>
                          </a:solidFill>
                          <a:effectLst/>
                          <a:latin typeface="verdana" panose="020B0604030504040204" pitchFamily="34" charset="0"/>
                        </a:rPr>
                        <a:t>17</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sv-SE" u="none" strike="noStrike" dirty="0">
                          <a:solidFill>
                            <a:srgbClr val="008000"/>
                          </a:solidFill>
                          <a:effectLst/>
                          <a:latin typeface="verdana" panose="020B0604030504040204" pitchFamily="34" charset="0"/>
                        </a:rPr>
                        <a:t>String[] split(String regex, int limit)</a:t>
                      </a:r>
                      <a:endParaRPr lang="sv-SE"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a:solidFill>
                            <a:srgbClr val="000000"/>
                          </a:solidFill>
                          <a:effectLst/>
                          <a:latin typeface="verdana" panose="020B0604030504040204" pitchFamily="34" charset="0"/>
                        </a:rPr>
                        <a:t>returns a split string matching regex and limit.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6757">
                <a:tc>
                  <a:txBody>
                    <a:bodyPr/>
                    <a:lstStyle/>
                    <a:p>
                      <a:pPr algn="l" fontAlgn="t"/>
                      <a:r>
                        <a:rPr lang="en-US">
                          <a:solidFill>
                            <a:srgbClr val="000000"/>
                          </a:solidFill>
                          <a:effectLst/>
                          <a:latin typeface="verdana" panose="020B0604030504040204" pitchFamily="34" charset="0"/>
                        </a:rPr>
                        <a:t>18</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u="none" strike="noStrike" dirty="0">
                          <a:solidFill>
                            <a:srgbClr val="008000"/>
                          </a:solidFill>
                          <a:effectLst/>
                          <a:latin typeface="verdana" panose="020B0604030504040204" pitchFamily="34" charset="0"/>
                        </a:rPr>
                        <a:t>String intern()</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dirty="0">
                          <a:solidFill>
                            <a:srgbClr val="000000"/>
                          </a:solidFill>
                          <a:effectLst/>
                          <a:latin typeface="verdana" panose="020B0604030504040204" pitchFamily="34" charset="0"/>
                        </a:rPr>
                        <a:t>returns an interned string.</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0181669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213</a:t>
            </a:fld>
            <a:endParaRPr lang="en-US"/>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4263183583"/>
              </p:ext>
            </p:extLst>
          </p:nvPr>
        </p:nvGraphicFramePr>
        <p:xfrm>
          <a:off x="955145" y="1764348"/>
          <a:ext cx="8630815" cy="3230880"/>
        </p:xfrm>
        <a:graphic>
          <a:graphicData uri="http://schemas.openxmlformats.org/drawingml/2006/table">
            <a:tbl>
              <a:tblPr/>
              <a:tblGrid>
                <a:gridCol w="568855">
                  <a:extLst>
                    <a:ext uri="{9D8B030D-6E8A-4147-A177-3AD203B41FA5}">
                      <a16:colId xmlns:a16="http://schemas.microsoft.com/office/drawing/2014/main" val="20000"/>
                    </a:ext>
                  </a:extLst>
                </a:gridCol>
                <a:gridCol w="413004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0">
                <a:tc>
                  <a:txBody>
                    <a:bodyPr/>
                    <a:lstStyle/>
                    <a:p>
                      <a:pPr algn="l" fontAlgn="t"/>
                      <a:r>
                        <a:rPr lang="en-US">
                          <a:solidFill>
                            <a:srgbClr val="000000"/>
                          </a:solidFill>
                          <a:effectLst/>
                          <a:latin typeface="verdana" panose="020B0604030504040204" pitchFamily="34" charset="0"/>
                        </a:rPr>
                        <a:t>19</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u="none" strike="noStrike" dirty="0" err="1">
                          <a:solidFill>
                            <a:srgbClr val="008000"/>
                          </a:solidFill>
                          <a:effectLst/>
                          <a:latin typeface="verdana" panose="020B0604030504040204" pitchFamily="34" charset="0"/>
                        </a:rPr>
                        <a:t>int</a:t>
                      </a:r>
                      <a:r>
                        <a:rPr lang="en-US" u="none" strike="noStrike" dirty="0">
                          <a:solidFill>
                            <a:srgbClr val="008000"/>
                          </a:solidFill>
                          <a:effectLst/>
                          <a:latin typeface="verdana" panose="020B0604030504040204" pitchFamily="34" charset="0"/>
                        </a:rPr>
                        <a:t> </a:t>
                      </a:r>
                      <a:r>
                        <a:rPr lang="en-US" u="none" strike="noStrike" dirty="0" err="1">
                          <a:solidFill>
                            <a:srgbClr val="008000"/>
                          </a:solidFill>
                          <a:effectLst/>
                          <a:latin typeface="verdana" panose="020B0604030504040204" pitchFamily="34" charset="0"/>
                        </a:rPr>
                        <a:t>indexOf</a:t>
                      </a:r>
                      <a:r>
                        <a:rPr lang="en-US" u="none" strike="noStrike" dirty="0">
                          <a:solidFill>
                            <a:srgbClr val="008000"/>
                          </a:solidFill>
                          <a:effectLst/>
                          <a:latin typeface="verdana" panose="020B0604030504040204" pitchFamily="34" charset="0"/>
                        </a:rPr>
                        <a:t>(</a:t>
                      </a:r>
                      <a:r>
                        <a:rPr lang="en-US" u="none" strike="noStrike" dirty="0" err="1">
                          <a:solidFill>
                            <a:srgbClr val="008000"/>
                          </a:solidFill>
                          <a:effectLst/>
                          <a:latin typeface="verdana" panose="020B0604030504040204" pitchFamily="34" charset="0"/>
                        </a:rPr>
                        <a:t>int</a:t>
                      </a:r>
                      <a:r>
                        <a:rPr lang="en-US" u="none" strike="noStrike" dirty="0">
                          <a:solidFill>
                            <a:srgbClr val="008000"/>
                          </a:solidFill>
                          <a:effectLst/>
                          <a:latin typeface="verdana" panose="020B0604030504040204" pitchFamily="34" charset="0"/>
                        </a:rPr>
                        <a:t> </a:t>
                      </a:r>
                      <a:r>
                        <a:rPr lang="en-US" u="none" strike="noStrike" dirty="0" err="1">
                          <a:solidFill>
                            <a:srgbClr val="008000"/>
                          </a:solidFill>
                          <a:effectLst/>
                          <a:latin typeface="verdana" panose="020B0604030504040204" pitchFamily="34" charset="0"/>
                        </a:rPr>
                        <a:t>ch</a:t>
                      </a:r>
                      <a:r>
                        <a:rPr lang="en-US" u="none" strike="noStrike" dirty="0">
                          <a:solidFill>
                            <a:srgbClr val="008000"/>
                          </a:solidFill>
                          <a:effectLst/>
                          <a:latin typeface="verdana" panose="020B0604030504040204" pitchFamily="34" charset="0"/>
                        </a:rPr>
                        <a:t>)</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a:solidFill>
                            <a:srgbClr val="000000"/>
                          </a:solidFill>
                          <a:effectLst/>
                          <a:latin typeface="verdana" panose="020B0604030504040204" pitchFamily="34" charset="0"/>
                        </a:rPr>
                        <a:t>returns the specified char value index.</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algn="l" fontAlgn="t"/>
                      <a:r>
                        <a:rPr lang="en-US">
                          <a:solidFill>
                            <a:srgbClr val="000000"/>
                          </a:solidFill>
                          <a:effectLst/>
                          <a:latin typeface="verdana" panose="020B0604030504040204" pitchFamily="34" charset="0"/>
                        </a:rPr>
                        <a:t>20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u="none" strike="noStrike" dirty="0" err="1">
                          <a:solidFill>
                            <a:srgbClr val="008000"/>
                          </a:solidFill>
                          <a:effectLst/>
                          <a:latin typeface="verdana" panose="020B0604030504040204" pitchFamily="34" charset="0"/>
                        </a:rPr>
                        <a:t>int</a:t>
                      </a:r>
                      <a:r>
                        <a:rPr lang="en-US" u="none" strike="noStrike" dirty="0">
                          <a:solidFill>
                            <a:srgbClr val="008000"/>
                          </a:solidFill>
                          <a:effectLst/>
                          <a:latin typeface="verdana" panose="020B0604030504040204" pitchFamily="34" charset="0"/>
                        </a:rPr>
                        <a:t> </a:t>
                      </a:r>
                      <a:r>
                        <a:rPr lang="en-US" u="none" strike="noStrike" dirty="0" err="1">
                          <a:solidFill>
                            <a:srgbClr val="008000"/>
                          </a:solidFill>
                          <a:effectLst/>
                          <a:latin typeface="verdana" panose="020B0604030504040204" pitchFamily="34" charset="0"/>
                        </a:rPr>
                        <a:t>indexOf</a:t>
                      </a:r>
                      <a:r>
                        <a:rPr lang="en-US" u="none" strike="noStrike" dirty="0">
                          <a:solidFill>
                            <a:srgbClr val="008000"/>
                          </a:solidFill>
                          <a:effectLst/>
                          <a:latin typeface="verdana" panose="020B0604030504040204" pitchFamily="34" charset="0"/>
                        </a:rPr>
                        <a:t>(</a:t>
                      </a:r>
                      <a:r>
                        <a:rPr lang="en-US" u="none" strike="noStrike" dirty="0" err="1">
                          <a:solidFill>
                            <a:srgbClr val="008000"/>
                          </a:solidFill>
                          <a:effectLst/>
                          <a:latin typeface="verdana" panose="020B0604030504040204" pitchFamily="34" charset="0"/>
                        </a:rPr>
                        <a:t>int</a:t>
                      </a:r>
                      <a:r>
                        <a:rPr lang="en-US" u="none" strike="noStrike" dirty="0">
                          <a:solidFill>
                            <a:srgbClr val="008000"/>
                          </a:solidFill>
                          <a:effectLst/>
                          <a:latin typeface="verdana" panose="020B0604030504040204" pitchFamily="34" charset="0"/>
                        </a:rPr>
                        <a:t> </a:t>
                      </a:r>
                      <a:r>
                        <a:rPr lang="en-US" u="none" strike="noStrike" dirty="0" err="1">
                          <a:solidFill>
                            <a:srgbClr val="008000"/>
                          </a:solidFill>
                          <a:effectLst/>
                          <a:latin typeface="verdana" panose="020B0604030504040204" pitchFamily="34" charset="0"/>
                        </a:rPr>
                        <a:t>ch</a:t>
                      </a:r>
                      <a:r>
                        <a:rPr lang="en-US" u="none" strike="noStrike" dirty="0">
                          <a:solidFill>
                            <a:srgbClr val="008000"/>
                          </a:solidFill>
                          <a:effectLst/>
                          <a:latin typeface="verdana" panose="020B0604030504040204" pitchFamily="34" charset="0"/>
                        </a:rPr>
                        <a:t>, </a:t>
                      </a:r>
                      <a:r>
                        <a:rPr lang="en-US" u="none" strike="noStrike" dirty="0" err="1">
                          <a:solidFill>
                            <a:srgbClr val="008000"/>
                          </a:solidFill>
                          <a:effectLst/>
                          <a:latin typeface="verdana" panose="020B0604030504040204" pitchFamily="34" charset="0"/>
                        </a:rPr>
                        <a:t>int</a:t>
                      </a:r>
                      <a:r>
                        <a:rPr lang="en-US" u="none" strike="noStrike" dirty="0">
                          <a:solidFill>
                            <a:srgbClr val="008000"/>
                          </a:solidFill>
                          <a:effectLst/>
                          <a:latin typeface="verdana" panose="020B0604030504040204" pitchFamily="34" charset="0"/>
                        </a:rPr>
                        <a:t> </a:t>
                      </a:r>
                      <a:r>
                        <a:rPr lang="en-US" u="none" strike="noStrike" dirty="0" err="1">
                          <a:solidFill>
                            <a:srgbClr val="008000"/>
                          </a:solidFill>
                          <a:effectLst/>
                          <a:latin typeface="verdana" panose="020B0604030504040204" pitchFamily="34" charset="0"/>
                        </a:rPr>
                        <a:t>fromIndex</a:t>
                      </a:r>
                      <a:r>
                        <a:rPr lang="en-US" u="none" strike="noStrike" dirty="0">
                          <a:solidFill>
                            <a:srgbClr val="008000"/>
                          </a:solidFill>
                          <a:effectLst/>
                          <a:latin typeface="verdana" panose="020B0604030504040204" pitchFamily="34" charset="0"/>
                        </a:rPr>
                        <a:t>)</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a:solidFill>
                            <a:srgbClr val="000000"/>
                          </a:solidFill>
                          <a:effectLst/>
                          <a:latin typeface="verdana" panose="020B0604030504040204" pitchFamily="34" charset="0"/>
                        </a:rPr>
                        <a:t>returns the specified char value index starting with given index.</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1"/>
                  </a:ext>
                </a:extLst>
              </a:tr>
              <a:tr h="0">
                <a:tc>
                  <a:txBody>
                    <a:bodyPr/>
                    <a:lstStyle/>
                    <a:p>
                      <a:pPr algn="l" fontAlgn="t"/>
                      <a:r>
                        <a:rPr lang="en-US">
                          <a:solidFill>
                            <a:srgbClr val="000000"/>
                          </a:solidFill>
                          <a:effectLst/>
                          <a:latin typeface="verdana" panose="020B0604030504040204" pitchFamily="34" charset="0"/>
                        </a:rPr>
                        <a:t>21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u="none" strike="noStrike" dirty="0" err="1">
                          <a:solidFill>
                            <a:srgbClr val="008000"/>
                          </a:solidFill>
                          <a:effectLst/>
                          <a:latin typeface="verdana" panose="020B0604030504040204" pitchFamily="34" charset="0"/>
                        </a:rPr>
                        <a:t>int</a:t>
                      </a:r>
                      <a:r>
                        <a:rPr lang="en-US" u="none" strike="noStrike" dirty="0">
                          <a:solidFill>
                            <a:srgbClr val="008000"/>
                          </a:solidFill>
                          <a:effectLst/>
                          <a:latin typeface="verdana" panose="020B0604030504040204" pitchFamily="34" charset="0"/>
                        </a:rPr>
                        <a:t> </a:t>
                      </a:r>
                      <a:r>
                        <a:rPr lang="en-US" u="none" strike="noStrike" dirty="0" err="1">
                          <a:solidFill>
                            <a:srgbClr val="008000"/>
                          </a:solidFill>
                          <a:effectLst/>
                          <a:latin typeface="verdana" panose="020B0604030504040204" pitchFamily="34" charset="0"/>
                        </a:rPr>
                        <a:t>indexOf</a:t>
                      </a:r>
                      <a:r>
                        <a:rPr lang="en-US" u="none" strike="noStrike" dirty="0">
                          <a:solidFill>
                            <a:srgbClr val="008000"/>
                          </a:solidFill>
                          <a:effectLst/>
                          <a:latin typeface="verdana" panose="020B0604030504040204" pitchFamily="34" charset="0"/>
                        </a:rPr>
                        <a:t>(String substring)</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a:solidFill>
                            <a:srgbClr val="000000"/>
                          </a:solidFill>
                          <a:effectLst/>
                          <a:latin typeface="verdana" panose="020B0604030504040204" pitchFamily="34" charset="0"/>
                        </a:rPr>
                        <a:t>returns the specified substring index.</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algn="l" fontAlgn="t"/>
                      <a:r>
                        <a:rPr lang="en-US">
                          <a:solidFill>
                            <a:srgbClr val="000000"/>
                          </a:solidFill>
                          <a:effectLst/>
                          <a:latin typeface="verdana" panose="020B0604030504040204" pitchFamily="34" charset="0"/>
                        </a:rPr>
                        <a:t>22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u="none" strike="noStrike" dirty="0" err="1">
                          <a:solidFill>
                            <a:srgbClr val="008000"/>
                          </a:solidFill>
                          <a:effectLst/>
                          <a:latin typeface="verdana" panose="020B0604030504040204" pitchFamily="34" charset="0"/>
                        </a:rPr>
                        <a:t>int</a:t>
                      </a:r>
                      <a:r>
                        <a:rPr lang="en-US" u="none" strike="noStrike" dirty="0">
                          <a:solidFill>
                            <a:srgbClr val="008000"/>
                          </a:solidFill>
                          <a:effectLst/>
                          <a:latin typeface="verdana" panose="020B0604030504040204" pitchFamily="34" charset="0"/>
                        </a:rPr>
                        <a:t> </a:t>
                      </a:r>
                      <a:r>
                        <a:rPr lang="en-US" u="none" strike="noStrike" dirty="0" err="1">
                          <a:solidFill>
                            <a:srgbClr val="008000"/>
                          </a:solidFill>
                          <a:effectLst/>
                          <a:latin typeface="verdana" panose="020B0604030504040204" pitchFamily="34" charset="0"/>
                        </a:rPr>
                        <a:t>indexOf</a:t>
                      </a:r>
                      <a:r>
                        <a:rPr lang="en-US" u="none" strike="noStrike" dirty="0">
                          <a:solidFill>
                            <a:srgbClr val="008000"/>
                          </a:solidFill>
                          <a:effectLst/>
                          <a:latin typeface="verdana" panose="020B0604030504040204" pitchFamily="34" charset="0"/>
                        </a:rPr>
                        <a:t>(String substring, </a:t>
                      </a:r>
                      <a:r>
                        <a:rPr lang="en-US" u="none" strike="noStrike" dirty="0" err="1">
                          <a:solidFill>
                            <a:srgbClr val="008000"/>
                          </a:solidFill>
                          <a:effectLst/>
                          <a:latin typeface="verdana" panose="020B0604030504040204" pitchFamily="34" charset="0"/>
                        </a:rPr>
                        <a:t>int</a:t>
                      </a:r>
                      <a:r>
                        <a:rPr lang="en-US" u="none" strike="noStrike" dirty="0">
                          <a:solidFill>
                            <a:srgbClr val="008000"/>
                          </a:solidFill>
                          <a:effectLst/>
                          <a:latin typeface="verdana" panose="020B0604030504040204" pitchFamily="34" charset="0"/>
                        </a:rPr>
                        <a:t> </a:t>
                      </a:r>
                      <a:r>
                        <a:rPr lang="en-US" u="none" strike="noStrike" dirty="0" err="1">
                          <a:solidFill>
                            <a:srgbClr val="008000"/>
                          </a:solidFill>
                          <a:effectLst/>
                          <a:latin typeface="verdana" panose="020B0604030504040204" pitchFamily="34" charset="0"/>
                        </a:rPr>
                        <a:t>fromIndex</a:t>
                      </a:r>
                      <a:r>
                        <a:rPr lang="en-US" u="none" strike="noStrike" dirty="0">
                          <a:solidFill>
                            <a:srgbClr val="008000"/>
                          </a:solidFill>
                          <a:effectLst/>
                          <a:latin typeface="verdana" panose="020B0604030504040204" pitchFamily="34" charset="0"/>
                        </a:rPr>
                        <a:t>)</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a:solidFill>
                            <a:srgbClr val="000000"/>
                          </a:solidFill>
                          <a:effectLst/>
                          <a:latin typeface="verdana" panose="020B0604030504040204" pitchFamily="34" charset="0"/>
                        </a:rPr>
                        <a:t>returns the specified substring index starting with given index.</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3"/>
                  </a:ext>
                </a:extLst>
              </a:tr>
              <a:tr h="0">
                <a:tc>
                  <a:txBody>
                    <a:bodyPr/>
                    <a:lstStyle/>
                    <a:p>
                      <a:pPr algn="l" fontAlgn="t"/>
                      <a:r>
                        <a:rPr lang="en-US">
                          <a:solidFill>
                            <a:srgbClr val="000000"/>
                          </a:solidFill>
                          <a:effectLst/>
                          <a:latin typeface="verdana" panose="020B0604030504040204" pitchFamily="34" charset="0"/>
                        </a:rPr>
                        <a:t>23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u="none" strike="noStrike" dirty="0">
                          <a:solidFill>
                            <a:srgbClr val="008000"/>
                          </a:solidFill>
                          <a:effectLst/>
                          <a:latin typeface="verdana" panose="020B0604030504040204" pitchFamily="34" charset="0"/>
                        </a:rPr>
                        <a:t>String </a:t>
                      </a:r>
                      <a:r>
                        <a:rPr lang="en-US" u="none" strike="noStrike" dirty="0" err="1">
                          <a:solidFill>
                            <a:srgbClr val="008000"/>
                          </a:solidFill>
                          <a:effectLst/>
                          <a:latin typeface="verdana" panose="020B0604030504040204" pitchFamily="34" charset="0"/>
                        </a:rPr>
                        <a:t>toLowerCase</a:t>
                      </a:r>
                      <a:r>
                        <a:rPr lang="en-US" u="none" strike="noStrike" dirty="0">
                          <a:solidFill>
                            <a:srgbClr val="008000"/>
                          </a:solidFill>
                          <a:effectLst/>
                          <a:latin typeface="verdana" panose="020B0604030504040204" pitchFamily="34" charset="0"/>
                        </a:rPr>
                        <a:t>()</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dirty="0">
                          <a:solidFill>
                            <a:srgbClr val="000000"/>
                          </a:solidFill>
                          <a:effectLst/>
                          <a:latin typeface="verdana" panose="020B0604030504040204" pitchFamily="34" charset="0"/>
                        </a:rPr>
                        <a:t>returns a string in lowercase.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1584996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214</a:t>
            </a:fld>
            <a:endParaRPr lang="en-US"/>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2858347026"/>
              </p:ext>
            </p:extLst>
          </p:nvPr>
        </p:nvGraphicFramePr>
        <p:xfrm>
          <a:off x="955145" y="1764348"/>
          <a:ext cx="8621449" cy="4392611"/>
        </p:xfrm>
        <a:graphic>
          <a:graphicData uri="http://schemas.openxmlformats.org/drawingml/2006/table">
            <a:tbl>
              <a:tblPr/>
              <a:tblGrid>
                <a:gridCol w="761078">
                  <a:extLst>
                    <a:ext uri="{9D8B030D-6E8A-4147-A177-3AD203B41FA5}">
                      <a16:colId xmlns:a16="http://schemas.microsoft.com/office/drawing/2014/main" val="20000"/>
                    </a:ext>
                  </a:extLst>
                </a:gridCol>
                <a:gridCol w="3988201">
                  <a:extLst>
                    <a:ext uri="{9D8B030D-6E8A-4147-A177-3AD203B41FA5}">
                      <a16:colId xmlns:a16="http://schemas.microsoft.com/office/drawing/2014/main" val="20001"/>
                    </a:ext>
                  </a:extLst>
                </a:gridCol>
                <a:gridCol w="3872170">
                  <a:extLst>
                    <a:ext uri="{9D8B030D-6E8A-4147-A177-3AD203B41FA5}">
                      <a16:colId xmlns:a16="http://schemas.microsoft.com/office/drawing/2014/main" val="20002"/>
                    </a:ext>
                  </a:extLst>
                </a:gridCol>
              </a:tblGrid>
              <a:tr h="878522">
                <a:tc>
                  <a:txBody>
                    <a:bodyPr/>
                    <a:lstStyle/>
                    <a:p>
                      <a:pPr algn="l" fontAlgn="t"/>
                      <a:r>
                        <a:rPr lang="en-US">
                          <a:solidFill>
                            <a:srgbClr val="000000"/>
                          </a:solidFill>
                          <a:effectLst/>
                          <a:latin typeface="verdana" panose="020B0604030504040204" pitchFamily="34" charset="0"/>
                        </a:rPr>
                        <a:t>24</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u="none" strike="noStrike" dirty="0">
                          <a:solidFill>
                            <a:srgbClr val="008000"/>
                          </a:solidFill>
                          <a:effectLst/>
                          <a:latin typeface="verdana" panose="020B0604030504040204" pitchFamily="34" charset="0"/>
                        </a:rPr>
                        <a:t>String </a:t>
                      </a:r>
                      <a:r>
                        <a:rPr lang="en-US" u="none" strike="noStrike" dirty="0" err="1">
                          <a:solidFill>
                            <a:srgbClr val="008000"/>
                          </a:solidFill>
                          <a:effectLst/>
                          <a:latin typeface="verdana" panose="020B0604030504040204" pitchFamily="34" charset="0"/>
                        </a:rPr>
                        <a:t>toLowerCase</a:t>
                      </a:r>
                      <a:r>
                        <a:rPr lang="en-US" u="none" strike="noStrike" dirty="0">
                          <a:solidFill>
                            <a:srgbClr val="008000"/>
                          </a:solidFill>
                          <a:effectLst/>
                          <a:latin typeface="verdana" panose="020B0604030504040204" pitchFamily="34" charset="0"/>
                        </a:rPr>
                        <a:t>(Locale l)</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a:solidFill>
                            <a:srgbClr val="000000"/>
                          </a:solidFill>
                          <a:effectLst/>
                          <a:latin typeface="verdana" panose="020B0604030504040204" pitchFamily="34" charset="0"/>
                        </a:rPr>
                        <a:t>returns a string in lowercase using specified locale.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0"/>
                  </a:ext>
                </a:extLst>
              </a:tr>
              <a:tr h="534753">
                <a:tc>
                  <a:txBody>
                    <a:bodyPr/>
                    <a:lstStyle/>
                    <a:p>
                      <a:pPr algn="l" fontAlgn="t"/>
                      <a:r>
                        <a:rPr lang="en-US">
                          <a:solidFill>
                            <a:srgbClr val="000000"/>
                          </a:solidFill>
                          <a:effectLst/>
                          <a:latin typeface="verdana" panose="020B0604030504040204" pitchFamily="34" charset="0"/>
                        </a:rPr>
                        <a:t>25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u="none" strike="noStrike" dirty="0">
                          <a:solidFill>
                            <a:srgbClr val="008000"/>
                          </a:solidFill>
                          <a:effectLst/>
                          <a:latin typeface="verdana" panose="020B0604030504040204" pitchFamily="34" charset="0"/>
                        </a:rPr>
                        <a:t>String </a:t>
                      </a:r>
                      <a:r>
                        <a:rPr lang="en-US" u="none" strike="noStrike" dirty="0" err="1">
                          <a:solidFill>
                            <a:srgbClr val="008000"/>
                          </a:solidFill>
                          <a:effectLst/>
                          <a:latin typeface="verdana" panose="020B0604030504040204" pitchFamily="34" charset="0"/>
                        </a:rPr>
                        <a:t>toUpperCase</a:t>
                      </a:r>
                      <a:r>
                        <a:rPr lang="en-US" u="none" strike="noStrike" dirty="0">
                          <a:solidFill>
                            <a:srgbClr val="008000"/>
                          </a:solidFill>
                          <a:effectLst/>
                          <a:latin typeface="verdana" panose="020B0604030504040204" pitchFamily="34" charset="0"/>
                        </a:rPr>
                        <a:t>()</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a:solidFill>
                            <a:srgbClr val="000000"/>
                          </a:solidFill>
                          <a:effectLst/>
                          <a:latin typeface="verdana" panose="020B0604030504040204" pitchFamily="34" charset="0"/>
                        </a:rPr>
                        <a:t>returns a string in uppercase.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78522">
                <a:tc>
                  <a:txBody>
                    <a:bodyPr/>
                    <a:lstStyle/>
                    <a:p>
                      <a:pPr algn="l" fontAlgn="t"/>
                      <a:r>
                        <a:rPr lang="en-US">
                          <a:solidFill>
                            <a:srgbClr val="000000"/>
                          </a:solidFill>
                          <a:effectLst/>
                          <a:latin typeface="verdana" panose="020B0604030504040204" pitchFamily="34" charset="0"/>
                        </a:rPr>
                        <a:t>26</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u="none" strike="noStrike" dirty="0">
                          <a:solidFill>
                            <a:srgbClr val="008000"/>
                          </a:solidFill>
                          <a:effectLst/>
                          <a:latin typeface="verdana" panose="020B0604030504040204" pitchFamily="34" charset="0"/>
                        </a:rPr>
                        <a:t>String </a:t>
                      </a:r>
                      <a:r>
                        <a:rPr lang="en-US" u="none" strike="noStrike" dirty="0" err="1">
                          <a:solidFill>
                            <a:srgbClr val="008000"/>
                          </a:solidFill>
                          <a:effectLst/>
                          <a:latin typeface="verdana" panose="020B0604030504040204" pitchFamily="34" charset="0"/>
                        </a:rPr>
                        <a:t>toUpperCase</a:t>
                      </a:r>
                      <a:r>
                        <a:rPr lang="en-US" u="none" strike="noStrike" dirty="0">
                          <a:solidFill>
                            <a:srgbClr val="008000"/>
                          </a:solidFill>
                          <a:effectLst/>
                          <a:latin typeface="verdana" panose="020B0604030504040204" pitchFamily="34" charset="0"/>
                        </a:rPr>
                        <a:t>(Locale l)</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a:solidFill>
                            <a:srgbClr val="000000"/>
                          </a:solidFill>
                          <a:effectLst/>
                          <a:latin typeface="verdana" panose="020B0604030504040204" pitchFamily="34" charset="0"/>
                        </a:rPr>
                        <a:t>returns a string in uppercase using specified locale.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878522">
                <a:tc>
                  <a:txBody>
                    <a:bodyPr/>
                    <a:lstStyle/>
                    <a:p>
                      <a:pPr algn="l" fontAlgn="t"/>
                      <a:r>
                        <a:rPr lang="en-US">
                          <a:solidFill>
                            <a:srgbClr val="000000"/>
                          </a:solidFill>
                          <a:effectLst/>
                          <a:latin typeface="verdana" panose="020B0604030504040204" pitchFamily="34" charset="0"/>
                        </a:rPr>
                        <a:t>27</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u="none" strike="noStrike" dirty="0">
                          <a:solidFill>
                            <a:srgbClr val="008000"/>
                          </a:solidFill>
                          <a:effectLst/>
                          <a:latin typeface="verdana" panose="020B0604030504040204" pitchFamily="34" charset="0"/>
                        </a:rPr>
                        <a:t>String trim()</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a:solidFill>
                            <a:srgbClr val="000000"/>
                          </a:solidFill>
                          <a:effectLst/>
                          <a:latin typeface="verdana" panose="020B0604030504040204" pitchFamily="34" charset="0"/>
                        </a:rPr>
                        <a:t>removes beginning and ending spaces of this string.</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222292">
                <a:tc>
                  <a:txBody>
                    <a:bodyPr/>
                    <a:lstStyle/>
                    <a:p>
                      <a:pPr algn="l" fontAlgn="t"/>
                      <a:r>
                        <a:rPr lang="en-US">
                          <a:solidFill>
                            <a:srgbClr val="000000"/>
                          </a:solidFill>
                          <a:effectLst/>
                          <a:latin typeface="verdana" panose="020B0604030504040204" pitchFamily="34" charset="0"/>
                        </a:rPr>
                        <a:t>28</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u="none" strike="noStrike" dirty="0">
                          <a:solidFill>
                            <a:srgbClr val="008000"/>
                          </a:solidFill>
                          <a:effectLst/>
                          <a:latin typeface="verdana" panose="020B0604030504040204" pitchFamily="34" charset="0"/>
                        </a:rPr>
                        <a:t>static String </a:t>
                      </a:r>
                      <a:r>
                        <a:rPr lang="en-US" u="none" strike="noStrike" dirty="0" err="1">
                          <a:solidFill>
                            <a:srgbClr val="008000"/>
                          </a:solidFill>
                          <a:effectLst/>
                          <a:latin typeface="verdana" panose="020B0604030504040204" pitchFamily="34" charset="0"/>
                        </a:rPr>
                        <a:t>valueOf</a:t>
                      </a:r>
                      <a:r>
                        <a:rPr lang="en-US" u="none" strike="noStrike" dirty="0">
                          <a:solidFill>
                            <a:srgbClr val="008000"/>
                          </a:solidFill>
                          <a:effectLst/>
                          <a:latin typeface="verdana" panose="020B0604030504040204" pitchFamily="34" charset="0"/>
                        </a:rPr>
                        <a:t>(</a:t>
                      </a:r>
                      <a:r>
                        <a:rPr lang="en-US" u="none" strike="noStrike" dirty="0" err="1">
                          <a:solidFill>
                            <a:srgbClr val="008000"/>
                          </a:solidFill>
                          <a:effectLst/>
                          <a:latin typeface="verdana" panose="020B0604030504040204" pitchFamily="34" charset="0"/>
                        </a:rPr>
                        <a:t>int</a:t>
                      </a:r>
                      <a:r>
                        <a:rPr lang="en-US" u="none" strike="noStrike" dirty="0">
                          <a:solidFill>
                            <a:srgbClr val="008000"/>
                          </a:solidFill>
                          <a:effectLst/>
                          <a:latin typeface="verdana" panose="020B0604030504040204" pitchFamily="34" charset="0"/>
                        </a:rPr>
                        <a:t> value)</a:t>
                      </a:r>
                      <a:endParaRPr lang="en-US" dirty="0">
                        <a:solidFill>
                          <a:srgbClr val="000000"/>
                        </a:solidFill>
                        <a:effectLst/>
                        <a:latin typeface="verdana" panose="020B0604030504040204" pitchFamily="34" charset="0"/>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dirty="0">
                          <a:solidFill>
                            <a:srgbClr val="000000"/>
                          </a:solidFill>
                          <a:effectLst/>
                          <a:latin typeface="verdana" panose="020B0604030504040204" pitchFamily="34" charset="0"/>
                        </a:rPr>
                        <a:t>converts given type into string. It is an overloaded method.</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4991746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rPr>
              <a:t>Java StringBuffer class</a:t>
            </a:r>
          </a:p>
        </p:txBody>
      </p:sp>
      <p:sp>
        <p:nvSpPr>
          <p:cNvPr id="3" name="Slide Number Placeholder 2"/>
          <p:cNvSpPr>
            <a:spLocks noGrp="1"/>
          </p:cNvSpPr>
          <p:nvPr>
            <p:ph type="sldNum" sz="quarter" idx="12"/>
          </p:nvPr>
        </p:nvSpPr>
        <p:spPr/>
        <p:txBody>
          <a:bodyPr/>
          <a:lstStyle/>
          <a:p>
            <a:fld id="{E3591306-41CF-4237-B2B4-5C605DD45071}" type="slidenum">
              <a:rPr lang="en-US" smtClean="0"/>
              <a:pPr/>
              <a:t>215</a:t>
            </a:fld>
            <a:endParaRPr lang="en-US"/>
          </a:p>
        </p:txBody>
      </p:sp>
      <p:graphicFrame>
        <p:nvGraphicFramePr>
          <p:cNvPr id="5" name="Content Placeholder 4"/>
          <p:cNvGraphicFramePr>
            <a:graphicFrameLocks noGrp="1"/>
          </p:cNvGraphicFramePr>
          <p:nvPr>
            <p:ph sz="quarter" idx="1"/>
          </p:nvPr>
        </p:nvGraphicFramePr>
        <p:xfrm>
          <a:off x="503238" y="1668026"/>
          <a:ext cx="9074151" cy="3798048"/>
        </p:xfrm>
        <a:graphic>
          <a:graphicData uri="http://schemas.openxmlformats.org/drawingml/2006/table">
            <a:tbl>
              <a:tblPr/>
              <a:tblGrid>
                <a:gridCol w="692516">
                  <a:extLst>
                    <a:ext uri="{9D8B030D-6E8A-4147-A177-3AD203B41FA5}">
                      <a16:colId xmlns:a16="http://schemas.microsoft.com/office/drawing/2014/main" val="20000"/>
                    </a:ext>
                  </a:extLst>
                </a:gridCol>
                <a:gridCol w="4622242">
                  <a:extLst>
                    <a:ext uri="{9D8B030D-6E8A-4147-A177-3AD203B41FA5}">
                      <a16:colId xmlns:a16="http://schemas.microsoft.com/office/drawing/2014/main" val="20001"/>
                    </a:ext>
                  </a:extLst>
                </a:gridCol>
                <a:gridCol w="3759393">
                  <a:extLst>
                    <a:ext uri="{9D8B030D-6E8A-4147-A177-3AD203B41FA5}">
                      <a16:colId xmlns:a16="http://schemas.microsoft.com/office/drawing/2014/main" val="20002"/>
                    </a:ext>
                  </a:extLst>
                </a:gridCol>
              </a:tblGrid>
              <a:tr h="422031">
                <a:tc>
                  <a:txBody>
                    <a:bodyPr/>
                    <a:lstStyle/>
                    <a:p>
                      <a:pPr algn="l" fontAlgn="t"/>
                      <a:r>
                        <a:rPr lang="en-US" sz="2000" dirty="0">
                          <a:solidFill>
                            <a:srgbClr val="008000"/>
                          </a:solidFill>
                          <a:latin typeface="times new roman"/>
                        </a:rPr>
                        <a:t>No.</a:t>
                      </a:r>
                    </a:p>
                  </a:txBody>
                  <a:tcPr marL="88528" marR="88528" marT="88528" marB="88528">
                    <a:lnL w="9525" cap="flat" cmpd="sng" algn="ctr">
                      <a:solidFill>
                        <a:srgbClr val="C064B5"/>
                      </a:solidFill>
                      <a:prstDash val="solid"/>
                      <a:round/>
                      <a:headEnd type="none" w="med" len="med"/>
                      <a:tailEnd type="none" w="med" len="med"/>
                    </a:lnL>
                    <a:lnR w="9525" cap="flat" cmpd="sng" algn="ctr">
                      <a:solidFill>
                        <a:srgbClr val="C064B5"/>
                      </a:solidFill>
                      <a:prstDash val="solid"/>
                      <a:round/>
                      <a:headEnd type="none" w="med" len="med"/>
                      <a:tailEnd type="none" w="med" len="med"/>
                    </a:lnR>
                    <a:lnT w="9525" cap="flat" cmpd="sng" algn="ctr">
                      <a:solidFill>
                        <a:srgbClr val="C064B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000" dirty="0">
                          <a:solidFill>
                            <a:srgbClr val="008000"/>
                          </a:solidFill>
                          <a:latin typeface="times new roman"/>
                        </a:rPr>
                        <a:t>String</a:t>
                      </a:r>
                    </a:p>
                  </a:txBody>
                  <a:tcPr marL="88528" marR="88528" marT="88528" marB="88528">
                    <a:lnL w="9525" cap="flat" cmpd="sng" algn="ctr">
                      <a:solidFill>
                        <a:srgbClr val="C064B5"/>
                      </a:solidFill>
                      <a:prstDash val="solid"/>
                      <a:round/>
                      <a:headEnd type="none" w="med" len="med"/>
                      <a:tailEnd type="none" w="med" len="med"/>
                    </a:lnL>
                    <a:lnR w="9525" cap="flat" cmpd="sng" algn="ctr">
                      <a:solidFill>
                        <a:srgbClr val="C064B5"/>
                      </a:solidFill>
                      <a:prstDash val="solid"/>
                      <a:round/>
                      <a:headEnd type="none" w="med" len="med"/>
                      <a:tailEnd type="none" w="med" len="med"/>
                    </a:lnR>
                    <a:lnT w="9525" cap="flat" cmpd="sng" algn="ctr">
                      <a:solidFill>
                        <a:srgbClr val="C064B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000" dirty="0" err="1">
                          <a:solidFill>
                            <a:srgbClr val="008000"/>
                          </a:solidFill>
                          <a:latin typeface="times new roman"/>
                        </a:rPr>
                        <a:t>StringBuffer</a:t>
                      </a:r>
                      <a:endParaRPr lang="en-US" sz="2000" dirty="0">
                        <a:solidFill>
                          <a:srgbClr val="008000"/>
                        </a:solidFill>
                        <a:latin typeface="times new roman"/>
                      </a:endParaRPr>
                    </a:p>
                  </a:txBody>
                  <a:tcPr marL="88528" marR="88528" marT="88528" marB="88528">
                    <a:lnL w="9525" cap="flat" cmpd="sng" algn="ctr">
                      <a:solidFill>
                        <a:srgbClr val="C064B5"/>
                      </a:solidFill>
                      <a:prstDash val="solid"/>
                      <a:round/>
                      <a:headEnd type="none" w="med" len="med"/>
                      <a:tailEnd type="none" w="med" len="med"/>
                    </a:lnL>
                    <a:lnR w="9525" cap="flat" cmpd="sng" algn="ctr">
                      <a:solidFill>
                        <a:srgbClr val="C064B5"/>
                      </a:solidFill>
                      <a:prstDash val="solid"/>
                      <a:round/>
                      <a:headEnd type="none" w="med" len="med"/>
                      <a:tailEnd type="none" w="med" len="med"/>
                    </a:lnR>
                    <a:lnT w="9525" cap="flat" cmpd="sng" algn="ctr">
                      <a:solidFill>
                        <a:srgbClr val="C064B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441763">
                <a:tc>
                  <a:txBody>
                    <a:bodyPr/>
                    <a:lstStyle/>
                    <a:p>
                      <a:pPr algn="just" fontAlgn="t"/>
                      <a:r>
                        <a:rPr lang="en-US" sz="1600" dirty="0">
                          <a:solidFill>
                            <a:srgbClr val="000000"/>
                          </a:solidFill>
                          <a:latin typeface="verdana"/>
                        </a:rPr>
                        <a:t>1)</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rgbClr val="000000"/>
                          </a:solidFill>
                          <a:latin typeface="verdana"/>
                        </a:rPr>
                        <a:t>String class is immutable.</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000000"/>
                          </a:solidFill>
                          <a:latin typeface="verdana"/>
                        </a:rPr>
                        <a:t>StringBuffer class is mutable.</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95007">
                <a:tc>
                  <a:txBody>
                    <a:bodyPr/>
                    <a:lstStyle/>
                    <a:p>
                      <a:pPr algn="just" fontAlgn="t"/>
                      <a:r>
                        <a:rPr lang="en-US" sz="1600">
                          <a:solidFill>
                            <a:srgbClr val="000000"/>
                          </a:solidFill>
                          <a:latin typeface="verdana"/>
                        </a:rPr>
                        <a:t>2)</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rgbClr val="000000"/>
                          </a:solidFill>
                          <a:latin typeface="verdana"/>
                        </a:rPr>
                        <a:t>String is slow and consumes more memory when you </a:t>
                      </a:r>
                      <a:r>
                        <a:rPr lang="en-US" sz="1600" dirty="0" err="1">
                          <a:solidFill>
                            <a:srgbClr val="000000"/>
                          </a:solidFill>
                          <a:latin typeface="verdana"/>
                        </a:rPr>
                        <a:t>concat</a:t>
                      </a:r>
                      <a:r>
                        <a:rPr lang="en-US" sz="1600" dirty="0">
                          <a:solidFill>
                            <a:srgbClr val="000000"/>
                          </a:solidFill>
                          <a:latin typeface="verdana"/>
                        </a:rPr>
                        <a:t> too many strings because every time it creates new instance.</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err="1">
                          <a:solidFill>
                            <a:srgbClr val="000000"/>
                          </a:solidFill>
                          <a:latin typeface="verdana"/>
                        </a:rPr>
                        <a:t>StringBuffer</a:t>
                      </a:r>
                      <a:r>
                        <a:rPr lang="en-US" sz="1600" dirty="0">
                          <a:solidFill>
                            <a:srgbClr val="000000"/>
                          </a:solidFill>
                          <a:latin typeface="verdana"/>
                        </a:rPr>
                        <a:t> is fast and consumes less memory when you </a:t>
                      </a:r>
                      <a:r>
                        <a:rPr lang="en-US" sz="1600" dirty="0" err="1">
                          <a:solidFill>
                            <a:srgbClr val="000000"/>
                          </a:solidFill>
                          <a:latin typeface="verdana"/>
                        </a:rPr>
                        <a:t>cancat</a:t>
                      </a:r>
                      <a:r>
                        <a:rPr lang="en-US" sz="1600" dirty="0">
                          <a:solidFill>
                            <a:srgbClr val="000000"/>
                          </a:solidFill>
                          <a:latin typeface="verdana"/>
                        </a:rPr>
                        <a:t> strings.</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1579422">
                <a:tc>
                  <a:txBody>
                    <a:bodyPr/>
                    <a:lstStyle/>
                    <a:p>
                      <a:pPr algn="just" fontAlgn="t"/>
                      <a:r>
                        <a:rPr lang="en-US" sz="1600">
                          <a:solidFill>
                            <a:srgbClr val="000000"/>
                          </a:solidFill>
                          <a:latin typeface="verdana"/>
                        </a:rPr>
                        <a:t>3)</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000000"/>
                          </a:solidFill>
                          <a:latin typeface="verdana"/>
                        </a:rPr>
                        <a:t>String class overrides the equals() method of Object class. So you can compare the contents of two strings by equals() method.</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err="1">
                          <a:solidFill>
                            <a:srgbClr val="000000"/>
                          </a:solidFill>
                          <a:latin typeface="verdana"/>
                        </a:rPr>
                        <a:t>StringBuffer</a:t>
                      </a:r>
                      <a:r>
                        <a:rPr lang="en-US" sz="1600" dirty="0">
                          <a:solidFill>
                            <a:srgbClr val="000000"/>
                          </a:solidFill>
                          <a:latin typeface="verdana"/>
                        </a:rPr>
                        <a:t> class doesn't override the equals() method of Object class.</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0113" name="Rectangle 1"/>
          <p:cNvSpPr>
            <a:spLocks noChangeArrowheads="1"/>
          </p:cNvSpPr>
          <p:nvPr/>
        </p:nvSpPr>
        <p:spPr bwMode="auto">
          <a:xfrm>
            <a:off x="0" y="0"/>
            <a:ext cx="184731" cy="358420"/>
          </a:xfrm>
          <a:prstGeom prst="rect">
            <a:avLst/>
          </a:prstGeom>
          <a:solidFill>
            <a:srgbClr val="FFFFFF"/>
          </a:solidFill>
          <a:ln w="9525">
            <a:noFill/>
            <a:miter lim="800000"/>
            <a:headEnd/>
            <a:tailEnd/>
          </a:ln>
          <a:effectLst/>
        </p:spPr>
        <p:txBody>
          <a:bodyPr vert="horz" wrap="none" lIns="91440" tIns="34914"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58671832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FF0000"/>
                </a:solidFill>
              </a:rPr>
              <a:t>Difference between </a:t>
            </a:r>
            <a:r>
              <a:rPr lang="en-US" sz="2800" dirty="0" err="1">
                <a:solidFill>
                  <a:srgbClr val="FF0000"/>
                </a:solidFill>
              </a:rPr>
              <a:t>StringBuffer</a:t>
            </a:r>
            <a:r>
              <a:rPr lang="en-US" sz="2800" dirty="0">
                <a:solidFill>
                  <a:srgbClr val="FF0000"/>
                </a:solidFill>
              </a:rPr>
              <a:t> and </a:t>
            </a:r>
            <a:r>
              <a:rPr lang="en-US" sz="2800" dirty="0" err="1">
                <a:solidFill>
                  <a:srgbClr val="FF0000"/>
                </a:solidFill>
              </a:rPr>
              <a:t>StringBuilder</a:t>
            </a:r>
            <a:endParaRPr lang="en-US" sz="2800" dirty="0">
              <a:solidFill>
                <a:srgbClr val="FF0000"/>
              </a:solidFill>
            </a:endParaRPr>
          </a:p>
        </p:txBody>
      </p:sp>
      <p:sp>
        <p:nvSpPr>
          <p:cNvPr id="3" name="Slide Number Placeholder 2"/>
          <p:cNvSpPr>
            <a:spLocks noGrp="1"/>
          </p:cNvSpPr>
          <p:nvPr>
            <p:ph type="sldNum" sz="quarter" idx="12"/>
          </p:nvPr>
        </p:nvSpPr>
        <p:spPr/>
        <p:txBody>
          <a:bodyPr/>
          <a:lstStyle/>
          <a:p>
            <a:fld id="{E3591306-41CF-4237-B2B4-5C605DD45071}" type="slidenum">
              <a:rPr lang="en-US" smtClean="0"/>
              <a:pPr/>
              <a:t>216</a:t>
            </a:fld>
            <a:endParaRPr lang="en-US"/>
          </a:p>
        </p:txBody>
      </p:sp>
      <p:graphicFrame>
        <p:nvGraphicFramePr>
          <p:cNvPr id="5" name="Content Placeholder 4"/>
          <p:cNvGraphicFramePr>
            <a:graphicFrameLocks noGrp="1"/>
          </p:cNvGraphicFramePr>
          <p:nvPr>
            <p:ph sz="quarter" idx="1"/>
          </p:nvPr>
        </p:nvGraphicFramePr>
        <p:xfrm>
          <a:off x="452996" y="1608861"/>
          <a:ext cx="9074151" cy="2206991"/>
        </p:xfrm>
        <a:graphic>
          <a:graphicData uri="http://schemas.openxmlformats.org/drawingml/2006/table">
            <a:tbl>
              <a:tblPr/>
              <a:tblGrid>
                <a:gridCol w="581984">
                  <a:extLst>
                    <a:ext uri="{9D8B030D-6E8A-4147-A177-3AD203B41FA5}">
                      <a16:colId xmlns:a16="http://schemas.microsoft.com/office/drawing/2014/main" val="20000"/>
                    </a:ext>
                  </a:extLst>
                </a:gridCol>
                <a:gridCol w="4350936">
                  <a:extLst>
                    <a:ext uri="{9D8B030D-6E8A-4147-A177-3AD203B41FA5}">
                      <a16:colId xmlns:a16="http://schemas.microsoft.com/office/drawing/2014/main" val="20001"/>
                    </a:ext>
                  </a:extLst>
                </a:gridCol>
                <a:gridCol w="4141231">
                  <a:extLst>
                    <a:ext uri="{9D8B030D-6E8A-4147-A177-3AD203B41FA5}">
                      <a16:colId xmlns:a16="http://schemas.microsoft.com/office/drawing/2014/main" val="20002"/>
                    </a:ext>
                  </a:extLst>
                </a:gridCol>
              </a:tblGrid>
              <a:tr h="389524">
                <a:tc>
                  <a:txBody>
                    <a:bodyPr/>
                    <a:lstStyle/>
                    <a:p>
                      <a:pPr algn="l" fontAlgn="t"/>
                      <a:r>
                        <a:rPr lang="en-US" sz="1400" b="1" dirty="0">
                          <a:solidFill>
                            <a:srgbClr val="008000"/>
                          </a:solidFill>
                          <a:latin typeface="times new roman"/>
                        </a:rPr>
                        <a:t>No.</a:t>
                      </a:r>
                    </a:p>
                  </a:txBody>
                  <a:tcPr marL="88528" marR="88528" marT="88528" marB="88528">
                    <a:lnL w="9525" cap="flat" cmpd="sng" algn="ctr">
                      <a:solidFill>
                        <a:srgbClr val="802B22"/>
                      </a:solidFill>
                      <a:prstDash val="solid"/>
                      <a:round/>
                      <a:headEnd type="none" w="med" len="med"/>
                      <a:tailEnd type="none" w="med" len="med"/>
                    </a:lnL>
                    <a:lnR w="9525" cap="flat" cmpd="sng" algn="ctr">
                      <a:solidFill>
                        <a:srgbClr val="802B22"/>
                      </a:solidFill>
                      <a:prstDash val="solid"/>
                      <a:round/>
                      <a:headEnd type="none" w="med" len="med"/>
                      <a:tailEnd type="none" w="med" len="med"/>
                    </a:lnR>
                    <a:lnT w="9525" cap="flat" cmpd="sng" algn="ctr">
                      <a:solidFill>
                        <a:srgbClr val="802B2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just" fontAlgn="t"/>
                      <a:r>
                        <a:rPr lang="en-US" sz="1600" b="1" dirty="0" err="1">
                          <a:solidFill>
                            <a:srgbClr val="008000"/>
                          </a:solidFill>
                          <a:latin typeface="times new roman"/>
                        </a:rPr>
                        <a:t>StringBuffer</a:t>
                      </a:r>
                      <a:endParaRPr lang="en-US" sz="1600" b="1" dirty="0">
                        <a:solidFill>
                          <a:srgbClr val="008000"/>
                        </a:solidFill>
                        <a:latin typeface="times new roman"/>
                      </a:endParaRPr>
                    </a:p>
                  </a:txBody>
                  <a:tcPr marL="88528" marR="88528" marT="88528" marB="88528">
                    <a:lnL w="9525" cap="flat" cmpd="sng" algn="ctr">
                      <a:solidFill>
                        <a:srgbClr val="802B22"/>
                      </a:solidFill>
                      <a:prstDash val="solid"/>
                      <a:round/>
                      <a:headEnd type="none" w="med" len="med"/>
                      <a:tailEnd type="none" w="med" len="med"/>
                    </a:lnL>
                    <a:lnR w="9525" cap="flat" cmpd="sng" algn="ctr">
                      <a:solidFill>
                        <a:srgbClr val="802B22"/>
                      </a:solidFill>
                      <a:prstDash val="solid"/>
                      <a:round/>
                      <a:headEnd type="none" w="med" len="med"/>
                      <a:tailEnd type="none" w="med" len="med"/>
                    </a:lnR>
                    <a:lnT w="9525" cap="flat" cmpd="sng" algn="ctr">
                      <a:solidFill>
                        <a:srgbClr val="802B2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just" fontAlgn="t"/>
                      <a:r>
                        <a:rPr lang="en-US" sz="1600" b="1" dirty="0" err="1">
                          <a:solidFill>
                            <a:srgbClr val="008000"/>
                          </a:solidFill>
                          <a:latin typeface="times new roman"/>
                        </a:rPr>
                        <a:t>StringBuilder</a:t>
                      </a:r>
                      <a:endParaRPr lang="en-US" sz="1600" b="1" dirty="0">
                        <a:solidFill>
                          <a:srgbClr val="008000"/>
                        </a:solidFill>
                        <a:latin typeface="times new roman"/>
                      </a:endParaRPr>
                    </a:p>
                  </a:txBody>
                  <a:tcPr marL="88528" marR="88528" marT="88528" marB="88528">
                    <a:lnL w="9525" cap="flat" cmpd="sng" algn="ctr">
                      <a:solidFill>
                        <a:srgbClr val="802B22"/>
                      </a:solidFill>
                      <a:prstDash val="solid"/>
                      <a:round/>
                      <a:headEnd type="none" w="med" len="med"/>
                      <a:tailEnd type="none" w="med" len="med"/>
                    </a:lnL>
                    <a:lnR w="9525" cap="flat" cmpd="sng" algn="ctr">
                      <a:solidFill>
                        <a:srgbClr val="802B22"/>
                      </a:solidFill>
                      <a:prstDash val="solid"/>
                      <a:round/>
                      <a:headEnd type="none" w="med" len="med"/>
                      <a:tailEnd type="none" w="med" len="med"/>
                    </a:lnR>
                    <a:lnT w="9525" cap="flat" cmpd="sng" algn="ctr">
                      <a:solidFill>
                        <a:srgbClr val="802B2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1180377">
                <a:tc>
                  <a:txBody>
                    <a:bodyPr/>
                    <a:lstStyle/>
                    <a:p>
                      <a:pPr algn="l" fontAlgn="t"/>
                      <a:r>
                        <a:rPr lang="en-US" sz="1400">
                          <a:solidFill>
                            <a:srgbClr val="000000"/>
                          </a:solidFill>
                          <a:latin typeface="verdana"/>
                        </a:rPr>
                        <a:t>1)</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000000"/>
                          </a:solidFill>
                          <a:latin typeface="verdana"/>
                        </a:rPr>
                        <a:t>StringBuffer is </a:t>
                      </a:r>
                      <a:r>
                        <a:rPr lang="en-US" sz="1600" i="1">
                          <a:solidFill>
                            <a:srgbClr val="000000"/>
                          </a:solidFill>
                          <a:latin typeface="verdana"/>
                        </a:rPr>
                        <a:t>synchronized</a:t>
                      </a:r>
                      <a:r>
                        <a:rPr lang="en-US" sz="1600">
                          <a:solidFill>
                            <a:srgbClr val="000000"/>
                          </a:solidFill>
                          <a:latin typeface="verdana"/>
                        </a:rPr>
                        <a:t> i.e. thread safe. It means two threads can't call the methods of StringBuffer simultaneously.</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000000"/>
                          </a:solidFill>
                          <a:latin typeface="verdana"/>
                        </a:rPr>
                        <a:t>StringBuilder is </a:t>
                      </a:r>
                      <a:r>
                        <a:rPr lang="en-US" sz="1600" i="1">
                          <a:solidFill>
                            <a:srgbClr val="000000"/>
                          </a:solidFill>
                          <a:latin typeface="verdana"/>
                        </a:rPr>
                        <a:t>non-synchronized</a:t>
                      </a:r>
                      <a:r>
                        <a:rPr lang="en-US" sz="1600">
                          <a:solidFill>
                            <a:srgbClr val="000000"/>
                          </a:solidFill>
                          <a:latin typeface="verdana"/>
                        </a:rPr>
                        <a:t> i.e. not thread safe. It means two threads can call the methods of StringBuilder simultaneously.</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2974">
                <a:tc>
                  <a:txBody>
                    <a:bodyPr/>
                    <a:lstStyle/>
                    <a:p>
                      <a:pPr algn="l" fontAlgn="t"/>
                      <a:r>
                        <a:rPr lang="en-US" sz="1400">
                          <a:solidFill>
                            <a:srgbClr val="000000"/>
                          </a:solidFill>
                          <a:latin typeface="verdana"/>
                        </a:rPr>
                        <a:t>2)</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000000"/>
                          </a:solidFill>
                          <a:latin typeface="verdana"/>
                        </a:rPr>
                        <a:t>StringBuffer is </a:t>
                      </a:r>
                      <a:r>
                        <a:rPr lang="en-US" sz="1600" i="1">
                          <a:solidFill>
                            <a:srgbClr val="000000"/>
                          </a:solidFill>
                          <a:latin typeface="verdana"/>
                        </a:rPr>
                        <a:t>less efficient</a:t>
                      </a:r>
                      <a:r>
                        <a:rPr lang="en-US" sz="1600">
                          <a:solidFill>
                            <a:srgbClr val="000000"/>
                          </a:solidFill>
                          <a:latin typeface="verdana"/>
                        </a:rPr>
                        <a:t> than StringBuilder.</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err="1">
                          <a:solidFill>
                            <a:srgbClr val="000000"/>
                          </a:solidFill>
                          <a:latin typeface="verdana"/>
                        </a:rPr>
                        <a:t>StringBuilder</a:t>
                      </a:r>
                      <a:r>
                        <a:rPr lang="en-US" sz="1600" dirty="0">
                          <a:solidFill>
                            <a:srgbClr val="000000"/>
                          </a:solidFill>
                          <a:latin typeface="verdana"/>
                        </a:rPr>
                        <a:t> is </a:t>
                      </a:r>
                      <a:r>
                        <a:rPr lang="en-US" sz="1600" i="1" dirty="0">
                          <a:solidFill>
                            <a:srgbClr val="000000"/>
                          </a:solidFill>
                          <a:latin typeface="verdana"/>
                        </a:rPr>
                        <a:t>more efficient</a:t>
                      </a:r>
                      <a:r>
                        <a:rPr lang="en-US" sz="1600" dirty="0">
                          <a:solidFill>
                            <a:srgbClr val="000000"/>
                          </a:solidFill>
                          <a:latin typeface="verdana"/>
                        </a:rPr>
                        <a:t> than </a:t>
                      </a:r>
                      <a:r>
                        <a:rPr lang="en-US" sz="1600" dirty="0" err="1">
                          <a:solidFill>
                            <a:srgbClr val="000000"/>
                          </a:solidFill>
                          <a:latin typeface="verdana"/>
                        </a:rPr>
                        <a:t>StringBuffer</a:t>
                      </a:r>
                      <a:r>
                        <a:rPr lang="en-US" sz="1600" dirty="0">
                          <a:solidFill>
                            <a:srgbClr val="000000"/>
                          </a:solidFill>
                          <a:latin typeface="verdana"/>
                        </a:rPr>
                        <a:t>.</a:t>
                      </a:r>
                    </a:p>
                  </a:txBody>
                  <a:tcPr marL="59019" marR="59019" marT="59019" marB="59019">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8000"/>
                </a:solidFill>
              </a:rPr>
              <a:t>Example</a:t>
            </a:r>
          </a:p>
        </p:txBody>
      </p:sp>
      <p:sp>
        <p:nvSpPr>
          <p:cNvPr id="3" name="Slide Number Placeholder 2"/>
          <p:cNvSpPr>
            <a:spLocks noGrp="1"/>
          </p:cNvSpPr>
          <p:nvPr>
            <p:ph type="sldNum" sz="quarter" idx="12"/>
          </p:nvPr>
        </p:nvSpPr>
        <p:spPr/>
        <p:txBody>
          <a:bodyPr/>
          <a:lstStyle/>
          <a:p>
            <a:fld id="{E3591306-41CF-4237-B2B4-5C605DD45071}" type="slidenum">
              <a:rPr lang="en-US" smtClean="0"/>
              <a:pPr/>
              <a:t>217</a:t>
            </a:fld>
            <a:endParaRPr lang="en-US"/>
          </a:p>
        </p:txBody>
      </p:sp>
      <p:sp>
        <p:nvSpPr>
          <p:cNvPr id="4" name="Content Placeholder 3"/>
          <p:cNvSpPr>
            <a:spLocks noGrp="1"/>
          </p:cNvSpPr>
          <p:nvPr>
            <p:ph sz="quarter" idx="1"/>
          </p:nvPr>
        </p:nvSpPr>
        <p:spPr/>
        <p:txBody>
          <a:bodyPr>
            <a:normAutofit fontScale="55000" lnSpcReduction="20000"/>
          </a:bodyPr>
          <a:lstStyle/>
          <a:p>
            <a:pPr fontAlgn="base"/>
            <a:r>
              <a:rPr lang="en-US" dirty="0"/>
              <a:t>// Java program to demonstrate difference</a:t>
            </a:r>
          </a:p>
          <a:p>
            <a:pPr fontAlgn="base"/>
            <a:r>
              <a:rPr lang="en-US" dirty="0"/>
              <a:t>// between String, </a:t>
            </a:r>
            <a:r>
              <a:rPr lang="en-US" dirty="0" err="1"/>
              <a:t>StringBuilder</a:t>
            </a:r>
            <a:r>
              <a:rPr lang="en-US" dirty="0"/>
              <a:t> and </a:t>
            </a:r>
            <a:r>
              <a:rPr lang="en-US" dirty="0" err="1"/>
              <a:t>StringBuffer</a:t>
            </a:r>
            <a:endParaRPr lang="en-US" dirty="0"/>
          </a:p>
          <a:p>
            <a:pPr fontAlgn="base"/>
            <a:r>
              <a:rPr lang="en-US" dirty="0"/>
              <a:t>class </a:t>
            </a:r>
            <a:r>
              <a:rPr lang="en-US" dirty="0" err="1"/>
              <a:t>Geeksforgeeks</a:t>
            </a:r>
            <a:r>
              <a:rPr lang="en-US" dirty="0"/>
              <a:t> {</a:t>
            </a:r>
          </a:p>
          <a:p>
            <a:pPr fontAlgn="base"/>
            <a:r>
              <a:rPr lang="en-US" dirty="0"/>
              <a:t>    // Concatenates to String</a:t>
            </a:r>
          </a:p>
          <a:p>
            <a:pPr fontAlgn="base"/>
            <a:r>
              <a:rPr lang="en-US" dirty="0"/>
              <a:t>    public static void concat1(String s1)</a:t>
            </a:r>
          </a:p>
          <a:p>
            <a:pPr fontAlgn="base"/>
            <a:r>
              <a:rPr lang="en-US" dirty="0"/>
              <a:t>    {</a:t>
            </a:r>
          </a:p>
          <a:p>
            <a:pPr fontAlgn="base"/>
            <a:r>
              <a:rPr lang="en-US" dirty="0"/>
              <a:t>        s1 = s1 + "</a:t>
            </a:r>
            <a:r>
              <a:rPr lang="en-US" dirty="0" err="1"/>
              <a:t>forgeeks</a:t>
            </a:r>
            <a:r>
              <a:rPr lang="en-US" dirty="0"/>
              <a:t>";</a:t>
            </a:r>
          </a:p>
          <a:p>
            <a:pPr fontAlgn="base"/>
            <a:r>
              <a:rPr lang="en-US" dirty="0"/>
              <a:t>    }</a:t>
            </a:r>
          </a:p>
          <a:p>
            <a:pPr fontAlgn="base"/>
            <a:r>
              <a:rPr lang="en-US" dirty="0"/>
              <a:t>     // Concatenates to </a:t>
            </a:r>
            <a:r>
              <a:rPr lang="en-US" dirty="0" err="1"/>
              <a:t>StringBuilder</a:t>
            </a:r>
            <a:endParaRPr lang="en-US" dirty="0"/>
          </a:p>
          <a:p>
            <a:pPr fontAlgn="base"/>
            <a:r>
              <a:rPr lang="en-US" dirty="0"/>
              <a:t>    public static void concat2(</a:t>
            </a:r>
            <a:r>
              <a:rPr lang="en-US" dirty="0" err="1"/>
              <a:t>StringBuilder</a:t>
            </a:r>
            <a:r>
              <a:rPr lang="en-US" dirty="0"/>
              <a:t> s2)</a:t>
            </a:r>
          </a:p>
          <a:p>
            <a:pPr fontAlgn="base"/>
            <a:r>
              <a:rPr lang="en-US" dirty="0"/>
              <a:t>    {</a:t>
            </a:r>
          </a:p>
          <a:p>
            <a:pPr fontAlgn="base"/>
            <a:r>
              <a:rPr lang="en-US" dirty="0"/>
              <a:t>        s2.append("</a:t>
            </a:r>
            <a:r>
              <a:rPr lang="en-US" dirty="0" err="1"/>
              <a:t>forgeeks</a:t>
            </a:r>
            <a:r>
              <a:rPr lang="en-US" dirty="0"/>
              <a:t>");</a:t>
            </a:r>
          </a:p>
          <a:p>
            <a:pPr fontAlgn="base"/>
            <a:r>
              <a:rPr lang="en-US" dirty="0"/>
              <a:t>    }</a:t>
            </a:r>
          </a:p>
          <a:p>
            <a:pPr fontAlgn="base"/>
            <a:r>
              <a:rPr lang="en-US" dirty="0"/>
              <a:t>     // Concatenates to </a:t>
            </a:r>
            <a:r>
              <a:rPr lang="en-US" dirty="0" err="1"/>
              <a:t>StringBuffer</a:t>
            </a:r>
            <a:endParaRPr lang="en-US" dirty="0"/>
          </a:p>
          <a:p>
            <a:pPr fontAlgn="base"/>
            <a:r>
              <a:rPr lang="en-US" dirty="0"/>
              <a:t>    public static void concat3(</a:t>
            </a:r>
            <a:r>
              <a:rPr lang="en-US" dirty="0" err="1"/>
              <a:t>StringBuffer</a:t>
            </a:r>
            <a:r>
              <a:rPr lang="en-US" dirty="0"/>
              <a:t> s3)</a:t>
            </a:r>
          </a:p>
          <a:p>
            <a:pPr fontAlgn="base"/>
            <a:r>
              <a:rPr lang="en-US" dirty="0"/>
              <a:t>    {</a:t>
            </a:r>
          </a:p>
          <a:p>
            <a:pPr fontAlgn="base"/>
            <a:r>
              <a:rPr lang="en-US" dirty="0"/>
              <a:t>        s3.append("</a:t>
            </a:r>
            <a:r>
              <a:rPr lang="en-US" dirty="0" err="1"/>
              <a:t>forgeeks</a:t>
            </a:r>
            <a:r>
              <a:rPr lang="en-US" dirty="0"/>
              <a:t>");</a:t>
            </a:r>
          </a:p>
          <a:p>
            <a:pPr fontAlgn="base"/>
            <a:r>
              <a:rPr lang="en-US" dirty="0"/>
              <a:t>    }</a:t>
            </a:r>
          </a:p>
          <a:p>
            <a:pPr fontAlgn="base"/>
            <a:r>
              <a:rPr lang="en-US" dirty="0"/>
              <a:t> </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218</a:t>
            </a:fld>
            <a:endParaRPr lang="en-US"/>
          </a:p>
        </p:txBody>
      </p:sp>
      <p:sp>
        <p:nvSpPr>
          <p:cNvPr id="4" name="Content Placeholder 3"/>
          <p:cNvSpPr>
            <a:spLocks noGrp="1"/>
          </p:cNvSpPr>
          <p:nvPr>
            <p:ph sz="quarter" idx="1"/>
          </p:nvPr>
        </p:nvSpPr>
        <p:spPr/>
        <p:txBody>
          <a:bodyPr numCol="2">
            <a:normAutofit/>
          </a:bodyPr>
          <a:lstStyle/>
          <a:p>
            <a:pPr fontAlgn="base"/>
            <a:r>
              <a:rPr lang="en-US" sz="1800" dirty="0"/>
              <a:t>public static void main(String[] </a:t>
            </a:r>
            <a:r>
              <a:rPr lang="en-US" sz="1800" dirty="0" err="1"/>
              <a:t>args</a:t>
            </a:r>
            <a:r>
              <a:rPr lang="en-US" sz="1800" dirty="0"/>
              <a:t>)</a:t>
            </a:r>
          </a:p>
          <a:p>
            <a:pPr fontAlgn="base"/>
            <a:r>
              <a:rPr lang="en-US" sz="1800" dirty="0"/>
              <a:t>    {</a:t>
            </a:r>
          </a:p>
          <a:p>
            <a:pPr fontAlgn="base"/>
            <a:r>
              <a:rPr lang="en-US" sz="1800" dirty="0"/>
              <a:t>  String s1 = "Geeks";</a:t>
            </a:r>
          </a:p>
          <a:p>
            <a:pPr fontAlgn="base"/>
            <a:r>
              <a:rPr lang="en-US" sz="1800" dirty="0"/>
              <a:t>  // s1 is not changed</a:t>
            </a:r>
          </a:p>
          <a:p>
            <a:pPr fontAlgn="base"/>
            <a:r>
              <a:rPr lang="en-US" sz="1800" dirty="0"/>
              <a:t>  concat1(s1);</a:t>
            </a:r>
          </a:p>
          <a:p>
            <a:pPr fontAlgn="base"/>
            <a:r>
              <a:rPr lang="en-US" sz="1800" dirty="0"/>
              <a:t> </a:t>
            </a:r>
            <a:r>
              <a:rPr lang="en-US" sz="1800" dirty="0" err="1"/>
              <a:t>System.out.println</a:t>
            </a:r>
            <a:r>
              <a:rPr lang="en-US" sz="1800" dirty="0"/>
              <a:t>("String: " + s1);</a:t>
            </a:r>
          </a:p>
          <a:p>
            <a:pPr fontAlgn="base"/>
            <a:r>
              <a:rPr lang="en-US" sz="1800" dirty="0"/>
              <a:t> </a:t>
            </a:r>
          </a:p>
          <a:p>
            <a:pPr fontAlgn="base"/>
            <a:r>
              <a:rPr lang="en-US" sz="1800" dirty="0" err="1"/>
              <a:t>StringBuilder</a:t>
            </a:r>
            <a:r>
              <a:rPr lang="en-US" sz="1800" dirty="0"/>
              <a:t> s2 = new </a:t>
            </a:r>
            <a:r>
              <a:rPr lang="en-US" sz="1800" dirty="0" err="1"/>
              <a:t>StringBuilder</a:t>
            </a:r>
            <a:r>
              <a:rPr lang="en-US" sz="1800" dirty="0"/>
              <a:t>("Geeks");</a:t>
            </a:r>
          </a:p>
          <a:p>
            <a:pPr fontAlgn="base"/>
            <a:r>
              <a:rPr lang="en-US" sz="1800" dirty="0"/>
              <a:t> // s2 is changed</a:t>
            </a:r>
          </a:p>
          <a:p>
            <a:pPr fontAlgn="base"/>
            <a:r>
              <a:rPr lang="en-US" sz="1800" dirty="0"/>
              <a:t> concat2(s2);</a:t>
            </a:r>
          </a:p>
          <a:p>
            <a:pPr fontAlgn="base"/>
            <a:r>
              <a:rPr lang="en-US" sz="1800" dirty="0" err="1"/>
              <a:t>System.out.println</a:t>
            </a:r>
            <a:r>
              <a:rPr lang="en-US" sz="1800" dirty="0"/>
              <a:t>("</a:t>
            </a:r>
            <a:r>
              <a:rPr lang="en-US" sz="1800" dirty="0" err="1"/>
              <a:t>StringBuilder</a:t>
            </a:r>
            <a:r>
              <a:rPr lang="en-US" sz="1800" dirty="0"/>
              <a:t>: " + s2);</a:t>
            </a:r>
          </a:p>
          <a:p>
            <a:pPr fontAlgn="base"/>
            <a:r>
              <a:rPr lang="en-US" sz="1800" dirty="0"/>
              <a:t> </a:t>
            </a:r>
          </a:p>
          <a:p>
            <a:pPr fontAlgn="base"/>
            <a:r>
              <a:rPr lang="en-US" sz="1800" dirty="0" err="1"/>
              <a:t>StringBuffer</a:t>
            </a:r>
            <a:r>
              <a:rPr lang="en-US" sz="1800" dirty="0"/>
              <a:t> s3 = new </a:t>
            </a:r>
            <a:r>
              <a:rPr lang="en-US" sz="1800" dirty="0" err="1"/>
              <a:t>StringBuffer</a:t>
            </a:r>
            <a:r>
              <a:rPr lang="en-US" sz="1800" dirty="0"/>
              <a:t>("Geeks");</a:t>
            </a:r>
          </a:p>
          <a:p>
            <a:pPr fontAlgn="base"/>
            <a:r>
              <a:rPr lang="en-US" sz="1800" dirty="0"/>
              <a:t>  // s3 is changed</a:t>
            </a:r>
          </a:p>
          <a:p>
            <a:pPr fontAlgn="base"/>
            <a:r>
              <a:rPr lang="en-US" sz="1800" dirty="0"/>
              <a:t>   concat3(s3);</a:t>
            </a:r>
          </a:p>
          <a:p>
            <a:pPr fontAlgn="base"/>
            <a:r>
              <a:rPr lang="en-US" sz="1800" dirty="0"/>
              <a:t> </a:t>
            </a:r>
            <a:r>
              <a:rPr lang="en-US" sz="1800" dirty="0" err="1"/>
              <a:t>System.out.println</a:t>
            </a:r>
            <a:r>
              <a:rPr lang="en-US" sz="1800" dirty="0"/>
              <a:t>("</a:t>
            </a:r>
            <a:r>
              <a:rPr lang="en-US" sz="1800" dirty="0" err="1"/>
              <a:t>StringBuffer</a:t>
            </a:r>
            <a:r>
              <a:rPr lang="en-US" sz="1800" dirty="0"/>
              <a:t>: " + s3);</a:t>
            </a:r>
          </a:p>
          <a:p>
            <a:pPr fontAlgn="base"/>
            <a:r>
              <a:rPr lang="en-US" sz="1800" dirty="0"/>
              <a:t>    }</a:t>
            </a:r>
          </a:p>
          <a:p>
            <a:pPr fontAlgn="base"/>
            <a:r>
              <a:rPr lang="en-US" sz="1800" dirty="0"/>
              <a:t>}</a:t>
            </a:r>
          </a:p>
          <a:p>
            <a:pPr fontAlgn="base"/>
            <a:r>
              <a:rPr lang="en-US" sz="1800" b="1" dirty="0">
                <a:solidFill>
                  <a:srgbClr val="008000"/>
                </a:solidFill>
              </a:rPr>
              <a:t>OUTPUT:</a:t>
            </a:r>
          </a:p>
          <a:p>
            <a:pPr fontAlgn="base"/>
            <a:r>
              <a:rPr lang="en-US" sz="1800" dirty="0"/>
              <a:t>String: Geeks </a:t>
            </a:r>
          </a:p>
          <a:p>
            <a:pPr fontAlgn="base"/>
            <a:r>
              <a:rPr lang="en-US" sz="1800" dirty="0" err="1"/>
              <a:t>StringBuilder</a:t>
            </a:r>
            <a:r>
              <a:rPr lang="en-US" sz="1800" dirty="0"/>
              <a:t>: </a:t>
            </a:r>
            <a:r>
              <a:rPr lang="en-US" sz="1800" dirty="0" err="1"/>
              <a:t>Geeksforgeeks</a:t>
            </a:r>
            <a:r>
              <a:rPr lang="en-US" sz="1800" dirty="0"/>
              <a:t> </a:t>
            </a:r>
          </a:p>
          <a:p>
            <a:pPr fontAlgn="base"/>
            <a:r>
              <a:rPr lang="en-US" sz="1800" dirty="0" err="1"/>
              <a:t>StringBuffer</a:t>
            </a:r>
            <a:r>
              <a:rPr lang="en-US" sz="1800" dirty="0"/>
              <a:t>: </a:t>
            </a:r>
            <a:r>
              <a:rPr lang="en-US" sz="1800" dirty="0" err="1"/>
              <a:t>Geeksforgeeks</a:t>
            </a:r>
            <a:endParaRPr lang="en-US" sz="1800" dirty="0"/>
          </a:p>
          <a:p>
            <a:endParaRPr lang="en-US" dirty="0"/>
          </a:p>
          <a:p>
            <a:pPr>
              <a:buNone/>
            </a:pPr>
            <a:endParaRPr lang="en-US"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E3591306-41CF-4237-B2B4-5C605DD45071}" type="slidenum">
              <a:rPr lang="en-US" smtClean="0"/>
              <a:pPr/>
              <a:t>219</a:t>
            </a:fld>
            <a:endParaRPr lang="en-US"/>
          </a:p>
        </p:txBody>
      </p:sp>
      <p:sp>
        <p:nvSpPr>
          <p:cNvPr id="4" name="Content Placeholder 3"/>
          <p:cNvSpPr>
            <a:spLocks noGrp="1"/>
          </p:cNvSpPr>
          <p:nvPr>
            <p:ph sz="quarter" idx="1"/>
          </p:nvPr>
        </p:nvSpPr>
        <p:spPr/>
        <p:txBody>
          <a:bodyPr/>
          <a:lstStyle/>
          <a:p>
            <a:pPr algn="ctr">
              <a:buNone/>
            </a:pPr>
            <a:endParaRPr lang="en-US" dirty="0">
              <a:solidFill>
                <a:srgbClr val="FF0000"/>
              </a:solidFill>
            </a:endParaRPr>
          </a:p>
          <a:p>
            <a:pPr algn="ctr">
              <a:buNone/>
            </a:pPr>
            <a:endParaRPr lang="en-US" dirty="0">
              <a:solidFill>
                <a:srgbClr val="FF0000"/>
              </a:solidFill>
            </a:endParaRPr>
          </a:p>
          <a:p>
            <a:pPr algn="ctr">
              <a:buNone/>
            </a:pPr>
            <a:endParaRPr lang="en-US" dirty="0">
              <a:solidFill>
                <a:srgbClr val="FF0000"/>
              </a:solidFill>
            </a:endParaRPr>
          </a:p>
          <a:p>
            <a:pPr algn="ctr">
              <a:buNone/>
            </a:pPr>
            <a:endParaRPr lang="en-US" dirty="0">
              <a:solidFill>
                <a:srgbClr val="FF0000"/>
              </a:solidFill>
            </a:endParaRPr>
          </a:p>
          <a:p>
            <a:pPr algn="ctr">
              <a:buNone/>
            </a:pPr>
            <a:r>
              <a:rPr lang="en-US" dirty="0">
                <a:solidFill>
                  <a:srgbClr val="FF0000"/>
                </a:solidFill>
              </a:rPr>
              <a:t>End of I Unit</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rgbClr val="000000"/>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rgbClr val="000000"/>
            </a:solidFill>
            <a:effectLst/>
            <a:latin typeface="Times New Roman" pitchFamily="18"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4180</TotalTime>
  <Words>21767</Words>
  <Application>Microsoft Office PowerPoint</Application>
  <PresentationFormat>Custom</PresentationFormat>
  <Paragraphs>2642</Paragraphs>
  <Slides>219</Slides>
  <Notes>4</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219</vt:i4>
      </vt:variant>
    </vt:vector>
  </HeadingPairs>
  <TitlesOfParts>
    <vt:vector size="234" baseType="lpstr">
      <vt:lpstr>Arial</vt:lpstr>
      <vt:lpstr>Arial Black</vt:lpstr>
      <vt:lpstr>Arial Unicode MS</vt:lpstr>
      <vt:lpstr>Bookman Old Style</vt:lpstr>
      <vt:lpstr>Comic Sans MS</vt:lpstr>
      <vt:lpstr>erdana</vt:lpstr>
      <vt:lpstr>Gill Sans MT</vt:lpstr>
      <vt:lpstr>Google Sans</vt:lpstr>
      <vt:lpstr>times new roman</vt:lpstr>
      <vt:lpstr>times new roman</vt:lpstr>
      <vt:lpstr>verdana</vt:lpstr>
      <vt:lpstr>Wingdings</vt:lpstr>
      <vt:lpstr>Wingdings 3</vt:lpstr>
      <vt:lpstr>Custom Design</vt:lpstr>
      <vt:lpstr>Origin</vt:lpstr>
      <vt:lpstr>PROGRAMMING IN JAVA – U23ITTC02</vt:lpstr>
      <vt:lpstr>Course Outcomes</vt:lpstr>
      <vt:lpstr>Syllabus </vt:lpstr>
      <vt:lpstr>Text Books and References</vt:lpstr>
      <vt:lpstr>Text Books and References</vt:lpstr>
      <vt:lpstr>UNIT I</vt:lpstr>
      <vt:lpstr>INTRODUCTION TO PROGRAMMING</vt:lpstr>
      <vt:lpstr>PowerPoint Presentation</vt:lpstr>
      <vt:lpstr>PowerPoint Presentation</vt:lpstr>
      <vt:lpstr>There have been many programming language some of them are listed below:</vt:lpstr>
      <vt:lpstr>Most Popular Programming Languages – </vt:lpstr>
      <vt:lpstr>Characteristics of a programming Language </vt:lpstr>
      <vt:lpstr>What is Java?</vt:lpstr>
      <vt:lpstr>The History and Evolution of Java</vt:lpstr>
      <vt:lpstr>PowerPoint Presentation</vt:lpstr>
      <vt:lpstr>PowerPoint Presentation</vt:lpstr>
      <vt:lpstr>PowerPoint Presentation</vt:lpstr>
      <vt:lpstr>Java platform components</vt:lpstr>
      <vt:lpstr>Java Versions</vt:lpstr>
      <vt:lpstr>Latest Version</vt:lpstr>
      <vt:lpstr>Setting up Java environment variables</vt:lpstr>
      <vt:lpstr>PowerPoint Presentation</vt:lpstr>
      <vt:lpstr>classes and objects</vt:lpstr>
      <vt:lpstr>--version</vt:lpstr>
      <vt:lpstr>Basic syntax and rules</vt:lpstr>
      <vt:lpstr>First Java Program </vt:lpstr>
      <vt:lpstr>Compile and Run</vt:lpstr>
      <vt:lpstr>PowerPoint Presentation</vt:lpstr>
      <vt:lpstr>Java terminology</vt:lpstr>
      <vt:lpstr>PowerPoint Presentation</vt:lpstr>
      <vt:lpstr>PowerPoint Presentation</vt:lpstr>
      <vt:lpstr>Java Byte Code</vt:lpstr>
      <vt:lpstr>PowerPoint Presentation</vt:lpstr>
      <vt:lpstr>PowerPoint Presentation</vt:lpstr>
      <vt:lpstr>Advantage of Java Bytecode</vt:lpstr>
      <vt:lpstr>PowerPoint Presentation</vt:lpstr>
      <vt:lpstr>Java Buzzwords or Features of Java</vt:lpstr>
      <vt:lpstr>PowerPoint Presentation</vt:lpstr>
      <vt:lpstr>PowerPoint Presentation</vt:lpstr>
      <vt:lpstr>PowerPoint Presentation</vt:lpstr>
      <vt:lpstr>PowerPoint Presentation</vt:lpstr>
      <vt:lpstr>PowerPoint Presentation</vt:lpstr>
      <vt:lpstr>PowerPoint Presentation</vt:lpstr>
      <vt:lpstr>Overall Execution Process of Java Program</vt:lpstr>
      <vt:lpstr>Compilation and execution of Java Program</vt:lpstr>
      <vt:lpstr>PowerPoint Presentation</vt:lpstr>
      <vt:lpstr>Basic Syntax</vt:lpstr>
      <vt:lpstr>Structure of Java Program</vt:lpstr>
      <vt:lpstr>Writing a “HELLO WORLD” Program in Java</vt:lpstr>
      <vt:lpstr>Explanation:</vt:lpstr>
      <vt:lpstr>Data Types in Java</vt:lpstr>
      <vt:lpstr>PowerPoint Presentation</vt:lpstr>
      <vt:lpstr>PowerPoint Presentation</vt:lpstr>
      <vt:lpstr>Non-Primitive Data Types</vt:lpstr>
      <vt:lpstr>Java Variables</vt:lpstr>
      <vt:lpstr>PowerPoint Presentation</vt:lpstr>
      <vt:lpstr>Declaring (Creating) Variables</vt:lpstr>
      <vt:lpstr>Types of Variables</vt:lpstr>
      <vt:lpstr>Example to understand the types of variables in java</vt:lpstr>
      <vt:lpstr>Operators</vt:lpstr>
      <vt:lpstr>Java Operator Precedence</vt:lpstr>
      <vt:lpstr>Java Unary Operator</vt:lpstr>
      <vt:lpstr>Java Unary Operator Example: ~ and !</vt:lpstr>
      <vt:lpstr>Java Arithmetic Operators</vt:lpstr>
      <vt:lpstr>Java Left Shift Operator</vt:lpstr>
      <vt:lpstr>Java Right Shift Operator</vt:lpstr>
      <vt:lpstr>Java Shift Operator Example: &gt;&gt; vs &gt;&gt;&gt;</vt:lpstr>
      <vt:lpstr>Java Ternary Operator</vt:lpstr>
      <vt:lpstr>Java Assignment Operator</vt:lpstr>
      <vt:lpstr>Java AND Operator Example: Logical &amp;&amp; and Bitwise &amp;</vt:lpstr>
      <vt:lpstr>Java OR Operator Example: Logical || and Bitwise |</vt:lpstr>
      <vt:lpstr>Arrays</vt:lpstr>
      <vt:lpstr>Types of Array in java</vt:lpstr>
      <vt:lpstr>Declaration, Instantiation and Initialization of Java Array</vt:lpstr>
      <vt:lpstr>PowerPoint Presentation</vt:lpstr>
      <vt:lpstr>PowerPoint Presentation</vt:lpstr>
      <vt:lpstr>Example of Java Array</vt:lpstr>
      <vt:lpstr>Passing Array to a Method in Java</vt:lpstr>
      <vt:lpstr>Multidimensional Arrays</vt:lpstr>
      <vt:lpstr>Example of Multidimensional Java Array</vt:lpstr>
      <vt:lpstr>Control statements</vt:lpstr>
      <vt:lpstr>Selection or Decision-Making Statements</vt:lpstr>
      <vt:lpstr>Control statements</vt:lpstr>
      <vt:lpstr>Simple if statement</vt:lpstr>
      <vt:lpstr>Example:</vt:lpstr>
      <vt:lpstr>if-else</vt:lpstr>
      <vt:lpstr>Example:</vt:lpstr>
      <vt:lpstr>nested-if: </vt:lpstr>
      <vt:lpstr>Example:</vt:lpstr>
      <vt:lpstr>if-else-if ladder:</vt:lpstr>
      <vt:lpstr>Example:</vt:lpstr>
      <vt:lpstr>switch-case </vt:lpstr>
      <vt:lpstr>PowerPoint Presentation</vt:lpstr>
      <vt:lpstr>Example:</vt:lpstr>
      <vt:lpstr>Jump Statements</vt:lpstr>
      <vt:lpstr>Example:</vt:lpstr>
      <vt:lpstr>Continue: </vt:lpstr>
      <vt:lpstr>Example:</vt:lpstr>
      <vt:lpstr>Return</vt:lpstr>
      <vt:lpstr>Loops in Java</vt:lpstr>
      <vt:lpstr>Java For Loop vs While Loop vs Do While Loop</vt:lpstr>
      <vt:lpstr>Java For Loop</vt:lpstr>
      <vt:lpstr>PowerPoint Presentation</vt:lpstr>
      <vt:lpstr>PowerPoint Presentation</vt:lpstr>
      <vt:lpstr>Java Nested For Loop</vt:lpstr>
      <vt:lpstr>Java for-each Loop</vt:lpstr>
      <vt:lpstr>PowerPoint Presentation</vt:lpstr>
      <vt:lpstr>Java Labeled For Loop</vt:lpstr>
      <vt:lpstr>Example:</vt:lpstr>
      <vt:lpstr>Java Infinitive For Loop</vt:lpstr>
      <vt:lpstr> Java While Loop</vt:lpstr>
      <vt:lpstr>PowerPoint Presentation</vt:lpstr>
      <vt:lpstr>Java Infinitive While Loop</vt:lpstr>
      <vt:lpstr>Java do-while Loop</vt:lpstr>
      <vt:lpstr>PowerPoint Presentation</vt:lpstr>
      <vt:lpstr>Java Infinitive do-while Loop</vt:lpstr>
      <vt:lpstr>Type Conversion and Casting</vt:lpstr>
      <vt:lpstr>Widening Casting</vt:lpstr>
      <vt:lpstr>Narrowing Casting</vt:lpstr>
      <vt:lpstr>Difference Between Type Casting and Type Conversion</vt:lpstr>
      <vt:lpstr>PowerPoint Presentation</vt:lpstr>
      <vt:lpstr>Introduction of Object Oriented Programming</vt:lpstr>
      <vt:lpstr>OOPs Concepts:</vt:lpstr>
      <vt:lpstr>1. Class:</vt:lpstr>
      <vt:lpstr>2. Object: </vt:lpstr>
      <vt:lpstr>3. Data Abstraction &amp; Encapsulation: </vt:lpstr>
      <vt:lpstr>4. Inheritance: </vt:lpstr>
      <vt:lpstr>5. Polymorphism: </vt:lpstr>
      <vt:lpstr>6. Dynamic Binding:</vt:lpstr>
      <vt:lpstr>7. Message Passing:</vt:lpstr>
      <vt:lpstr>Concepts of Class and Object</vt:lpstr>
      <vt:lpstr>An object has three characteristics:</vt:lpstr>
      <vt:lpstr>PowerPoint Presentation</vt:lpstr>
      <vt:lpstr>PowerPoint Presentation</vt:lpstr>
      <vt:lpstr>Syntax to declare a class:</vt:lpstr>
      <vt:lpstr>Object and Class Example: main within the class</vt:lpstr>
      <vt:lpstr>Object and Class Example: main outside the class</vt:lpstr>
      <vt:lpstr>File: TestStudent1.java</vt:lpstr>
      <vt:lpstr>3 Ways to initialize object</vt:lpstr>
      <vt:lpstr>1) Object and Class Example: Initialization through reference</vt:lpstr>
      <vt:lpstr>2) Object and Class Example: Initialization through method</vt:lpstr>
      <vt:lpstr>PowerPoint Presentation</vt:lpstr>
      <vt:lpstr>3) Object and Class Example: Initialization through a constructor</vt:lpstr>
      <vt:lpstr>What are the different ways to create an object in Java?</vt:lpstr>
      <vt:lpstr>Real World Example: Account</vt:lpstr>
      <vt:lpstr>Array of Objects in Java</vt:lpstr>
      <vt:lpstr>ArrayOfObjects.java</vt:lpstr>
      <vt:lpstr>Constructor</vt:lpstr>
      <vt:lpstr>Rules for creating Java constructor</vt:lpstr>
      <vt:lpstr>PowerPoint Presentation</vt:lpstr>
      <vt:lpstr>Example of default constructor</vt:lpstr>
      <vt:lpstr>PowerPoint Presentation</vt:lpstr>
      <vt:lpstr>Example of default constructor that displays the default values</vt:lpstr>
      <vt:lpstr>Java Parameterized Constructor</vt:lpstr>
      <vt:lpstr>Example of parameterized constructor</vt:lpstr>
      <vt:lpstr>Difference between constructor and method in Java</vt:lpstr>
      <vt:lpstr>Java Copy Constructor</vt:lpstr>
      <vt:lpstr>PowerPoint Presentation</vt:lpstr>
      <vt:lpstr>PowerPoint Presentation</vt:lpstr>
      <vt:lpstr>Java static keyword</vt:lpstr>
      <vt:lpstr>1) Java static variable</vt:lpstr>
      <vt:lpstr>Understanding the problem without static variable</vt:lpstr>
      <vt:lpstr>PowerPoint Presentation</vt:lpstr>
      <vt:lpstr>2) Java static method</vt:lpstr>
      <vt:lpstr>PowerPoint Presentation</vt:lpstr>
      <vt:lpstr>PowerPoint Presentation</vt:lpstr>
      <vt:lpstr>Restrictions for the static method</vt:lpstr>
      <vt:lpstr>PowerPoint Presentation</vt:lpstr>
      <vt:lpstr>PowerPoint Presentation</vt:lpstr>
      <vt:lpstr>Final Keyword In Java</vt:lpstr>
      <vt:lpstr>1) Java final variable</vt:lpstr>
      <vt:lpstr>Java final method</vt:lpstr>
      <vt:lpstr>Java final class</vt:lpstr>
      <vt:lpstr>What is blank or uninitialized final variable?</vt:lpstr>
      <vt:lpstr>static blank final variable</vt:lpstr>
      <vt:lpstr>PowerPoint Presentation</vt:lpstr>
      <vt:lpstr>Access Modifiers in Java</vt:lpstr>
      <vt:lpstr>There are four types of Java access modifiers:</vt:lpstr>
      <vt:lpstr>PowerPoint Presentation</vt:lpstr>
      <vt:lpstr>this keyword in java</vt:lpstr>
      <vt:lpstr>Usage of java this keyword</vt:lpstr>
      <vt:lpstr>this: to refer current class instance variable</vt:lpstr>
      <vt:lpstr>PowerPoint Presentation</vt:lpstr>
      <vt:lpstr>this: to invoke current class method</vt:lpstr>
      <vt:lpstr>PowerPoint Presentation</vt:lpstr>
      <vt:lpstr>this() : to invoke current class constructor</vt:lpstr>
      <vt:lpstr>Calling parameterized constructor from default constructor:</vt:lpstr>
      <vt:lpstr>Java Garbage Collection</vt:lpstr>
      <vt:lpstr>How can an object be unreferenced?</vt:lpstr>
      <vt:lpstr>PowerPoint Presentation</vt:lpstr>
      <vt:lpstr>Simple Example of garbage collection in java</vt:lpstr>
      <vt:lpstr>Nested and Inner Class</vt:lpstr>
      <vt:lpstr>Advantage of java inner classes</vt:lpstr>
      <vt:lpstr>Types of Nested classes</vt:lpstr>
      <vt:lpstr>PowerPoint Presentation</vt:lpstr>
      <vt:lpstr>Java Member inner class example</vt:lpstr>
      <vt:lpstr>Java Local inner class</vt:lpstr>
      <vt:lpstr>Rules for Java Local Inner class</vt:lpstr>
      <vt:lpstr>Java static nested class</vt:lpstr>
      <vt:lpstr>Java static nested class example with instance method</vt:lpstr>
      <vt:lpstr>Java Nested Interface</vt:lpstr>
      <vt:lpstr>PowerPoint Presentation</vt:lpstr>
      <vt:lpstr>String Class</vt:lpstr>
      <vt:lpstr>PowerPoint Presentation</vt:lpstr>
      <vt:lpstr>PowerPoint Presentation</vt:lpstr>
      <vt:lpstr>1) String Literal</vt:lpstr>
      <vt:lpstr>PowerPoint Presentation</vt:lpstr>
      <vt:lpstr>PowerPoint Presentation</vt:lpstr>
      <vt:lpstr>2) By new keyword</vt:lpstr>
      <vt:lpstr>Java String class methods</vt:lpstr>
      <vt:lpstr>PowerPoint Presentation</vt:lpstr>
      <vt:lpstr>PowerPoint Presentation</vt:lpstr>
      <vt:lpstr>PowerPoint Presentation</vt:lpstr>
      <vt:lpstr>PowerPoint Presentation</vt:lpstr>
      <vt:lpstr>Java StringBuffer class</vt:lpstr>
      <vt:lpstr>Difference between StringBuffer and StringBuilder</vt:lpstr>
      <vt:lpstr>Example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Internetworking</dc:title>
  <dc:creator>admin</dc:creator>
  <cp:lastModifiedBy>DEVIKA CSBS SMVEC</cp:lastModifiedBy>
  <cp:revision>482</cp:revision>
  <dcterms:modified xsi:type="dcterms:W3CDTF">2025-12-18T07:10:17Z</dcterms:modified>
</cp:coreProperties>
</file>